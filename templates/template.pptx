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2.xml" ContentType="application/vnd.openxmlformats-officedocument.themeOverr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theme/themeOverride3.xml" ContentType="application/vnd.openxmlformats-officedocument.themeOverr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theme/themeOverride4.xml" ContentType="application/vnd.openxmlformats-officedocument.themeOverr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theme/themeOverride5.xml" ContentType="application/vnd.openxmlformats-officedocument.themeOverrid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theme/themeOverride6.xml" ContentType="application/vnd.openxmlformats-officedocument.themeOverrid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theme/themeOverride7.xml" ContentType="application/vnd.openxmlformats-officedocument.themeOverrid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theme/themeOverride8.xml" ContentType="application/vnd.openxmlformats-officedocument.themeOverrid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theme/themeOverride9.xml" ContentType="application/vnd.openxmlformats-officedocument.themeOverrid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theme/themeOverride10.xml" ContentType="application/vnd.openxmlformats-officedocument.themeOverrid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theme/themeOverride11.xml" ContentType="application/vnd.openxmlformats-officedocument.themeOverride+xml"/>
  <Override PartName="/ppt/charts/chart20.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21.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22.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23.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24.xml" ContentType="application/vnd.openxmlformats-officedocument.drawingml.chart+xml"/>
  <Override PartName="/ppt/charts/style24.xml" ContentType="application/vnd.ms-office.chartstyle+xml"/>
  <Override PartName="/ppt/charts/colors24.xml" ContentType="application/vnd.ms-office.chartcolorstyle+xml"/>
  <Override PartName="/ppt/theme/themeOverride12.xml" ContentType="application/vnd.openxmlformats-officedocument.themeOverride+xml"/>
  <Override PartName="/ppt/charts/chart25.xml" ContentType="application/vnd.openxmlformats-officedocument.drawingml.chart+xml"/>
  <Override PartName="/ppt/charts/style25.xml" ContentType="application/vnd.ms-office.chartstyle+xml"/>
  <Override PartName="/ppt/charts/colors25.xml" ContentType="application/vnd.ms-office.chartcolorstyle+xml"/>
  <Override PartName="/ppt/theme/themeOverride13.xml" ContentType="application/vnd.openxmlformats-officedocument.themeOverride+xml"/>
  <Override PartName="/ppt/charts/chart26.xml" ContentType="application/vnd.openxmlformats-officedocument.drawingml.chart+xml"/>
  <Override PartName="/ppt/charts/style26.xml" ContentType="application/vnd.ms-office.chartstyle+xml"/>
  <Override PartName="/ppt/charts/colors26.xml" ContentType="application/vnd.ms-office.chartcolorstyle+xml"/>
  <Override PartName="/ppt/theme/themeOverride14.xml" ContentType="application/vnd.openxmlformats-officedocument.themeOverride+xml"/>
  <Override PartName="/ppt/charts/chart27.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28.xml" ContentType="application/vnd.openxmlformats-officedocument.drawingml.chart+xml"/>
  <Override PartName="/ppt/charts/style28.xml" ContentType="application/vnd.ms-office.chartstyle+xml"/>
  <Override PartName="/ppt/charts/colors28.xml" ContentType="application/vnd.ms-office.chartcolorstyle+xml"/>
  <Override PartName="/ppt/charts/chart29.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30.xml" ContentType="application/vnd.openxmlformats-officedocument.drawingml.chart+xml"/>
  <Override PartName="/ppt/charts/style30.xml" ContentType="application/vnd.ms-office.chartstyle+xml"/>
  <Override PartName="/ppt/charts/colors30.xml" ContentType="application/vnd.ms-office.chartcolorstyle+xml"/>
  <Override PartName="/docProps/core.xml" ContentType="application/vnd.openxmlformats-package.core-properties+xml"/>
  <Override PartName="/docProps/app.xml" ContentType="application/vnd.openxmlformats-officedocument.extended-properties+xml"/>
  <Override PartName="/ppt/authors.xml" ContentType="application/vnd.ms-powerpoint.author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3" r:id="rId1"/>
  </p:sldMasterIdLst>
  <p:notesMasterIdLst>
    <p:notesMasterId r:id="rId27"/>
  </p:notesMasterIdLst>
  <p:sldIdLst>
    <p:sldId id="340" r:id="rId2"/>
    <p:sldId id="389" r:id="rId3"/>
    <p:sldId id="401" r:id="rId4"/>
    <p:sldId id="390" r:id="rId5"/>
    <p:sldId id="391" r:id="rId6"/>
    <p:sldId id="392" r:id="rId7"/>
    <p:sldId id="394" r:id="rId8"/>
    <p:sldId id="360" r:id="rId9"/>
    <p:sldId id="395" r:id="rId10"/>
    <p:sldId id="396" r:id="rId11"/>
    <p:sldId id="338" r:id="rId12"/>
    <p:sldId id="397" r:id="rId13"/>
    <p:sldId id="361" r:id="rId14"/>
    <p:sldId id="398" r:id="rId15"/>
    <p:sldId id="339" r:id="rId16"/>
    <p:sldId id="352" r:id="rId17"/>
    <p:sldId id="399" r:id="rId18"/>
    <p:sldId id="335" r:id="rId19"/>
    <p:sldId id="383" r:id="rId20"/>
    <p:sldId id="359" r:id="rId21"/>
    <p:sldId id="400" r:id="rId22"/>
    <p:sldId id="362" r:id="rId23"/>
    <p:sldId id="353" r:id="rId24"/>
    <p:sldId id="377" r:id="rId25"/>
    <p:sldId id="264"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D5F4B26-70C2-C458-CF70-89C76E1704D8}" name="Branco Dennenberg" initials="BD" userId="7b81a8bc22f2f239" providerId="Windows Live"/>
  <p188:author id="{5B26CF33-3F9E-64B6-8031-873F17783981}" name="Caroline Savage" initials="CS" userId="7108174042d12c3f" providerId="Windows Live"/>
  <p188:author id="{8D6D4444-3D9E-9EFB-8C07-AA5665A4A5C5}" name="Karthikeyan Viswanathan" initials="KV" userId="S::Karthikeyan.Viswanathan@corporateohs.com::ee677136-ef6c-4a16-817e-71289ad1cdb2" providerId="AD"/>
  <p188:author id="{CFC1D6F1-5CCD-23D0-AEA0-FE2283801C34}" name="caroline savage" initials="cs" userId="S::carolinesavage@corporateohs.com::91448213-4f62-4282-a05a-3f8111c1e7b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7D7AC"/>
    <a:srgbClr val="00249C"/>
    <a:srgbClr val="23ACDD"/>
    <a:srgbClr val="B5D4F4"/>
    <a:srgbClr val="A50034"/>
    <a:srgbClr val="000000"/>
    <a:srgbClr val="B1E4E3"/>
    <a:srgbClr val="00A3E1"/>
    <a:srgbClr val="F7EA48"/>
    <a:srgbClr val="C5E86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D6E4D3-26E4-475D-AC7D-E75B30D9DE8F}" v="1" dt="2026-05-11T12:28:27.78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979" autoAdjust="0"/>
    <p:restoredTop sz="90719" autoAdjust="0"/>
  </p:normalViewPr>
  <p:slideViewPr>
    <p:cSldViewPr snapToGrid="0">
      <p:cViewPr varScale="1">
        <p:scale>
          <a:sx n="78" d="100"/>
          <a:sy n="78" d="100"/>
        </p:scale>
        <p:origin x="1109" y="96"/>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roline savage" userId="91448213-4f62-4282-a05a-3f8111c1e7bd" providerId="ADAL" clId="{12E5D5C5-97B3-48EB-B13D-D18563E280BB}"/>
    <pc:docChg chg="addSld delSld modSld">
      <pc:chgData name="caroline savage" userId="91448213-4f62-4282-a05a-3f8111c1e7bd" providerId="ADAL" clId="{12E5D5C5-97B3-48EB-B13D-D18563E280BB}" dt="2026-05-11T12:33:55.004" v="2" actId="14100"/>
      <pc:docMkLst>
        <pc:docMk/>
      </pc:docMkLst>
      <pc:sldChg chg="del">
        <pc:chgData name="caroline savage" userId="91448213-4f62-4282-a05a-3f8111c1e7bd" providerId="ADAL" clId="{12E5D5C5-97B3-48EB-B13D-D18563E280BB}" dt="2026-05-11T12:28:31.856" v="1" actId="47"/>
        <pc:sldMkLst>
          <pc:docMk/>
          <pc:sldMk cId="609532886" sldId="393"/>
        </pc:sldMkLst>
      </pc:sldChg>
      <pc:sldChg chg="modSp add mod">
        <pc:chgData name="caroline savage" userId="91448213-4f62-4282-a05a-3f8111c1e7bd" providerId="ADAL" clId="{12E5D5C5-97B3-48EB-B13D-D18563E280BB}" dt="2026-05-11T12:33:55.004" v="2" actId="14100"/>
        <pc:sldMkLst>
          <pc:docMk/>
          <pc:sldMk cId="2847518736" sldId="401"/>
        </pc:sldMkLst>
        <pc:spChg chg="mod">
          <ac:chgData name="caroline savage" userId="91448213-4f62-4282-a05a-3f8111c1e7bd" providerId="ADAL" clId="{12E5D5C5-97B3-48EB-B13D-D18563E280BB}" dt="2026-05-11T12:33:55.004" v="2" actId="14100"/>
          <ac:spMkLst>
            <pc:docMk/>
            <pc:sldMk cId="2847518736" sldId="401"/>
            <ac:spMk id="17" creationId="{55480435-E840-AA3B-A0E0-54081A99ED38}"/>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3" Type="http://schemas.openxmlformats.org/officeDocument/2006/relationships/themeOverride" Target="../theme/themeOverride3.xm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3" Type="http://schemas.openxmlformats.org/officeDocument/2006/relationships/themeOverride" Target="../theme/themeOverride4.xm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3" Type="http://schemas.openxmlformats.org/officeDocument/2006/relationships/oleObject" Target="file:///C:\Users\User\Desktop\Presentation\OHS%20Committe%20meeting\Campus\Baniyas%20Completed\Master%20Sheet%20(All%20Campus)%20Rev%20D%20-%20Q1%20Abu%20Dhabi).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User\Desktop\Presentation\OHS%20Committe%20meeting\Campus\Baniyas%20Completed\Master%20Sheet%20(All%20Campus)%20Rev%20D%20-%20Q1%20Abu%20Dhabi).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User\Desktop\Presentation\OHS%20Committe%20meeting\Campus\Baniyas\Master%20Sheet%20(All%20Campus)%20Rev%20D%20-%20Q1%20Abu%20Dhabi).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User\Desktop\Presentation\OHS%20Committe%20meeting\Campus\Baniyas%20Completed\Master%20Sheet%20(All%20Campus)%20Rev%20D%20-%20Q1%20Abu%20Dhabi).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themeOverride" Target="../theme/themeOverride5.xm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package" Target="../embeddings/Microsoft_Excel_Worksheet4.xlsx"/></Relationships>
</file>

<file path=ppt/charts/_rels/chart10.xml.rels><?xml version="1.0" encoding="UTF-8" standalone="yes"?>
<Relationships xmlns="http://schemas.openxmlformats.org/package/2006/relationships"><Relationship Id="rId3" Type="http://schemas.openxmlformats.org/officeDocument/2006/relationships/themeOverride" Target="../theme/themeOverride6.xml"/><Relationship Id="rId2" Type="http://schemas.microsoft.com/office/2011/relationships/chartColorStyle" Target="colors10.xml"/><Relationship Id="rId1" Type="http://schemas.microsoft.com/office/2011/relationships/chartStyle" Target="style10.xml"/><Relationship Id="rId4" Type="http://schemas.openxmlformats.org/officeDocument/2006/relationships/package" Target="../embeddings/Microsoft_Excel_Worksheet5.xlsx"/></Relationships>
</file>

<file path=ppt/charts/_rels/chart11.xml.rels><?xml version="1.0" encoding="UTF-8" standalone="yes"?>
<Relationships xmlns="http://schemas.openxmlformats.org/package/2006/relationships"><Relationship Id="rId3" Type="http://schemas.openxmlformats.org/officeDocument/2006/relationships/oleObject" Target="file:///C:\Users\User\Desktop\Presentation\OHS%20Committe%20meeting\Campus\Baniyas%20Completed\Master%20Sheet%20(All%20Campus)%20Rev%20D%20-%20Q1%20Abu%20Dhabi).xlsx" TargetMode="External"/><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oleObject" Target="file:///C:\Users\User\Desktop\Presentation\OHS%20Committe%20meeting\Campus\Baniyas%20Completed\Master%20Sheet%20(All%20Campus)%20Rev%20D%20-%20Q1%20Abu%20Dhabi).xlsx" TargetMode="External"/><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oleObject" Target="file:///C:\Users\User\Desktop\Presentation\OHS%20Committe%20meeting\Campus\Baniyas%20Completed\Master%20Sheet%20(All%20Campus)%20Rev%20D%20-%20Q1%20Abu%20Dhabi).xlsx" TargetMode="External"/><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themeOverride" Target="../theme/themeOverride7.xml"/><Relationship Id="rId2" Type="http://schemas.microsoft.com/office/2011/relationships/chartColorStyle" Target="colors14.xml"/><Relationship Id="rId1" Type="http://schemas.microsoft.com/office/2011/relationships/chartStyle" Target="style14.xml"/><Relationship Id="rId4" Type="http://schemas.openxmlformats.org/officeDocument/2006/relationships/package" Target="../embeddings/Microsoft_Excel_Worksheet6.xlsx"/></Relationships>
</file>

<file path=ppt/charts/_rels/chart15.xml.rels><?xml version="1.0" encoding="UTF-8" standalone="yes"?>
<Relationships xmlns="http://schemas.openxmlformats.org/package/2006/relationships"><Relationship Id="rId3" Type="http://schemas.openxmlformats.org/officeDocument/2006/relationships/themeOverride" Target="../theme/themeOverride8.xml"/><Relationship Id="rId2" Type="http://schemas.microsoft.com/office/2011/relationships/chartColorStyle" Target="colors15.xml"/><Relationship Id="rId1" Type="http://schemas.microsoft.com/office/2011/relationships/chartStyle" Target="style15.xml"/><Relationship Id="rId4" Type="http://schemas.openxmlformats.org/officeDocument/2006/relationships/package" Target="../embeddings/Microsoft_Excel_Worksheet7.xlsx"/></Relationships>
</file>

<file path=ppt/charts/_rels/chart16.xml.rels><?xml version="1.0" encoding="UTF-8" standalone="yes"?>
<Relationships xmlns="http://schemas.openxmlformats.org/package/2006/relationships"><Relationship Id="rId3" Type="http://schemas.openxmlformats.org/officeDocument/2006/relationships/oleObject" Target="file:///C:\Users\User\Desktop\Presentation\OHS%20Committe%20meeting\Campus\Baniyas%20Completed\Master%20Sheet%20(All%20Campus)%20Rev%20D%20-%20Q1%20Abu%20Dhabi).xlsx" TargetMode="External"/><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themeOverride" Target="../theme/themeOverride9.xml"/><Relationship Id="rId2" Type="http://schemas.microsoft.com/office/2011/relationships/chartColorStyle" Target="colors17.xml"/><Relationship Id="rId1" Type="http://schemas.microsoft.com/office/2011/relationships/chartStyle" Target="style17.xml"/><Relationship Id="rId4" Type="http://schemas.openxmlformats.org/officeDocument/2006/relationships/package" Target="../embeddings/Microsoft_Excel_Worksheet8.xlsx"/></Relationships>
</file>

<file path=ppt/charts/_rels/chart18.xml.rels><?xml version="1.0" encoding="UTF-8" standalone="yes"?>
<Relationships xmlns="http://schemas.openxmlformats.org/package/2006/relationships"><Relationship Id="rId3" Type="http://schemas.openxmlformats.org/officeDocument/2006/relationships/themeOverride" Target="../theme/themeOverride10.xml"/><Relationship Id="rId2" Type="http://schemas.microsoft.com/office/2011/relationships/chartColorStyle" Target="colors18.xml"/><Relationship Id="rId1" Type="http://schemas.microsoft.com/office/2011/relationships/chartStyle" Target="style18.xml"/><Relationship Id="rId4" Type="http://schemas.openxmlformats.org/officeDocument/2006/relationships/package" Target="../embeddings/Microsoft_Excel_Worksheet9.xlsx"/></Relationships>
</file>

<file path=ppt/charts/_rels/chart19.xml.rels><?xml version="1.0" encoding="UTF-8" standalone="yes"?>
<Relationships xmlns="http://schemas.openxmlformats.org/package/2006/relationships"><Relationship Id="rId3" Type="http://schemas.openxmlformats.org/officeDocument/2006/relationships/themeOverride" Target="../theme/themeOverride11.xml"/><Relationship Id="rId2" Type="http://schemas.microsoft.com/office/2011/relationships/chartColorStyle" Target="colors19.xml"/><Relationship Id="rId1" Type="http://schemas.microsoft.com/office/2011/relationships/chartStyle" Target="style19.xml"/><Relationship Id="rId4" Type="http://schemas.openxmlformats.org/officeDocument/2006/relationships/package" Target="../embeddings/Microsoft_Excel_Worksheet10.xlsx"/></Relationships>
</file>

<file path=ppt/charts/_rels/chart20.xml.rels><?xml version="1.0" encoding="UTF-8" standalone="yes"?>
<Relationships xmlns="http://schemas.openxmlformats.org/package/2006/relationships"><Relationship Id="rId3" Type="http://schemas.openxmlformats.org/officeDocument/2006/relationships/oleObject" Target="file:///C:\Users\User\Desktop\Presentation\OHS%20Committe%20meeting\Campus\Baniyas%20Completed\Master%20Sheet%20(All%20Campus)%20Rev%20D%20-%20Q1%20Abu%20Dhabi).xlsx" TargetMode="External"/><Relationship Id="rId2" Type="http://schemas.microsoft.com/office/2011/relationships/chartColorStyle" Target="colors20.xml"/><Relationship Id="rId1" Type="http://schemas.microsoft.com/office/2011/relationships/chartStyle" Target="style20.xml"/></Relationships>
</file>

<file path=ppt/charts/_rels/chart21.xml.rels><?xml version="1.0" encoding="UTF-8" standalone="yes"?>
<Relationships xmlns="http://schemas.openxmlformats.org/package/2006/relationships"><Relationship Id="rId3" Type="http://schemas.openxmlformats.org/officeDocument/2006/relationships/oleObject" Target="file:///C:\Users\User\Desktop\Presentation\OHS%20Committe%20meeting\Campus\Baniyas%20Completed\Master%20Sheet%20(All%20Campus)%20Rev%20D%20-%20Q1%20Abu%20Dhabi).xlsx" TargetMode="External"/><Relationship Id="rId2" Type="http://schemas.microsoft.com/office/2011/relationships/chartColorStyle" Target="colors21.xml"/><Relationship Id="rId1" Type="http://schemas.microsoft.com/office/2011/relationships/chartStyle" Target="style21.xml"/></Relationships>
</file>

<file path=ppt/charts/_rels/chart22.xml.rels><?xml version="1.0" encoding="UTF-8" standalone="yes"?>
<Relationships xmlns="http://schemas.openxmlformats.org/package/2006/relationships"><Relationship Id="rId3" Type="http://schemas.openxmlformats.org/officeDocument/2006/relationships/oleObject" Target="file:///C:\Users\User\Desktop\Presentation\OHS%20Committe%20meeting\Campus\Baniyas%20Completed\Master%20Sheet%20(All%20Campus)%20Rev%20D%20-%20Q1%20Abu%20Dhabi).xlsx" TargetMode="External"/><Relationship Id="rId2" Type="http://schemas.microsoft.com/office/2011/relationships/chartColorStyle" Target="colors22.xml"/><Relationship Id="rId1" Type="http://schemas.microsoft.com/office/2011/relationships/chartStyle" Target="style22.xml"/></Relationships>
</file>

<file path=ppt/charts/_rels/chart23.xml.rels><?xml version="1.0" encoding="UTF-8" standalone="yes"?>
<Relationships xmlns="http://schemas.openxmlformats.org/package/2006/relationships"><Relationship Id="rId3" Type="http://schemas.openxmlformats.org/officeDocument/2006/relationships/oleObject" Target="file:///C:\Users\User\Desktop\Presentation\OHS%20Committe%20meeting\Campus\Baniyas%20Completed\Master%20Sheet%20(All%20Campus)%20Rev%20D%20-%20Q1%20Abu%20Dhabi).xlsx" TargetMode="External"/><Relationship Id="rId2" Type="http://schemas.microsoft.com/office/2011/relationships/chartColorStyle" Target="colors23.xml"/><Relationship Id="rId1" Type="http://schemas.microsoft.com/office/2011/relationships/chartStyle" Target="style23.xml"/></Relationships>
</file>

<file path=ppt/charts/_rels/chart24.xml.rels><?xml version="1.0" encoding="UTF-8" standalone="yes"?>
<Relationships xmlns="http://schemas.openxmlformats.org/package/2006/relationships"><Relationship Id="rId3" Type="http://schemas.openxmlformats.org/officeDocument/2006/relationships/themeOverride" Target="../theme/themeOverride12.xml"/><Relationship Id="rId2" Type="http://schemas.microsoft.com/office/2011/relationships/chartColorStyle" Target="colors24.xml"/><Relationship Id="rId1" Type="http://schemas.microsoft.com/office/2011/relationships/chartStyle" Target="style24.xml"/><Relationship Id="rId4" Type="http://schemas.openxmlformats.org/officeDocument/2006/relationships/package" Target="../embeddings/Microsoft_Excel_Worksheet11.xlsx"/></Relationships>
</file>

<file path=ppt/charts/_rels/chart25.xml.rels><?xml version="1.0" encoding="UTF-8" standalone="yes"?>
<Relationships xmlns="http://schemas.openxmlformats.org/package/2006/relationships"><Relationship Id="rId3" Type="http://schemas.openxmlformats.org/officeDocument/2006/relationships/themeOverride" Target="../theme/themeOverride13.xml"/><Relationship Id="rId2" Type="http://schemas.microsoft.com/office/2011/relationships/chartColorStyle" Target="colors25.xml"/><Relationship Id="rId1" Type="http://schemas.microsoft.com/office/2011/relationships/chartStyle" Target="style25.xml"/><Relationship Id="rId4" Type="http://schemas.openxmlformats.org/officeDocument/2006/relationships/package" Target="../embeddings/Microsoft_Excel_Worksheet12.xlsx"/></Relationships>
</file>

<file path=ppt/charts/_rels/chart26.xml.rels><?xml version="1.0" encoding="UTF-8" standalone="yes"?>
<Relationships xmlns="http://schemas.openxmlformats.org/package/2006/relationships"><Relationship Id="rId3" Type="http://schemas.openxmlformats.org/officeDocument/2006/relationships/themeOverride" Target="../theme/themeOverride14.xml"/><Relationship Id="rId2" Type="http://schemas.microsoft.com/office/2011/relationships/chartColorStyle" Target="colors26.xml"/><Relationship Id="rId1" Type="http://schemas.microsoft.com/office/2011/relationships/chartStyle" Target="style26.xml"/><Relationship Id="rId4" Type="http://schemas.openxmlformats.org/officeDocument/2006/relationships/package" Target="../embeddings/Microsoft_Excel_Worksheet13.xlsx"/></Relationships>
</file>

<file path=ppt/charts/_rels/chart27.xml.rels><?xml version="1.0" encoding="UTF-8" standalone="yes"?>
<Relationships xmlns="http://schemas.openxmlformats.org/package/2006/relationships"><Relationship Id="rId3" Type="http://schemas.openxmlformats.org/officeDocument/2006/relationships/oleObject" Target="file:///C:\Users\User\Desktop\Presentation\OHS%20Committe%20meeting\Campus\Baniyas%20Completed\Master%20Sheet%20(All%20Campus)%20Rev%20D%20-%20Q1%20Abu%20Dhabi).xlsx" TargetMode="External"/><Relationship Id="rId2" Type="http://schemas.microsoft.com/office/2011/relationships/chartColorStyle" Target="colors27.xml"/><Relationship Id="rId1" Type="http://schemas.microsoft.com/office/2011/relationships/chartStyle" Target="style27.xml"/></Relationships>
</file>

<file path=ppt/charts/_rels/chart28.xml.rels><?xml version="1.0" encoding="UTF-8" standalone="yes"?>
<Relationships xmlns="http://schemas.openxmlformats.org/package/2006/relationships"><Relationship Id="rId3" Type="http://schemas.openxmlformats.org/officeDocument/2006/relationships/oleObject" Target="file:///C:\Users\User\Desktop\Presentation\OHS%20Committe%20meeting\Campus\Baniyas%20Completed\Master%20Sheet%20(All%20Campus)%20Rev%20D%20-%20Q1%20Abu%20Dhabi).xlsx" TargetMode="External"/><Relationship Id="rId2" Type="http://schemas.microsoft.com/office/2011/relationships/chartColorStyle" Target="colors28.xml"/><Relationship Id="rId1" Type="http://schemas.microsoft.com/office/2011/relationships/chartStyle" Target="style28.xml"/></Relationships>
</file>

<file path=ppt/charts/_rels/chart29.xml.rels><?xml version="1.0" encoding="UTF-8" standalone="yes"?>
<Relationships xmlns="http://schemas.openxmlformats.org/package/2006/relationships"><Relationship Id="rId3" Type="http://schemas.openxmlformats.org/officeDocument/2006/relationships/oleObject" Target="file:///C:\Users\User\Desktop\Presentation\OHS%20Committe%20meeting\Campus\Baniyas%20Completed\Master%20Sheet%20(All%20Campus)%20Rev%20D%20-%20Q1%20Abu%20Dhabi).xlsx" TargetMode="External"/><Relationship Id="rId2" Type="http://schemas.microsoft.com/office/2011/relationships/chartColorStyle" Target="colors29.xml"/><Relationship Id="rId1" Type="http://schemas.microsoft.com/office/2011/relationships/chartStyle" Target="style29.xml"/></Relationships>
</file>

<file path=ppt/charts/_rels/chart30.xml.rels><?xml version="1.0" encoding="UTF-8" standalone="yes"?>
<Relationships xmlns="http://schemas.openxmlformats.org/package/2006/relationships"><Relationship Id="rId3" Type="http://schemas.openxmlformats.org/officeDocument/2006/relationships/oleObject" Target="file:///C:\Users\User\Desktop\Presentation\OHS%20Committe%20meeting\Campus\Baniyas%20Completed\Master%20Sheet%20(All%20Campus)%20Rev%20D%20-%20Q1%20Abu%20Dhabi).xlsx" TargetMode="External"/><Relationship Id="rId2" Type="http://schemas.microsoft.com/office/2011/relationships/chartColorStyle" Target="colors30.xml"/><Relationship Id="rId1" Type="http://schemas.microsoft.com/office/2011/relationships/chartStyle" Target="style30.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902588310969851"/>
          <c:y val="5.6500479633733573E-4"/>
          <c:w val="0.65320343035115047"/>
          <c:h val="0.9869297326427352"/>
        </c:manualLayout>
      </c:layout>
      <c:pieChart>
        <c:varyColors val="1"/>
        <c:ser>
          <c:idx val="0"/>
          <c:order val="0"/>
          <c:spPr>
            <a:solidFill>
              <a:srgbClr val="00A3E1"/>
            </a:solidFill>
          </c:spPr>
          <c:dPt>
            <c:idx val="0"/>
            <c:bubble3D val="0"/>
            <c:spPr>
              <a:solidFill>
                <a:srgbClr val="00A3E1"/>
              </a:solidFill>
              <a:ln w="19050">
                <a:solidFill>
                  <a:schemeClr val="lt1"/>
                </a:solidFill>
              </a:ln>
              <a:effectLst/>
            </c:spPr>
            <c:extLst>
              <c:ext xmlns:c16="http://schemas.microsoft.com/office/drawing/2014/chart" uri="{C3380CC4-5D6E-409C-BE32-E72D297353CC}">
                <c16:uniqueId val="{00000001-BA65-4EE1-8706-5F9AF75E9B6F}"/>
              </c:ext>
            </c:extLst>
          </c:dPt>
          <c:dPt>
            <c:idx val="1"/>
            <c:bubble3D val="0"/>
            <c:spPr>
              <a:solidFill>
                <a:srgbClr val="00A3E1"/>
              </a:solidFill>
              <a:ln w="19050">
                <a:solidFill>
                  <a:schemeClr val="lt1"/>
                </a:solidFill>
              </a:ln>
              <a:effectLst/>
            </c:spPr>
            <c:extLst>
              <c:ext xmlns:c16="http://schemas.microsoft.com/office/drawing/2014/chart" uri="{C3380CC4-5D6E-409C-BE32-E72D297353CC}">
                <c16:uniqueId val="{00000003-BA65-4EE1-8706-5F9AF75E9B6F}"/>
              </c:ext>
            </c:extLst>
          </c:dPt>
          <c:dPt>
            <c:idx val="2"/>
            <c:bubble3D val="0"/>
            <c:spPr>
              <a:solidFill>
                <a:srgbClr val="00A3E1"/>
              </a:solidFill>
              <a:ln w="19050">
                <a:solidFill>
                  <a:schemeClr val="lt1"/>
                </a:solidFill>
              </a:ln>
              <a:effectLst/>
            </c:spPr>
            <c:extLst>
              <c:ext xmlns:c16="http://schemas.microsoft.com/office/drawing/2014/chart" uri="{C3380CC4-5D6E-409C-BE32-E72D297353CC}">
                <c16:uniqueId val="{00000005-BA65-4EE1-8706-5F9AF75E9B6F}"/>
              </c:ext>
            </c:extLst>
          </c:dPt>
          <c:dPt>
            <c:idx val="3"/>
            <c:bubble3D val="0"/>
            <c:spPr>
              <a:solidFill>
                <a:srgbClr val="00A3E1"/>
              </a:solidFill>
              <a:ln w="19050">
                <a:solidFill>
                  <a:schemeClr val="lt1"/>
                </a:solidFill>
              </a:ln>
              <a:effectLst/>
            </c:spPr>
            <c:extLst>
              <c:ext xmlns:c16="http://schemas.microsoft.com/office/drawing/2014/chart" uri="{C3380CC4-5D6E-409C-BE32-E72D297353CC}">
                <c16:uniqueId val="{00000007-BA65-4EE1-8706-5F9AF75E9B6F}"/>
              </c:ext>
            </c:extLst>
          </c:dPt>
          <c:dPt>
            <c:idx val="4"/>
            <c:bubble3D val="0"/>
            <c:spPr>
              <a:solidFill>
                <a:srgbClr val="00A3E1"/>
              </a:solidFill>
              <a:ln w="19050">
                <a:solidFill>
                  <a:schemeClr val="lt1"/>
                </a:solidFill>
              </a:ln>
              <a:effectLst/>
            </c:spPr>
            <c:extLst>
              <c:ext xmlns:c16="http://schemas.microsoft.com/office/drawing/2014/chart" uri="{C3380CC4-5D6E-409C-BE32-E72D297353CC}">
                <c16:uniqueId val="{00000009-BA65-4EE1-8706-5F9AF75E9B6F}"/>
              </c:ext>
            </c:extLst>
          </c:dPt>
          <c:dLbls>
            <c:dLbl>
              <c:idx val="0"/>
              <c:layout>
                <c:manualLayout>
                  <c:x val="-0.16487988540823936"/>
                  <c:y val="0.21043838976193191"/>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1-BA65-4EE1-8706-5F9AF75E9B6F}"/>
                </c:ext>
              </c:extLst>
            </c:dLbl>
            <c:dLbl>
              <c:idx val="1"/>
              <c:layout>
                <c:manualLayout>
                  <c:x val="-0.23891016132627421"/>
                  <c:y val="-0.12164657640375343"/>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A65-4EE1-8706-5F9AF75E9B6F}"/>
                </c:ext>
              </c:extLst>
            </c:dLbl>
            <c:dLbl>
              <c:idx val="2"/>
              <c:layout>
                <c:manualLayout>
                  <c:x val="-9.4551292259325348E-2"/>
                  <c:y val="-9.1621826068713233E-2"/>
                </c:manualLayout>
              </c:layout>
              <c:spPr>
                <a:noFill/>
                <a:ln>
                  <a:noFill/>
                </a:ln>
                <a:effectLst/>
              </c:spPr>
              <c:txPr>
                <a:bodyPr rot="0" spcFirstLastPara="1" vertOverflow="ellipsis" vert="horz" wrap="square" lIns="38100" tIns="19050" rIns="38100" bIns="19050" anchor="ctr" anchorCtr="1">
                  <a:noAutofit/>
                </a:bodyPr>
                <a:lstStyle/>
                <a:p>
                  <a:pPr>
                    <a:defRPr sz="12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1"/>
              <c:showSerName val="0"/>
              <c:showPercent val="0"/>
              <c:showBubbleSize val="0"/>
              <c:extLst>
                <c:ext xmlns:c15="http://schemas.microsoft.com/office/drawing/2012/chart" uri="{CE6537A1-D6FC-4f65-9D91-7224C49458BB}">
                  <c15:layout>
                    <c:manualLayout>
                      <c:w val="0.10964754195876607"/>
                      <c:h val="0.1950950570342205"/>
                    </c:manualLayout>
                  </c15:layout>
                </c:ext>
                <c:ext xmlns:c16="http://schemas.microsoft.com/office/drawing/2014/chart" uri="{C3380CC4-5D6E-409C-BE32-E72D297353CC}">
                  <c16:uniqueId val="{00000005-BA65-4EE1-8706-5F9AF75E9B6F}"/>
                </c:ext>
              </c:extLst>
            </c:dLbl>
            <c:dLbl>
              <c:idx val="3"/>
              <c:layout>
                <c:manualLayout>
                  <c:x val="0.17089371763214278"/>
                  <c:y val="-0.26345155502357021"/>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7-BA65-4EE1-8706-5F9AF75E9B6F}"/>
                </c:ext>
              </c:extLst>
            </c:dLbl>
            <c:dLbl>
              <c:idx val="4"/>
              <c:layout>
                <c:manualLayout>
                  <c:x val="0.17808724396757206"/>
                  <c:y val="0.22657342216650292"/>
                </c:manualLayout>
              </c:layout>
              <c:tx>
                <c:rich>
                  <a:bodyPr/>
                  <a:lstStyle/>
                  <a:p>
                    <a:fld id="{54EFDA80-51B9-4B77-AD05-126701107E30}" type="CATEGORYNAME">
                      <a:rPr lang="en-US" b="0"/>
                      <a:pPr/>
                      <a:t>[CATEGORY NAME]</a:t>
                    </a:fld>
                    <a:endParaRPr lang="en-US"/>
                  </a:p>
                </c:rich>
              </c:tx>
              <c:showLegendKey val="0"/>
              <c:showVal val="0"/>
              <c:showCatName val="1"/>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9-BA65-4EE1-8706-5F9AF75E9B6F}"/>
                </c:ext>
              </c:extLst>
            </c:dLbl>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Sheet1!$B$3:$B$7</c:f>
              <c:strCache>
                <c:ptCount val="5"/>
                <c:pt idx="0">
                  <c:v>1. Leadership, Accountability &amp; Engagement (20%)</c:v>
                </c:pt>
                <c:pt idx="1">
                  <c:v>2. Risk Management &amp; Planning (20%)</c:v>
                </c:pt>
                <c:pt idx="2">
                  <c:v>3. Training &amp; Awareness (10%)</c:v>
                </c:pt>
                <c:pt idx="3">
                  <c:v>4. Operational Control &amp; Emergency Preparedness (25%)</c:v>
                </c:pt>
                <c:pt idx="4">
                  <c:v>5. Performance Evaluation &amp; Continual Improvement (25%)</c:v>
                </c:pt>
              </c:strCache>
            </c:strRef>
          </c:cat>
          <c:val>
            <c:numRef>
              <c:f>Sheet1!$C$3:$C$7</c:f>
              <c:numCache>
                <c:formatCode>General</c:formatCode>
                <c:ptCount val="5"/>
                <c:pt idx="0">
                  <c:v>20</c:v>
                </c:pt>
                <c:pt idx="1">
                  <c:v>20</c:v>
                </c:pt>
                <c:pt idx="2">
                  <c:v>10</c:v>
                </c:pt>
                <c:pt idx="3">
                  <c:v>25</c:v>
                </c:pt>
                <c:pt idx="4">
                  <c:v>25</c:v>
                </c:pt>
              </c:numCache>
            </c:numRef>
          </c:val>
          <c:extLst>
            <c:ext xmlns:c16="http://schemas.microsoft.com/office/drawing/2014/chart" uri="{C3380CC4-5D6E-409C-BE32-E72D297353CC}">
              <c16:uniqueId val="{0000000A-BA65-4EE1-8706-5F9AF75E9B6F}"/>
            </c:ext>
          </c:extLst>
        </c:ser>
        <c:dLbls>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pPr>
      <a:endParaRPr lang="en-US"/>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7.2361443374372211E-2"/>
          <c:y val="1.3070339256923179E-2"/>
          <c:w val="0.65320343035115047"/>
          <c:h val="0.9869297326427352"/>
        </c:manualLayout>
      </c:layout>
      <c:pieChart>
        <c:varyColors val="1"/>
        <c:ser>
          <c:idx val="0"/>
          <c:order val="0"/>
          <c:spPr>
            <a:solidFill>
              <a:srgbClr val="00A3E1"/>
            </a:solidFill>
          </c:spPr>
          <c:dPt>
            <c:idx val="0"/>
            <c:bubble3D val="0"/>
            <c:spPr>
              <a:solidFill>
                <a:srgbClr val="00249C"/>
              </a:solidFill>
              <a:ln w="19050">
                <a:solidFill>
                  <a:schemeClr val="lt1"/>
                </a:solidFill>
              </a:ln>
              <a:effectLst/>
            </c:spPr>
            <c:extLst>
              <c:ext xmlns:c16="http://schemas.microsoft.com/office/drawing/2014/chart" uri="{C3380CC4-5D6E-409C-BE32-E72D297353CC}">
                <c16:uniqueId val="{00000001-BA65-4EE1-8706-5F9AF75E9B6F}"/>
              </c:ext>
            </c:extLst>
          </c:dPt>
          <c:dPt>
            <c:idx val="1"/>
            <c:bubble3D val="0"/>
            <c:spPr>
              <a:solidFill>
                <a:srgbClr val="00A3E1"/>
              </a:solidFill>
              <a:ln w="19050">
                <a:solidFill>
                  <a:schemeClr val="lt1"/>
                </a:solidFill>
              </a:ln>
              <a:effectLst/>
            </c:spPr>
            <c:extLst>
              <c:ext xmlns:c16="http://schemas.microsoft.com/office/drawing/2014/chart" uri="{C3380CC4-5D6E-409C-BE32-E72D297353CC}">
                <c16:uniqueId val="{00000003-BA65-4EE1-8706-5F9AF75E9B6F}"/>
              </c:ext>
            </c:extLst>
          </c:dPt>
          <c:dPt>
            <c:idx val="2"/>
            <c:bubble3D val="0"/>
            <c:spPr>
              <a:solidFill>
                <a:srgbClr val="00A3E1"/>
              </a:solidFill>
              <a:ln w="19050">
                <a:solidFill>
                  <a:schemeClr val="lt1"/>
                </a:solidFill>
              </a:ln>
              <a:effectLst/>
            </c:spPr>
            <c:extLst>
              <c:ext xmlns:c16="http://schemas.microsoft.com/office/drawing/2014/chart" uri="{C3380CC4-5D6E-409C-BE32-E72D297353CC}">
                <c16:uniqueId val="{00000005-BA65-4EE1-8706-5F9AF75E9B6F}"/>
              </c:ext>
            </c:extLst>
          </c:dPt>
          <c:dPt>
            <c:idx val="3"/>
            <c:bubble3D val="0"/>
            <c:spPr>
              <a:solidFill>
                <a:srgbClr val="00A3E1"/>
              </a:solidFill>
              <a:ln w="19050">
                <a:solidFill>
                  <a:schemeClr val="lt1"/>
                </a:solidFill>
              </a:ln>
              <a:effectLst/>
            </c:spPr>
            <c:extLst>
              <c:ext xmlns:c16="http://schemas.microsoft.com/office/drawing/2014/chart" uri="{C3380CC4-5D6E-409C-BE32-E72D297353CC}">
                <c16:uniqueId val="{00000007-BA65-4EE1-8706-5F9AF75E9B6F}"/>
              </c:ext>
            </c:extLst>
          </c:dPt>
          <c:dPt>
            <c:idx val="4"/>
            <c:bubble3D val="0"/>
            <c:spPr>
              <a:solidFill>
                <a:srgbClr val="00A3E1"/>
              </a:solidFill>
              <a:ln w="19050">
                <a:solidFill>
                  <a:schemeClr val="lt1"/>
                </a:solidFill>
              </a:ln>
              <a:effectLst/>
            </c:spPr>
            <c:extLst>
              <c:ext xmlns:c16="http://schemas.microsoft.com/office/drawing/2014/chart" uri="{C3380CC4-5D6E-409C-BE32-E72D297353CC}">
                <c16:uniqueId val="{00000009-BA65-4EE1-8706-5F9AF75E9B6F}"/>
              </c:ext>
            </c:extLst>
          </c:dPt>
          <c:dLbls>
            <c:dLbl>
              <c:idx val="0"/>
              <c:layout>
                <c:manualLayout>
                  <c:x val="-0.16487988540823936"/>
                  <c:y val="0.21043838976193191"/>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1-BA65-4EE1-8706-5F9AF75E9B6F}"/>
                </c:ext>
              </c:extLst>
            </c:dLbl>
            <c:dLbl>
              <c:idx val="1"/>
              <c:layout>
                <c:manualLayout>
                  <c:x val="-0.23891016132627421"/>
                  <c:y val="-0.12164657640375343"/>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A65-4EE1-8706-5F9AF75E9B6F}"/>
                </c:ext>
              </c:extLst>
            </c:dLbl>
            <c:dLbl>
              <c:idx val="2"/>
              <c:layout>
                <c:manualLayout>
                  <c:x val="-9.4551292259325348E-2"/>
                  <c:y val="-9.1621826068713233E-2"/>
                </c:manualLayout>
              </c:layout>
              <c:spPr>
                <a:noFill/>
                <a:ln>
                  <a:noFill/>
                </a:ln>
                <a:effectLst/>
              </c:spPr>
              <c:txPr>
                <a:bodyPr rot="0" spcFirstLastPara="1" vertOverflow="ellipsis" vert="horz" wrap="square" lIns="38100" tIns="19050" rIns="38100" bIns="19050" anchor="ctr" anchorCtr="1">
                  <a:noAutofit/>
                </a:bodyPr>
                <a:lstStyle/>
                <a:p>
                  <a:pPr>
                    <a:defRPr sz="12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1"/>
              <c:showSerName val="0"/>
              <c:showPercent val="0"/>
              <c:showBubbleSize val="0"/>
              <c:extLst>
                <c:ext xmlns:c15="http://schemas.microsoft.com/office/drawing/2012/chart" uri="{CE6537A1-D6FC-4f65-9D91-7224C49458BB}">
                  <c15:layout>
                    <c:manualLayout>
                      <c:w val="0.10964754195876607"/>
                      <c:h val="0.1950950570342205"/>
                    </c:manualLayout>
                  </c15:layout>
                </c:ext>
                <c:ext xmlns:c16="http://schemas.microsoft.com/office/drawing/2014/chart" uri="{C3380CC4-5D6E-409C-BE32-E72D297353CC}">
                  <c16:uniqueId val="{00000005-BA65-4EE1-8706-5F9AF75E9B6F}"/>
                </c:ext>
              </c:extLst>
            </c:dLbl>
            <c:dLbl>
              <c:idx val="3"/>
              <c:layout>
                <c:manualLayout>
                  <c:x val="0.17089371763214278"/>
                  <c:y val="-0.26345155502357021"/>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7-BA65-4EE1-8706-5F9AF75E9B6F}"/>
                </c:ext>
              </c:extLst>
            </c:dLbl>
            <c:dLbl>
              <c:idx val="4"/>
              <c:layout>
                <c:manualLayout>
                  <c:x val="0.17808724396757206"/>
                  <c:y val="0.22657342216650292"/>
                </c:manualLayout>
              </c:layout>
              <c:tx>
                <c:rich>
                  <a:bodyPr/>
                  <a:lstStyle/>
                  <a:p>
                    <a:fld id="{54EFDA80-51B9-4B77-AD05-126701107E30}" type="CATEGORYNAME">
                      <a:rPr lang="en-US" b="0"/>
                      <a:pPr/>
                      <a:t>[CATEGORY NAME]</a:t>
                    </a:fld>
                    <a:endParaRPr lang="en-US"/>
                  </a:p>
                </c:rich>
              </c:tx>
              <c:showLegendKey val="0"/>
              <c:showVal val="0"/>
              <c:showCatName val="1"/>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9-BA65-4EE1-8706-5F9AF75E9B6F}"/>
                </c:ext>
              </c:extLst>
            </c:dLbl>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Sheet1!$B$3:$B$7</c:f>
              <c:strCache>
                <c:ptCount val="5"/>
                <c:pt idx="0">
                  <c:v>1. Leadership, Accountability &amp; Engagement (20%)</c:v>
                </c:pt>
                <c:pt idx="1">
                  <c:v>2. Risk Management &amp; Planning (20%)</c:v>
                </c:pt>
                <c:pt idx="2">
                  <c:v>3. Training &amp; Awareness (10%)</c:v>
                </c:pt>
                <c:pt idx="3">
                  <c:v>4. Operational Control &amp; Emergency Preparedness (25%)</c:v>
                </c:pt>
                <c:pt idx="4">
                  <c:v>5. Performance Evaluation &amp; Continual Improvement (25%)</c:v>
                </c:pt>
              </c:strCache>
            </c:strRef>
          </c:cat>
          <c:val>
            <c:numRef>
              <c:f>Sheet1!$C$3:$C$7</c:f>
              <c:numCache>
                <c:formatCode>General</c:formatCode>
                <c:ptCount val="5"/>
                <c:pt idx="0">
                  <c:v>20</c:v>
                </c:pt>
                <c:pt idx="1">
                  <c:v>20</c:v>
                </c:pt>
                <c:pt idx="2">
                  <c:v>10</c:v>
                </c:pt>
                <c:pt idx="3">
                  <c:v>25</c:v>
                </c:pt>
                <c:pt idx="4">
                  <c:v>25</c:v>
                </c:pt>
              </c:numCache>
            </c:numRef>
          </c:val>
          <c:extLst>
            <c:ext xmlns:c16="http://schemas.microsoft.com/office/drawing/2014/chart" uri="{C3380CC4-5D6E-409C-BE32-E72D297353CC}">
              <c16:uniqueId val="{0000000A-BA65-4EE1-8706-5F9AF75E9B6F}"/>
            </c:ext>
          </c:extLst>
        </c:ser>
        <c:dLbls>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pPr>
      <a:endParaRPr lang="en-US"/>
    </a:p>
  </c:txPr>
  <c:externalData r:id="rId4">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200" b="0" i="0" u="none" strike="noStrike" kern="1200" spc="0" baseline="0">
                <a:solidFill>
                  <a:srgbClr val="002060"/>
                </a:solidFill>
                <a:latin typeface="Tahoma" panose="020B0604030504040204" pitchFamily="34" charset="0"/>
                <a:ea typeface="Tahoma" panose="020B0604030504040204" pitchFamily="34" charset="0"/>
                <a:cs typeface="Tahoma" panose="020B0604030504040204" pitchFamily="34" charset="0"/>
              </a:defRPr>
            </a:pPr>
            <a:r>
              <a:rPr lang="en-US" sz="1200">
                <a:solidFill>
                  <a:srgbClr val="002060"/>
                </a:solidFill>
              </a:rPr>
              <a:t>Accountability (50%)</a:t>
            </a:r>
          </a:p>
        </c:rich>
      </c:tx>
      <c:layout>
        <c:manualLayout>
          <c:xMode val="edge"/>
          <c:yMode val="edge"/>
          <c:x val="0.69842488781954515"/>
          <c:y val="3.6090487112869717E-3"/>
        </c:manualLayout>
      </c:layout>
      <c:overlay val="0"/>
      <c:spPr>
        <a:noFill/>
        <a:ln>
          <a:noFill/>
        </a:ln>
        <a:effectLst/>
      </c:spPr>
      <c:txPr>
        <a:bodyPr rot="0" spcFirstLastPara="1" vertOverflow="ellipsis" vert="horz" wrap="square" anchor="ctr" anchorCtr="1"/>
        <a:lstStyle/>
        <a:p>
          <a:pPr>
            <a:defRPr sz="1200" b="0" i="0" u="none" strike="noStrike" kern="1200" spc="0" baseline="0">
              <a:solidFill>
                <a:srgbClr val="002060"/>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manualLayout>
          <c:layoutTarget val="inner"/>
          <c:xMode val="edge"/>
          <c:yMode val="edge"/>
          <c:x val="0.11380230406539979"/>
          <c:y val="1.3070119178325415E-2"/>
          <c:w val="0.65320343035115047"/>
          <c:h val="0.9869297326427352"/>
        </c:manualLayout>
      </c:layout>
      <c:pieChart>
        <c:varyColors val="1"/>
        <c:ser>
          <c:idx val="0"/>
          <c:order val="0"/>
          <c:spPr>
            <a:solidFill>
              <a:srgbClr val="00249C"/>
            </a:solidFill>
          </c:spPr>
          <c:dPt>
            <c:idx val="0"/>
            <c:bubble3D val="0"/>
            <c:spPr>
              <a:solidFill>
                <a:srgbClr val="00249C"/>
              </a:solidFill>
              <a:ln w="19050">
                <a:solidFill>
                  <a:schemeClr val="lt1"/>
                </a:solidFill>
              </a:ln>
              <a:effectLst/>
            </c:spPr>
            <c:extLst>
              <c:ext xmlns:c16="http://schemas.microsoft.com/office/drawing/2014/chart" uri="{C3380CC4-5D6E-409C-BE32-E72D297353CC}">
                <c16:uniqueId val="{00000001-2395-465F-8C4D-4A12DF8545DB}"/>
              </c:ext>
            </c:extLst>
          </c:dPt>
          <c:dPt>
            <c:idx val="1"/>
            <c:bubble3D val="0"/>
            <c:spPr>
              <a:solidFill>
                <a:srgbClr val="00249C"/>
              </a:solidFill>
              <a:ln w="19050">
                <a:solidFill>
                  <a:schemeClr val="lt1"/>
                </a:solidFill>
              </a:ln>
              <a:effectLst/>
            </c:spPr>
            <c:extLst>
              <c:ext xmlns:c16="http://schemas.microsoft.com/office/drawing/2014/chart" uri="{C3380CC4-5D6E-409C-BE32-E72D297353CC}">
                <c16:uniqueId val="{00000003-2395-465F-8C4D-4A12DF8545DB}"/>
              </c:ext>
            </c:extLst>
          </c:dPt>
          <c:dPt>
            <c:idx val="2"/>
            <c:bubble3D val="0"/>
            <c:spPr>
              <a:solidFill>
                <a:srgbClr val="00249C"/>
              </a:solidFill>
              <a:ln w="19050">
                <a:solidFill>
                  <a:schemeClr val="lt1"/>
                </a:solidFill>
              </a:ln>
              <a:effectLst/>
            </c:spPr>
            <c:extLst>
              <c:ext xmlns:c16="http://schemas.microsoft.com/office/drawing/2014/chart" uri="{C3380CC4-5D6E-409C-BE32-E72D297353CC}">
                <c16:uniqueId val="{00000005-2395-465F-8C4D-4A12DF8545DB}"/>
              </c:ext>
            </c:extLst>
          </c:dPt>
          <c:dLbls>
            <c:dLbl>
              <c:idx val="0"/>
              <c:layout>
                <c:manualLayout>
                  <c:x val="-0.21541360595483128"/>
                  <c:y val="-0.15526921514463773"/>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1-2395-465F-8C4D-4A12DF8545DB}"/>
                </c:ext>
              </c:extLst>
            </c:dLbl>
            <c:dLbl>
              <c:idx val="1"/>
              <c:layout>
                <c:manualLayout>
                  <c:x val="0.17648645312572847"/>
                  <c:y val="-0.12446124963110321"/>
                </c:manualLayout>
              </c:layout>
              <c:showLegendKey val="0"/>
              <c:showVal val="0"/>
              <c:showCatName val="1"/>
              <c:showSerName val="0"/>
              <c:showPercent val="0"/>
              <c:showBubbleSize val="0"/>
              <c:extLst>
                <c:ext xmlns:c15="http://schemas.microsoft.com/office/drawing/2012/chart" uri="{CE6537A1-D6FC-4f65-9D91-7224C49458BB}">
                  <c15:layout>
                    <c:manualLayout>
                      <c:w val="0.14240472492346479"/>
                      <c:h val="0.19509517235381721"/>
                    </c:manualLayout>
                  </c15:layout>
                </c:ext>
                <c:ext xmlns:c16="http://schemas.microsoft.com/office/drawing/2014/chart" uri="{C3380CC4-5D6E-409C-BE32-E72D297353CC}">
                  <c16:uniqueId val="{00000003-2395-465F-8C4D-4A12DF8545DB}"/>
                </c:ext>
              </c:extLst>
            </c:dLbl>
            <c:dLbl>
              <c:idx val="2"/>
              <c:layout>
                <c:manualLayout>
                  <c:x val="0.14501917634209555"/>
                  <c:y val="0.10639708312850249"/>
                </c:manualLayout>
              </c:layout>
              <c:showLegendKey val="0"/>
              <c:showVal val="0"/>
              <c:showCatName val="1"/>
              <c:showSerName val="0"/>
              <c:showPercent val="0"/>
              <c:showBubbleSize val="0"/>
              <c:extLst>
                <c:ext xmlns:c15="http://schemas.microsoft.com/office/drawing/2012/chart" uri="{CE6537A1-D6FC-4f65-9D91-7224C49458BB}">
                  <c15:layout>
                    <c:manualLayout>
                      <c:w val="0.14777152408736582"/>
                      <c:h val="0.33097883569125314"/>
                    </c:manualLayout>
                  </c15:layout>
                </c:ext>
                <c:ext xmlns:c16="http://schemas.microsoft.com/office/drawing/2014/chart" uri="{C3380CC4-5D6E-409C-BE32-E72D297353CC}">
                  <c16:uniqueId val="{00000005-2395-465F-8C4D-4A12DF8545DB}"/>
                </c:ext>
              </c:extLst>
            </c:dLbl>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0"/>
            <c:showSerName val="0"/>
            <c:showPercent val="0"/>
            <c:showBubbleSize val="0"/>
            <c:extLst>
              <c:ext xmlns:c15="http://schemas.microsoft.com/office/drawing/2012/chart" uri="{CE6537A1-D6FC-4f65-9D91-7224C49458BB}"/>
            </c:extLst>
          </c:dLbls>
          <c:cat>
            <c:strRef>
              <c:f>'Sheet1 (2)'!$B$4:$B$6</c:f>
              <c:strCache>
                <c:ptCount val="3"/>
                <c:pt idx="0">
                  <c:v>EHS KPI Report (60%)</c:v>
                </c:pt>
                <c:pt idx="1">
                  <c:v>External Audit (20%)</c:v>
                </c:pt>
                <c:pt idx="2">
                  <c:v>External Authority Compliance (20%)</c:v>
                </c:pt>
              </c:strCache>
            </c:strRef>
          </c:cat>
          <c:val>
            <c:numRef>
              <c:f>'Sheet1 (2)'!$C$4:$C$6</c:f>
              <c:numCache>
                <c:formatCode>General</c:formatCode>
                <c:ptCount val="3"/>
                <c:pt idx="0">
                  <c:v>60</c:v>
                </c:pt>
                <c:pt idx="1">
                  <c:v>20</c:v>
                </c:pt>
                <c:pt idx="2">
                  <c:v>20</c:v>
                </c:pt>
              </c:numCache>
            </c:numRef>
          </c:val>
          <c:extLst>
            <c:ext xmlns:c16="http://schemas.microsoft.com/office/drawing/2014/chart" uri="{C3380CC4-5D6E-409C-BE32-E72D297353CC}">
              <c16:uniqueId val="{00000008-2395-465F-8C4D-4A12DF8545DB}"/>
            </c:ext>
          </c:extLst>
        </c:ser>
        <c:dLbls>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4">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200" b="0" i="0" u="none" strike="noStrike" kern="1200" spc="0" baseline="0">
                <a:solidFill>
                  <a:srgbClr val="002060"/>
                </a:solidFill>
                <a:latin typeface="Tahoma" panose="020B0604030504040204" pitchFamily="34" charset="0"/>
                <a:ea typeface="Tahoma" panose="020B0604030504040204" pitchFamily="34" charset="0"/>
                <a:cs typeface="Tahoma" panose="020B0604030504040204" pitchFamily="34" charset="0"/>
              </a:defRPr>
            </a:pPr>
            <a:r>
              <a:rPr lang="en-US" sz="1200">
                <a:solidFill>
                  <a:srgbClr val="002060"/>
                </a:solidFill>
              </a:rPr>
              <a:t>Leadership</a:t>
            </a:r>
            <a:r>
              <a:rPr lang="en-US" sz="1200" baseline="0">
                <a:solidFill>
                  <a:srgbClr val="002060"/>
                </a:solidFill>
              </a:rPr>
              <a:t> Engagement</a:t>
            </a:r>
            <a:r>
              <a:rPr lang="en-US" sz="1200">
                <a:solidFill>
                  <a:srgbClr val="002060"/>
                </a:solidFill>
              </a:rPr>
              <a:t> (50%)</a:t>
            </a:r>
          </a:p>
        </c:rich>
      </c:tx>
      <c:layout>
        <c:manualLayout>
          <c:xMode val="edge"/>
          <c:yMode val="edge"/>
          <c:x val="0.52783084603261432"/>
          <c:y val="2.1588263264079462E-3"/>
        </c:manualLayout>
      </c:layout>
      <c:overlay val="0"/>
      <c:spPr>
        <a:noFill/>
        <a:ln>
          <a:noFill/>
        </a:ln>
        <a:effectLst/>
      </c:spPr>
      <c:txPr>
        <a:bodyPr rot="0" spcFirstLastPara="1" vertOverflow="ellipsis" vert="horz" wrap="square" anchor="ctr" anchorCtr="1"/>
        <a:lstStyle/>
        <a:p>
          <a:pPr>
            <a:defRPr sz="1200" b="0" i="0" u="none" strike="noStrike" kern="1200" spc="0" baseline="0">
              <a:solidFill>
                <a:srgbClr val="002060"/>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manualLayout>
          <c:layoutTarget val="inner"/>
          <c:xMode val="edge"/>
          <c:yMode val="edge"/>
          <c:x val="5.962634614962823E-2"/>
          <c:y val="1.3070246140492282E-2"/>
          <c:w val="0.65320343035115047"/>
          <c:h val="0.9869297326427352"/>
        </c:manualLayout>
      </c:layout>
      <c:pieChart>
        <c:varyColors val="1"/>
        <c:ser>
          <c:idx val="0"/>
          <c:order val="0"/>
          <c:spPr>
            <a:solidFill>
              <a:srgbClr val="00A3E1"/>
            </a:solidFill>
          </c:spPr>
          <c:dPt>
            <c:idx val="0"/>
            <c:bubble3D val="0"/>
            <c:spPr>
              <a:solidFill>
                <a:srgbClr val="00249C"/>
              </a:solidFill>
              <a:ln w="19050">
                <a:solidFill>
                  <a:schemeClr val="lt1"/>
                </a:solidFill>
              </a:ln>
              <a:effectLst/>
            </c:spPr>
            <c:extLst>
              <c:ext xmlns:c16="http://schemas.microsoft.com/office/drawing/2014/chart" uri="{C3380CC4-5D6E-409C-BE32-E72D297353CC}">
                <c16:uniqueId val="{00000001-B508-4E60-B45A-7258367F01DA}"/>
              </c:ext>
            </c:extLst>
          </c:dPt>
          <c:dPt>
            <c:idx val="1"/>
            <c:bubble3D val="0"/>
            <c:spPr>
              <a:solidFill>
                <a:srgbClr val="00249C"/>
              </a:solidFill>
              <a:ln w="19050">
                <a:solidFill>
                  <a:schemeClr val="lt1"/>
                </a:solidFill>
              </a:ln>
              <a:effectLst/>
            </c:spPr>
            <c:extLst>
              <c:ext xmlns:c16="http://schemas.microsoft.com/office/drawing/2014/chart" uri="{C3380CC4-5D6E-409C-BE32-E72D297353CC}">
                <c16:uniqueId val="{00000003-B508-4E60-B45A-7258367F01DA}"/>
              </c:ext>
            </c:extLst>
          </c:dPt>
          <c:dLbls>
            <c:dLbl>
              <c:idx val="0"/>
              <c:layout>
                <c:manualLayout>
                  <c:x val="-0.23771443456899174"/>
                  <c:y val="-3.4551346105445746E-2"/>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1-B508-4E60-B45A-7258367F01DA}"/>
                </c:ext>
              </c:extLst>
            </c:dLbl>
            <c:dLbl>
              <c:idx val="1"/>
              <c:layout>
                <c:manualLayout>
                  <c:x val="0.13977429165861602"/>
                  <c:y val="-3.25051980824895E-2"/>
                </c:manualLayout>
              </c:layout>
              <c:showLegendKey val="0"/>
              <c:showVal val="0"/>
              <c:showCatName val="1"/>
              <c:showSerName val="0"/>
              <c:showPercent val="0"/>
              <c:showBubbleSize val="0"/>
              <c:extLst>
                <c:ext xmlns:c15="http://schemas.microsoft.com/office/drawing/2012/chart" uri="{CE6537A1-D6FC-4f65-9D91-7224C49458BB}">
                  <c15:layout>
                    <c:manualLayout>
                      <c:w val="0.25205765753954013"/>
                      <c:h val="0.34515897920254973"/>
                    </c:manualLayout>
                  </c15:layout>
                </c:ext>
                <c:ext xmlns:c16="http://schemas.microsoft.com/office/drawing/2014/chart" uri="{C3380CC4-5D6E-409C-BE32-E72D297353CC}">
                  <c16:uniqueId val="{00000003-B508-4E60-B45A-7258367F01DA}"/>
                </c:ext>
              </c:extLst>
            </c:dLbl>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0"/>
            <c:showSerName val="0"/>
            <c:showPercent val="0"/>
            <c:showBubbleSize val="0"/>
            <c:extLst>
              <c:ext xmlns:c15="http://schemas.microsoft.com/office/drawing/2012/chart" uri="{CE6537A1-D6FC-4f65-9D91-7224C49458BB}"/>
            </c:extLst>
          </c:dLbls>
          <c:cat>
            <c:strRef>
              <c:f>'Sheet1 (3)'!$B$4:$B$5</c:f>
              <c:strCache>
                <c:ptCount val="2"/>
                <c:pt idx="0">
                  <c:v>EHS Committee Meeting (50%)</c:v>
                </c:pt>
                <c:pt idx="1">
                  <c:v>Management Review &amp; Committee Actions Closed (50%)</c:v>
                </c:pt>
              </c:strCache>
            </c:strRef>
          </c:cat>
          <c:val>
            <c:numRef>
              <c:f>'Sheet1 (3)'!$C$4:$C$5</c:f>
              <c:numCache>
                <c:formatCode>General</c:formatCode>
                <c:ptCount val="2"/>
                <c:pt idx="0">
                  <c:v>50</c:v>
                </c:pt>
                <c:pt idx="1">
                  <c:v>50</c:v>
                </c:pt>
              </c:numCache>
            </c:numRef>
          </c:val>
          <c:extLst>
            <c:ext xmlns:c16="http://schemas.microsoft.com/office/drawing/2014/chart" uri="{C3380CC4-5D6E-409C-BE32-E72D297353CC}">
              <c16:uniqueId val="{00000008-B508-4E60-B45A-7258367F01DA}"/>
            </c:ext>
          </c:extLst>
        </c:ser>
        <c:dLbls>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4">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00249C">
                    <a:lumMod val="65000"/>
                    <a:lumOff val="35000"/>
                  </a:srgbClr>
                </a:solidFill>
                <a:effectLst/>
              </a:rPr>
              <a:t>HS KPI </a:t>
            </a:r>
            <a:r>
              <a:rPr lang="en-US" sz="1400" b="0" i="0" u="none" strike="noStrike" kern="1200" spc="0" baseline="0" dirty="0">
                <a:solidFill>
                  <a:srgbClr val="00249C">
                    <a:lumMod val="65000"/>
                    <a:lumOff val="35000"/>
                  </a:srgbClr>
                </a:solidFill>
              </a:rPr>
              <a:t>Report</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'KPI 1'!$Q$19</c:f>
              <c:strCache>
                <c:ptCount val="1"/>
                <c:pt idx="0">
                  <c:v>KPI H&amp;S Report </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'KPI 1'!$R$18:$S$18</c:f>
              <c:strCache>
                <c:ptCount val="2"/>
                <c:pt idx="0">
                  <c:v>Baniyas A</c:v>
                </c:pt>
                <c:pt idx="1">
                  <c:v>Baniyas B</c:v>
                </c:pt>
              </c:strCache>
            </c:strRef>
          </c:cat>
          <c:val>
            <c:numRef>
              <c:f>'KPI 1'!$R$19:$S$19</c:f>
              <c:numCache>
                <c:formatCode>0%</c:formatCode>
                <c:ptCount val="2"/>
                <c:pt idx="0">
                  <c:v>1</c:v>
                </c:pt>
                <c:pt idx="1">
                  <c:v>1</c:v>
                </c:pt>
              </c:numCache>
            </c:numRef>
          </c:val>
          <c:extLst>
            <c:ext xmlns:c16="http://schemas.microsoft.com/office/drawing/2014/chart" uri="{C3380CC4-5D6E-409C-BE32-E72D297353CC}">
              <c16:uniqueId val="{00000000-8390-445A-8892-586C8B0440AE}"/>
            </c:ext>
          </c:extLst>
        </c:ser>
        <c:dLbls>
          <c:showLegendKey val="0"/>
          <c:showVal val="1"/>
          <c:showCatName val="0"/>
          <c:showSerName val="0"/>
          <c:showPercent val="0"/>
          <c:showBubbleSize val="0"/>
        </c:dLbls>
        <c:gapWidth val="219"/>
        <c:overlap val="-27"/>
        <c:axId val="1519279375"/>
        <c:axId val="1519280815"/>
      </c:barChart>
      <c:lineChart>
        <c:grouping val="standard"/>
        <c:varyColors val="0"/>
        <c:ser>
          <c:idx val="1"/>
          <c:order val="1"/>
          <c:tx>
            <c:strRef>
              <c:f>'KPI 1'!$Q$20</c:f>
              <c:strCache>
                <c:ptCount val="1"/>
                <c:pt idx="0">
                  <c:v>Average All Campuses</c:v>
                </c:pt>
              </c:strCache>
            </c:strRef>
          </c:tx>
          <c:spPr>
            <a:ln w="28575" cap="rnd">
              <a:solidFill>
                <a:schemeClr val="accent2"/>
              </a:solidFill>
              <a:round/>
            </a:ln>
            <a:effectLst/>
          </c:spPr>
          <c:marker>
            <c:symbol val="none"/>
          </c:marker>
          <c:dLbls>
            <c:delete val="1"/>
          </c:dLbls>
          <c:cat>
            <c:strRef>
              <c:f>'KPI 1'!$R$18:$S$18</c:f>
              <c:strCache>
                <c:ptCount val="2"/>
                <c:pt idx="0">
                  <c:v>Baniyas A</c:v>
                </c:pt>
                <c:pt idx="1">
                  <c:v>Baniyas B</c:v>
                </c:pt>
              </c:strCache>
            </c:strRef>
          </c:cat>
          <c:val>
            <c:numRef>
              <c:f>'KPI 1'!$R$20:$S$20</c:f>
              <c:numCache>
                <c:formatCode>0%</c:formatCode>
                <c:ptCount val="2"/>
                <c:pt idx="0">
                  <c:v>0.95</c:v>
                </c:pt>
                <c:pt idx="1">
                  <c:v>0.95</c:v>
                </c:pt>
              </c:numCache>
            </c:numRef>
          </c:val>
          <c:smooth val="0"/>
          <c:extLst>
            <c:ext xmlns:c16="http://schemas.microsoft.com/office/drawing/2014/chart" uri="{C3380CC4-5D6E-409C-BE32-E72D297353CC}">
              <c16:uniqueId val="{00000001-8390-445A-8892-586C8B0440AE}"/>
            </c:ext>
          </c:extLst>
        </c:ser>
        <c:dLbls>
          <c:showLegendKey val="0"/>
          <c:showVal val="1"/>
          <c:showCatName val="0"/>
          <c:showSerName val="0"/>
          <c:showPercent val="0"/>
          <c:showBubbleSize val="0"/>
        </c:dLbls>
        <c:marker val="1"/>
        <c:smooth val="0"/>
        <c:axId val="1519279375"/>
        <c:axId val="1519280815"/>
      </c:lineChart>
      <c:catAx>
        <c:axId val="15192793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19280815"/>
        <c:crosses val="autoZero"/>
        <c:auto val="1"/>
        <c:lblAlgn val="ctr"/>
        <c:lblOffset val="100"/>
        <c:noMultiLvlLbl val="0"/>
      </c:catAx>
      <c:valAx>
        <c:axId val="1519280815"/>
        <c:scaling>
          <c:orientation val="minMax"/>
          <c:max val="1.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19279375"/>
        <c:crosses val="autoZero"/>
        <c:crossBetween val="between"/>
        <c:majorUnit val="0.1"/>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00249C">
                    <a:lumMod val="65000"/>
                    <a:lumOff val="35000"/>
                  </a:srgbClr>
                </a:solidFill>
              </a:rPr>
              <a:t>External Authority Compliance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'KPI 1'!$O$39</c:f>
              <c:strCache>
                <c:ptCount val="1"/>
                <c:pt idx="0">
                  <c:v>External Authority Compliance</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'KPI 1'!$P$38:$Q$38</c:f>
              <c:strCache>
                <c:ptCount val="2"/>
                <c:pt idx="0">
                  <c:v>Baniyas A</c:v>
                </c:pt>
                <c:pt idx="1">
                  <c:v>Baniyas B</c:v>
                </c:pt>
              </c:strCache>
            </c:strRef>
          </c:cat>
          <c:val>
            <c:numRef>
              <c:f>'KPI 1'!$P$39:$Q$39</c:f>
              <c:numCache>
                <c:formatCode>0%</c:formatCode>
                <c:ptCount val="2"/>
                <c:pt idx="0">
                  <c:v>0.8</c:v>
                </c:pt>
                <c:pt idx="1">
                  <c:v>0.8</c:v>
                </c:pt>
              </c:numCache>
            </c:numRef>
          </c:val>
          <c:extLst>
            <c:ext xmlns:c16="http://schemas.microsoft.com/office/drawing/2014/chart" uri="{C3380CC4-5D6E-409C-BE32-E72D297353CC}">
              <c16:uniqueId val="{00000000-F5AA-4930-B1E2-8B1F91AD7AFC}"/>
            </c:ext>
          </c:extLst>
        </c:ser>
        <c:dLbls>
          <c:showLegendKey val="0"/>
          <c:showVal val="1"/>
          <c:showCatName val="0"/>
          <c:showSerName val="0"/>
          <c:showPercent val="0"/>
          <c:showBubbleSize val="0"/>
        </c:dLbls>
        <c:gapWidth val="219"/>
        <c:overlap val="-27"/>
        <c:axId val="57111695"/>
        <c:axId val="57115535"/>
      </c:barChart>
      <c:lineChart>
        <c:grouping val="standard"/>
        <c:varyColors val="0"/>
        <c:ser>
          <c:idx val="1"/>
          <c:order val="1"/>
          <c:tx>
            <c:strRef>
              <c:f>'KPI 1'!$O$40</c:f>
              <c:strCache>
                <c:ptCount val="1"/>
                <c:pt idx="0">
                  <c:v>Average All Campuses</c:v>
                </c:pt>
              </c:strCache>
            </c:strRef>
          </c:tx>
          <c:spPr>
            <a:ln w="28575" cap="rnd">
              <a:solidFill>
                <a:schemeClr val="accent2"/>
              </a:solidFill>
              <a:round/>
            </a:ln>
            <a:effectLst/>
          </c:spPr>
          <c:marker>
            <c:symbol val="none"/>
          </c:marker>
          <c:dLbls>
            <c:delete val="1"/>
          </c:dLbls>
          <c:cat>
            <c:strRef>
              <c:f>'KPI 1'!$P$38:$Q$38</c:f>
              <c:strCache>
                <c:ptCount val="2"/>
                <c:pt idx="0">
                  <c:v>Baniyas A</c:v>
                </c:pt>
                <c:pt idx="1">
                  <c:v>Baniyas B</c:v>
                </c:pt>
              </c:strCache>
            </c:strRef>
          </c:cat>
          <c:val>
            <c:numRef>
              <c:f>'KPI 1'!$P$40:$Q$40</c:f>
              <c:numCache>
                <c:formatCode>0%</c:formatCode>
                <c:ptCount val="2"/>
                <c:pt idx="0">
                  <c:v>0.9</c:v>
                </c:pt>
                <c:pt idx="1">
                  <c:v>0.9</c:v>
                </c:pt>
              </c:numCache>
            </c:numRef>
          </c:val>
          <c:smooth val="0"/>
          <c:extLst>
            <c:ext xmlns:c16="http://schemas.microsoft.com/office/drawing/2014/chart" uri="{C3380CC4-5D6E-409C-BE32-E72D297353CC}">
              <c16:uniqueId val="{00000001-F5AA-4930-B1E2-8B1F91AD7AFC}"/>
            </c:ext>
          </c:extLst>
        </c:ser>
        <c:dLbls>
          <c:showLegendKey val="0"/>
          <c:showVal val="1"/>
          <c:showCatName val="0"/>
          <c:showSerName val="0"/>
          <c:showPercent val="0"/>
          <c:showBubbleSize val="0"/>
        </c:dLbls>
        <c:marker val="1"/>
        <c:smooth val="0"/>
        <c:axId val="57111695"/>
        <c:axId val="57115535"/>
      </c:lineChart>
      <c:catAx>
        <c:axId val="5711169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7115535"/>
        <c:crosses val="autoZero"/>
        <c:auto val="1"/>
        <c:lblAlgn val="ctr"/>
        <c:lblOffset val="100"/>
        <c:noMultiLvlLbl val="0"/>
      </c:catAx>
      <c:valAx>
        <c:axId val="57115535"/>
        <c:scaling>
          <c:orientation val="minMax"/>
          <c:max val="1.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711169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00249C">
                    <a:lumMod val="65000"/>
                    <a:lumOff val="35000"/>
                  </a:srgbClr>
                </a:solidFill>
              </a:rPr>
              <a:t>Management Review &amp; Committee Actions Closed</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'KPI 1'!$K$59</c:f>
              <c:strCache>
                <c:ptCount val="1"/>
                <c:pt idx="0">
                  <c:v>Management review</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'KPI 1'!$J$60</c:f>
              <c:strCache>
                <c:ptCount val="1"/>
                <c:pt idx="0">
                  <c:v>Action Closed on time %</c:v>
                </c:pt>
              </c:strCache>
            </c:strRef>
          </c:cat>
          <c:val>
            <c:numRef>
              <c:f>'KPI 1'!$K$60</c:f>
              <c:numCache>
                <c:formatCode>0%</c:formatCode>
                <c:ptCount val="1"/>
                <c:pt idx="0">
                  <c:v>0.75</c:v>
                </c:pt>
              </c:numCache>
            </c:numRef>
          </c:val>
          <c:extLst>
            <c:ext xmlns:c16="http://schemas.microsoft.com/office/drawing/2014/chart" uri="{C3380CC4-5D6E-409C-BE32-E72D297353CC}">
              <c16:uniqueId val="{00000000-BB1C-4454-974F-D0CEC4C274DB}"/>
            </c:ext>
          </c:extLst>
        </c:ser>
        <c:dLbls>
          <c:showLegendKey val="0"/>
          <c:showVal val="0"/>
          <c:showCatName val="0"/>
          <c:showSerName val="0"/>
          <c:showPercent val="0"/>
          <c:showBubbleSize val="0"/>
        </c:dLbls>
        <c:gapWidth val="219"/>
        <c:overlap val="-27"/>
        <c:axId val="1620680287"/>
        <c:axId val="1620678367"/>
      </c:barChart>
      <c:catAx>
        <c:axId val="1620680287"/>
        <c:scaling>
          <c:orientation val="minMax"/>
        </c:scaling>
        <c:delete val="1"/>
        <c:axPos val="b"/>
        <c:numFmt formatCode="General" sourceLinked="1"/>
        <c:majorTickMark val="none"/>
        <c:minorTickMark val="none"/>
        <c:tickLblPos val="nextTo"/>
        <c:crossAx val="1620678367"/>
        <c:crosses val="autoZero"/>
        <c:auto val="1"/>
        <c:lblAlgn val="ctr"/>
        <c:lblOffset val="100"/>
        <c:noMultiLvlLbl val="0"/>
      </c:catAx>
      <c:valAx>
        <c:axId val="1620678367"/>
        <c:scaling>
          <c:orientation val="minMax"/>
          <c:max val="1.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20680287"/>
        <c:crosses val="autoZero"/>
        <c:crossBetween val="between"/>
        <c:majorUnit val="0.1"/>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00249C">
                    <a:lumMod val="65000"/>
                    <a:lumOff val="35000"/>
                  </a:srgbClr>
                </a:solidFill>
              </a:rPr>
              <a:t>EHS Committee Meeting</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'KPI 1'!$L$48</c:f>
              <c:strCache>
                <c:ptCount val="1"/>
                <c:pt idx="0">
                  <c:v>Q 1 Committee Meeting</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'KPI 1'!$K$49</c:f>
              <c:strCache>
                <c:ptCount val="1"/>
                <c:pt idx="0">
                  <c:v>1 B i) HS Committee Meeting </c:v>
                </c:pt>
              </c:strCache>
            </c:strRef>
          </c:cat>
          <c:val>
            <c:numRef>
              <c:f>'KPI 1'!$L$49</c:f>
              <c:numCache>
                <c:formatCode>0%</c:formatCode>
                <c:ptCount val="1"/>
                <c:pt idx="0">
                  <c:v>1</c:v>
                </c:pt>
              </c:numCache>
            </c:numRef>
          </c:val>
          <c:extLst>
            <c:ext xmlns:c16="http://schemas.microsoft.com/office/drawing/2014/chart" uri="{C3380CC4-5D6E-409C-BE32-E72D297353CC}">
              <c16:uniqueId val="{00000000-F01C-426B-BBF4-415B31F6CF0F}"/>
            </c:ext>
          </c:extLst>
        </c:ser>
        <c:dLbls>
          <c:dLblPos val="outEnd"/>
          <c:showLegendKey val="0"/>
          <c:showVal val="1"/>
          <c:showCatName val="0"/>
          <c:showSerName val="0"/>
          <c:showPercent val="0"/>
          <c:showBubbleSize val="0"/>
        </c:dLbls>
        <c:gapWidth val="219"/>
        <c:overlap val="-27"/>
        <c:axId val="56748079"/>
        <c:axId val="56747599"/>
      </c:barChart>
      <c:catAx>
        <c:axId val="56748079"/>
        <c:scaling>
          <c:orientation val="minMax"/>
        </c:scaling>
        <c:delete val="1"/>
        <c:axPos val="b"/>
        <c:numFmt formatCode="General" sourceLinked="1"/>
        <c:majorTickMark val="none"/>
        <c:minorTickMark val="none"/>
        <c:tickLblPos val="nextTo"/>
        <c:crossAx val="56747599"/>
        <c:crosses val="autoZero"/>
        <c:auto val="1"/>
        <c:lblAlgn val="ctr"/>
        <c:lblOffset val="100"/>
        <c:noMultiLvlLbl val="0"/>
      </c:catAx>
      <c:valAx>
        <c:axId val="56747599"/>
        <c:scaling>
          <c:orientation val="minMax"/>
          <c:max val="1.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6748079"/>
        <c:crosses val="autoZero"/>
        <c:crossBetween val="between"/>
        <c:majorUnit val="0.1"/>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7.2361443374372211E-2"/>
          <c:y val="1.3070339256923179E-2"/>
          <c:w val="0.65320343035115047"/>
          <c:h val="0.9869297326427352"/>
        </c:manualLayout>
      </c:layout>
      <c:pieChart>
        <c:varyColors val="1"/>
        <c:ser>
          <c:idx val="0"/>
          <c:order val="0"/>
          <c:spPr>
            <a:solidFill>
              <a:srgbClr val="00A3E1"/>
            </a:solidFill>
          </c:spPr>
          <c:dPt>
            <c:idx val="0"/>
            <c:bubble3D val="0"/>
            <c:spPr>
              <a:solidFill>
                <a:srgbClr val="23ACDD"/>
              </a:solidFill>
              <a:ln w="19050">
                <a:solidFill>
                  <a:schemeClr val="lt1"/>
                </a:solidFill>
              </a:ln>
              <a:effectLst/>
            </c:spPr>
            <c:extLst>
              <c:ext xmlns:c16="http://schemas.microsoft.com/office/drawing/2014/chart" uri="{C3380CC4-5D6E-409C-BE32-E72D297353CC}">
                <c16:uniqueId val="{00000001-BA65-4EE1-8706-5F9AF75E9B6F}"/>
              </c:ext>
            </c:extLst>
          </c:dPt>
          <c:dPt>
            <c:idx val="1"/>
            <c:bubble3D val="0"/>
            <c:spPr>
              <a:solidFill>
                <a:srgbClr val="00249C"/>
              </a:solidFill>
              <a:ln w="19050">
                <a:solidFill>
                  <a:schemeClr val="lt1"/>
                </a:solidFill>
              </a:ln>
              <a:effectLst/>
            </c:spPr>
            <c:extLst>
              <c:ext xmlns:c16="http://schemas.microsoft.com/office/drawing/2014/chart" uri="{C3380CC4-5D6E-409C-BE32-E72D297353CC}">
                <c16:uniqueId val="{00000003-BA65-4EE1-8706-5F9AF75E9B6F}"/>
              </c:ext>
            </c:extLst>
          </c:dPt>
          <c:dPt>
            <c:idx val="2"/>
            <c:bubble3D val="0"/>
            <c:spPr>
              <a:solidFill>
                <a:srgbClr val="00A3E1"/>
              </a:solidFill>
              <a:ln w="19050">
                <a:solidFill>
                  <a:schemeClr val="lt1"/>
                </a:solidFill>
              </a:ln>
              <a:effectLst/>
            </c:spPr>
            <c:extLst>
              <c:ext xmlns:c16="http://schemas.microsoft.com/office/drawing/2014/chart" uri="{C3380CC4-5D6E-409C-BE32-E72D297353CC}">
                <c16:uniqueId val="{00000005-BA65-4EE1-8706-5F9AF75E9B6F}"/>
              </c:ext>
            </c:extLst>
          </c:dPt>
          <c:dPt>
            <c:idx val="3"/>
            <c:bubble3D val="0"/>
            <c:spPr>
              <a:solidFill>
                <a:srgbClr val="00A3E1"/>
              </a:solidFill>
              <a:ln w="19050">
                <a:solidFill>
                  <a:schemeClr val="lt1"/>
                </a:solidFill>
              </a:ln>
              <a:effectLst/>
            </c:spPr>
            <c:extLst>
              <c:ext xmlns:c16="http://schemas.microsoft.com/office/drawing/2014/chart" uri="{C3380CC4-5D6E-409C-BE32-E72D297353CC}">
                <c16:uniqueId val="{00000007-BA65-4EE1-8706-5F9AF75E9B6F}"/>
              </c:ext>
            </c:extLst>
          </c:dPt>
          <c:dPt>
            <c:idx val="4"/>
            <c:bubble3D val="0"/>
            <c:spPr>
              <a:solidFill>
                <a:srgbClr val="00A3E1"/>
              </a:solidFill>
              <a:ln w="19050">
                <a:solidFill>
                  <a:schemeClr val="lt1"/>
                </a:solidFill>
              </a:ln>
              <a:effectLst/>
            </c:spPr>
            <c:extLst>
              <c:ext xmlns:c16="http://schemas.microsoft.com/office/drawing/2014/chart" uri="{C3380CC4-5D6E-409C-BE32-E72D297353CC}">
                <c16:uniqueId val="{00000009-BA65-4EE1-8706-5F9AF75E9B6F}"/>
              </c:ext>
            </c:extLst>
          </c:dPt>
          <c:dLbls>
            <c:dLbl>
              <c:idx val="0"/>
              <c:layout>
                <c:manualLayout>
                  <c:x val="-0.16487988540823936"/>
                  <c:y val="0.21043838976193191"/>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1-BA65-4EE1-8706-5F9AF75E9B6F}"/>
                </c:ext>
              </c:extLst>
            </c:dLbl>
            <c:dLbl>
              <c:idx val="1"/>
              <c:layout>
                <c:manualLayout>
                  <c:x val="-0.23891016132627421"/>
                  <c:y val="-0.12164657640375343"/>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A65-4EE1-8706-5F9AF75E9B6F}"/>
                </c:ext>
              </c:extLst>
            </c:dLbl>
            <c:dLbl>
              <c:idx val="2"/>
              <c:layout>
                <c:manualLayout>
                  <c:x val="-9.4551292259325348E-2"/>
                  <c:y val="-9.1621826068713233E-2"/>
                </c:manualLayout>
              </c:layout>
              <c:spPr>
                <a:noFill/>
                <a:ln>
                  <a:noFill/>
                </a:ln>
                <a:effectLst/>
              </c:spPr>
              <c:txPr>
                <a:bodyPr rot="0" spcFirstLastPara="1" vertOverflow="ellipsis" vert="horz" wrap="square" lIns="38100" tIns="19050" rIns="38100" bIns="19050" anchor="ctr" anchorCtr="1">
                  <a:noAutofit/>
                </a:bodyPr>
                <a:lstStyle/>
                <a:p>
                  <a:pPr>
                    <a:defRPr sz="12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1"/>
              <c:showSerName val="0"/>
              <c:showPercent val="0"/>
              <c:showBubbleSize val="0"/>
              <c:extLst>
                <c:ext xmlns:c15="http://schemas.microsoft.com/office/drawing/2012/chart" uri="{CE6537A1-D6FC-4f65-9D91-7224C49458BB}">
                  <c15:layout>
                    <c:manualLayout>
                      <c:w val="0.10964754195876607"/>
                      <c:h val="0.1950950570342205"/>
                    </c:manualLayout>
                  </c15:layout>
                </c:ext>
                <c:ext xmlns:c16="http://schemas.microsoft.com/office/drawing/2014/chart" uri="{C3380CC4-5D6E-409C-BE32-E72D297353CC}">
                  <c16:uniqueId val="{00000005-BA65-4EE1-8706-5F9AF75E9B6F}"/>
                </c:ext>
              </c:extLst>
            </c:dLbl>
            <c:dLbl>
              <c:idx val="3"/>
              <c:layout>
                <c:manualLayout>
                  <c:x val="0.17089371763214278"/>
                  <c:y val="-0.26345155502357021"/>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7-BA65-4EE1-8706-5F9AF75E9B6F}"/>
                </c:ext>
              </c:extLst>
            </c:dLbl>
            <c:dLbl>
              <c:idx val="4"/>
              <c:layout>
                <c:manualLayout>
                  <c:x val="0.17808724396757206"/>
                  <c:y val="0.22657342216650292"/>
                </c:manualLayout>
              </c:layout>
              <c:tx>
                <c:rich>
                  <a:bodyPr/>
                  <a:lstStyle/>
                  <a:p>
                    <a:fld id="{54EFDA80-51B9-4B77-AD05-126701107E30}" type="CATEGORYNAME">
                      <a:rPr lang="en-US" b="0"/>
                      <a:pPr/>
                      <a:t>[CATEGORY NAME]</a:t>
                    </a:fld>
                    <a:endParaRPr lang="en-US"/>
                  </a:p>
                </c:rich>
              </c:tx>
              <c:showLegendKey val="0"/>
              <c:showVal val="0"/>
              <c:showCatName val="1"/>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9-BA65-4EE1-8706-5F9AF75E9B6F}"/>
                </c:ext>
              </c:extLst>
            </c:dLbl>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Sheet1!$B$3:$B$7</c:f>
              <c:strCache>
                <c:ptCount val="5"/>
                <c:pt idx="0">
                  <c:v>1. Leadership, Accountability &amp; Engagement (20%)</c:v>
                </c:pt>
                <c:pt idx="1">
                  <c:v>2. Risk Management &amp; Planning (20%)</c:v>
                </c:pt>
                <c:pt idx="2">
                  <c:v>3. Training &amp; Awareness (10%)</c:v>
                </c:pt>
                <c:pt idx="3">
                  <c:v>4. Operational Control &amp; Emergency Preparedness (25%)</c:v>
                </c:pt>
                <c:pt idx="4">
                  <c:v>5. Performance Evaluation &amp; Continual Improvement (25%)</c:v>
                </c:pt>
              </c:strCache>
            </c:strRef>
          </c:cat>
          <c:val>
            <c:numRef>
              <c:f>Sheet1!$C$3:$C$7</c:f>
              <c:numCache>
                <c:formatCode>General</c:formatCode>
                <c:ptCount val="5"/>
                <c:pt idx="0">
                  <c:v>20</c:v>
                </c:pt>
                <c:pt idx="1">
                  <c:v>20</c:v>
                </c:pt>
                <c:pt idx="2">
                  <c:v>10</c:v>
                </c:pt>
                <c:pt idx="3">
                  <c:v>25</c:v>
                </c:pt>
                <c:pt idx="4">
                  <c:v>25</c:v>
                </c:pt>
              </c:numCache>
            </c:numRef>
          </c:val>
          <c:extLst>
            <c:ext xmlns:c16="http://schemas.microsoft.com/office/drawing/2014/chart" uri="{C3380CC4-5D6E-409C-BE32-E72D297353CC}">
              <c16:uniqueId val="{0000000A-BA65-4EE1-8706-5F9AF75E9B6F}"/>
            </c:ext>
          </c:extLst>
        </c:ser>
        <c:dLbls>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pPr>
      <a:endParaRPr lang="en-US"/>
    </a:p>
  </c:txPr>
  <c:externalData r:id="rId4">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5.962634614962823E-2"/>
          <c:y val="1.3070246140492282E-2"/>
          <c:w val="0.65320343035115047"/>
          <c:h val="0.9869297326427352"/>
        </c:manualLayout>
      </c:layout>
      <c:pieChart>
        <c:varyColors val="1"/>
        <c:ser>
          <c:idx val="0"/>
          <c:order val="0"/>
          <c:spPr>
            <a:solidFill>
              <a:srgbClr val="00249C"/>
            </a:solidFill>
          </c:spPr>
          <c:dPt>
            <c:idx val="0"/>
            <c:bubble3D val="0"/>
            <c:spPr>
              <a:solidFill>
                <a:srgbClr val="00249C"/>
              </a:solidFill>
              <a:ln w="19050">
                <a:solidFill>
                  <a:schemeClr val="lt1"/>
                </a:solidFill>
              </a:ln>
              <a:effectLst/>
            </c:spPr>
            <c:extLst>
              <c:ext xmlns:c16="http://schemas.microsoft.com/office/drawing/2014/chart" uri="{C3380CC4-5D6E-409C-BE32-E72D297353CC}">
                <c16:uniqueId val="{00000001-CF7A-48AA-92CE-F16C6B08E344}"/>
              </c:ext>
            </c:extLst>
          </c:dPt>
          <c:dPt>
            <c:idx val="1"/>
            <c:bubble3D val="0"/>
            <c:spPr>
              <a:solidFill>
                <a:srgbClr val="00249C"/>
              </a:solidFill>
              <a:ln w="19050">
                <a:solidFill>
                  <a:schemeClr val="lt1"/>
                </a:solidFill>
              </a:ln>
              <a:effectLst/>
            </c:spPr>
            <c:extLst>
              <c:ext xmlns:c16="http://schemas.microsoft.com/office/drawing/2014/chart" uri="{C3380CC4-5D6E-409C-BE32-E72D297353CC}">
                <c16:uniqueId val="{00000003-CF7A-48AA-92CE-F16C6B08E344}"/>
              </c:ext>
            </c:extLst>
          </c:dPt>
          <c:dPt>
            <c:idx val="2"/>
            <c:bubble3D val="0"/>
            <c:spPr>
              <a:solidFill>
                <a:srgbClr val="00249C"/>
              </a:solidFill>
              <a:ln w="19050">
                <a:solidFill>
                  <a:schemeClr val="lt1"/>
                </a:solidFill>
              </a:ln>
              <a:effectLst/>
            </c:spPr>
            <c:extLst>
              <c:ext xmlns:c16="http://schemas.microsoft.com/office/drawing/2014/chart" uri="{C3380CC4-5D6E-409C-BE32-E72D297353CC}">
                <c16:uniqueId val="{00000005-CF7A-48AA-92CE-F16C6B08E344}"/>
              </c:ext>
            </c:extLst>
          </c:dPt>
          <c:dLbls>
            <c:dLbl>
              <c:idx val="0"/>
              <c:layout>
                <c:manualLayout>
                  <c:x val="-0.18872318219299286"/>
                  <c:y val="0.19086206903493372"/>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F7A-48AA-92CE-F16C6B08E344}"/>
                </c:ext>
              </c:extLst>
            </c:dLbl>
            <c:dLbl>
              <c:idx val="1"/>
              <c:layout>
                <c:manualLayout>
                  <c:x val="0.19336983192195051"/>
                  <c:y val="-0.1909331307370247"/>
                </c:manualLayout>
              </c:layout>
              <c:showLegendKey val="0"/>
              <c:showVal val="0"/>
              <c:showCatName val="1"/>
              <c:showSerName val="0"/>
              <c:showPercent val="0"/>
              <c:showBubbleSize val="0"/>
              <c:extLst>
                <c:ext xmlns:c15="http://schemas.microsoft.com/office/drawing/2012/chart" uri="{CE6537A1-D6FC-4f65-9D91-7224C49458BB}">
                  <c15:layout>
                    <c:manualLayout>
                      <c:w val="0.26896125791759845"/>
                      <c:h val="0.19509517235381721"/>
                    </c:manualLayout>
                  </c15:layout>
                </c:ext>
                <c:ext xmlns:c16="http://schemas.microsoft.com/office/drawing/2014/chart" uri="{C3380CC4-5D6E-409C-BE32-E72D297353CC}">
                  <c16:uniqueId val="{00000003-CF7A-48AA-92CE-F16C6B08E344}"/>
                </c:ext>
              </c:extLst>
            </c:dLbl>
            <c:dLbl>
              <c:idx val="2"/>
              <c:layout>
                <c:manualLayout>
                  <c:x val="0.13179947547739754"/>
                  <c:y val="0.17798198455001835"/>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5-CF7A-48AA-92CE-F16C6B08E344}"/>
                </c:ext>
              </c:extLst>
            </c:dLbl>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0"/>
            <c:showSerName val="0"/>
            <c:showPercent val="0"/>
            <c:showBubbleSize val="0"/>
            <c:extLst>
              <c:ext xmlns:c15="http://schemas.microsoft.com/office/drawing/2012/chart" uri="{CE6537A1-D6FC-4f65-9D91-7224C49458BB}"/>
            </c:extLst>
          </c:dLbls>
          <c:cat>
            <c:strRef>
              <c:f>'Sheet1 (4)'!$B$4:$B$6</c:f>
              <c:strCache>
                <c:ptCount val="3"/>
                <c:pt idx="0">
                  <c:v>Hazard Identification (30%)</c:v>
                </c:pt>
                <c:pt idx="1">
                  <c:v>Risk Assessment Closed (50%)</c:v>
                </c:pt>
                <c:pt idx="2">
                  <c:v>Risk Identification (20%)</c:v>
                </c:pt>
              </c:strCache>
            </c:strRef>
          </c:cat>
          <c:val>
            <c:numRef>
              <c:f>'Sheet1 (4)'!$C$4:$C$6</c:f>
              <c:numCache>
                <c:formatCode>General</c:formatCode>
                <c:ptCount val="3"/>
                <c:pt idx="0">
                  <c:v>30</c:v>
                </c:pt>
                <c:pt idx="1">
                  <c:v>50</c:v>
                </c:pt>
                <c:pt idx="2">
                  <c:v>20</c:v>
                </c:pt>
              </c:numCache>
            </c:numRef>
          </c:val>
          <c:extLst>
            <c:ext xmlns:c16="http://schemas.microsoft.com/office/drawing/2014/chart" uri="{C3380CC4-5D6E-409C-BE32-E72D297353CC}">
              <c16:uniqueId val="{00000008-CF7A-48AA-92CE-F16C6B08E344}"/>
            </c:ext>
          </c:extLst>
        </c:ser>
        <c:dLbls>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4">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00249C">
                    <a:lumMod val="65000"/>
                    <a:lumOff val="35000"/>
                  </a:srgbClr>
                </a:solidFill>
              </a:rPr>
              <a:t>Hazard Identification</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'KPI 2'!$K$5</c:f>
              <c:strCache>
                <c:ptCount val="1"/>
                <c:pt idx="0">
                  <c:v>Hazard Identification</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'KPI 2'!$L$4:$M$4</c:f>
              <c:strCache>
                <c:ptCount val="2"/>
                <c:pt idx="0">
                  <c:v>Baniyas A</c:v>
                </c:pt>
                <c:pt idx="1">
                  <c:v>Baniyas B</c:v>
                </c:pt>
              </c:strCache>
            </c:strRef>
          </c:cat>
          <c:val>
            <c:numRef>
              <c:f>'KPI 2'!$L$5:$M$5</c:f>
              <c:numCache>
                <c:formatCode>0%</c:formatCode>
                <c:ptCount val="2"/>
                <c:pt idx="0">
                  <c:v>0.88</c:v>
                </c:pt>
                <c:pt idx="1">
                  <c:v>1</c:v>
                </c:pt>
              </c:numCache>
            </c:numRef>
          </c:val>
          <c:extLst>
            <c:ext xmlns:c16="http://schemas.microsoft.com/office/drawing/2014/chart" uri="{C3380CC4-5D6E-409C-BE32-E72D297353CC}">
              <c16:uniqueId val="{00000000-0489-4CE3-959B-418D2D37307B}"/>
            </c:ext>
          </c:extLst>
        </c:ser>
        <c:dLbls>
          <c:showLegendKey val="0"/>
          <c:showVal val="1"/>
          <c:showCatName val="0"/>
          <c:showSerName val="0"/>
          <c:showPercent val="0"/>
          <c:showBubbleSize val="0"/>
        </c:dLbls>
        <c:gapWidth val="219"/>
        <c:overlap val="-27"/>
        <c:axId val="67141263"/>
        <c:axId val="67139343"/>
      </c:barChart>
      <c:lineChart>
        <c:grouping val="standard"/>
        <c:varyColors val="0"/>
        <c:ser>
          <c:idx val="1"/>
          <c:order val="1"/>
          <c:tx>
            <c:strRef>
              <c:f>'KPI 2'!$K$6</c:f>
              <c:strCache>
                <c:ptCount val="1"/>
                <c:pt idx="0">
                  <c:v>Average All Campuses</c:v>
                </c:pt>
              </c:strCache>
            </c:strRef>
          </c:tx>
          <c:spPr>
            <a:ln w="28575" cap="rnd">
              <a:solidFill>
                <a:schemeClr val="accent2"/>
              </a:solidFill>
              <a:round/>
            </a:ln>
            <a:effectLst/>
          </c:spPr>
          <c:marker>
            <c:symbol val="none"/>
          </c:marker>
          <c:dLbls>
            <c:delete val="1"/>
          </c:dLbls>
          <c:cat>
            <c:strRef>
              <c:f>'KPI 2'!$L$4:$M$4</c:f>
              <c:strCache>
                <c:ptCount val="2"/>
                <c:pt idx="0">
                  <c:v>Baniyas A</c:v>
                </c:pt>
                <c:pt idx="1">
                  <c:v>Baniyas B</c:v>
                </c:pt>
              </c:strCache>
            </c:strRef>
          </c:cat>
          <c:val>
            <c:numRef>
              <c:f>'KPI 2'!$L$6:$M$6</c:f>
              <c:numCache>
                <c:formatCode>0%</c:formatCode>
                <c:ptCount val="2"/>
                <c:pt idx="0">
                  <c:v>0.87</c:v>
                </c:pt>
                <c:pt idx="1">
                  <c:v>0.87</c:v>
                </c:pt>
              </c:numCache>
            </c:numRef>
          </c:val>
          <c:smooth val="0"/>
          <c:extLst>
            <c:ext xmlns:c16="http://schemas.microsoft.com/office/drawing/2014/chart" uri="{C3380CC4-5D6E-409C-BE32-E72D297353CC}">
              <c16:uniqueId val="{00000001-0489-4CE3-959B-418D2D37307B}"/>
            </c:ext>
          </c:extLst>
        </c:ser>
        <c:dLbls>
          <c:showLegendKey val="0"/>
          <c:showVal val="1"/>
          <c:showCatName val="0"/>
          <c:showSerName val="0"/>
          <c:showPercent val="0"/>
          <c:showBubbleSize val="0"/>
        </c:dLbls>
        <c:marker val="1"/>
        <c:smooth val="0"/>
        <c:axId val="67141263"/>
        <c:axId val="67139343"/>
      </c:lineChart>
      <c:catAx>
        <c:axId val="6714126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7139343"/>
        <c:crosses val="autoZero"/>
        <c:auto val="1"/>
        <c:lblAlgn val="ctr"/>
        <c:lblOffset val="100"/>
        <c:noMultiLvlLbl val="0"/>
      </c:catAx>
      <c:valAx>
        <c:axId val="67139343"/>
        <c:scaling>
          <c:orientation val="minMax"/>
          <c:max val="1.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7141263"/>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00249C">
                    <a:lumMod val="65000"/>
                    <a:lumOff val="35000"/>
                  </a:srgbClr>
                </a:solidFill>
              </a:rPr>
              <a:t>Risk Assessment Closed</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'KPI 2'!$I$63</c:f>
              <c:strCache>
                <c:ptCount val="1"/>
                <c:pt idx="0">
                  <c:v>Risk Assessment Closed</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'KPI 2'!$J$62:$K$62</c:f>
              <c:strCache>
                <c:ptCount val="2"/>
                <c:pt idx="0">
                  <c:v>Baniyas A</c:v>
                </c:pt>
                <c:pt idx="1">
                  <c:v>Baniyas B</c:v>
                </c:pt>
              </c:strCache>
            </c:strRef>
          </c:cat>
          <c:val>
            <c:numRef>
              <c:f>'KPI 2'!$J$63:$K$63</c:f>
              <c:numCache>
                <c:formatCode>0%</c:formatCode>
                <c:ptCount val="2"/>
                <c:pt idx="0">
                  <c:v>1</c:v>
                </c:pt>
                <c:pt idx="1">
                  <c:v>1</c:v>
                </c:pt>
              </c:numCache>
            </c:numRef>
          </c:val>
          <c:extLst>
            <c:ext xmlns:c16="http://schemas.microsoft.com/office/drawing/2014/chart" uri="{C3380CC4-5D6E-409C-BE32-E72D297353CC}">
              <c16:uniqueId val="{00000000-653A-4A02-A8B0-DA24F480D5A5}"/>
            </c:ext>
          </c:extLst>
        </c:ser>
        <c:dLbls>
          <c:showLegendKey val="0"/>
          <c:showVal val="1"/>
          <c:showCatName val="0"/>
          <c:showSerName val="0"/>
          <c:showPercent val="0"/>
          <c:showBubbleSize val="0"/>
        </c:dLbls>
        <c:gapWidth val="219"/>
        <c:overlap val="-27"/>
        <c:axId val="1615682831"/>
        <c:axId val="1615680911"/>
      </c:barChart>
      <c:lineChart>
        <c:grouping val="standard"/>
        <c:varyColors val="0"/>
        <c:ser>
          <c:idx val="1"/>
          <c:order val="1"/>
          <c:tx>
            <c:strRef>
              <c:f>'KPI 2'!$I$64</c:f>
              <c:strCache>
                <c:ptCount val="1"/>
                <c:pt idx="0">
                  <c:v>Average All Campuses</c:v>
                </c:pt>
              </c:strCache>
            </c:strRef>
          </c:tx>
          <c:spPr>
            <a:ln w="28575" cap="rnd">
              <a:solidFill>
                <a:schemeClr val="accent2"/>
              </a:solidFill>
              <a:round/>
            </a:ln>
            <a:effectLst/>
          </c:spPr>
          <c:marker>
            <c:symbol val="none"/>
          </c:marker>
          <c:dLbls>
            <c:delete val="1"/>
          </c:dLbls>
          <c:cat>
            <c:strRef>
              <c:f>'KPI 2'!$J$62:$K$62</c:f>
              <c:strCache>
                <c:ptCount val="2"/>
                <c:pt idx="0">
                  <c:v>Baniyas A</c:v>
                </c:pt>
                <c:pt idx="1">
                  <c:v>Baniyas B</c:v>
                </c:pt>
              </c:strCache>
            </c:strRef>
          </c:cat>
          <c:val>
            <c:numRef>
              <c:f>'KPI 2'!$J$64:$K$64</c:f>
              <c:numCache>
                <c:formatCode>0%</c:formatCode>
                <c:ptCount val="2"/>
                <c:pt idx="0">
                  <c:v>1</c:v>
                </c:pt>
                <c:pt idx="1">
                  <c:v>1</c:v>
                </c:pt>
              </c:numCache>
            </c:numRef>
          </c:val>
          <c:smooth val="0"/>
          <c:extLst>
            <c:ext xmlns:c16="http://schemas.microsoft.com/office/drawing/2014/chart" uri="{C3380CC4-5D6E-409C-BE32-E72D297353CC}">
              <c16:uniqueId val="{00000001-653A-4A02-A8B0-DA24F480D5A5}"/>
            </c:ext>
          </c:extLst>
        </c:ser>
        <c:dLbls>
          <c:showLegendKey val="0"/>
          <c:showVal val="1"/>
          <c:showCatName val="0"/>
          <c:showSerName val="0"/>
          <c:showPercent val="0"/>
          <c:showBubbleSize val="0"/>
        </c:dLbls>
        <c:marker val="1"/>
        <c:smooth val="0"/>
        <c:axId val="1615682831"/>
        <c:axId val="1615680911"/>
      </c:lineChart>
      <c:catAx>
        <c:axId val="161568283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15680911"/>
        <c:crosses val="autoZero"/>
        <c:auto val="1"/>
        <c:lblAlgn val="ctr"/>
        <c:lblOffset val="100"/>
        <c:noMultiLvlLbl val="0"/>
      </c:catAx>
      <c:valAx>
        <c:axId val="1615680911"/>
        <c:scaling>
          <c:orientation val="minMax"/>
          <c:max val="1.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15682831"/>
        <c:crosses val="autoZero"/>
        <c:crossBetween val="between"/>
        <c:majorUnit val="0.1"/>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00249C">
                    <a:lumMod val="65000"/>
                    <a:lumOff val="35000"/>
                  </a:srgbClr>
                </a:solidFill>
              </a:rPr>
              <a:t>Risk Identification </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'KPI 2'!$I$71</c:f>
              <c:strCache>
                <c:ptCount val="1"/>
                <c:pt idx="0">
                  <c:v>Risk Identification </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'KPI 2'!$J$70:$K$70</c:f>
              <c:strCache>
                <c:ptCount val="2"/>
                <c:pt idx="0">
                  <c:v>Baniyas A</c:v>
                </c:pt>
                <c:pt idx="1">
                  <c:v>Baniyas B</c:v>
                </c:pt>
              </c:strCache>
            </c:strRef>
          </c:cat>
          <c:val>
            <c:numRef>
              <c:f>'KPI 2'!$J$71:$K$71</c:f>
              <c:numCache>
                <c:formatCode>0%</c:formatCode>
                <c:ptCount val="2"/>
                <c:pt idx="0">
                  <c:v>1</c:v>
                </c:pt>
                <c:pt idx="1">
                  <c:v>1</c:v>
                </c:pt>
              </c:numCache>
            </c:numRef>
          </c:val>
          <c:extLst>
            <c:ext xmlns:c16="http://schemas.microsoft.com/office/drawing/2014/chart" uri="{C3380CC4-5D6E-409C-BE32-E72D297353CC}">
              <c16:uniqueId val="{00000000-B842-4EC2-90C7-2AB36924022B}"/>
            </c:ext>
          </c:extLst>
        </c:ser>
        <c:dLbls>
          <c:showLegendKey val="0"/>
          <c:showVal val="1"/>
          <c:showCatName val="0"/>
          <c:showSerName val="0"/>
          <c:showPercent val="0"/>
          <c:showBubbleSize val="0"/>
        </c:dLbls>
        <c:gapWidth val="219"/>
        <c:overlap val="-27"/>
        <c:axId val="51584287"/>
        <c:axId val="51585247"/>
      </c:barChart>
      <c:lineChart>
        <c:grouping val="standard"/>
        <c:varyColors val="0"/>
        <c:ser>
          <c:idx val="1"/>
          <c:order val="1"/>
          <c:tx>
            <c:strRef>
              <c:f>'KPI 2'!$I$72</c:f>
              <c:strCache>
                <c:ptCount val="1"/>
                <c:pt idx="0">
                  <c:v>Average All Campuses</c:v>
                </c:pt>
              </c:strCache>
            </c:strRef>
          </c:tx>
          <c:spPr>
            <a:ln w="28575" cap="rnd">
              <a:solidFill>
                <a:schemeClr val="accent2"/>
              </a:solidFill>
              <a:round/>
            </a:ln>
            <a:effectLst/>
          </c:spPr>
          <c:marker>
            <c:symbol val="none"/>
          </c:marker>
          <c:dLbls>
            <c:delete val="1"/>
          </c:dLbls>
          <c:cat>
            <c:strRef>
              <c:f>'KPI 2'!$J$70:$K$70</c:f>
              <c:strCache>
                <c:ptCount val="2"/>
                <c:pt idx="0">
                  <c:v>Baniyas A</c:v>
                </c:pt>
                <c:pt idx="1">
                  <c:v>Baniyas B</c:v>
                </c:pt>
              </c:strCache>
            </c:strRef>
          </c:cat>
          <c:val>
            <c:numRef>
              <c:f>'KPI 2'!$J$72:$K$72</c:f>
              <c:numCache>
                <c:formatCode>0%</c:formatCode>
                <c:ptCount val="2"/>
                <c:pt idx="0">
                  <c:v>1</c:v>
                </c:pt>
                <c:pt idx="1">
                  <c:v>1</c:v>
                </c:pt>
              </c:numCache>
            </c:numRef>
          </c:val>
          <c:smooth val="0"/>
          <c:extLst>
            <c:ext xmlns:c16="http://schemas.microsoft.com/office/drawing/2014/chart" uri="{C3380CC4-5D6E-409C-BE32-E72D297353CC}">
              <c16:uniqueId val="{00000001-B842-4EC2-90C7-2AB36924022B}"/>
            </c:ext>
          </c:extLst>
        </c:ser>
        <c:dLbls>
          <c:showLegendKey val="0"/>
          <c:showVal val="1"/>
          <c:showCatName val="0"/>
          <c:showSerName val="0"/>
          <c:showPercent val="0"/>
          <c:showBubbleSize val="0"/>
        </c:dLbls>
        <c:marker val="1"/>
        <c:smooth val="0"/>
        <c:axId val="51584287"/>
        <c:axId val="51585247"/>
      </c:lineChart>
      <c:catAx>
        <c:axId val="515842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1585247"/>
        <c:crosses val="autoZero"/>
        <c:auto val="1"/>
        <c:lblAlgn val="ctr"/>
        <c:lblOffset val="100"/>
        <c:noMultiLvlLbl val="0"/>
      </c:catAx>
      <c:valAx>
        <c:axId val="51585247"/>
        <c:scaling>
          <c:orientation val="minMax"/>
          <c:max val="1.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1584287"/>
        <c:crosses val="autoZero"/>
        <c:crossBetween val="between"/>
        <c:majorUnit val="0.1"/>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7.2361443374372211E-2"/>
          <c:y val="1.3070339256923179E-2"/>
          <c:w val="0.65320343035115047"/>
          <c:h val="0.9869297326427352"/>
        </c:manualLayout>
      </c:layout>
      <c:pieChart>
        <c:varyColors val="1"/>
        <c:ser>
          <c:idx val="0"/>
          <c:order val="0"/>
          <c:spPr>
            <a:solidFill>
              <a:srgbClr val="00A3E1"/>
            </a:solidFill>
          </c:spPr>
          <c:dPt>
            <c:idx val="0"/>
            <c:bubble3D val="0"/>
            <c:spPr>
              <a:solidFill>
                <a:srgbClr val="23ACDD"/>
              </a:solidFill>
              <a:ln w="19050">
                <a:solidFill>
                  <a:schemeClr val="lt1"/>
                </a:solidFill>
              </a:ln>
              <a:effectLst/>
            </c:spPr>
            <c:extLst>
              <c:ext xmlns:c16="http://schemas.microsoft.com/office/drawing/2014/chart" uri="{C3380CC4-5D6E-409C-BE32-E72D297353CC}">
                <c16:uniqueId val="{00000001-BA65-4EE1-8706-5F9AF75E9B6F}"/>
              </c:ext>
            </c:extLst>
          </c:dPt>
          <c:dPt>
            <c:idx val="1"/>
            <c:bubble3D val="0"/>
            <c:spPr>
              <a:solidFill>
                <a:srgbClr val="23ACDD"/>
              </a:solidFill>
              <a:ln w="19050">
                <a:solidFill>
                  <a:schemeClr val="lt1"/>
                </a:solidFill>
              </a:ln>
              <a:effectLst/>
            </c:spPr>
            <c:extLst>
              <c:ext xmlns:c16="http://schemas.microsoft.com/office/drawing/2014/chart" uri="{C3380CC4-5D6E-409C-BE32-E72D297353CC}">
                <c16:uniqueId val="{00000003-BA65-4EE1-8706-5F9AF75E9B6F}"/>
              </c:ext>
            </c:extLst>
          </c:dPt>
          <c:dPt>
            <c:idx val="2"/>
            <c:bubble3D val="0"/>
            <c:spPr>
              <a:solidFill>
                <a:srgbClr val="00249C"/>
              </a:solidFill>
              <a:ln w="19050">
                <a:solidFill>
                  <a:schemeClr val="lt1"/>
                </a:solidFill>
              </a:ln>
              <a:effectLst/>
            </c:spPr>
            <c:extLst>
              <c:ext xmlns:c16="http://schemas.microsoft.com/office/drawing/2014/chart" uri="{C3380CC4-5D6E-409C-BE32-E72D297353CC}">
                <c16:uniqueId val="{00000005-BA65-4EE1-8706-5F9AF75E9B6F}"/>
              </c:ext>
            </c:extLst>
          </c:dPt>
          <c:dPt>
            <c:idx val="3"/>
            <c:bubble3D val="0"/>
            <c:spPr>
              <a:solidFill>
                <a:srgbClr val="00A3E1"/>
              </a:solidFill>
              <a:ln w="19050">
                <a:solidFill>
                  <a:schemeClr val="lt1"/>
                </a:solidFill>
              </a:ln>
              <a:effectLst/>
            </c:spPr>
            <c:extLst>
              <c:ext xmlns:c16="http://schemas.microsoft.com/office/drawing/2014/chart" uri="{C3380CC4-5D6E-409C-BE32-E72D297353CC}">
                <c16:uniqueId val="{00000007-BA65-4EE1-8706-5F9AF75E9B6F}"/>
              </c:ext>
            </c:extLst>
          </c:dPt>
          <c:dPt>
            <c:idx val="4"/>
            <c:bubble3D val="0"/>
            <c:spPr>
              <a:solidFill>
                <a:srgbClr val="00A3E1"/>
              </a:solidFill>
              <a:ln w="19050">
                <a:solidFill>
                  <a:schemeClr val="lt1"/>
                </a:solidFill>
              </a:ln>
              <a:effectLst/>
            </c:spPr>
            <c:extLst>
              <c:ext xmlns:c16="http://schemas.microsoft.com/office/drawing/2014/chart" uri="{C3380CC4-5D6E-409C-BE32-E72D297353CC}">
                <c16:uniqueId val="{00000009-BA65-4EE1-8706-5F9AF75E9B6F}"/>
              </c:ext>
            </c:extLst>
          </c:dPt>
          <c:dLbls>
            <c:dLbl>
              <c:idx val="0"/>
              <c:layout>
                <c:manualLayout>
                  <c:x val="-0.16487988540823936"/>
                  <c:y val="0.21043838976193191"/>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1-BA65-4EE1-8706-5F9AF75E9B6F}"/>
                </c:ext>
              </c:extLst>
            </c:dLbl>
            <c:dLbl>
              <c:idx val="1"/>
              <c:layout>
                <c:manualLayout>
                  <c:x val="-0.23891016132627421"/>
                  <c:y val="-0.12164657640375343"/>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A65-4EE1-8706-5F9AF75E9B6F}"/>
                </c:ext>
              </c:extLst>
            </c:dLbl>
            <c:dLbl>
              <c:idx val="2"/>
              <c:layout>
                <c:manualLayout>
                  <c:x val="-9.4551292259325348E-2"/>
                  <c:y val="-9.1621826068713233E-2"/>
                </c:manualLayout>
              </c:layout>
              <c:spPr>
                <a:noFill/>
                <a:ln>
                  <a:noFill/>
                </a:ln>
                <a:effectLst/>
              </c:spPr>
              <c:txPr>
                <a:bodyPr rot="0" spcFirstLastPara="1" vertOverflow="ellipsis" vert="horz" wrap="square" lIns="38100" tIns="19050" rIns="38100" bIns="19050" anchor="ctr" anchorCtr="1">
                  <a:noAutofit/>
                </a:bodyPr>
                <a:lstStyle/>
                <a:p>
                  <a:pPr>
                    <a:defRPr sz="12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1"/>
              <c:showSerName val="0"/>
              <c:showPercent val="0"/>
              <c:showBubbleSize val="0"/>
              <c:extLst>
                <c:ext xmlns:c15="http://schemas.microsoft.com/office/drawing/2012/chart" uri="{CE6537A1-D6FC-4f65-9D91-7224C49458BB}">
                  <c15:layout>
                    <c:manualLayout>
                      <c:w val="0.10964754195876607"/>
                      <c:h val="0.1950950570342205"/>
                    </c:manualLayout>
                  </c15:layout>
                </c:ext>
                <c:ext xmlns:c16="http://schemas.microsoft.com/office/drawing/2014/chart" uri="{C3380CC4-5D6E-409C-BE32-E72D297353CC}">
                  <c16:uniqueId val="{00000005-BA65-4EE1-8706-5F9AF75E9B6F}"/>
                </c:ext>
              </c:extLst>
            </c:dLbl>
            <c:dLbl>
              <c:idx val="3"/>
              <c:layout>
                <c:manualLayout>
                  <c:x val="0.17089371763214278"/>
                  <c:y val="-0.26345155502357021"/>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7-BA65-4EE1-8706-5F9AF75E9B6F}"/>
                </c:ext>
              </c:extLst>
            </c:dLbl>
            <c:dLbl>
              <c:idx val="4"/>
              <c:layout>
                <c:manualLayout>
                  <c:x val="0.17808724396757206"/>
                  <c:y val="0.22657342216650292"/>
                </c:manualLayout>
              </c:layout>
              <c:tx>
                <c:rich>
                  <a:bodyPr/>
                  <a:lstStyle/>
                  <a:p>
                    <a:fld id="{54EFDA80-51B9-4B77-AD05-126701107E30}" type="CATEGORYNAME">
                      <a:rPr lang="en-US" b="0"/>
                      <a:pPr/>
                      <a:t>[CATEGORY NAME]</a:t>
                    </a:fld>
                    <a:endParaRPr lang="en-US"/>
                  </a:p>
                </c:rich>
              </c:tx>
              <c:showLegendKey val="0"/>
              <c:showVal val="0"/>
              <c:showCatName val="1"/>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9-BA65-4EE1-8706-5F9AF75E9B6F}"/>
                </c:ext>
              </c:extLst>
            </c:dLbl>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Sheet1!$B$3:$B$7</c:f>
              <c:strCache>
                <c:ptCount val="5"/>
                <c:pt idx="0">
                  <c:v>1. Leadership, Accountability &amp; Engagement (20%)</c:v>
                </c:pt>
                <c:pt idx="1">
                  <c:v>2. Risk Management &amp; Planning (20%)</c:v>
                </c:pt>
                <c:pt idx="2">
                  <c:v>3. Training &amp; Awareness (10%)</c:v>
                </c:pt>
                <c:pt idx="3">
                  <c:v>4. Operational Control &amp; Emergency Preparedness (25%)</c:v>
                </c:pt>
                <c:pt idx="4">
                  <c:v>5. Performance Evaluation &amp; Continual Improvement (25%)</c:v>
                </c:pt>
              </c:strCache>
            </c:strRef>
          </c:cat>
          <c:val>
            <c:numRef>
              <c:f>Sheet1!$C$3:$C$7</c:f>
              <c:numCache>
                <c:formatCode>General</c:formatCode>
                <c:ptCount val="5"/>
                <c:pt idx="0">
                  <c:v>20</c:v>
                </c:pt>
                <c:pt idx="1">
                  <c:v>20</c:v>
                </c:pt>
                <c:pt idx="2">
                  <c:v>10</c:v>
                </c:pt>
                <c:pt idx="3">
                  <c:v>25</c:v>
                </c:pt>
                <c:pt idx="4">
                  <c:v>25</c:v>
                </c:pt>
              </c:numCache>
            </c:numRef>
          </c:val>
          <c:extLst>
            <c:ext xmlns:c16="http://schemas.microsoft.com/office/drawing/2014/chart" uri="{C3380CC4-5D6E-409C-BE32-E72D297353CC}">
              <c16:uniqueId val="{0000000A-BA65-4EE1-8706-5F9AF75E9B6F}"/>
            </c:ext>
          </c:extLst>
        </c:ser>
        <c:dLbls>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pPr>
      <a:endParaRPr lang="en-US"/>
    </a:p>
  </c:txPr>
  <c:externalData r:id="rId4">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5.962634614962823E-2"/>
          <c:y val="1.3070246140492282E-2"/>
          <c:w val="0.65320343035115047"/>
          <c:h val="0.9869297326427352"/>
        </c:manualLayout>
      </c:layout>
      <c:pieChart>
        <c:varyColors val="1"/>
        <c:ser>
          <c:idx val="0"/>
          <c:order val="0"/>
          <c:spPr>
            <a:solidFill>
              <a:srgbClr val="00249C"/>
            </a:solidFill>
          </c:spPr>
          <c:dPt>
            <c:idx val="0"/>
            <c:bubble3D val="0"/>
            <c:spPr>
              <a:solidFill>
                <a:srgbClr val="00249C"/>
              </a:solidFill>
              <a:ln w="19050">
                <a:solidFill>
                  <a:schemeClr val="lt1"/>
                </a:solidFill>
              </a:ln>
              <a:effectLst/>
            </c:spPr>
            <c:extLst>
              <c:ext xmlns:c16="http://schemas.microsoft.com/office/drawing/2014/chart" uri="{C3380CC4-5D6E-409C-BE32-E72D297353CC}">
                <c16:uniqueId val="{00000001-0076-4396-9353-8EB5D7EDEBF9}"/>
              </c:ext>
            </c:extLst>
          </c:dPt>
          <c:dPt>
            <c:idx val="1"/>
            <c:bubble3D val="0"/>
            <c:spPr>
              <a:solidFill>
                <a:srgbClr val="00249C"/>
              </a:solidFill>
              <a:ln w="19050">
                <a:solidFill>
                  <a:schemeClr val="lt1"/>
                </a:solidFill>
              </a:ln>
              <a:effectLst/>
            </c:spPr>
            <c:extLst>
              <c:ext xmlns:c16="http://schemas.microsoft.com/office/drawing/2014/chart" uri="{C3380CC4-5D6E-409C-BE32-E72D297353CC}">
                <c16:uniqueId val="{00000003-0076-4396-9353-8EB5D7EDEBF9}"/>
              </c:ext>
            </c:extLst>
          </c:dPt>
          <c:dLbls>
            <c:dLbl>
              <c:idx val="0"/>
              <c:layout>
                <c:manualLayout>
                  <c:x val="-0.24170817645502995"/>
                  <c:y val="-1.8061348191469616E-2"/>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076-4396-9353-8EB5D7EDEBF9}"/>
                </c:ext>
              </c:extLst>
            </c:dLbl>
            <c:dLbl>
              <c:idx val="1"/>
              <c:layout>
                <c:manualLayout>
                  <c:x val="0.17324203276818809"/>
                  <c:y val="-1.2378324756649513E-3"/>
                </c:manualLayout>
              </c:layout>
              <c:showLegendKey val="0"/>
              <c:showVal val="0"/>
              <c:showCatName val="1"/>
              <c:showSerName val="0"/>
              <c:showPercent val="0"/>
              <c:showBubbleSize val="0"/>
              <c:extLst>
                <c:ext xmlns:c15="http://schemas.microsoft.com/office/drawing/2012/chart" uri="{CE6537A1-D6FC-4f65-9D91-7224C49458BB}">
                  <c15:layout>
                    <c:manualLayout>
                      <c:w val="0.17872831355690566"/>
                      <c:h val="0.35257548515097031"/>
                    </c:manualLayout>
                  </c15:layout>
                </c:ext>
                <c:ext xmlns:c16="http://schemas.microsoft.com/office/drawing/2014/chart" uri="{C3380CC4-5D6E-409C-BE32-E72D297353CC}">
                  <c16:uniqueId val="{00000003-0076-4396-9353-8EB5D7EDEBF9}"/>
                </c:ext>
              </c:extLst>
            </c:dLbl>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0"/>
            <c:showSerName val="0"/>
            <c:showPercent val="0"/>
            <c:showBubbleSize val="0"/>
            <c:extLst>
              <c:ext xmlns:c15="http://schemas.microsoft.com/office/drawing/2012/chart" uri="{CE6537A1-D6FC-4f65-9D91-7224C49458BB}"/>
            </c:extLst>
          </c:dLbls>
          <c:cat>
            <c:strRef>
              <c:f>'Sheet1 (5)'!$B$4:$B$5</c:f>
              <c:strCache>
                <c:ptCount val="2"/>
                <c:pt idx="0">
                  <c:v>Training Programs (50%)</c:v>
                </c:pt>
                <c:pt idx="1">
                  <c:v>Awareness &amp; Communication (50%)</c:v>
                </c:pt>
              </c:strCache>
            </c:strRef>
          </c:cat>
          <c:val>
            <c:numRef>
              <c:f>'Sheet1 (5)'!$C$4:$C$5</c:f>
              <c:numCache>
                <c:formatCode>General</c:formatCode>
                <c:ptCount val="2"/>
                <c:pt idx="0">
                  <c:v>50</c:v>
                </c:pt>
                <c:pt idx="1">
                  <c:v>50</c:v>
                </c:pt>
              </c:numCache>
            </c:numRef>
          </c:val>
          <c:extLst>
            <c:ext xmlns:c16="http://schemas.microsoft.com/office/drawing/2014/chart" uri="{C3380CC4-5D6E-409C-BE32-E72D297353CC}">
              <c16:uniqueId val="{00000004-0076-4396-9353-8EB5D7EDEBF9}"/>
            </c:ext>
          </c:extLst>
        </c:ser>
        <c:dLbls>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4">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00249C">
                    <a:lumMod val="65000"/>
                    <a:lumOff val="35000"/>
                  </a:srgbClr>
                </a:solidFill>
              </a:rPr>
              <a:t>Training</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0.12620297462817148"/>
          <c:y val="0.16712962962962963"/>
          <c:w val="0.85685935599513474"/>
          <c:h val="0.62949292796733747"/>
        </c:manualLayout>
      </c:layout>
      <c:barChart>
        <c:barDir val="col"/>
        <c:grouping val="clustered"/>
        <c:varyColors val="0"/>
        <c:ser>
          <c:idx val="0"/>
          <c:order val="0"/>
          <c:tx>
            <c:strRef>
              <c:f>'KPI 3'!$J$18</c:f>
              <c:strCache>
                <c:ptCount val="1"/>
                <c:pt idx="0">
                  <c:v>Training</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'KPI 3'!$K$17:$L$17</c:f>
              <c:strCache>
                <c:ptCount val="2"/>
                <c:pt idx="0">
                  <c:v>Baniyas A</c:v>
                </c:pt>
                <c:pt idx="1">
                  <c:v>Baniyas B</c:v>
                </c:pt>
              </c:strCache>
            </c:strRef>
          </c:cat>
          <c:val>
            <c:numRef>
              <c:f>'KPI 3'!$K$18:$L$18</c:f>
              <c:numCache>
                <c:formatCode>0%</c:formatCode>
                <c:ptCount val="2"/>
                <c:pt idx="0">
                  <c:v>1</c:v>
                </c:pt>
                <c:pt idx="1">
                  <c:v>1</c:v>
                </c:pt>
              </c:numCache>
            </c:numRef>
          </c:val>
          <c:extLst>
            <c:ext xmlns:c16="http://schemas.microsoft.com/office/drawing/2014/chart" uri="{C3380CC4-5D6E-409C-BE32-E72D297353CC}">
              <c16:uniqueId val="{00000000-B611-407A-B255-F5203591FE67}"/>
            </c:ext>
          </c:extLst>
        </c:ser>
        <c:dLbls>
          <c:showLegendKey val="0"/>
          <c:showVal val="1"/>
          <c:showCatName val="0"/>
          <c:showSerName val="0"/>
          <c:showPercent val="0"/>
          <c:showBubbleSize val="0"/>
        </c:dLbls>
        <c:gapWidth val="219"/>
        <c:overlap val="-27"/>
        <c:axId val="56323135"/>
        <c:axId val="56328895"/>
      </c:barChart>
      <c:lineChart>
        <c:grouping val="standard"/>
        <c:varyColors val="0"/>
        <c:ser>
          <c:idx val="1"/>
          <c:order val="1"/>
          <c:tx>
            <c:strRef>
              <c:f>'KPI 3'!$J$19</c:f>
              <c:strCache>
                <c:ptCount val="1"/>
                <c:pt idx="0">
                  <c:v>Average All Campuses</c:v>
                </c:pt>
              </c:strCache>
            </c:strRef>
          </c:tx>
          <c:spPr>
            <a:ln w="28575" cap="rnd">
              <a:solidFill>
                <a:schemeClr val="accent2"/>
              </a:solidFill>
              <a:round/>
            </a:ln>
            <a:effectLst/>
          </c:spPr>
          <c:marker>
            <c:symbol val="none"/>
          </c:marker>
          <c:dLbls>
            <c:delete val="1"/>
          </c:dLbls>
          <c:cat>
            <c:strRef>
              <c:f>'KPI 3'!$K$17:$L$17</c:f>
              <c:strCache>
                <c:ptCount val="2"/>
                <c:pt idx="0">
                  <c:v>Baniyas A</c:v>
                </c:pt>
                <c:pt idx="1">
                  <c:v>Baniyas B</c:v>
                </c:pt>
              </c:strCache>
            </c:strRef>
          </c:cat>
          <c:val>
            <c:numRef>
              <c:f>'KPI 3'!$K$19:$L$19</c:f>
              <c:numCache>
                <c:formatCode>0%</c:formatCode>
                <c:ptCount val="2"/>
                <c:pt idx="0">
                  <c:v>1</c:v>
                </c:pt>
                <c:pt idx="1">
                  <c:v>1</c:v>
                </c:pt>
              </c:numCache>
            </c:numRef>
          </c:val>
          <c:smooth val="0"/>
          <c:extLst>
            <c:ext xmlns:c16="http://schemas.microsoft.com/office/drawing/2014/chart" uri="{C3380CC4-5D6E-409C-BE32-E72D297353CC}">
              <c16:uniqueId val="{00000001-B611-407A-B255-F5203591FE67}"/>
            </c:ext>
          </c:extLst>
        </c:ser>
        <c:dLbls>
          <c:showLegendKey val="0"/>
          <c:showVal val="1"/>
          <c:showCatName val="0"/>
          <c:showSerName val="0"/>
          <c:showPercent val="0"/>
          <c:showBubbleSize val="0"/>
        </c:dLbls>
        <c:marker val="1"/>
        <c:smooth val="0"/>
        <c:axId val="56323135"/>
        <c:axId val="56328895"/>
      </c:lineChart>
      <c:catAx>
        <c:axId val="5632313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6328895"/>
        <c:crosses val="autoZero"/>
        <c:auto val="1"/>
        <c:lblAlgn val="ctr"/>
        <c:lblOffset val="100"/>
        <c:noMultiLvlLbl val="0"/>
      </c:catAx>
      <c:valAx>
        <c:axId val="56328895"/>
        <c:scaling>
          <c:orientation val="minMax"/>
          <c:max val="1.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6323135"/>
        <c:crosses val="autoZero"/>
        <c:crossBetween val="between"/>
        <c:majorUnit val="0.1"/>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7.2361443374372211E-2"/>
          <c:y val="1.3070339256923179E-2"/>
          <c:w val="0.65320343035115047"/>
          <c:h val="0.9869297326427352"/>
        </c:manualLayout>
      </c:layout>
      <c:pieChart>
        <c:varyColors val="1"/>
        <c:ser>
          <c:idx val="0"/>
          <c:order val="0"/>
          <c:spPr>
            <a:solidFill>
              <a:srgbClr val="00A3E1"/>
            </a:solidFill>
          </c:spPr>
          <c:dPt>
            <c:idx val="0"/>
            <c:bubble3D val="0"/>
            <c:spPr>
              <a:solidFill>
                <a:srgbClr val="23ACDD"/>
              </a:solidFill>
              <a:ln w="19050">
                <a:solidFill>
                  <a:schemeClr val="lt1"/>
                </a:solidFill>
              </a:ln>
              <a:effectLst/>
            </c:spPr>
            <c:extLst>
              <c:ext xmlns:c16="http://schemas.microsoft.com/office/drawing/2014/chart" uri="{C3380CC4-5D6E-409C-BE32-E72D297353CC}">
                <c16:uniqueId val="{00000001-BA65-4EE1-8706-5F9AF75E9B6F}"/>
              </c:ext>
            </c:extLst>
          </c:dPt>
          <c:dPt>
            <c:idx val="1"/>
            <c:bubble3D val="0"/>
            <c:spPr>
              <a:solidFill>
                <a:srgbClr val="23ACDD"/>
              </a:solidFill>
              <a:ln w="19050">
                <a:solidFill>
                  <a:schemeClr val="lt1"/>
                </a:solidFill>
              </a:ln>
              <a:effectLst/>
            </c:spPr>
            <c:extLst>
              <c:ext xmlns:c16="http://schemas.microsoft.com/office/drawing/2014/chart" uri="{C3380CC4-5D6E-409C-BE32-E72D297353CC}">
                <c16:uniqueId val="{00000003-BA65-4EE1-8706-5F9AF75E9B6F}"/>
              </c:ext>
            </c:extLst>
          </c:dPt>
          <c:dPt>
            <c:idx val="2"/>
            <c:bubble3D val="0"/>
            <c:spPr>
              <a:solidFill>
                <a:srgbClr val="23ACDD"/>
              </a:solidFill>
              <a:ln w="19050">
                <a:solidFill>
                  <a:schemeClr val="lt1"/>
                </a:solidFill>
              </a:ln>
              <a:effectLst/>
            </c:spPr>
            <c:extLst>
              <c:ext xmlns:c16="http://schemas.microsoft.com/office/drawing/2014/chart" uri="{C3380CC4-5D6E-409C-BE32-E72D297353CC}">
                <c16:uniqueId val="{00000005-BA65-4EE1-8706-5F9AF75E9B6F}"/>
              </c:ext>
            </c:extLst>
          </c:dPt>
          <c:dPt>
            <c:idx val="3"/>
            <c:bubble3D val="0"/>
            <c:spPr>
              <a:solidFill>
                <a:srgbClr val="00249C"/>
              </a:solidFill>
              <a:ln w="19050">
                <a:solidFill>
                  <a:schemeClr val="lt1"/>
                </a:solidFill>
              </a:ln>
              <a:effectLst/>
            </c:spPr>
            <c:extLst>
              <c:ext xmlns:c16="http://schemas.microsoft.com/office/drawing/2014/chart" uri="{C3380CC4-5D6E-409C-BE32-E72D297353CC}">
                <c16:uniqueId val="{00000007-BA65-4EE1-8706-5F9AF75E9B6F}"/>
              </c:ext>
            </c:extLst>
          </c:dPt>
          <c:dPt>
            <c:idx val="4"/>
            <c:bubble3D val="0"/>
            <c:spPr>
              <a:solidFill>
                <a:srgbClr val="00A3E1"/>
              </a:solidFill>
              <a:ln w="19050">
                <a:solidFill>
                  <a:schemeClr val="lt1"/>
                </a:solidFill>
              </a:ln>
              <a:effectLst/>
            </c:spPr>
            <c:extLst>
              <c:ext xmlns:c16="http://schemas.microsoft.com/office/drawing/2014/chart" uri="{C3380CC4-5D6E-409C-BE32-E72D297353CC}">
                <c16:uniqueId val="{00000009-BA65-4EE1-8706-5F9AF75E9B6F}"/>
              </c:ext>
            </c:extLst>
          </c:dPt>
          <c:dLbls>
            <c:dLbl>
              <c:idx val="0"/>
              <c:layout>
                <c:manualLayout>
                  <c:x val="-0.16487988540823936"/>
                  <c:y val="0.21043838976193191"/>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1-BA65-4EE1-8706-5F9AF75E9B6F}"/>
                </c:ext>
              </c:extLst>
            </c:dLbl>
            <c:dLbl>
              <c:idx val="1"/>
              <c:layout>
                <c:manualLayout>
                  <c:x val="-0.23891016132627421"/>
                  <c:y val="-0.12164657640375343"/>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A65-4EE1-8706-5F9AF75E9B6F}"/>
                </c:ext>
              </c:extLst>
            </c:dLbl>
            <c:dLbl>
              <c:idx val="2"/>
              <c:layout>
                <c:manualLayout>
                  <c:x val="-9.4551292259325348E-2"/>
                  <c:y val="-9.1621826068713233E-2"/>
                </c:manualLayout>
              </c:layout>
              <c:spPr>
                <a:noFill/>
                <a:ln>
                  <a:noFill/>
                </a:ln>
                <a:effectLst/>
              </c:spPr>
              <c:txPr>
                <a:bodyPr rot="0" spcFirstLastPara="1" vertOverflow="ellipsis" vert="horz" wrap="square" lIns="38100" tIns="19050" rIns="38100" bIns="19050" anchor="ctr" anchorCtr="1">
                  <a:noAutofit/>
                </a:bodyPr>
                <a:lstStyle/>
                <a:p>
                  <a:pPr>
                    <a:defRPr sz="12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1"/>
              <c:showSerName val="0"/>
              <c:showPercent val="0"/>
              <c:showBubbleSize val="0"/>
              <c:extLst>
                <c:ext xmlns:c15="http://schemas.microsoft.com/office/drawing/2012/chart" uri="{CE6537A1-D6FC-4f65-9D91-7224C49458BB}">
                  <c15:layout>
                    <c:manualLayout>
                      <c:w val="0.10964754195876607"/>
                      <c:h val="0.1950950570342205"/>
                    </c:manualLayout>
                  </c15:layout>
                </c:ext>
                <c:ext xmlns:c16="http://schemas.microsoft.com/office/drawing/2014/chart" uri="{C3380CC4-5D6E-409C-BE32-E72D297353CC}">
                  <c16:uniqueId val="{00000005-BA65-4EE1-8706-5F9AF75E9B6F}"/>
                </c:ext>
              </c:extLst>
            </c:dLbl>
            <c:dLbl>
              <c:idx val="3"/>
              <c:layout>
                <c:manualLayout>
                  <c:x val="0.17089371763214278"/>
                  <c:y val="-0.26345155502357021"/>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7-BA65-4EE1-8706-5F9AF75E9B6F}"/>
                </c:ext>
              </c:extLst>
            </c:dLbl>
            <c:dLbl>
              <c:idx val="4"/>
              <c:layout>
                <c:manualLayout>
                  <c:x val="0.17808724396757206"/>
                  <c:y val="0.22657342216650292"/>
                </c:manualLayout>
              </c:layout>
              <c:tx>
                <c:rich>
                  <a:bodyPr/>
                  <a:lstStyle/>
                  <a:p>
                    <a:fld id="{54EFDA80-51B9-4B77-AD05-126701107E30}" type="CATEGORYNAME">
                      <a:rPr lang="en-US" b="0"/>
                      <a:pPr/>
                      <a:t>[CATEGORY NAME]</a:t>
                    </a:fld>
                    <a:endParaRPr lang="en-US"/>
                  </a:p>
                </c:rich>
              </c:tx>
              <c:showLegendKey val="0"/>
              <c:showVal val="0"/>
              <c:showCatName val="1"/>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9-BA65-4EE1-8706-5F9AF75E9B6F}"/>
                </c:ext>
              </c:extLst>
            </c:dLbl>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Sheet1!$B$3:$B$7</c:f>
              <c:strCache>
                <c:ptCount val="5"/>
                <c:pt idx="0">
                  <c:v>1. Leadership, Accountability &amp; Engagement (20%)</c:v>
                </c:pt>
                <c:pt idx="1">
                  <c:v>2. Risk Management &amp; Planning (20%)</c:v>
                </c:pt>
                <c:pt idx="2">
                  <c:v>3. Training &amp; Awareness (10%)</c:v>
                </c:pt>
                <c:pt idx="3">
                  <c:v>4. Operational Control &amp; Emergency Preparedness (25%)</c:v>
                </c:pt>
                <c:pt idx="4">
                  <c:v>5. Performance Evaluation &amp; Continual Improvement (25%)</c:v>
                </c:pt>
              </c:strCache>
            </c:strRef>
          </c:cat>
          <c:val>
            <c:numRef>
              <c:f>Sheet1!$C$3:$C$7</c:f>
              <c:numCache>
                <c:formatCode>General</c:formatCode>
                <c:ptCount val="5"/>
                <c:pt idx="0">
                  <c:v>20</c:v>
                </c:pt>
                <c:pt idx="1">
                  <c:v>20</c:v>
                </c:pt>
                <c:pt idx="2">
                  <c:v>10</c:v>
                </c:pt>
                <c:pt idx="3">
                  <c:v>25</c:v>
                </c:pt>
                <c:pt idx="4">
                  <c:v>25</c:v>
                </c:pt>
              </c:numCache>
            </c:numRef>
          </c:val>
          <c:extLst>
            <c:ext xmlns:c16="http://schemas.microsoft.com/office/drawing/2014/chart" uri="{C3380CC4-5D6E-409C-BE32-E72D297353CC}">
              <c16:uniqueId val="{0000000A-BA65-4EE1-8706-5F9AF75E9B6F}"/>
            </c:ext>
          </c:extLst>
        </c:ser>
        <c:dLbls>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pPr>
      <a:endParaRPr lang="en-US"/>
    </a:p>
  </c:txPr>
  <c:externalData r:id="rId4">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0691869365911434"/>
          <c:y val="0"/>
          <c:w val="0.65320343035115047"/>
          <c:h val="0.9869297326427352"/>
        </c:manualLayout>
      </c:layout>
      <c:pieChart>
        <c:varyColors val="1"/>
        <c:ser>
          <c:idx val="0"/>
          <c:order val="0"/>
          <c:spPr>
            <a:solidFill>
              <a:srgbClr val="00249C"/>
            </a:solidFill>
          </c:spPr>
          <c:dPt>
            <c:idx val="0"/>
            <c:bubble3D val="0"/>
            <c:spPr>
              <a:solidFill>
                <a:srgbClr val="00249C"/>
              </a:solidFill>
              <a:ln w="19050">
                <a:solidFill>
                  <a:schemeClr val="lt1"/>
                </a:solidFill>
              </a:ln>
              <a:effectLst/>
            </c:spPr>
            <c:extLst>
              <c:ext xmlns:c16="http://schemas.microsoft.com/office/drawing/2014/chart" uri="{C3380CC4-5D6E-409C-BE32-E72D297353CC}">
                <c16:uniqueId val="{00000001-9CDC-4663-96FD-8372F832C3DC}"/>
              </c:ext>
            </c:extLst>
          </c:dPt>
          <c:dPt>
            <c:idx val="1"/>
            <c:bubble3D val="0"/>
            <c:spPr>
              <a:solidFill>
                <a:srgbClr val="00249C"/>
              </a:solidFill>
              <a:ln w="19050">
                <a:solidFill>
                  <a:schemeClr val="lt1"/>
                </a:solidFill>
              </a:ln>
              <a:effectLst/>
            </c:spPr>
            <c:extLst>
              <c:ext xmlns:c16="http://schemas.microsoft.com/office/drawing/2014/chart" uri="{C3380CC4-5D6E-409C-BE32-E72D297353CC}">
                <c16:uniqueId val="{00000003-9CDC-4663-96FD-8372F832C3DC}"/>
              </c:ext>
            </c:extLst>
          </c:dPt>
          <c:dPt>
            <c:idx val="2"/>
            <c:bubble3D val="0"/>
            <c:spPr>
              <a:solidFill>
                <a:srgbClr val="00249C"/>
              </a:solidFill>
              <a:ln w="19050">
                <a:solidFill>
                  <a:schemeClr val="lt1"/>
                </a:solidFill>
              </a:ln>
              <a:effectLst/>
            </c:spPr>
            <c:extLst>
              <c:ext xmlns:c16="http://schemas.microsoft.com/office/drawing/2014/chart" uri="{C3380CC4-5D6E-409C-BE32-E72D297353CC}">
                <c16:uniqueId val="{00000005-9CDC-4663-96FD-8372F832C3DC}"/>
              </c:ext>
            </c:extLst>
          </c:dPt>
          <c:dLbls>
            <c:dLbl>
              <c:idx val="0"/>
              <c:layout>
                <c:manualLayout>
                  <c:x val="-0.23932180662548069"/>
                  <c:y val="1.672868964234424E-3"/>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CDC-4663-96FD-8372F832C3DC}"/>
                </c:ext>
              </c:extLst>
            </c:dLbl>
            <c:dLbl>
              <c:idx val="1"/>
              <c:layout>
                <c:manualLayout>
                  <c:x val="0.22684320199216176"/>
                  <c:y val="-4.300340170153568E-3"/>
                </c:manualLayout>
              </c:layout>
              <c:showLegendKey val="0"/>
              <c:showVal val="0"/>
              <c:showCatName val="1"/>
              <c:showSerName val="0"/>
              <c:showPercent val="0"/>
              <c:showBubbleSize val="0"/>
              <c:extLst>
                <c:ext xmlns:c15="http://schemas.microsoft.com/office/drawing/2012/chart" uri="{CE6537A1-D6FC-4f65-9D91-7224C49458BB}">
                  <c15:layout>
                    <c:manualLayout>
                      <c:w val="0.18260149194664343"/>
                      <c:h val="0.26156705345973863"/>
                    </c:manualLayout>
                  </c15:layout>
                </c:ext>
                <c:ext xmlns:c16="http://schemas.microsoft.com/office/drawing/2014/chart" uri="{C3380CC4-5D6E-409C-BE32-E72D297353CC}">
                  <c16:uniqueId val="{00000003-9CDC-4663-96FD-8372F832C3DC}"/>
                </c:ext>
              </c:extLst>
            </c:dLbl>
            <c:dLbl>
              <c:idx val="2"/>
              <c:layout>
                <c:manualLayout>
                  <c:x val="0.13760716147518937"/>
                  <c:y val="0.15752909805588872"/>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CDC-4663-96FD-8372F832C3DC}"/>
                </c:ext>
              </c:extLst>
            </c:dLbl>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0"/>
            <c:showSerName val="0"/>
            <c:showPercent val="0"/>
            <c:showBubbleSize val="0"/>
            <c:extLst>
              <c:ext xmlns:c15="http://schemas.microsoft.com/office/drawing/2012/chart" uri="{CE6537A1-D6FC-4f65-9D91-7224C49458BB}"/>
            </c:extLst>
          </c:dLbls>
          <c:cat>
            <c:strRef>
              <c:f>'Sheet1 (6)'!$B$4:$B$6</c:f>
              <c:strCache>
                <c:ptCount val="2"/>
                <c:pt idx="0">
                  <c:v>Permit to Work (50%)</c:v>
                </c:pt>
                <c:pt idx="1">
                  <c:v>Contractor Induction (50%)</c:v>
                </c:pt>
              </c:strCache>
            </c:strRef>
          </c:cat>
          <c:val>
            <c:numRef>
              <c:f>'Sheet1 (6)'!$C$4:$C$6</c:f>
              <c:numCache>
                <c:formatCode>General</c:formatCode>
                <c:ptCount val="3"/>
                <c:pt idx="0">
                  <c:v>50</c:v>
                </c:pt>
                <c:pt idx="1">
                  <c:v>50</c:v>
                </c:pt>
              </c:numCache>
            </c:numRef>
          </c:val>
          <c:extLst>
            <c:ext xmlns:c16="http://schemas.microsoft.com/office/drawing/2014/chart" uri="{C3380CC4-5D6E-409C-BE32-E72D297353CC}">
              <c16:uniqueId val="{00000006-9CDC-4663-96FD-8372F832C3DC}"/>
            </c:ext>
          </c:extLst>
        </c:ser>
        <c:dLbls>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4">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5.962634614962823E-2"/>
          <c:y val="1.3070246140492282E-2"/>
          <c:w val="0.65320343035115047"/>
          <c:h val="0.9869297326427352"/>
        </c:manualLayout>
      </c:layout>
      <c:pieChart>
        <c:varyColors val="1"/>
        <c:ser>
          <c:idx val="0"/>
          <c:order val="0"/>
          <c:spPr>
            <a:solidFill>
              <a:srgbClr val="00249C"/>
            </a:solidFill>
          </c:spPr>
          <c:dPt>
            <c:idx val="0"/>
            <c:bubble3D val="0"/>
            <c:spPr>
              <a:solidFill>
                <a:srgbClr val="00249C"/>
              </a:solidFill>
              <a:ln w="19050">
                <a:solidFill>
                  <a:schemeClr val="lt1"/>
                </a:solidFill>
              </a:ln>
              <a:effectLst/>
            </c:spPr>
            <c:extLst>
              <c:ext xmlns:c16="http://schemas.microsoft.com/office/drawing/2014/chart" uri="{C3380CC4-5D6E-409C-BE32-E72D297353CC}">
                <c16:uniqueId val="{00000001-FA0C-4960-B35F-4539EAFC6725}"/>
              </c:ext>
            </c:extLst>
          </c:dPt>
          <c:dPt>
            <c:idx val="1"/>
            <c:bubble3D val="0"/>
            <c:spPr>
              <a:solidFill>
                <a:srgbClr val="00249C"/>
              </a:solidFill>
              <a:ln w="19050">
                <a:solidFill>
                  <a:schemeClr val="lt1"/>
                </a:solidFill>
              </a:ln>
              <a:effectLst/>
            </c:spPr>
            <c:extLst>
              <c:ext xmlns:c16="http://schemas.microsoft.com/office/drawing/2014/chart" uri="{C3380CC4-5D6E-409C-BE32-E72D297353CC}">
                <c16:uniqueId val="{00000003-FA0C-4960-B35F-4539EAFC6725}"/>
              </c:ext>
            </c:extLst>
          </c:dPt>
          <c:dPt>
            <c:idx val="2"/>
            <c:bubble3D val="0"/>
            <c:spPr>
              <a:solidFill>
                <a:srgbClr val="00249C"/>
              </a:solidFill>
              <a:ln w="19050">
                <a:solidFill>
                  <a:schemeClr val="lt1"/>
                </a:solidFill>
              </a:ln>
              <a:effectLst/>
            </c:spPr>
            <c:extLst>
              <c:ext xmlns:c16="http://schemas.microsoft.com/office/drawing/2014/chart" uri="{C3380CC4-5D6E-409C-BE32-E72D297353CC}">
                <c16:uniqueId val="{00000005-FA0C-4960-B35F-4539EAFC6725}"/>
              </c:ext>
            </c:extLst>
          </c:dPt>
          <c:dLbls>
            <c:dLbl>
              <c:idx val="0"/>
              <c:layout>
                <c:manualLayout>
                  <c:x val="-0.20470213681649005"/>
                  <c:y val="0.12950340955254475"/>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1-FA0C-4960-B35F-4539EAFC6725}"/>
                </c:ext>
              </c:extLst>
            </c:dLbl>
            <c:dLbl>
              <c:idx val="1"/>
              <c:layout>
                <c:manualLayout>
                  <c:x val="1.5259156161981401E-4"/>
                  <c:y val="-0.12052447159685911"/>
                </c:manualLayout>
              </c:layout>
              <c:showLegendKey val="0"/>
              <c:showVal val="0"/>
              <c:showCatName val="1"/>
              <c:showSerName val="0"/>
              <c:showPercent val="0"/>
              <c:showBubbleSize val="0"/>
              <c:extLst>
                <c:ext xmlns:c15="http://schemas.microsoft.com/office/drawing/2012/chart" uri="{CE6537A1-D6FC-4f65-9D91-7224C49458BB}">
                  <c15:layout>
                    <c:manualLayout>
                      <c:w val="0.17076376865960899"/>
                      <c:h val="0.19509517235381721"/>
                    </c:manualLayout>
                  </c15:layout>
                </c:ext>
                <c:ext xmlns:c16="http://schemas.microsoft.com/office/drawing/2014/chart" uri="{C3380CC4-5D6E-409C-BE32-E72D297353CC}">
                  <c16:uniqueId val="{00000003-FA0C-4960-B35F-4539EAFC6725}"/>
                </c:ext>
              </c:extLst>
            </c:dLbl>
            <c:dLbl>
              <c:idx val="2"/>
              <c:layout>
                <c:manualLayout>
                  <c:x val="0.13580698791481147"/>
                  <c:y val="0.10433070866141732"/>
                </c:manualLayout>
              </c:layout>
              <c:tx>
                <c:rich>
                  <a:bodyPr/>
                  <a:lstStyle/>
                  <a:p>
                    <a:fld id="{1F60214B-0344-4CF9-91B0-6E58E204FA7C}" type="CATEGORYNAME">
                      <a:rPr lang="en-US" smtClean="0"/>
                      <a:pPr/>
                      <a:t>[CATEGORY NAME]</a:t>
                    </a:fld>
                    <a:r>
                      <a:rPr lang="en-US" dirty="0"/>
                      <a:t> (40%)</a:t>
                    </a:r>
                  </a:p>
                </c:rich>
              </c:tx>
              <c:showLegendKey val="0"/>
              <c:showVal val="0"/>
              <c:showCatName val="1"/>
              <c:showSerName val="0"/>
              <c:showPercent val="0"/>
              <c:showBubbleSize val="0"/>
              <c:extLst>
                <c:ext xmlns:c15="http://schemas.microsoft.com/office/drawing/2012/chart" uri="{CE6537A1-D6FC-4f65-9D91-7224C49458BB}">
                  <c15:layout>
                    <c:manualLayout>
                      <c:w val="0.23705849582172703"/>
                      <c:h val="0.23515748031496064"/>
                    </c:manualLayout>
                  </c15:layout>
                  <c15:dlblFieldTable/>
                  <c15:showDataLabelsRange val="0"/>
                </c:ext>
                <c:ext xmlns:c16="http://schemas.microsoft.com/office/drawing/2014/chart" uri="{C3380CC4-5D6E-409C-BE32-E72D297353CC}">
                  <c16:uniqueId val="{00000005-FA0C-4960-B35F-4539EAFC6725}"/>
                </c:ext>
              </c:extLst>
            </c:dLbl>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0"/>
            <c:showSerName val="0"/>
            <c:showPercent val="0"/>
            <c:showBubbleSize val="0"/>
            <c:extLst>
              <c:ext xmlns:c15="http://schemas.microsoft.com/office/drawing/2012/chart" uri="{CE6537A1-D6FC-4f65-9D91-7224C49458BB}"/>
            </c:extLst>
          </c:dLbls>
          <c:cat>
            <c:strRef>
              <c:f>'Sheet1 (6)'!$B$4:$B$6</c:f>
              <c:strCache>
                <c:ptCount val="3"/>
                <c:pt idx="0">
                  <c:v>Safe Work  / Operational Control Procedures (40%)</c:v>
                </c:pt>
                <c:pt idx="1">
                  <c:v>Contractor Management (20%)</c:v>
                </c:pt>
                <c:pt idx="2">
                  <c:v>Emergency Preparedness</c:v>
                </c:pt>
              </c:strCache>
            </c:strRef>
          </c:cat>
          <c:val>
            <c:numRef>
              <c:f>'Sheet1 (6)'!$C$4:$C$6</c:f>
              <c:numCache>
                <c:formatCode>General</c:formatCode>
                <c:ptCount val="3"/>
                <c:pt idx="0">
                  <c:v>40</c:v>
                </c:pt>
                <c:pt idx="1">
                  <c:v>20</c:v>
                </c:pt>
                <c:pt idx="2">
                  <c:v>40</c:v>
                </c:pt>
              </c:numCache>
            </c:numRef>
          </c:val>
          <c:extLst>
            <c:ext xmlns:c16="http://schemas.microsoft.com/office/drawing/2014/chart" uri="{C3380CC4-5D6E-409C-BE32-E72D297353CC}">
              <c16:uniqueId val="{00000006-FA0C-4960-B35F-4539EAFC6725}"/>
            </c:ext>
          </c:extLst>
        </c:ser>
        <c:dLbls>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4">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00249C">
                    <a:lumMod val="65000"/>
                    <a:lumOff val="35000"/>
                  </a:srgbClr>
                </a:solidFill>
              </a:rPr>
              <a:t>Operational Control Procedures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'KPI 4'!$Q$6</c:f>
              <c:strCache>
                <c:ptCount val="1"/>
                <c:pt idx="0">
                  <c:v>Operational Control Procedures</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'KPI 4'!$R$5:$S$5</c:f>
              <c:strCache>
                <c:ptCount val="2"/>
                <c:pt idx="0">
                  <c:v>Baniyas A</c:v>
                </c:pt>
                <c:pt idx="1">
                  <c:v>Baniyas B</c:v>
                </c:pt>
              </c:strCache>
            </c:strRef>
          </c:cat>
          <c:val>
            <c:numRef>
              <c:f>'KPI 4'!$R$6:$S$6</c:f>
              <c:numCache>
                <c:formatCode>0%</c:formatCode>
                <c:ptCount val="2"/>
                <c:pt idx="0">
                  <c:v>0.87</c:v>
                </c:pt>
                <c:pt idx="1">
                  <c:v>1</c:v>
                </c:pt>
              </c:numCache>
            </c:numRef>
          </c:val>
          <c:extLst>
            <c:ext xmlns:c16="http://schemas.microsoft.com/office/drawing/2014/chart" uri="{C3380CC4-5D6E-409C-BE32-E72D297353CC}">
              <c16:uniqueId val="{00000000-7967-426D-87F3-2DF1EB90E800}"/>
            </c:ext>
          </c:extLst>
        </c:ser>
        <c:dLbls>
          <c:showLegendKey val="0"/>
          <c:showVal val="1"/>
          <c:showCatName val="0"/>
          <c:showSerName val="0"/>
          <c:showPercent val="0"/>
          <c:showBubbleSize val="0"/>
        </c:dLbls>
        <c:gapWidth val="219"/>
        <c:overlap val="-27"/>
        <c:axId val="56321695"/>
        <c:axId val="56335135"/>
      </c:barChart>
      <c:lineChart>
        <c:grouping val="standard"/>
        <c:varyColors val="0"/>
        <c:ser>
          <c:idx val="1"/>
          <c:order val="1"/>
          <c:tx>
            <c:strRef>
              <c:f>'KPI 4'!$Q$7</c:f>
              <c:strCache>
                <c:ptCount val="1"/>
                <c:pt idx="0">
                  <c:v>Average All Campuses</c:v>
                </c:pt>
              </c:strCache>
            </c:strRef>
          </c:tx>
          <c:spPr>
            <a:ln w="28575" cap="rnd">
              <a:solidFill>
                <a:schemeClr val="accent2"/>
              </a:solidFill>
              <a:round/>
            </a:ln>
            <a:effectLst/>
          </c:spPr>
          <c:marker>
            <c:symbol val="none"/>
          </c:marker>
          <c:dLbls>
            <c:delete val="1"/>
          </c:dLbls>
          <c:cat>
            <c:strRef>
              <c:f>'KPI 4'!$R$5:$S$5</c:f>
              <c:strCache>
                <c:ptCount val="2"/>
                <c:pt idx="0">
                  <c:v>Baniyas A</c:v>
                </c:pt>
                <c:pt idx="1">
                  <c:v>Baniyas B</c:v>
                </c:pt>
              </c:strCache>
            </c:strRef>
          </c:cat>
          <c:val>
            <c:numRef>
              <c:f>'KPI 4'!$R$7:$S$7</c:f>
              <c:numCache>
                <c:formatCode>0%</c:formatCode>
                <c:ptCount val="2"/>
                <c:pt idx="0">
                  <c:v>0.85</c:v>
                </c:pt>
                <c:pt idx="1">
                  <c:v>0.85</c:v>
                </c:pt>
              </c:numCache>
            </c:numRef>
          </c:val>
          <c:smooth val="0"/>
          <c:extLst>
            <c:ext xmlns:c16="http://schemas.microsoft.com/office/drawing/2014/chart" uri="{C3380CC4-5D6E-409C-BE32-E72D297353CC}">
              <c16:uniqueId val="{00000001-7967-426D-87F3-2DF1EB90E800}"/>
            </c:ext>
          </c:extLst>
        </c:ser>
        <c:dLbls>
          <c:showLegendKey val="0"/>
          <c:showVal val="1"/>
          <c:showCatName val="0"/>
          <c:showSerName val="0"/>
          <c:showPercent val="0"/>
          <c:showBubbleSize val="0"/>
        </c:dLbls>
        <c:marker val="1"/>
        <c:smooth val="0"/>
        <c:axId val="56321695"/>
        <c:axId val="56335135"/>
      </c:lineChart>
      <c:catAx>
        <c:axId val="5632169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6335135"/>
        <c:crosses val="autoZero"/>
        <c:auto val="1"/>
        <c:lblAlgn val="ctr"/>
        <c:lblOffset val="100"/>
        <c:noMultiLvlLbl val="0"/>
      </c:catAx>
      <c:valAx>
        <c:axId val="56335135"/>
        <c:scaling>
          <c:orientation val="minMax"/>
          <c:max val="1.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6321695"/>
        <c:crosses val="autoZero"/>
        <c:crossBetween val="between"/>
        <c:majorUnit val="0.1"/>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Drills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'KPI 4'!$Q$36</c:f>
              <c:strCache>
                <c:ptCount val="1"/>
                <c:pt idx="0">
                  <c:v>Drills</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'KPI 4'!$R$35:$S$35</c:f>
              <c:strCache>
                <c:ptCount val="2"/>
                <c:pt idx="0">
                  <c:v>Baniyas A</c:v>
                </c:pt>
                <c:pt idx="1">
                  <c:v>Baniyas B</c:v>
                </c:pt>
              </c:strCache>
            </c:strRef>
          </c:cat>
          <c:val>
            <c:numRef>
              <c:f>'KPI 4'!$R$36:$S$36</c:f>
              <c:numCache>
                <c:formatCode>0%</c:formatCode>
                <c:ptCount val="2"/>
                <c:pt idx="0">
                  <c:v>0.75</c:v>
                </c:pt>
                <c:pt idx="1">
                  <c:v>0.67</c:v>
                </c:pt>
              </c:numCache>
            </c:numRef>
          </c:val>
          <c:extLst>
            <c:ext xmlns:c16="http://schemas.microsoft.com/office/drawing/2014/chart" uri="{C3380CC4-5D6E-409C-BE32-E72D297353CC}">
              <c16:uniqueId val="{00000000-3356-47F8-90E0-FE87E97EE514}"/>
            </c:ext>
          </c:extLst>
        </c:ser>
        <c:dLbls>
          <c:showLegendKey val="0"/>
          <c:showVal val="1"/>
          <c:showCatName val="0"/>
          <c:showSerName val="0"/>
          <c:showPercent val="0"/>
          <c:showBubbleSize val="0"/>
        </c:dLbls>
        <c:gapWidth val="219"/>
        <c:overlap val="-27"/>
        <c:axId val="57122255"/>
        <c:axId val="57106895"/>
      </c:barChart>
      <c:lineChart>
        <c:grouping val="standard"/>
        <c:varyColors val="0"/>
        <c:ser>
          <c:idx val="1"/>
          <c:order val="1"/>
          <c:tx>
            <c:strRef>
              <c:f>'KPI 4'!$Q$37</c:f>
              <c:strCache>
                <c:ptCount val="1"/>
                <c:pt idx="0">
                  <c:v>Average All Campuses</c:v>
                </c:pt>
              </c:strCache>
            </c:strRef>
          </c:tx>
          <c:spPr>
            <a:ln w="28575" cap="rnd">
              <a:solidFill>
                <a:schemeClr val="accent2"/>
              </a:solidFill>
              <a:round/>
            </a:ln>
            <a:effectLst/>
          </c:spPr>
          <c:marker>
            <c:symbol val="none"/>
          </c:marker>
          <c:dLbls>
            <c:delete val="1"/>
          </c:dLbls>
          <c:cat>
            <c:strRef>
              <c:f>'KPI 4'!$R$35:$S$35</c:f>
              <c:strCache>
                <c:ptCount val="2"/>
                <c:pt idx="0">
                  <c:v>Baniyas A</c:v>
                </c:pt>
                <c:pt idx="1">
                  <c:v>Baniyas B</c:v>
                </c:pt>
              </c:strCache>
            </c:strRef>
          </c:cat>
          <c:val>
            <c:numRef>
              <c:f>'KPI 4'!$R$37:$S$37</c:f>
              <c:numCache>
                <c:formatCode>0%</c:formatCode>
                <c:ptCount val="2"/>
                <c:pt idx="0">
                  <c:v>0.74</c:v>
                </c:pt>
                <c:pt idx="1">
                  <c:v>0.74</c:v>
                </c:pt>
              </c:numCache>
            </c:numRef>
          </c:val>
          <c:smooth val="0"/>
          <c:extLst>
            <c:ext xmlns:c16="http://schemas.microsoft.com/office/drawing/2014/chart" uri="{C3380CC4-5D6E-409C-BE32-E72D297353CC}">
              <c16:uniqueId val="{00000001-3356-47F8-90E0-FE87E97EE514}"/>
            </c:ext>
          </c:extLst>
        </c:ser>
        <c:dLbls>
          <c:showLegendKey val="0"/>
          <c:showVal val="1"/>
          <c:showCatName val="0"/>
          <c:showSerName val="0"/>
          <c:showPercent val="0"/>
          <c:showBubbleSize val="0"/>
        </c:dLbls>
        <c:marker val="1"/>
        <c:smooth val="0"/>
        <c:axId val="57122255"/>
        <c:axId val="57106895"/>
      </c:lineChart>
      <c:catAx>
        <c:axId val="5712225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7106895"/>
        <c:crosses val="autoZero"/>
        <c:auto val="1"/>
        <c:lblAlgn val="ctr"/>
        <c:lblOffset val="100"/>
        <c:noMultiLvlLbl val="0"/>
      </c:catAx>
      <c:valAx>
        <c:axId val="57106895"/>
        <c:scaling>
          <c:orientation val="minMax"/>
          <c:max val="1.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7122255"/>
        <c:crosses val="autoZero"/>
        <c:crossBetween val="between"/>
        <c:majorUnit val="0.1"/>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00249C">
                    <a:lumMod val="65000"/>
                    <a:lumOff val="35000"/>
                  </a:srgbClr>
                </a:solidFill>
              </a:rPr>
              <a:t>Permit to Work</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'KPI 4'!$O$69</c:f>
              <c:strCache>
                <c:ptCount val="1"/>
                <c:pt idx="0">
                  <c:v>Drills</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'KPI 4'!$P$68:$Q$68</c:f>
              <c:strCache>
                <c:ptCount val="2"/>
                <c:pt idx="0">
                  <c:v>Baniyas A</c:v>
                </c:pt>
                <c:pt idx="1">
                  <c:v>Baniyas B</c:v>
                </c:pt>
              </c:strCache>
            </c:strRef>
          </c:cat>
          <c:val>
            <c:numRef>
              <c:f>'KPI 4'!$P$69:$Q$69</c:f>
              <c:numCache>
                <c:formatCode>0%</c:formatCode>
                <c:ptCount val="2"/>
                <c:pt idx="0">
                  <c:v>0.78</c:v>
                </c:pt>
                <c:pt idx="1">
                  <c:v>1</c:v>
                </c:pt>
              </c:numCache>
            </c:numRef>
          </c:val>
          <c:extLst>
            <c:ext xmlns:c16="http://schemas.microsoft.com/office/drawing/2014/chart" uri="{C3380CC4-5D6E-409C-BE32-E72D297353CC}">
              <c16:uniqueId val="{00000000-C745-4FB6-9B68-B0DF237F2353}"/>
            </c:ext>
          </c:extLst>
        </c:ser>
        <c:dLbls>
          <c:showLegendKey val="0"/>
          <c:showVal val="1"/>
          <c:showCatName val="0"/>
          <c:showSerName val="0"/>
          <c:showPercent val="0"/>
          <c:showBubbleSize val="0"/>
        </c:dLbls>
        <c:gapWidth val="219"/>
        <c:overlap val="-27"/>
        <c:axId val="67145583"/>
        <c:axId val="67141743"/>
      </c:barChart>
      <c:lineChart>
        <c:grouping val="standard"/>
        <c:varyColors val="0"/>
        <c:ser>
          <c:idx val="1"/>
          <c:order val="1"/>
          <c:tx>
            <c:strRef>
              <c:f>'KPI 4'!$O$70</c:f>
              <c:strCache>
                <c:ptCount val="1"/>
                <c:pt idx="0">
                  <c:v>Average All Campuses</c:v>
                </c:pt>
              </c:strCache>
            </c:strRef>
          </c:tx>
          <c:spPr>
            <a:ln w="28575" cap="rnd">
              <a:solidFill>
                <a:schemeClr val="accent2"/>
              </a:solidFill>
              <a:round/>
            </a:ln>
            <a:effectLst/>
          </c:spPr>
          <c:marker>
            <c:symbol val="none"/>
          </c:marker>
          <c:dLbls>
            <c:delete val="1"/>
          </c:dLbls>
          <c:cat>
            <c:strRef>
              <c:f>'KPI 4'!$P$68:$Q$68</c:f>
              <c:strCache>
                <c:ptCount val="2"/>
                <c:pt idx="0">
                  <c:v>Baniyas A</c:v>
                </c:pt>
                <c:pt idx="1">
                  <c:v>Baniyas B</c:v>
                </c:pt>
              </c:strCache>
            </c:strRef>
          </c:cat>
          <c:val>
            <c:numRef>
              <c:f>'KPI 4'!$P$70:$Q$70</c:f>
              <c:numCache>
                <c:formatCode>0%</c:formatCode>
                <c:ptCount val="2"/>
                <c:pt idx="0">
                  <c:v>0.98</c:v>
                </c:pt>
                <c:pt idx="1">
                  <c:v>0.98</c:v>
                </c:pt>
              </c:numCache>
            </c:numRef>
          </c:val>
          <c:smooth val="0"/>
          <c:extLst>
            <c:ext xmlns:c16="http://schemas.microsoft.com/office/drawing/2014/chart" uri="{C3380CC4-5D6E-409C-BE32-E72D297353CC}">
              <c16:uniqueId val="{00000001-C745-4FB6-9B68-B0DF237F2353}"/>
            </c:ext>
          </c:extLst>
        </c:ser>
        <c:dLbls>
          <c:showLegendKey val="0"/>
          <c:showVal val="1"/>
          <c:showCatName val="0"/>
          <c:showSerName val="0"/>
          <c:showPercent val="0"/>
          <c:showBubbleSize val="0"/>
        </c:dLbls>
        <c:marker val="1"/>
        <c:smooth val="0"/>
        <c:axId val="67145583"/>
        <c:axId val="67141743"/>
      </c:lineChart>
      <c:catAx>
        <c:axId val="6714558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7141743"/>
        <c:crosses val="autoZero"/>
        <c:auto val="1"/>
        <c:lblAlgn val="ctr"/>
        <c:lblOffset val="100"/>
        <c:noMultiLvlLbl val="0"/>
      </c:catAx>
      <c:valAx>
        <c:axId val="67141743"/>
        <c:scaling>
          <c:orientation val="minMax"/>
          <c:max val="1.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7145583"/>
        <c:crosses val="autoZero"/>
        <c:crossBetween val="between"/>
        <c:majorUnit val="0.1"/>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00249C">
                    <a:lumMod val="65000"/>
                    <a:lumOff val="35000"/>
                  </a:srgbClr>
                </a:solidFill>
              </a:rPr>
              <a:t>Contractor Induction </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'KPI 4'!$J$79</c:f>
              <c:strCache>
                <c:ptCount val="1"/>
                <c:pt idx="0">
                  <c:v>Contractor Induction </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'KPI 4'!$K$78:$L$78</c:f>
              <c:strCache>
                <c:ptCount val="2"/>
                <c:pt idx="0">
                  <c:v>Baniyas A</c:v>
                </c:pt>
                <c:pt idx="1">
                  <c:v>Baniyas B</c:v>
                </c:pt>
              </c:strCache>
            </c:strRef>
          </c:cat>
          <c:val>
            <c:numRef>
              <c:f>'KPI 4'!$K$79:$L$79</c:f>
              <c:numCache>
                <c:formatCode>0%</c:formatCode>
                <c:ptCount val="2"/>
                <c:pt idx="0">
                  <c:v>0.93</c:v>
                </c:pt>
                <c:pt idx="1">
                  <c:v>0.95</c:v>
                </c:pt>
              </c:numCache>
            </c:numRef>
          </c:val>
          <c:extLst>
            <c:ext xmlns:c16="http://schemas.microsoft.com/office/drawing/2014/chart" uri="{C3380CC4-5D6E-409C-BE32-E72D297353CC}">
              <c16:uniqueId val="{00000000-8291-4A65-9405-6A6DEEEFE680}"/>
            </c:ext>
          </c:extLst>
        </c:ser>
        <c:dLbls>
          <c:showLegendKey val="0"/>
          <c:showVal val="1"/>
          <c:showCatName val="0"/>
          <c:showSerName val="0"/>
          <c:showPercent val="0"/>
          <c:showBubbleSize val="0"/>
        </c:dLbls>
        <c:gapWidth val="219"/>
        <c:overlap val="-27"/>
        <c:axId val="67147983"/>
        <c:axId val="67148463"/>
      </c:barChart>
      <c:lineChart>
        <c:grouping val="standard"/>
        <c:varyColors val="0"/>
        <c:ser>
          <c:idx val="1"/>
          <c:order val="1"/>
          <c:tx>
            <c:strRef>
              <c:f>'KPI 4'!$J$80</c:f>
              <c:strCache>
                <c:ptCount val="1"/>
                <c:pt idx="0">
                  <c:v>Average All Campuses</c:v>
                </c:pt>
              </c:strCache>
            </c:strRef>
          </c:tx>
          <c:spPr>
            <a:ln w="28575" cap="rnd">
              <a:solidFill>
                <a:schemeClr val="accent2"/>
              </a:solidFill>
              <a:round/>
            </a:ln>
            <a:effectLst/>
          </c:spPr>
          <c:marker>
            <c:symbol val="none"/>
          </c:marker>
          <c:dLbls>
            <c:delete val="1"/>
          </c:dLbls>
          <c:cat>
            <c:strRef>
              <c:f>'KPI 4'!$K$78:$L$78</c:f>
              <c:strCache>
                <c:ptCount val="2"/>
                <c:pt idx="0">
                  <c:v>Baniyas A</c:v>
                </c:pt>
                <c:pt idx="1">
                  <c:v>Baniyas B</c:v>
                </c:pt>
              </c:strCache>
            </c:strRef>
          </c:cat>
          <c:val>
            <c:numRef>
              <c:f>'KPI 4'!$K$80:$L$80</c:f>
              <c:numCache>
                <c:formatCode>0%</c:formatCode>
                <c:ptCount val="2"/>
                <c:pt idx="0">
                  <c:v>0.95</c:v>
                </c:pt>
                <c:pt idx="1">
                  <c:v>0.95</c:v>
                </c:pt>
              </c:numCache>
            </c:numRef>
          </c:val>
          <c:smooth val="0"/>
          <c:extLst>
            <c:ext xmlns:c16="http://schemas.microsoft.com/office/drawing/2014/chart" uri="{C3380CC4-5D6E-409C-BE32-E72D297353CC}">
              <c16:uniqueId val="{00000001-8291-4A65-9405-6A6DEEEFE680}"/>
            </c:ext>
          </c:extLst>
        </c:ser>
        <c:dLbls>
          <c:showLegendKey val="0"/>
          <c:showVal val="1"/>
          <c:showCatName val="0"/>
          <c:showSerName val="0"/>
          <c:showPercent val="0"/>
          <c:showBubbleSize val="0"/>
        </c:dLbls>
        <c:marker val="1"/>
        <c:smooth val="0"/>
        <c:axId val="67147983"/>
        <c:axId val="67148463"/>
      </c:lineChart>
      <c:catAx>
        <c:axId val="6714798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7148463"/>
        <c:crosses val="autoZero"/>
        <c:auto val="1"/>
        <c:lblAlgn val="ctr"/>
        <c:lblOffset val="100"/>
        <c:noMultiLvlLbl val="0"/>
      </c:catAx>
      <c:valAx>
        <c:axId val="67148463"/>
        <c:scaling>
          <c:orientation val="minMax"/>
          <c:max val="1.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7147983"/>
        <c:crosses val="autoZero"/>
        <c:crossBetween val="between"/>
        <c:majorUnit val="0.1"/>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7.2361443374372211E-2"/>
          <c:y val="1.3070339256923179E-2"/>
          <c:w val="0.65320343035115047"/>
          <c:h val="0.9869297326427352"/>
        </c:manualLayout>
      </c:layout>
      <c:pieChart>
        <c:varyColors val="1"/>
        <c:ser>
          <c:idx val="0"/>
          <c:order val="0"/>
          <c:spPr>
            <a:solidFill>
              <a:srgbClr val="00A3E1"/>
            </a:solidFill>
          </c:spPr>
          <c:dPt>
            <c:idx val="0"/>
            <c:bubble3D val="0"/>
            <c:spPr>
              <a:solidFill>
                <a:srgbClr val="23ACDD"/>
              </a:solidFill>
              <a:ln w="19050">
                <a:solidFill>
                  <a:schemeClr val="lt1"/>
                </a:solidFill>
              </a:ln>
              <a:effectLst/>
            </c:spPr>
            <c:extLst>
              <c:ext xmlns:c16="http://schemas.microsoft.com/office/drawing/2014/chart" uri="{C3380CC4-5D6E-409C-BE32-E72D297353CC}">
                <c16:uniqueId val="{00000001-BA65-4EE1-8706-5F9AF75E9B6F}"/>
              </c:ext>
            </c:extLst>
          </c:dPt>
          <c:dPt>
            <c:idx val="1"/>
            <c:bubble3D val="0"/>
            <c:spPr>
              <a:solidFill>
                <a:srgbClr val="23ACDD"/>
              </a:solidFill>
              <a:ln w="19050">
                <a:solidFill>
                  <a:schemeClr val="lt1"/>
                </a:solidFill>
              </a:ln>
              <a:effectLst/>
            </c:spPr>
            <c:extLst>
              <c:ext xmlns:c16="http://schemas.microsoft.com/office/drawing/2014/chart" uri="{C3380CC4-5D6E-409C-BE32-E72D297353CC}">
                <c16:uniqueId val="{00000003-BA65-4EE1-8706-5F9AF75E9B6F}"/>
              </c:ext>
            </c:extLst>
          </c:dPt>
          <c:dPt>
            <c:idx val="2"/>
            <c:bubble3D val="0"/>
            <c:spPr>
              <a:solidFill>
                <a:srgbClr val="23ACDD"/>
              </a:solidFill>
              <a:ln w="19050">
                <a:solidFill>
                  <a:schemeClr val="lt1"/>
                </a:solidFill>
              </a:ln>
              <a:effectLst/>
            </c:spPr>
            <c:extLst>
              <c:ext xmlns:c16="http://schemas.microsoft.com/office/drawing/2014/chart" uri="{C3380CC4-5D6E-409C-BE32-E72D297353CC}">
                <c16:uniqueId val="{00000005-BA65-4EE1-8706-5F9AF75E9B6F}"/>
              </c:ext>
            </c:extLst>
          </c:dPt>
          <c:dPt>
            <c:idx val="3"/>
            <c:bubble3D val="0"/>
            <c:spPr>
              <a:solidFill>
                <a:srgbClr val="00A3E1"/>
              </a:solidFill>
              <a:ln w="19050">
                <a:solidFill>
                  <a:schemeClr val="lt1"/>
                </a:solidFill>
              </a:ln>
              <a:effectLst/>
            </c:spPr>
            <c:extLst>
              <c:ext xmlns:c16="http://schemas.microsoft.com/office/drawing/2014/chart" uri="{C3380CC4-5D6E-409C-BE32-E72D297353CC}">
                <c16:uniqueId val="{00000007-BA65-4EE1-8706-5F9AF75E9B6F}"/>
              </c:ext>
            </c:extLst>
          </c:dPt>
          <c:dPt>
            <c:idx val="4"/>
            <c:bubble3D val="0"/>
            <c:spPr>
              <a:solidFill>
                <a:srgbClr val="00249C"/>
              </a:solidFill>
              <a:ln w="19050">
                <a:solidFill>
                  <a:schemeClr val="lt1"/>
                </a:solidFill>
              </a:ln>
              <a:effectLst/>
            </c:spPr>
            <c:extLst>
              <c:ext xmlns:c16="http://schemas.microsoft.com/office/drawing/2014/chart" uri="{C3380CC4-5D6E-409C-BE32-E72D297353CC}">
                <c16:uniqueId val="{00000009-BA65-4EE1-8706-5F9AF75E9B6F}"/>
              </c:ext>
            </c:extLst>
          </c:dPt>
          <c:dLbls>
            <c:dLbl>
              <c:idx val="0"/>
              <c:layout>
                <c:manualLayout>
                  <c:x val="-0.16487988540823936"/>
                  <c:y val="0.21043838976193191"/>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1-BA65-4EE1-8706-5F9AF75E9B6F}"/>
                </c:ext>
              </c:extLst>
            </c:dLbl>
            <c:dLbl>
              <c:idx val="1"/>
              <c:layout>
                <c:manualLayout>
                  <c:x val="-0.23891016132627421"/>
                  <c:y val="-0.12164657640375343"/>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A65-4EE1-8706-5F9AF75E9B6F}"/>
                </c:ext>
              </c:extLst>
            </c:dLbl>
            <c:dLbl>
              <c:idx val="2"/>
              <c:layout>
                <c:manualLayout>
                  <c:x val="-9.4551292259325348E-2"/>
                  <c:y val="-9.1621826068713233E-2"/>
                </c:manualLayout>
              </c:layout>
              <c:spPr>
                <a:noFill/>
                <a:ln>
                  <a:noFill/>
                </a:ln>
                <a:effectLst/>
              </c:spPr>
              <c:txPr>
                <a:bodyPr rot="0" spcFirstLastPara="1" vertOverflow="ellipsis" vert="horz" wrap="square" lIns="38100" tIns="19050" rIns="38100" bIns="19050" anchor="ctr" anchorCtr="1">
                  <a:noAutofit/>
                </a:bodyPr>
                <a:lstStyle/>
                <a:p>
                  <a:pPr>
                    <a:defRPr sz="12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1"/>
              <c:showSerName val="0"/>
              <c:showPercent val="0"/>
              <c:showBubbleSize val="0"/>
              <c:extLst>
                <c:ext xmlns:c15="http://schemas.microsoft.com/office/drawing/2012/chart" uri="{CE6537A1-D6FC-4f65-9D91-7224C49458BB}">
                  <c15:layout>
                    <c:manualLayout>
                      <c:w val="0.10964754195876607"/>
                      <c:h val="0.1950950570342205"/>
                    </c:manualLayout>
                  </c15:layout>
                </c:ext>
                <c:ext xmlns:c16="http://schemas.microsoft.com/office/drawing/2014/chart" uri="{C3380CC4-5D6E-409C-BE32-E72D297353CC}">
                  <c16:uniqueId val="{00000005-BA65-4EE1-8706-5F9AF75E9B6F}"/>
                </c:ext>
              </c:extLst>
            </c:dLbl>
            <c:dLbl>
              <c:idx val="3"/>
              <c:layout>
                <c:manualLayout>
                  <c:x val="0.17089371763214278"/>
                  <c:y val="-0.26345155502357021"/>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7-BA65-4EE1-8706-5F9AF75E9B6F}"/>
                </c:ext>
              </c:extLst>
            </c:dLbl>
            <c:dLbl>
              <c:idx val="4"/>
              <c:layout>
                <c:manualLayout>
                  <c:x val="0.17808724396757206"/>
                  <c:y val="0.22657342216650292"/>
                </c:manualLayout>
              </c:layout>
              <c:tx>
                <c:rich>
                  <a:bodyPr/>
                  <a:lstStyle/>
                  <a:p>
                    <a:fld id="{54EFDA80-51B9-4B77-AD05-126701107E30}" type="CATEGORYNAME">
                      <a:rPr lang="en-US" b="0"/>
                      <a:pPr/>
                      <a:t>[CATEGORY NAME]</a:t>
                    </a:fld>
                    <a:endParaRPr lang="en-US"/>
                  </a:p>
                </c:rich>
              </c:tx>
              <c:showLegendKey val="0"/>
              <c:showVal val="0"/>
              <c:showCatName val="1"/>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9-BA65-4EE1-8706-5F9AF75E9B6F}"/>
                </c:ext>
              </c:extLst>
            </c:dLbl>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Sheet1!$B$3:$B$7</c:f>
              <c:strCache>
                <c:ptCount val="5"/>
                <c:pt idx="0">
                  <c:v>1. Leadership, Accountability &amp; Engagement (20%)</c:v>
                </c:pt>
                <c:pt idx="1">
                  <c:v>2. Risk Management &amp; Planning (20%)</c:v>
                </c:pt>
                <c:pt idx="2">
                  <c:v>3. Training &amp; Awareness (10%)</c:v>
                </c:pt>
                <c:pt idx="3">
                  <c:v>4. Operational Control &amp; Emergency Preparedness (25%)</c:v>
                </c:pt>
                <c:pt idx="4">
                  <c:v>5. Performance Evaluation &amp; Continual Improvement (25%)</c:v>
                </c:pt>
              </c:strCache>
            </c:strRef>
          </c:cat>
          <c:val>
            <c:numRef>
              <c:f>Sheet1!$C$3:$C$7</c:f>
              <c:numCache>
                <c:formatCode>General</c:formatCode>
                <c:ptCount val="5"/>
                <c:pt idx="0">
                  <c:v>20</c:v>
                </c:pt>
                <c:pt idx="1">
                  <c:v>20</c:v>
                </c:pt>
                <c:pt idx="2">
                  <c:v>10</c:v>
                </c:pt>
                <c:pt idx="3">
                  <c:v>25</c:v>
                </c:pt>
                <c:pt idx="4">
                  <c:v>25</c:v>
                </c:pt>
              </c:numCache>
            </c:numRef>
          </c:val>
          <c:extLst>
            <c:ext xmlns:c16="http://schemas.microsoft.com/office/drawing/2014/chart" uri="{C3380CC4-5D6E-409C-BE32-E72D297353CC}">
              <c16:uniqueId val="{0000000A-BA65-4EE1-8706-5F9AF75E9B6F}"/>
            </c:ext>
          </c:extLst>
        </c:ser>
        <c:dLbls>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pPr>
      <a:endParaRPr lang="en-US"/>
    </a:p>
  </c:txPr>
  <c:externalData r:id="rId4">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200" b="0" i="0" u="none" strike="noStrike" kern="1200" spc="0" baseline="0">
                <a:solidFill>
                  <a:srgbClr val="002060"/>
                </a:solidFill>
                <a:latin typeface="Tahoma" panose="020B0604030504040204" pitchFamily="34" charset="0"/>
                <a:ea typeface="Tahoma" panose="020B0604030504040204" pitchFamily="34" charset="0"/>
                <a:cs typeface="Tahoma" panose="020B0604030504040204" pitchFamily="34" charset="0"/>
              </a:defRPr>
            </a:pPr>
            <a:r>
              <a:rPr lang="en-US" sz="1200" dirty="0">
                <a:solidFill>
                  <a:srgbClr val="002060"/>
                </a:solidFill>
              </a:rPr>
              <a:t>Inspection (60%)</a:t>
            </a:r>
          </a:p>
        </c:rich>
      </c:tx>
      <c:layout>
        <c:manualLayout>
          <c:xMode val="edge"/>
          <c:yMode val="edge"/>
          <c:x val="0.7396780988441457"/>
          <c:y val="3.6090487112869739E-3"/>
        </c:manualLayout>
      </c:layout>
      <c:overlay val="0"/>
      <c:spPr>
        <a:noFill/>
        <a:ln>
          <a:noFill/>
        </a:ln>
        <a:effectLst/>
      </c:spPr>
      <c:txPr>
        <a:bodyPr rot="0" spcFirstLastPara="1" vertOverflow="ellipsis" vert="horz" wrap="square" anchor="ctr" anchorCtr="1"/>
        <a:lstStyle/>
        <a:p>
          <a:pPr>
            <a:defRPr sz="1200" b="0" i="0" u="none" strike="noStrike" kern="1200" spc="0" baseline="0">
              <a:solidFill>
                <a:srgbClr val="002060"/>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manualLayout>
          <c:layoutTarget val="inner"/>
          <c:xMode val="edge"/>
          <c:yMode val="edge"/>
          <c:x val="0.11380230406539979"/>
          <c:y val="1.3070119178325415E-2"/>
          <c:w val="0.65320343035115047"/>
          <c:h val="0.9869297326427352"/>
        </c:manualLayout>
      </c:layout>
      <c:pieChart>
        <c:varyColors val="1"/>
        <c:ser>
          <c:idx val="0"/>
          <c:order val="0"/>
          <c:spPr>
            <a:solidFill>
              <a:srgbClr val="00249C"/>
            </a:solidFill>
          </c:spPr>
          <c:dPt>
            <c:idx val="0"/>
            <c:bubble3D val="0"/>
            <c:spPr>
              <a:solidFill>
                <a:srgbClr val="00249C"/>
              </a:solidFill>
              <a:ln w="19050">
                <a:solidFill>
                  <a:schemeClr val="lt1"/>
                </a:solidFill>
              </a:ln>
              <a:effectLst/>
            </c:spPr>
            <c:extLst>
              <c:ext xmlns:c16="http://schemas.microsoft.com/office/drawing/2014/chart" uri="{C3380CC4-5D6E-409C-BE32-E72D297353CC}">
                <c16:uniqueId val="{00000001-DF1F-4187-9AFC-BE2E642394C2}"/>
              </c:ext>
            </c:extLst>
          </c:dPt>
          <c:dPt>
            <c:idx val="1"/>
            <c:bubble3D val="0"/>
            <c:spPr>
              <a:solidFill>
                <a:srgbClr val="00249C"/>
              </a:solidFill>
              <a:ln w="19050">
                <a:solidFill>
                  <a:schemeClr val="lt1"/>
                </a:solidFill>
              </a:ln>
              <a:effectLst/>
            </c:spPr>
            <c:extLst>
              <c:ext xmlns:c16="http://schemas.microsoft.com/office/drawing/2014/chart" uri="{C3380CC4-5D6E-409C-BE32-E72D297353CC}">
                <c16:uniqueId val="{00000003-DF1F-4187-9AFC-BE2E642394C2}"/>
              </c:ext>
            </c:extLst>
          </c:dPt>
          <c:dLbls>
            <c:dLbl>
              <c:idx val="0"/>
              <c:layout>
                <c:manualLayout>
                  <c:x val="-0.22997356278704326"/>
                  <c:y val="-1.8725664386653898E-3"/>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F1F-4187-9AFC-BE2E642394C2}"/>
                </c:ext>
              </c:extLst>
            </c:dLbl>
            <c:dLbl>
              <c:idx val="1"/>
              <c:layout>
                <c:manualLayout>
                  <c:x val="0.22501964256643506"/>
                  <c:y val="-6.8571522898576631E-3"/>
                </c:manualLayout>
              </c:layout>
              <c:showLegendKey val="0"/>
              <c:showVal val="0"/>
              <c:showCatName val="1"/>
              <c:showSerName val="0"/>
              <c:showPercent val="0"/>
              <c:showBubbleSize val="0"/>
              <c:extLst>
                <c:ext xmlns:c15="http://schemas.microsoft.com/office/drawing/2012/chart" uri="{CE6537A1-D6FC-4f65-9D91-7224C49458BB}">
                  <c15:layout>
                    <c:manualLayout>
                      <c:w val="0.14240472492346479"/>
                      <c:h val="0.19509517235381721"/>
                    </c:manualLayout>
                  </c15:layout>
                </c:ext>
                <c:ext xmlns:c16="http://schemas.microsoft.com/office/drawing/2014/chart" uri="{C3380CC4-5D6E-409C-BE32-E72D297353CC}">
                  <c16:uniqueId val="{00000003-DF1F-4187-9AFC-BE2E642394C2}"/>
                </c:ext>
              </c:extLst>
            </c:dLbl>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0"/>
            <c:showSerName val="0"/>
            <c:showPercent val="0"/>
            <c:showBubbleSize val="0"/>
            <c:extLst>
              <c:ext xmlns:c15="http://schemas.microsoft.com/office/drawing/2012/chart" uri="{CE6537A1-D6FC-4f65-9D91-7224C49458BB}"/>
            </c:extLst>
          </c:dLbls>
          <c:cat>
            <c:strRef>
              <c:f>'Sheet1 (2)'!$B$4:$B$5</c:f>
              <c:strCache>
                <c:ptCount val="2"/>
                <c:pt idx="0">
                  <c:v>Scheduled Inspections Completed (50%)</c:v>
                </c:pt>
                <c:pt idx="1">
                  <c:v>Findings Closed On Time (50%)</c:v>
                </c:pt>
              </c:strCache>
            </c:strRef>
          </c:cat>
          <c:val>
            <c:numRef>
              <c:f>'Sheet1 (2)'!$C$4:$C$5</c:f>
              <c:numCache>
                <c:formatCode>General</c:formatCode>
                <c:ptCount val="2"/>
                <c:pt idx="0">
                  <c:v>50</c:v>
                </c:pt>
                <c:pt idx="1">
                  <c:v>50</c:v>
                </c:pt>
              </c:numCache>
            </c:numRef>
          </c:val>
          <c:extLst>
            <c:ext xmlns:c16="http://schemas.microsoft.com/office/drawing/2014/chart" uri="{C3380CC4-5D6E-409C-BE32-E72D297353CC}">
              <c16:uniqueId val="{00000008-DF1F-4187-9AFC-BE2E642394C2}"/>
            </c:ext>
          </c:extLst>
        </c:ser>
        <c:dLbls>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4">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200" b="0" i="0" u="none" strike="noStrike" kern="1200" spc="0" baseline="0">
                <a:solidFill>
                  <a:srgbClr val="002060"/>
                </a:solidFill>
                <a:latin typeface="Tahoma" panose="020B0604030504040204" pitchFamily="34" charset="0"/>
                <a:ea typeface="Tahoma" panose="020B0604030504040204" pitchFamily="34" charset="0"/>
                <a:cs typeface="Tahoma" panose="020B0604030504040204" pitchFamily="34" charset="0"/>
              </a:defRPr>
            </a:pPr>
            <a:r>
              <a:rPr lang="en-US" sz="1200" baseline="0" dirty="0">
                <a:solidFill>
                  <a:srgbClr val="002060"/>
                </a:solidFill>
              </a:rPr>
              <a:t>Incident Reporting &amp; </a:t>
            </a:r>
          </a:p>
          <a:p>
            <a:pPr>
              <a:defRPr sz="1200">
                <a:solidFill>
                  <a:srgbClr val="002060"/>
                </a:solidFill>
              </a:defRPr>
            </a:pPr>
            <a:r>
              <a:rPr lang="en-US" sz="1200" baseline="0" dirty="0">
                <a:solidFill>
                  <a:srgbClr val="002060"/>
                </a:solidFill>
              </a:rPr>
              <a:t>Investigation</a:t>
            </a:r>
            <a:r>
              <a:rPr lang="en-US" sz="1200" dirty="0">
                <a:solidFill>
                  <a:srgbClr val="002060"/>
                </a:solidFill>
              </a:rPr>
              <a:t> (40%)</a:t>
            </a:r>
          </a:p>
        </c:rich>
      </c:tx>
      <c:layout>
        <c:manualLayout>
          <c:xMode val="edge"/>
          <c:yMode val="edge"/>
          <c:x val="0.66871523752250872"/>
          <c:y val="2.1588263264079375E-3"/>
        </c:manualLayout>
      </c:layout>
      <c:overlay val="0"/>
      <c:spPr>
        <a:noFill/>
        <a:ln>
          <a:noFill/>
        </a:ln>
        <a:effectLst/>
      </c:spPr>
      <c:txPr>
        <a:bodyPr rot="0" spcFirstLastPara="1" vertOverflow="ellipsis" vert="horz" wrap="square" anchor="ctr" anchorCtr="1"/>
        <a:lstStyle/>
        <a:p>
          <a:pPr>
            <a:defRPr sz="1200" b="0" i="0" u="none" strike="noStrike" kern="1200" spc="0" baseline="0">
              <a:solidFill>
                <a:srgbClr val="002060"/>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manualLayout>
          <c:layoutTarget val="inner"/>
          <c:xMode val="edge"/>
          <c:yMode val="edge"/>
          <c:x val="5.962634614962823E-2"/>
          <c:y val="1.3070246140492282E-2"/>
          <c:w val="0.65320343035115047"/>
          <c:h val="0.9869297326427352"/>
        </c:manualLayout>
      </c:layout>
      <c:pieChart>
        <c:varyColors val="1"/>
        <c:ser>
          <c:idx val="0"/>
          <c:order val="0"/>
          <c:spPr>
            <a:solidFill>
              <a:srgbClr val="00A3E1"/>
            </a:solidFill>
          </c:spPr>
          <c:dPt>
            <c:idx val="0"/>
            <c:bubble3D val="0"/>
            <c:spPr>
              <a:solidFill>
                <a:srgbClr val="00249C"/>
              </a:solidFill>
              <a:ln w="19050">
                <a:solidFill>
                  <a:schemeClr val="lt1"/>
                </a:solidFill>
              </a:ln>
              <a:effectLst/>
            </c:spPr>
            <c:extLst>
              <c:ext xmlns:c16="http://schemas.microsoft.com/office/drawing/2014/chart" uri="{C3380CC4-5D6E-409C-BE32-E72D297353CC}">
                <c16:uniqueId val="{00000001-B20D-48AC-A2C2-A0C9AC9F78AD}"/>
              </c:ext>
            </c:extLst>
          </c:dPt>
          <c:dPt>
            <c:idx val="1"/>
            <c:bubble3D val="0"/>
            <c:spPr>
              <a:solidFill>
                <a:srgbClr val="00249C"/>
              </a:solidFill>
              <a:ln w="19050">
                <a:solidFill>
                  <a:schemeClr val="lt1"/>
                </a:solidFill>
              </a:ln>
              <a:effectLst/>
            </c:spPr>
            <c:extLst>
              <c:ext xmlns:c16="http://schemas.microsoft.com/office/drawing/2014/chart" uri="{C3380CC4-5D6E-409C-BE32-E72D297353CC}">
                <c16:uniqueId val="{00000003-B20D-48AC-A2C2-A0C9AC9F78AD}"/>
              </c:ext>
            </c:extLst>
          </c:dPt>
          <c:dLbls>
            <c:dLbl>
              <c:idx val="0"/>
              <c:layout>
                <c:manualLayout>
                  <c:x val="-0.23771443456899174"/>
                  <c:y val="-3.4551346105445746E-2"/>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1-B20D-48AC-A2C2-A0C9AC9F78AD}"/>
                </c:ext>
              </c:extLst>
            </c:dLbl>
            <c:dLbl>
              <c:idx val="1"/>
              <c:layout>
                <c:manualLayout>
                  <c:x val="0.13977429165861602"/>
                  <c:y val="-3.25051980824895E-2"/>
                </c:manualLayout>
              </c:layout>
              <c:showLegendKey val="0"/>
              <c:showVal val="0"/>
              <c:showCatName val="1"/>
              <c:showSerName val="0"/>
              <c:showPercent val="0"/>
              <c:showBubbleSize val="0"/>
              <c:extLst>
                <c:ext xmlns:c15="http://schemas.microsoft.com/office/drawing/2012/chart" uri="{CE6537A1-D6FC-4f65-9D91-7224C49458BB}">
                  <c15:layout>
                    <c:manualLayout>
                      <c:w val="0.25205765753954013"/>
                      <c:h val="0.34515897920254973"/>
                    </c:manualLayout>
                  </c15:layout>
                </c:ext>
                <c:ext xmlns:c16="http://schemas.microsoft.com/office/drawing/2014/chart" uri="{C3380CC4-5D6E-409C-BE32-E72D297353CC}">
                  <c16:uniqueId val="{00000003-B20D-48AC-A2C2-A0C9AC9F78AD}"/>
                </c:ext>
              </c:extLst>
            </c:dLbl>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0"/>
            <c:showSerName val="0"/>
            <c:showPercent val="0"/>
            <c:showBubbleSize val="0"/>
            <c:extLst>
              <c:ext xmlns:c15="http://schemas.microsoft.com/office/drawing/2012/chart" uri="{CE6537A1-D6FC-4f65-9D91-7224C49458BB}"/>
            </c:extLst>
          </c:dLbls>
          <c:cat>
            <c:strRef>
              <c:f>'Sheet1 (3)'!$B$4:$B$5</c:f>
              <c:strCache>
                <c:ptCount val="2"/>
                <c:pt idx="0">
                  <c:v>Incident Notification On Time (50%)</c:v>
                </c:pt>
                <c:pt idx="1">
                  <c:v>Investigation Completed On Time (50%)</c:v>
                </c:pt>
              </c:strCache>
            </c:strRef>
          </c:cat>
          <c:val>
            <c:numRef>
              <c:f>'Sheet1 (3)'!$C$4:$C$5</c:f>
              <c:numCache>
                <c:formatCode>General</c:formatCode>
                <c:ptCount val="2"/>
                <c:pt idx="0">
                  <c:v>50</c:v>
                </c:pt>
                <c:pt idx="1">
                  <c:v>50</c:v>
                </c:pt>
              </c:numCache>
            </c:numRef>
          </c:val>
          <c:extLst>
            <c:ext xmlns:c16="http://schemas.microsoft.com/office/drawing/2014/chart" uri="{C3380CC4-5D6E-409C-BE32-E72D297353CC}">
              <c16:uniqueId val="{00000008-B20D-48AC-A2C2-A0C9AC9F78AD}"/>
            </c:ext>
          </c:extLst>
        </c:ser>
        <c:dLbls>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4">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00249C">
                    <a:lumMod val="65000"/>
                    <a:lumOff val="35000"/>
                  </a:srgbClr>
                </a:solidFill>
              </a:rPr>
              <a:t>Scheduled Inspections Completed</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'KPI 5'!$I$8</c:f>
              <c:strCache>
                <c:ptCount val="1"/>
                <c:pt idx="0">
                  <c:v>Scheduled Inspections Completed</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'KPI 5'!$J$7:$K$7</c:f>
              <c:strCache>
                <c:ptCount val="2"/>
                <c:pt idx="0">
                  <c:v>Baniyas A</c:v>
                </c:pt>
                <c:pt idx="1">
                  <c:v>Baniyas B</c:v>
                </c:pt>
              </c:strCache>
            </c:strRef>
          </c:cat>
          <c:val>
            <c:numRef>
              <c:f>'KPI 5'!$J$8:$K$8</c:f>
              <c:numCache>
                <c:formatCode>0%</c:formatCode>
                <c:ptCount val="2"/>
                <c:pt idx="0">
                  <c:v>1</c:v>
                </c:pt>
                <c:pt idx="1">
                  <c:v>1</c:v>
                </c:pt>
              </c:numCache>
            </c:numRef>
          </c:val>
          <c:extLst>
            <c:ext xmlns:c16="http://schemas.microsoft.com/office/drawing/2014/chart" uri="{C3380CC4-5D6E-409C-BE32-E72D297353CC}">
              <c16:uniqueId val="{00000000-4D68-4DB5-9A04-951D73BFA38D}"/>
            </c:ext>
          </c:extLst>
        </c:ser>
        <c:dLbls>
          <c:showLegendKey val="0"/>
          <c:showVal val="1"/>
          <c:showCatName val="0"/>
          <c:showSerName val="0"/>
          <c:showPercent val="0"/>
          <c:showBubbleSize val="0"/>
        </c:dLbls>
        <c:gapWidth val="219"/>
        <c:overlap val="-27"/>
        <c:axId val="51585727"/>
        <c:axId val="51580447"/>
      </c:barChart>
      <c:lineChart>
        <c:grouping val="standard"/>
        <c:varyColors val="0"/>
        <c:ser>
          <c:idx val="1"/>
          <c:order val="1"/>
          <c:tx>
            <c:strRef>
              <c:f>'KPI 5'!$I$9</c:f>
              <c:strCache>
                <c:ptCount val="1"/>
                <c:pt idx="0">
                  <c:v>Average All Campuses</c:v>
                </c:pt>
              </c:strCache>
            </c:strRef>
          </c:tx>
          <c:spPr>
            <a:ln w="28575" cap="rnd">
              <a:solidFill>
                <a:schemeClr val="accent2"/>
              </a:solidFill>
              <a:round/>
            </a:ln>
            <a:effectLst/>
          </c:spPr>
          <c:marker>
            <c:symbol val="none"/>
          </c:marker>
          <c:dLbls>
            <c:delete val="1"/>
          </c:dLbls>
          <c:cat>
            <c:strRef>
              <c:f>'KPI 5'!$J$7:$K$7</c:f>
              <c:strCache>
                <c:ptCount val="2"/>
                <c:pt idx="0">
                  <c:v>Baniyas A</c:v>
                </c:pt>
                <c:pt idx="1">
                  <c:v>Baniyas B</c:v>
                </c:pt>
              </c:strCache>
            </c:strRef>
          </c:cat>
          <c:val>
            <c:numRef>
              <c:f>'KPI 5'!$J$9:$K$9</c:f>
              <c:numCache>
                <c:formatCode>0%</c:formatCode>
                <c:ptCount val="2"/>
                <c:pt idx="0">
                  <c:v>0.88</c:v>
                </c:pt>
                <c:pt idx="1">
                  <c:v>0.88</c:v>
                </c:pt>
              </c:numCache>
            </c:numRef>
          </c:val>
          <c:smooth val="0"/>
          <c:extLst>
            <c:ext xmlns:c16="http://schemas.microsoft.com/office/drawing/2014/chart" uri="{C3380CC4-5D6E-409C-BE32-E72D297353CC}">
              <c16:uniqueId val="{00000001-4D68-4DB5-9A04-951D73BFA38D}"/>
            </c:ext>
          </c:extLst>
        </c:ser>
        <c:dLbls>
          <c:showLegendKey val="0"/>
          <c:showVal val="1"/>
          <c:showCatName val="0"/>
          <c:showSerName val="0"/>
          <c:showPercent val="0"/>
          <c:showBubbleSize val="0"/>
        </c:dLbls>
        <c:marker val="1"/>
        <c:smooth val="0"/>
        <c:axId val="51585727"/>
        <c:axId val="51580447"/>
      </c:lineChart>
      <c:catAx>
        <c:axId val="5158572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1580447"/>
        <c:crosses val="autoZero"/>
        <c:auto val="1"/>
        <c:lblAlgn val="ctr"/>
        <c:lblOffset val="100"/>
        <c:noMultiLvlLbl val="0"/>
      </c:catAx>
      <c:valAx>
        <c:axId val="51580447"/>
        <c:scaling>
          <c:orientation val="minMax"/>
          <c:max val="1.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158572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00249C">
                    <a:lumMod val="65000"/>
                    <a:lumOff val="35000"/>
                  </a:srgbClr>
                </a:solidFill>
              </a:rPr>
              <a:t>Inspection Findings Closed on Time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'KPI 5'!$I$16</c:f>
              <c:strCache>
                <c:ptCount val="1"/>
                <c:pt idx="0">
                  <c:v>Inspection Findings Closed on Time</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'KPI 5'!$J$15:$K$15</c:f>
              <c:strCache>
                <c:ptCount val="2"/>
                <c:pt idx="0">
                  <c:v>Baniyas A</c:v>
                </c:pt>
                <c:pt idx="1">
                  <c:v>Baniyas B</c:v>
                </c:pt>
              </c:strCache>
            </c:strRef>
          </c:cat>
          <c:val>
            <c:numRef>
              <c:f>'KPI 5'!$J$16:$K$16</c:f>
              <c:numCache>
                <c:formatCode>0%</c:formatCode>
                <c:ptCount val="2"/>
                <c:pt idx="0">
                  <c:v>0.91</c:v>
                </c:pt>
                <c:pt idx="1">
                  <c:v>0.95</c:v>
                </c:pt>
              </c:numCache>
            </c:numRef>
          </c:val>
          <c:extLst>
            <c:ext xmlns:c16="http://schemas.microsoft.com/office/drawing/2014/chart" uri="{C3380CC4-5D6E-409C-BE32-E72D297353CC}">
              <c16:uniqueId val="{00000000-36FF-4C80-AE5A-60075D6A7808}"/>
            </c:ext>
          </c:extLst>
        </c:ser>
        <c:dLbls>
          <c:showLegendKey val="0"/>
          <c:showVal val="1"/>
          <c:showCatName val="0"/>
          <c:showSerName val="0"/>
          <c:showPercent val="0"/>
          <c:showBubbleSize val="0"/>
        </c:dLbls>
        <c:gapWidth val="219"/>
        <c:overlap val="-27"/>
        <c:axId val="77451615"/>
        <c:axId val="77440575"/>
      </c:barChart>
      <c:lineChart>
        <c:grouping val="standard"/>
        <c:varyColors val="0"/>
        <c:ser>
          <c:idx val="1"/>
          <c:order val="1"/>
          <c:tx>
            <c:strRef>
              <c:f>'KPI 5'!$I$17</c:f>
              <c:strCache>
                <c:ptCount val="1"/>
                <c:pt idx="0">
                  <c:v>Average All Campuses</c:v>
                </c:pt>
              </c:strCache>
            </c:strRef>
          </c:tx>
          <c:spPr>
            <a:ln w="28575" cap="rnd">
              <a:solidFill>
                <a:schemeClr val="accent2"/>
              </a:solidFill>
              <a:round/>
            </a:ln>
            <a:effectLst/>
          </c:spPr>
          <c:marker>
            <c:symbol val="none"/>
          </c:marker>
          <c:dLbls>
            <c:delete val="1"/>
          </c:dLbls>
          <c:cat>
            <c:strRef>
              <c:f>'KPI 5'!$J$15:$K$15</c:f>
              <c:strCache>
                <c:ptCount val="2"/>
                <c:pt idx="0">
                  <c:v>Baniyas A</c:v>
                </c:pt>
                <c:pt idx="1">
                  <c:v>Baniyas B</c:v>
                </c:pt>
              </c:strCache>
            </c:strRef>
          </c:cat>
          <c:val>
            <c:numRef>
              <c:f>'KPI 5'!$J$17:$K$17</c:f>
              <c:numCache>
                <c:formatCode>0%</c:formatCode>
                <c:ptCount val="2"/>
                <c:pt idx="0">
                  <c:v>0.73</c:v>
                </c:pt>
                <c:pt idx="1">
                  <c:v>0.73</c:v>
                </c:pt>
              </c:numCache>
            </c:numRef>
          </c:val>
          <c:smooth val="0"/>
          <c:extLst>
            <c:ext xmlns:c16="http://schemas.microsoft.com/office/drawing/2014/chart" uri="{C3380CC4-5D6E-409C-BE32-E72D297353CC}">
              <c16:uniqueId val="{00000001-36FF-4C80-AE5A-60075D6A7808}"/>
            </c:ext>
          </c:extLst>
        </c:ser>
        <c:dLbls>
          <c:showLegendKey val="0"/>
          <c:showVal val="1"/>
          <c:showCatName val="0"/>
          <c:showSerName val="0"/>
          <c:showPercent val="0"/>
          <c:showBubbleSize val="0"/>
        </c:dLbls>
        <c:marker val="1"/>
        <c:smooth val="0"/>
        <c:axId val="77451615"/>
        <c:axId val="77440575"/>
      </c:lineChart>
      <c:catAx>
        <c:axId val="774516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7440575"/>
        <c:crosses val="autoZero"/>
        <c:auto val="1"/>
        <c:lblAlgn val="ctr"/>
        <c:lblOffset val="100"/>
        <c:noMultiLvlLbl val="0"/>
      </c:catAx>
      <c:valAx>
        <c:axId val="77440575"/>
        <c:scaling>
          <c:orientation val="minMax"/>
          <c:max val="1.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745161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00249C">
                    <a:lumMod val="65000"/>
                    <a:lumOff val="35000"/>
                  </a:srgbClr>
                </a:solidFill>
              </a:rPr>
              <a:t>Incident Notification On Time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'KPI 5'!$J$52</c:f>
              <c:strCache>
                <c:ptCount val="1"/>
                <c:pt idx="0">
                  <c:v>Incident Notification On Time</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'KPI 5'!$K$51:$L$51</c:f>
              <c:strCache>
                <c:ptCount val="2"/>
                <c:pt idx="0">
                  <c:v>Baniyas A</c:v>
                </c:pt>
                <c:pt idx="1">
                  <c:v>Baniyas B</c:v>
                </c:pt>
              </c:strCache>
            </c:strRef>
          </c:cat>
          <c:val>
            <c:numRef>
              <c:f>'KPI 5'!$K$52:$L$52</c:f>
              <c:numCache>
                <c:formatCode>0%</c:formatCode>
                <c:ptCount val="2"/>
                <c:pt idx="0">
                  <c:v>0.93</c:v>
                </c:pt>
                <c:pt idx="1">
                  <c:v>0.5</c:v>
                </c:pt>
              </c:numCache>
            </c:numRef>
          </c:val>
          <c:extLst>
            <c:ext xmlns:c16="http://schemas.microsoft.com/office/drawing/2014/chart" uri="{C3380CC4-5D6E-409C-BE32-E72D297353CC}">
              <c16:uniqueId val="{00000000-D261-419B-8C52-D87C1AF4D9F3}"/>
            </c:ext>
          </c:extLst>
        </c:ser>
        <c:dLbls>
          <c:showLegendKey val="0"/>
          <c:showVal val="1"/>
          <c:showCatName val="0"/>
          <c:showSerName val="0"/>
          <c:showPercent val="0"/>
          <c:showBubbleSize val="0"/>
        </c:dLbls>
        <c:gapWidth val="219"/>
        <c:overlap val="-27"/>
        <c:axId val="57116975"/>
        <c:axId val="57119375"/>
      </c:barChart>
      <c:lineChart>
        <c:grouping val="standard"/>
        <c:varyColors val="0"/>
        <c:ser>
          <c:idx val="1"/>
          <c:order val="1"/>
          <c:tx>
            <c:strRef>
              <c:f>'KPI 5'!$J$53</c:f>
              <c:strCache>
                <c:ptCount val="1"/>
                <c:pt idx="0">
                  <c:v>Average All Campuses</c:v>
                </c:pt>
              </c:strCache>
            </c:strRef>
          </c:tx>
          <c:spPr>
            <a:ln w="28575" cap="rnd">
              <a:solidFill>
                <a:schemeClr val="accent2"/>
              </a:solidFill>
              <a:round/>
            </a:ln>
            <a:effectLst/>
          </c:spPr>
          <c:marker>
            <c:symbol val="none"/>
          </c:marker>
          <c:dLbls>
            <c:delete val="1"/>
          </c:dLbls>
          <c:cat>
            <c:strRef>
              <c:f>'KPI 5'!$K$51:$L$51</c:f>
              <c:strCache>
                <c:ptCount val="2"/>
                <c:pt idx="0">
                  <c:v>Baniyas A</c:v>
                </c:pt>
                <c:pt idx="1">
                  <c:v>Baniyas B</c:v>
                </c:pt>
              </c:strCache>
            </c:strRef>
          </c:cat>
          <c:val>
            <c:numRef>
              <c:f>'KPI 5'!$K$53:$L$53</c:f>
              <c:numCache>
                <c:formatCode>0%</c:formatCode>
                <c:ptCount val="2"/>
                <c:pt idx="0">
                  <c:v>0.39</c:v>
                </c:pt>
                <c:pt idx="1">
                  <c:v>0.39</c:v>
                </c:pt>
              </c:numCache>
            </c:numRef>
          </c:val>
          <c:smooth val="0"/>
          <c:extLst>
            <c:ext xmlns:c16="http://schemas.microsoft.com/office/drawing/2014/chart" uri="{C3380CC4-5D6E-409C-BE32-E72D297353CC}">
              <c16:uniqueId val="{00000001-D261-419B-8C52-D87C1AF4D9F3}"/>
            </c:ext>
          </c:extLst>
        </c:ser>
        <c:dLbls>
          <c:showLegendKey val="0"/>
          <c:showVal val="1"/>
          <c:showCatName val="0"/>
          <c:showSerName val="0"/>
          <c:showPercent val="0"/>
          <c:showBubbleSize val="0"/>
        </c:dLbls>
        <c:marker val="1"/>
        <c:smooth val="0"/>
        <c:axId val="57116975"/>
        <c:axId val="57119375"/>
      </c:lineChart>
      <c:catAx>
        <c:axId val="571169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7119375"/>
        <c:crosses val="autoZero"/>
        <c:auto val="1"/>
        <c:lblAlgn val="ctr"/>
        <c:lblOffset val="100"/>
        <c:noMultiLvlLbl val="0"/>
      </c:catAx>
      <c:valAx>
        <c:axId val="57119375"/>
        <c:scaling>
          <c:orientation val="minMax"/>
          <c:max val="1.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7116975"/>
        <c:crosses val="autoZero"/>
        <c:crossBetween val="between"/>
        <c:majorUnit val="0.1"/>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00249C">
                    <a:lumMod val="65000"/>
                    <a:lumOff val="35000"/>
                  </a:srgbClr>
                </a:solidFill>
              </a:rPr>
              <a:t>Investigation Completed On Time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'KPI 5'!$J$44</c:f>
              <c:strCache>
                <c:ptCount val="1"/>
                <c:pt idx="0">
                  <c:v>Investigation Completed On Time</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'KPI 5'!$K$43:$L$43</c:f>
              <c:strCache>
                <c:ptCount val="2"/>
                <c:pt idx="0">
                  <c:v>Baniyas A</c:v>
                </c:pt>
                <c:pt idx="1">
                  <c:v>Baniyas B</c:v>
                </c:pt>
              </c:strCache>
            </c:strRef>
          </c:cat>
          <c:val>
            <c:numRef>
              <c:f>'KPI 5'!$K$44:$L$44</c:f>
              <c:numCache>
                <c:formatCode>0%</c:formatCode>
                <c:ptCount val="2"/>
                <c:pt idx="0">
                  <c:v>0</c:v>
                </c:pt>
                <c:pt idx="1">
                  <c:v>0.25</c:v>
                </c:pt>
              </c:numCache>
            </c:numRef>
          </c:val>
          <c:extLst>
            <c:ext xmlns:c16="http://schemas.microsoft.com/office/drawing/2014/chart" uri="{C3380CC4-5D6E-409C-BE32-E72D297353CC}">
              <c16:uniqueId val="{00000000-4A29-49BC-90D1-AD32502A5AC5}"/>
            </c:ext>
          </c:extLst>
        </c:ser>
        <c:dLbls>
          <c:showLegendKey val="0"/>
          <c:showVal val="1"/>
          <c:showCatName val="0"/>
          <c:showSerName val="0"/>
          <c:showPercent val="0"/>
          <c:showBubbleSize val="0"/>
        </c:dLbls>
        <c:gapWidth val="219"/>
        <c:overlap val="-27"/>
        <c:axId val="75251775"/>
        <c:axId val="75247935"/>
      </c:barChart>
      <c:lineChart>
        <c:grouping val="standard"/>
        <c:varyColors val="0"/>
        <c:ser>
          <c:idx val="1"/>
          <c:order val="1"/>
          <c:tx>
            <c:strRef>
              <c:f>'KPI 5'!$J$45</c:f>
              <c:strCache>
                <c:ptCount val="1"/>
                <c:pt idx="0">
                  <c:v>Average All Campuses</c:v>
                </c:pt>
              </c:strCache>
            </c:strRef>
          </c:tx>
          <c:spPr>
            <a:ln w="28575" cap="rnd">
              <a:solidFill>
                <a:schemeClr val="accent2"/>
              </a:solidFill>
              <a:round/>
            </a:ln>
            <a:effectLst/>
          </c:spPr>
          <c:marker>
            <c:symbol val="none"/>
          </c:marker>
          <c:dLbls>
            <c:delete val="1"/>
          </c:dLbls>
          <c:cat>
            <c:strRef>
              <c:f>'KPI 5'!$K$43:$L$43</c:f>
              <c:strCache>
                <c:ptCount val="2"/>
                <c:pt idx="0">
                  <c:v>Baniyas A</c:v>
                </c:pt>
                <c:pt idx="1">
                  <c:v>Baniyas B</c:v>
                </c:pt>
              </c:strCache>
            </c:strRef>
          </c:cat>
          <c:val>
            <c:numRef>
              <c:f>'KPI 5'!$K$45:$L$45</c:f>
              <c:numCache>
                <c:formatCode>0%</c:formatCode>
                <c:ptCount val="2"/>
                <c:pt idx="0">
                  <c:v>0.39</c:v>
                </c:pt>
                <c:pt idx="1">
                  <c:v>0.39</c:v>
                </c:pt>
              </c:numCache>
            </c:numRef>
          </c:val>
          <c:smooth val="0"/>
          <c:extLst>
            <c:ext xmlns:c16="http://schemas.microsoft.com/office/drawing/2014/chart" uri="{C3380CC4-5D6E-409C-BE32-E72D297353CC}">
              <c16:uniqueId val="{00000001-4A29-49BC-90D1-AD32502A5AC5}"/>
            </c:ext>
          </c:extLst>
        </c:ser>
        <c:dLbls>
          <c:showLegendKey val="0"/>
          <c:showVal val="1"/>
          <c:showCatName val="0"/>
          <c:showSerName val="0"/>
          <c:showPercent val="0"/>
          <c:showBubbleSize val="0"/>
        </c:dLbls>
        <c:marker val="1"/>
        <c:smooth val="0"/>
        <c:axId val="75251775"/>
        <c:axId val="75247935"/>
      </c:lineChart>
      <c:catAx>
        <c:axId val="752517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5247935"/>
        <c:crosses val="autoZero"/>
        <c:auto val="1"/>
        <c:lblAlgn val="ctr"/>
        <c:lblOffset val="100"/>
        <c:noMultiLvlLbl val="0"/>
      </c:catAx>
      <c:valAx>
        <c:axId val="75247935"/>
        <c:scaling>
          <c:orientation val="minMax"/>
          <c:max val="1.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525177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584398-E3D8-47CD-89AD-77C86836705F}" type="datetimeFigureOut">
              <a:rPr lang="en-US" smtClean="0"/>
              <a:t>5/13/2026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65F12B-7EB0-406D-84EF-D640CC7DFF5A}" type="slidenum">
              <a:rPr lang="en-US" smtClean="0"/>
              <a:t>‹#›</a:t>
            </a:fld>
            <a:endParaRPr lang="en-US"/>
          </a:p>
        </p:txBody>
      </p:sp>
    </p:spTree>
    <p:extLst>
      <p:ext uri="{BB962C8B-B14F-4D97-AF65-F5344CB8AC3E}">
        <p14:creationId xmlns:p14="http://schemas.microsoft.com/office/powerpoint/2010/main" val="35578487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4D6A2-54AA-1D52-F3C7-9A468033FD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9FAB0-8113-F483-AC58-DA464952552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7467E89-B005-4CBE-74D3-1A18CB276998}"/>
              </a:ext>
            </a:extLst>
          </p:cNvPr>
          <p:cNvSpPr>
            <a:spLocks noGrp="1"/>
          </p:cNvSpPr>
          <p:nvPr>
            <p:ph type="body" idx="1"/>
          </p:nvPr>
        </p:nvSpPr>
        <p:spPr/>
        <p:txBody>
          <a:bodyPr/>
          <a:lstStyle/>
          <a:p>
            <a:endParaRPr lang="en-AE"/>
          </a:p>
        </p:txBody>
      </p:sp>
      <p:sp>
        <p:nvSpPr>
          <p:cNvPr id="4" name="Slide Number Placeholder 3">
            <a:extLst>
              <a:ext uri="{FF2B5EF4-FFF2-40B4-BE49-F238E27FC236}">
                <a16:creationId xmlns:a16="http://schemas.microsoft.com/office/drawing/2014/main" id="{229A1AEE-9619-1CE8-C0D0-283120F5164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7753AD3-AB46-6045-9BA1-BBC278F09B8C}" type="slidenum">
              <a:rPr kumimoji="0" lang="en-US" sz="1200" b="0" i="0" u="none" strike="noStrike" kern="1200" cap="none" spc="0" normalizeH="0" baseline="0" noProof="0" smtClean="0">
                <a:ln>
                  <a:noFill/>
                </a:ln>
                <a:solidFill>
                  <a:srgbClr val="00249C"/>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srgbClr val="00249C"/>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14726965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8E389-6B61-3E64-30DD-C378DC1489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DCA7D4-ED52-7C96-9B63-40212CC50C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C6553E5-2E61-6DD5-2DCE-181E0F2A32A3}"/>
              </a:ext>
            </a:extLst>
          </p:cNvPr>
          <p:cNvSpPr>
            <a:spLocks noGrp="1"/>
          </p:cNvSpPr>
          <p:nvPr>
            <p:ph type="body" idx="1"/>
          </p:nvPr>
        </p:nvSpPr>
        <p:spPr/>
        <p:txBody>
          <a:bodyPr/>
          <a:lstStyle/>
          <a:p>
            <a:endParaRPr lang="en-AE"/>
          </a:p>
        </p:txBody>
      </p:sp>
      <p:sp>
        <p:nvSpPr>
          <p:cNvPr id="4" name="Slide Number Placeholder 3">
            <a:extLst>
              <a:ext uri="{FF2B5EF4-FFF2-40B4-BE49-F238E27FC236}">
                <a16:creationId xmlns:a16="http://schemas.microsoft.com/office/drawing/2014/main" id="{88263381-3D9E-EC44-55A1-A3FB7700739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7753AD3-AB46-6045-9BA1-BBC278F09B8C}" type="slidenum">
              <a:rPr kumimoji="0" lang="en-US" sz="1200" b="0" i="0" u="none" strike="noStrike" kern="1200" cap="none" spc="0" normalizeH="0" baseline="0" noProof="0" smtClean="0">
                <a:ln>
                  <a:noFill/>
                </a:ln>
                <a:solidFill>
                  <a:srgbClr val="00249C"/>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srgbClr val="00249C"/>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28298886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FD515-7305-BB6F-A3A1-2164EC2B11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00415E-026B-9B08-EBD2-AEFA29D6CE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58FCAD-AAE8-BAC7-7E35-6B1F5D18D6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CB3E538-4674-2218-9B8F-6880F3680875}"/>
              </a:ext>
            </a:extLst>
          </p:cNvPr>
          <p:cNvSpPr>
            <a:spLocks noGrp="1"/>
          </p:cNvSpPr>
          <p:nvPr>
            <p:ph type="sldNum" sz="quarter" idx="5"/>
          </p:nvPr>
        </p:nvSpPr>
        <p:spPr/>
        <p:txBody>
          <a:bodyPr/>
          <a:lstStyle/>
          <a:p>
            <a:fld id="{A665F12B-7EB0-406D-84EF-D640CC7DFF5A}" type="slidenum">
              <a:rPr lang="en-US" smtClean="0"/>
              <a:t>6</a:t>
            </a:fld>
            <a:endParaRPr lang="en-US"/>
          </a:p>
        </p:txBody>
      </p:sp>
    </p:spTree>
    <p:extLst>
      <p:ext uri="{BB962C8B-B14F-4D97-AF65-F5344CB8AC3E}">
        <p14:creationId xmlns:p14="http://schemas.microsoft.com/office/powerpoint/2010/main" val="362657858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jpeg"/><Relationship Id="rId1" Type="http://schemas.openxmlformats.org/officeDocument/2006/relationships/slideMaster" Target="../slideMasters/slideMaster1.xml"/><Relationship Id="rId4" Type="http://schemas.openxmlformats.org/officeDocument/2006/relationships/image" Target="../media/image7.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12.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3.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3.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3.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6.jpeg"/><Relationship Id="rId1" Type="http://schemas.openxmlformats.org/officeDocument/2006/relationships/slideMaster" Target="../slideMasters/slideMaster1.xml"/><Relationship Id="rId6" Type="http://schemas.openxmlformats.org/officeDocument/2006/relationships/image" Target="../media/image19.svg"/><Relationship Id="rId5" Type="http://schemas.openxmlformats.org/officeDocument/2006/relationships/image" Target="../media/image18.svg"/><Relationship Id="rId4" Type="http://schemas.openxmlformats.org/officeDocument/2006/relationships/image" Target="../media/image17.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evider Slides for Session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70734C94-E5A8-F84D-A000-4D877B9CC8C2}"/>
              </a:ext>
            </a:extLst>
          </p:cNvPr>
          <p:cNvSpPr>
            <a:spLocks noGrp="1"/>
          </p:cNvSpPr>
          <p:nvPr>
            <p:ph type="ctrTitle" hasCustomPrompt="1"/>
          </p:nvPr>
        </p:nvSpPr>
        <p:spPr>
          <a:xfrm>
            <a:off x="957273" y="3713060"/>
            <a:ext cx="9143999" cy="1006475"/>
          </a:xfrm>
          <a:prstGeom prst="rect">
            <a:avLst/>
          </a:prstGeom>
        </p:spPr>
        <p:txBody>
          <a:bodyPr anchor="t" anchorCtr="0"/>
          <a:lstStyle>
            <a:lvl1pPr algn="l">
              <a:defRPr sz="4500" b="1">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a:t>Click to Session title style</a:t>
            </a:r>
          </a:p>
        </p:txBody>
      </p:sp>
      <p:pic>
        <p:nvPicPr>
          <p:cNvPr id="25" name="Graphic 24">
            <a:extLst>
              <a:ext uri="{FF2B5EF4-FFF2-40B4-BE49-F238E27FC236}">
                <a16:creationId xmlns:a16="http://schemas.microsoft.com/office/drawing/2014/main" id="{4E4DC168-AD7A-524E-9D94-2B3F22C5AB1F}"/>
              </a:ext>
            </a:extLst>
          </p:cNvPr>
          <p:cNvPicPr>
            <a:picLocks noChangeAspect="1"/>
          </p:cNvPicPr>
          <p:nvPr userDrawn="1"/>
        </p:nvPicPr>
        <p:blipFill>
          <a:blip>
            <a:extLst>
              <a:ext uri="{96DAC541-7B7A-43D3-8B79-37D633B846F1}">
                <asvg:svgBlip xmlns:asvg="http://schemas.microsoft.com/office/drawing/2016/SVG/main" xmlns="" r:embed="rId3"/>
              </a:ext>
            </a:extLst>
          </a:blip>
          <a:srcRect/>
          <a:stretch/>
        </p:blipFill>
        <p:spPr>
          <a:xfrm>
            <a:off x="288949" y="2051"/>
            <a:ext cx="236191" cy="6858000"/>
          </a:xfrm>
          <a:prstGeom prst="rect">
            <a:avLst/>
          </a:prstGeom>
        </p:spPr>
      </p:pic>
      <p:pic>
        <p:nvPicPr>
          <p:cNvPr id="26" name="Graphic 25">
            <a:extLst>
              <a:ext uri="{FF2B5EF4-FFF2-40B4-BE49-F238E27FC236}">
                <a16:creationId xmlns:a16="http://schemas.microsoft.com/office/drawing/2014/main" id="{8421EEAF-DF6B-B045-AEFE-F3CF6D659E5B}"/>
              </a:ext>
            </a:extLst>
          </p:cNvPr>
          <p:cNvPicPr>
            <a:picLocks noChangeAspect="1"/>
          </p:cNvPicPr>
          <p:nvPr userDrawn="1"/>
        </p:nvPicPr>
        <p:blipFill>
          <a:blip>
            <a:extLst>
              <a:ext uri="{96DAC541-7B7A-43D3-8B79-37D633B846F1}">
                <asvg:svgBlip xmlns:asvg="http://schemas.microsoft.com/office/drawing/2016/SVG/main" xmlns="" r:embed="rId4"/>
              </a:ext>
            </a:extLst>
          </a:blip>
          <a:stretch>
            <a:fillRect/>
          </a:stretch>
        </p:blipFill>
        <p:spPr>
          <a:xfrm>
            <a:off x="250206" y="250603"/>
            <a:ext cx="313679" cy="329298"/>
          </a:xfrm>
          <a:prstGeom prst="rect">
            <a:avLst/>
          </a:prstGeom>
        </p:spPr>
      </p:pic>
      <p:sp>
        <p:nvSpPr>
          <p:cNvPr id="28" name="Text Placeholder 27">
            <a:extLst>
              <a:ext uri="{FF2B5EF4-FFF2-40B4-BE49-F238E27FC236}">
                <a16:creationId xmlns:a16="http://schemas.microsoft.com/office/drawing/2014/main" id="{65C43E3D-0D26-234A-9592-5DAA63D12695}"/>
              </a:ext>
            </a:extLst>
          </p:cNvPr>
          <p:cNvSpPr>
            <a:spLocks noGrp="1"/>
          </p:cNvSpPr>
          <p:nvPr>
            <p:ph type="body" sz="quarter" idx="10" hasCustomPrompt="1"/>
          </p:nvPr>
        </p:nvSpPr>
        <p:spPr>
          <a:xfrm>
            <a:off x="957263" y="2962275"/>
            <a:ext cx="8056562" cy="395288"/>
          </a:xfr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2500">
                <a:solidFill>
                  <a:schemeClr val="accent6"/>
                </a:solidFill>
              </a:defRPr>
            </a:lvl1pPr>
          </a:lstStyle>
          <a:p>
            <a:pPr lvl="0"/>
            <a:r>
              <a:rPr lang="en-US"/>
              <a:t>Click to edit Session Details</a:t>
            </a:r>
          </a:p>
          <a:p>
            <a:pPr lvl="0"/>
            <a:endParaRPr lang="en-AE"/>
          </a:p>
        </p:txBody>
      </p:sp>
    </p:spTree>
    <p:extLst>
      <p:ext uri="{BB962C8B-B14F-4D97-AF65-F5344CB8AC3E}">
        <p14:creationId xmlns:p14="http://schemas.microsoft.com/office/powerpoint/2010/main" val="31671789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and Title for the Presentation#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Date Placeholder 8">
            <a:extLst>
              <a:ext uri="{FF2B5EF4-FFF2-40B4-BE49-F238E27FC236}">
                <a16:creationId xmlns:a16="http://schemas.microsoft.com/office/drawing/2014/main" id="{2CFC90AB-DF59-D34A-9818-151D5C1D9CEE}"/>
              </a:ext>
            </a:extLst>
          </p:cNvPr>
          <p:cNvSpPr>
            <a:spLocks noGrp="1"/>
          </p:cNvSpPr>
          <p:nvPr>
            <p:ph type="dt" sz="half" idx="10"/>
          </p:nvPr>
        </p:nvSpPr>
        <p:spPr>
          <a:xfrm>
            <a:off x="955675" y="5981617"/>
            <a:ext cx="3138522" cy="365125"/>
          </a:xfrm>
        </p:spPr>
        <p:txBody>
          <a:bodyPr/>
          <a:lstStyle>
            <a:lvl1pPr>
              <a:defRPr sz="1500">
                <a:solidFill>
                  <a:schemeClr val="bg2"/>
                </a:solidFill>
              </a:defRPr>
            </a:lvl1pPr>
          </a:lstStyle>
          <a:p>
            <a:fld id="{9FB76777-9218-4188-BD26-CF1E318BE795}" type="datetime2">
              <a:rPr lang="en-US" smtClean="0"/>
              <a:pPr/>
              <a:t>Wednesday, May 13, 2026</a:t>
            </a:fld>
            <a:endParaRPr lang="en-AE"/>
          </a:p>
        </p:txBody>
      </p:sp>
      <p:pic>
        <p:nvPicPr>
          <p:cNvPr id="7" name="Graphic 6">
            <a:extLst>
              <a:ext uri="{FF2B5EF4-FFF2-40B4-BE49-F238E27FC236}">
                <a16:creationId xmlns:a16="http://schemas.microsoft.com/office/drawing/2014/main" id="{E0A69106-6879-3A4D-A621-50E8110948BA}"/>
              </a:ext>
            </a:extLst>
          </p:cNvPr>
          <p:cNvPicPr>
            <a:picLocks noChangeAspect="1"/>
          </p:cNvPicPr>
          <p:nvPr userDrawn="1"/>
        </p:nvPicPr>
        <p:blipFill>
          <a:blip>
            <a:extLst>
              <a:ext uri="{96DAC541-7B7A-43D3-8B79-37D633B846F1}">
                <asvg:svgBlip xmlns:asvg="http://schemas.microsoft.com/office/drawing/2016/SVG/main" xmlns="" r:embed="rId3"/>
              </a:ext>
            </a:extLst>
          </a:blip>
          <a:srcRect/>
          <a:stretch/>
        </p:blipFill>
        <p:spPr>
          <a:xfrm>
            <a:off x="284844" y="351663"/>
            <a:ext cx="3713566" cy="634596"/>
          </a:xfrm>
          <a:prstGeom prst="rect">
            <a:avLst/>
          </a:prstGeom>
        </p:spPr>
      </p:pic>
      <p:sp>
        <p:nvSpPr>
          <p:cNvPr id="8" name="Subtitle 2">
            <a:extLst>
              <a:ext uri="{FF2B5EF4-FFF2-40B4-BE49-F238E27FC236}">
                <a16:creationId xmlns:a16="http://schemas.microsoft.com/office/drawing/2014/main" id="{D8643B33-FF74-2B49-B6EB-01409F1D0D7F}"/>
              </a:ext>
            </a:extLst>
          </p:cNvPr>
          <p:cNvSpPr>
            <a:spLocks noGrp="1"/>
          </p:cNvSpPr>
          <p:nvPr>
            <p:ph type="subTitle" idx="1"/>
          </p:nvPr>
        </p:nvSpPr>
        <p:spPr>
          <a:xfrm>
            <a:off x="955675" y="3945603"/>
            <a:ext cx="9144000" cy="536329"/>
          </a:xfrm>
          <a:prstGeom prst="rect">
            <a:avLst/>
          </a:prstGeom>
        </p:spPr>
        <p:txBody>
          <a:bodyPr/>
          <a:lstStyle>
            <a:lvl1pPr marL="0" indent="0" algn="l">
              <a:buNone/>
              <a:defRPr sz="2500">
                <a:solidFill>
                  <a:schemeClr val="bg1">
                    <a:lumMod val="40000"/>
                    <a:lumOff val="60000"/>
                  </a:schemeClr>
                </a:solidFill>
                <a:latin typeface="Tahoma" panose="020B0604030504040204" pitchFamily="34" charset="0"/>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13" name="Graphic 12">
            <a:extLst>
              <a:ext uri="{FF2B5EF4-FFF2-40B4-BE49-F238E27FC236}">
                <a16:creationId xmlns:a16="http://schemas.microsoft.com/office/drawing/2014/main" id="{8EF5330E-32F1-7B42-BB39-B2FFE8F8788D}"/>
              </a:ext>
            </a:extLst>
          </p:cNvPr>
          <p:cNvPicPr>
            <a:picLocks noChangeAspect="1"/>
          </p:cNvPicPr>
          <p:nvPr userDrawn="1"/>
        </p:nvPicPr>
        <p:blipFill>
          <a:blip>
            <a:extLst>
              <a:ext uri="{96DAC541-7B7A-43D3-8B79-37D633B846F1}">
                <asvg:svgBlip xmlns:asvg="http://schemas.microsoft.com/office/drawing/2016/SVG/main" xmlns="" r:embed="rId4"/>
              </a:ext>
            </a:extLst>
          </a:blip>
          <a:srcRect/>
          <a:stretch/>
        </p:blipFill>
        <p:spPr>
          <a:xfrm>
            <a:off x="9516979" y="775699"/>
            <a:ext cx="2675021" cy="315139"/>
          </a:xfrm>
          <a:prstGeom prst="rect">
            <a:avLst/>
          </a:prstGeom>
        </p:spPr>
      </p:pic>
      <p:sp>
        <p:nvSpPr>
          <p:cNvPr id="14" name="Title 3">
            <a:extLst>
              <a:ext uri="{FF2B5EF4-FFF2-40B4-BE49-F238E27FC236}">
                <a16:creationId xmlns:a16="http://schemas.microsoft.com/office/drawing/2014/main" id="{591BC0ED-3260-F844-B525-B5B4D2CC78D0}"/>
              </a:ext>
            </a:extLst>
          </p:cNvPr>
          <p:cNvSpPr>
            <a:spLocks noGrp="1"/>
          </p:cNvSpPr>
          <p:nvPr>
            <p:ph type="title" hasCustomPrompt="1"/>
          </p:nvPr>
        </p:nvSpPr>
        <p:spPr>
          <a:xfrm>
            <a:off x="955675" y="3126852"/>
            <a:ext cx="9144000" cy="818751"/>
          </a:xfrm>
        </p:spPr>
        <p:txBody>
          <a:bodyPr anchor="t" anchorCtr="0"/>
          <a:lstStyle>
            <a:lvl1pPr algn="l">
              <a:defRPr>
                <a:solidFill>
                  <a:schemeClr val="bg2"/>
                </a:solidFill>
              </a:defRPr>
            </a:lvl1pPr>
          </a:lstStyle>
          <a:p>
            <a:r>
              <a:rPr lang="en-US"/>
              <a:t>Click to edit master title style</a:t>
            </a:r>
          </a:p>
        </p:txBody>
      </p:sp>
    </p:spTree>
    <p:extLst>
      <p:ext uri="{BB962C8B-B14F-4D97-AF65-F5344CB8AC3E}">
        <p14:creationId xmlns:p14="http://schemas.microsoft.com/office/powerpoint/2010/main" val="19175418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over and Title for the Presentation#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Subtitle 2">
            <a:extLst>
              <a:ext uri="{FF2B5EF4-FFF2-40B4-BE49-F238E27FC236}">
                <a16:creationId xmlns:a16="http://schemas.microsoft.com/office/drawing/2014/main" id="{E9241090-81F5-3947-93CB-6896CF7F94E5}"/>
              </a:ext>
            </a:extLst>
          </p:cNvPr>
          <p:cNvSpPr>
            <a:spLocks noGrp="1"/>
          </p:cNvSpPr>
          <p:nvPr>
            <p:ph type="subTitle" idx="1" hasCustomPrompt="1"/>
          </p:nvPr>
        </p:nvSpPr>
        <p:spPr>
          <a:xfrm>
            <a:off x="536339" y="5106074"/>
            <a:ext cx="6971077" cy="698499"/>
          </a:xfrm>
        </p:spPr>
        <p:txBody>
          <a:bodyPr>
            <a:noAutofit/>
          </a:bodyPr>
          <a:lstStyle>
            <a:lvl1pPr marL="0" indent="0" algn="l">
              <a:buNone/>
              <a:defRPr sz="2000">
                <a:solidFill>
                  <a:schemeClr val="accent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
        <p:nvSpPr>
          <p:cNvPr id="12" name="Title 3">
            <a:extLst>
              <a:ext uri="{FF2B5EF4-FFF2-40B4-BE49-F238E27FC236}">
                <a16:creationId xmlns:a16="http://schemas.microsoft.com/office/drawing/2014/main" id="{06DB1578-413F-2C4E-9D70-BBE3D7A5DBD3}"/>
              </a:ext>
            </a:extLst>
          </p:cNvPr>
          <p:cNvSpPr>
            <a:spLocks noGrp="1"/>
          </p:cNvSpPr>
          <p:nvPr>
            <p:ph type="title" hasCustomPrompt="1"/>
          </p:nvPr>
        </p:nvSpPr>
        <p:spPr>
          <a:xfrm>
            <a:off x="536339" y="3607860"/>
            <a:ext cx="5298020" cy="1498214"/>
          </a:xfrm>
        </p:spPr>
        <p:txBody>
          <a:bodyPr/>
          <a:lstStyle>
            <a:lvl1pPr algn="l">
              <a:defRPr>
                <a:solidFill>
                  <a:schemeClr val="tx1"/>
                </a:solidFill>
              </a:defRPr>
            </a:lvl1pPr>
          </a:lstStyle>
          <a:p>
            <a:r>
              <a:rPr lang="en-US"/>
              <a:t>Click to edit master title style</a:t>
            </a:r>
          </a:p>
        </p:txBody>
      </p:sp>
      <p:pic>
        <p:nvPicPr>
          <p:cNvPr id="3" name="Graphic 2">
            <a:extLst>
              <a:ext uri="{FF2B5EF4-FFF2-40B4-BE49-F238E27FC236}">
                <a16:creationId xmlns:a16="http://schemas.microsoft.com/office/drawing/2014/main" id="{7B5CCC4E-CABB-0A42-9BDE-60480B081EF3}"/>
              </a:ext>
            </a:extLst>
          </p:cNvPr>
          <p:cNvPicPr>
            <a:picLocks noChangeAspect="1"/>
          </p:cNvPicPr>
          <p:nvPr userDrawn="1"/>
        </p:nvPicPr>
        <p:blipFill>
          <a:blip>
            <a:extLst>
              <a:ext uri="{96DAC541-7B7A-43D3-8B79-37D633B846F1}">
                <asvg:svgBlip xmlns:asvg="http://schemas.microsoft.com/office/drawing/2016/SVG/main" xmlns="" r:embed="rId3"/>
              </a:ext>
            </a:extLst>
          </a:blip>
          <a:stretch>
            <a:fillRect/>
          </a:stretch>
        </p:blipFill>
        <p:spPr>
          <a:xfrm>
            <a:off x="8058490" y="1061074"/>
            <a:ext cx="3362305" cy="773864"/>
          </a:xfrm>
          <a:prstGeom prst="rect">
            <a:avLst/>
          </a:prstGeom>
        </p:spPr>
      </p:pic>
      <p:sp>
        <p:nvSpPr>
          <p:cNvPr id="10" name="Date Placeholder 8">
            <a:extLst>
              <a:ext uri="{FF2B5EF4-FFF2-40B4-BE49-F238E27FC236}">
                <a16:creationId xmlns:a16="http://schemas.microsoft.com/office/drawing/2014/main" id="{2CFC90AB-DF59-D34A-9818-151D5C1D9CEE}"/>
              </a:ext>
            </a:extLst>
          </p:cNvPr>
          <p:cNvSpPr>
            <a:spLocks noGrp="1"/>
          </p:cNvSpPr>
          <p:nvPr>
            <p:ph type="dt" sz="half" idx="10"/>
          </p:nvPr>
        </p:nvSpPr>
        <p:spPr>
          <a:xfrm>
            <a:off x="536339" y="6029515"/>
            <a:ext cx="3138522" cy="365125"/>
          </a:xfrm>
        </p:spPr>
        <p:txBody>
          <a:bodyPr/>
          <a:lstStyle>
            <a:lvl1pPr>
              <a:defRPr sz="1500">
                <a:solidFill>
                  <a:schemeClr val="accent6">
                    <a:lumMod val="75000"/>
                    <a:lumOff val="25000"/>
                  </a:schemeClr>
                </a:solidFill>
              </a:defRPr>
            </a:lvl1pPr>
          </a:lstStyle>
          <a:p>
            <a:fld id="{9FB76777-9218-4188-BD26-CF1E318BE795}" type="datetime2">
              <a:rPr lang="en-US" smtClean="0"/>
              <a:pPr/>
              <a:t>Wednesday, May 13, 2026</a:t>
            </a:fld>
            <a:endParaRPr lang="en-AE"/>
          </a:p>
        </p:txBody>
      </p:sp>
    </p:spTree>
    <p:extLst>
      <p:ext uri="{BB962C8B-B14F-4D97-AF65-F5344CB8AC3E}">
        <p14:creationId xmlns:p14="http://schemas.microsoft.com/office/powerpoint/2010/main" val="2768439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over and Title for the Presentation#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Date Placeholder 8">
            <a:extLst>
              <a:ext uri="{FF2B5EF4-FFF2-40B4-BE49-F238E27FC236}">
                <a16:creationId xmlns:a16="http://schemas.microsoft.com/office/drawing/2014/main" id="{2CFC90AB-DF59-D34A-9818-151D5C1D9CEE}"/>
              </a:ext>
            </a:extLst>
          </p:cNvPr>
          <p:cNvSpPr>
            <a:spLocks noGrp="1"/>
          </p:cNvSpPr>
          <p:nvPr>
            <p:ph type="dt" sz="half" idx="10"/>
          </p:nvPr>
        </p:nvSpPr>
        <p:spPr>
          <a:xfrm>
            <a:off x="956140" y="6029515"/>
            <a:ext cx="3138522" cy="365125"/>
          </a:xfrm>
        </p:spPr>
        <p:txBody>
          <a:bodyPr/>
          <a:lstStyle>
            <a:lvl1pPr>
              <a:defRPr sz="1500">
                <a:solidFill>
                  <a:schemeClr val="bg2"/>
                </a:solidFill>
              </a:defRPr>
            </a:lvl1pPr>
          </a:lstStyle>
          <a:p>
            <a:fld id="{9FB76777-9218-4188-BD26-CF1E318BE795}" type="datetime2">
              <a:rPr lang="en-US" smtClean="0"/>
              <a:pPr/>
              <a:t>Wednesday, May 13, 2026</a:t>
            </a:fld>
            <a:endParaRPr lang="en-AE"/>
          </a:p>
        </p:txBody>
      </p:sp>
      <p:pic>
        <p:nvPicPr>
          <p:cNvPr id="7" name="Graphic 6">
            <a:extLst>
              <a:ext uri="{FF2B5EF4-FFF2-40B4-BE49-F238E27FC236}">
                <a16:creationId xmlns:a16="http://schemas.microsoft.com/office/drawing/2014/main" id="{194BA4BA-37FC-574C-900D-E42453AEA519}"/>
              </a:ext>
            </a:extLst>
          </p:cNvPr>
          <p:cNvPicPr>
            <a:picLocks noChangeAspect="1"/>
          </p:cNvPicPr>
          <p:nvPr userDrawn="1"/>
        </p:nvPicPr>
        <p:blipFill>
          <a:blip>
            <a:extLst>
              <a:ext uri="{96DAC541-7B7A-43D3-8B79-37D633B846F1}">
                <asvg:svgBlip xmlns:asvg="http://schemas.microsoft.com/office/drawing/2016/SVG/main" xmlns="" r:embed="rId3"/>
              </a:ext>
            </a:extLst>
          </a:blip>
          <a:stretch>
            <a:fillRect/>
          </a:stretch>
        </p:blipFill>
        <p:spPr>
          <a:xfrm>
            <a:off x="957263" y="2371959"/>
            <a:ext cx="4078511" cy="938705"/>
          </a:xfrm>
          <a:prstGeom prst="rect">
            <a:avLst/>
          </a:prstGeom>
        </p:spPr>
      </p:pic>
      <p:sp>
        <p:nvSpPr>
          <p:cNvPr id="8" name="Title 1">
            <a:extLst>
              <a:ext uri="{FF2B5EF4-FFF2-40B4-BE49-F238E27FC236}">
                <a16:creationId xmlns:a16="http://schemas.microsoft.com/office/drawing/2014/main" id="{81495BEB-EE01-9F40-B42D-981879D2A4C3}"/>
              </a:ext>
            </a:extLst>
          </p:cNvPr>
          <p:cNvSpPr>
            <a:spLocks noGrp="1"/>
          </p:cNvSpPr>
          <p:nvPr>
            <p:ph type="ctrTitle"/>
          </p:nvPr>
        </p:nvSpPr>
        <p:spPr>
          <a:xfrm>
            <a:off x="957273" y="3853125"/>
            <a:ext cx="9143999" cy="660171"/>
          </a:xfrm>
          <a:prstGeom prst="rect">
            <a:avLst/>
          </a:prstGeom>
        </p:spPr>
        <p:txBody>
          <a:bodyPr anchor="t" anchorCtr="0"/>
          <a:lstStyle>
            <a:lvl1pPr algn="l">
              <a:defRPr sz="4500" b="1">
                <a:solidFill>
                  <a:schemeClr val="bg2"/>
                </a:solidFill>
                <a:latin typeface="Tahoma" panose="020B0604030504040204" pitchFamily="34" charset="0"/>
                <a:ea typeface="Tahoma" panose="020B0604030504040204" pitchFamily="34" charset="0"/>
                <a:cs typeface="Tahoma" panose="020B0604030504040204" pitchFamily="34" charset="0"/>
              </a:defRPr>
            </a:lvl1pPr>
          </a:lstStyle>
          <a:p>
            <a:r>
              <a:rPr lang="en-US"/>
              <a:t>Click to edit Master title style</a:t>
            </a:r>
          </a:p>
        </p:txBody>
      </p:sp>
      <p:pic>
        <p:nvPicPr>
          <p:cNvPr id="13" name="Graphic 12">
            <a:extLst>
              <a:ext uri="{FF2B5EF4-FFF2-40B4-BE49-F238E27FC236}">
                <a16:creationId xmlns:a16="http://schemas.microsoft.com/office/drawing/2014/main" id="{A0FB12DA-53D5-A041-A382-0D8BFE86F8C7}"/>
              </a:ext>
            </a:extLst>
          </p:cNvPr>
          <p:cNvPicPr>
            <a:picLocks noChangeAspect="1"/>
          </p:cNvPicPr>
          <p:nvPr userDrawn="1"/>
        </p:nvPicPr>
        <p:blipFill>
          <a:blip>
            <a:extLst>
              <a:ext uri="{96DAC541-7B7A-43D3-8B79-37D633B846F1}">
                <asvg:svgBlip xmlns:asvg="http://schemas.microsoft.com/office/drawing/2016/SVG/main" xmlns="" r:embed="rId4"/>
              </a:ext>
            </a:extLst>
          </a:blip>
          <a:srcRect/>
          <a:stretch/>
        </p:blipFill>
        <p:spPr>
          <a:xfrm>
            <a:off x="9516979" y="775699"/>
            <a:ext cx="2675021" cy="315139"/>
          </a:xfrm>
          <a:prstGeom prst="rect">
            <a:avLst/>
          </a:prstGeom>
        </p:spPr>
      </p:pic>
      <p:sp>
        <p:nvSpPr>
          <p:cNvPr id="14" name="Subtitle 2">
            <a:extLst>
              <a:ext uri="{FF2B5EF4-FFF2-40B4-BE49-F238E27FC236}">
                <a16:creationId xmlns:a16="http://schemas.microsoft.com/office/drawing/2014/main" id="{33EBC9D1-1DA5-1B44-9266-C53077B3DFFA}"/>
              </a:ext>
            </a:extLst>
          </p:cNvPr>
          <p:cNvSpPr>
            <a:spLocks noGrp="1"/>
          </p:cNvSpPr>
          <p:nvPr>
            <p:ph type="subTitle" idx="1"/>
          </p:nvPr>
        </p:nvSpPr>
        <p:spPr>
          <a:xfrm>
            <a:off x="956140" y="4519428"/>
            <a:ext cx="9144000" cy="536329"/>
          </a:xfrm>
          <a:prstGeom prst="rect">
            <a:avLst/>
          </a:prstGeom>
        </p:spPr>
        <p:txBody>
          <a:bodyPr/>
          <a:lstStyle>
            <a:lvl1pPr marL="0" indent="0" algn="l">
              <a:buNone/>
              <a:defRPr sz="2500">
                <a:solidFill>
                  <a:schemeClr val="bg1">
                    <a:lumMod val="40000"/>
                    <a:lumOff val="60000"/>
                  </a:schemeClr>
                </a:solidFill>
                <a:latin typeface="Tahoma" panose="020B0604030504040204" pitchFamily="34" charset="0"/>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5324442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Slide  Option#1 with Image">
    <p:bg>
      <p:bgPr>
        <a:solidFill>
          <a:schemeClr val="bg2"/>
        </a:solidFill>
        <a:effectLst/>
      </p:bgPr>
    </p:bg>
    <p:spTree>
      <p:nvGrpSpPr>
        <p:cNvPr id="1" name=""/>
        <p:cNvGrpSpPr/>
        <p:nvPr/>
      </p:nvGrpSpPr>
      <p:grpSpPr>
        <a:xfrm>
          <a:off x="0" y="0"/>
          <a:ext cx="0" cy="0"/>
          <a:chOff x="0" y="0"/>
          <a:chExt cx="0" cy="0"/>
        </a:xfrm>
      </p:grpSpPr>
      <p:sp>
        <p:nvSpPr>
          <p:cNvPr id="5" name="Title 3">
            <a:extLst>
              <a:ext uri="{FF2B5EF4-FFF2-40B4-BE49-F238E27FC236}">
                <a16:creationId xmlns:a16="http://schemas.microsoft.com/office/drawing/2014/main" id="{26908BEE-A825-DA40-9969-1B02C84DEF7A}"/>
              </a:ext>
            </a:extLst>
          </p:cNvPr>
          <p:cNvSpPr>
            <a:spLocks noGrp="1"/>
          </p:cNvSpPr>
          <p:nvPr>
            <p:ph type="title" hasCustomPrompt="1"/>
          </p:nvPr>
        </p:nvSpPr>
        <p:spPr>
          <a:xfrm>
            <a:off x="704800" y="1207003"/>
            <a:ext cx="5874026" cy="557061"/>
          </a:xfrm>
        </p:spPr>
        <p:txBody>
          <a:bodyPr anchor="t">
            <a:normAutofit/>
          </a:bodyPr>
          <a:lstStyle>
            <a:lvl1pPr>
              <a:defRPr sz="3000">
                <a:solidFill>
                  <a:schemeClr val="tx1"/>
                </a:solidFill>
              </a:defRPr>
            </a:lvl1pPr>
          </a:lstStyle>
          <a:p>
            <a:r>
              <a:rPr lang="en-US"/>
              <a:t>Click to edit title style</a:t>
            </a:r>
          </a:p>
        </p:txBody>
      </p:sp>
      <p:sp>
        <p:nvSpPr>
          <p:cNvPr id="6" name="Subtitle 2">
            <a:extLst>
              <a:ext uri="{FF2B5EF4-FFF2-40B4-BE49-F238E27FC236}">
                <a16:creationId xmlns:a16="http://schemas.microsoft.com/office/drawing/2014/main" id="{B6746524-6D09-2F49-8A69-4823C3DCCD24}"/>
              </a:ext>
            </a:extLst>
          </p:cNvPr>
          <p:cNvSpPr>
            <a:spLocks noGrp="1"/>
          </p:cNvSpPr>
          <p:nvPr>
            <p:ph type="subTitle" idx="1" hasCustomPrompt="1"/>
          </p:nvPr>
        </p:nvSpPr>
        <p:spPr>
          <a:xfrm>
            <a:off x="5390087" y="314797"/>
            <a:ext cx="6120159" cy="315424"/>
          </a:xfrm>
        </p:spPr>
        <p:txBody>
          <a:bodyPr>
            <a:noAutofit/>
          </a:bodyPr>
          <a:lstStyle>
            <a:lvl1pPr marL="0" indent="0" algn="r">
              <a:buNone/>
              <a:defRPr sz="1200">
                <a:solidFill>
                  <a:schemeClr val="accent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Presentation Title</a:t>
            </a:r>
          </a:p>
        </p:txBody>
      </p:sp>
      <p:sp>
        <p:nvSpPr>
          <p:cNvPr id="7" name="Slide Number Placeholder 6">
            <a:extLst>
              <a:ext uri="{FF2B5EF4-FFF2-40B4-BE49-F238E27FC236}">
                <a16:creationId xmlns:a16="http://schemas.microsoft.com/office/drawing/2014/main" id="{03FFED15-3BC1-9A47-85CA-5740A1734EB2}"/>
              </a:ext>
            </a:extLst>
          </p:cNvPr>
          <p:cNvSpPr txBox="1">
            <a:spLocks/>
          </p:cNvSpPr>
          <p:nvPr userDrawn="1"/>
        </p:nvSpPr>
        <p:spPr>
          <a:xfrm>
            <a:off x="11377612" y="248602"/>
            <a:ext cx="814388" cy="365125"/>
          </a:xfrm>
          <a:prstGeom prst="rect">
            <a:avLst/>
          </a:prstGeom>
          <a:noFill/>
        </p:spPr>
        <p:txBody>
          <a:bodyPr vert="horz" lIns="91440" tIns="45720" rIns="91440" bIns="45720" rtlCol="0" anchor="ctr"/>
          <a:lstStyle>
            <a:defPPr>
              <a:defRPr lang="en-US"/>
            </a:defPPr>
            <a:lvl1pPr marL="0" algn="ctr" defTabSz="914400" rtl="0" eaLnBrk="1" latinLnBrk="0" hangingPunct="1">
              <a:defRPr sz="1600" b="0" i="0" kern="1200">
                <a:solidFill>
                  <a:schemeClr val="bg1"/>
                </a:solidFill>
                <a:latin typeface="Tahoma" panose="020B0604030504040204" pitchFamily="34" charset="0"/>
                <a:ea typeface="Tahoma" panose="020B0604030504040204" pitchFamily="34" charset="0"/>
                <a:cs typeface="Tahoma" panose="020B060403050404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91C39B3-71BA-C04A-8F90-02179B3D98C0}" type="slidenum">
              <a:rPr lang="en-US" smtClean="0"/>
              <a:pPr/>
              <a:t>‹#›</a:t>
            </a:fld>
            <a:endParaRPr lang="en-US"/>
          </a:p>
        </p:txBody>
      </p:sp>
      <p:pic>
        <p:nvPicPr>
          <p:cNvPr id="9" name="Graphic 8">
            <a:extLst>
              <a:ext uri="{FF2B5EF4-FFF2-40B4-BE49-F238E27FC236}">
                <a16:creationId xmlns:a16="http://schemas.microsoft.com/office/drawing/2014/main" id="{5893B466-AD85-BF49-A335-E853DA6FB0A5}"/>
              </a:ext>
            </a:extLst>
          </p:cNvPr>
          <p:cNvPicPr>
            <a:picLocks noChangeAspect="1"/>
          </p:cNvPicPr>
          <p:nvPr userDrawn="1"/>
        </p:nvPicPr>
        <p:blipFill>
          <a:blip>
            <a:extLst>
              <a:ext uri="{96DAC541-7B7A-43D3-8B79-37D633B846F1}">
                <asvg:svgBlip xmlns:asvg="http://schemas.microsoft.com/office/drawing/2016/SVG/main" xmlns="" r:embed="rId2"/>
              </a:ext>
            </a:extLst>
          </a:blip>
          <a:stretch>
            <a:fillRect/>
          </a:stretch>
        </p:blipFill>
        <p:spPr>
          <a:xfrm>
            <a:off x="12001500" y="306705"/>
            <a:ext cx="177800" cy="248920"/>
          </a:xfrm>
          <a:prstGeom prst="rect">
            <a:avLst/>
          </a:prstGeom>
        </p:spPr>
      </p:pic>
      <p:pic>
        <p:nvPicPr>
          <p:cNvPr id="12" name="Graphic 11">
            <a:extLst>
              <a:ext uri="{FF2B5EF4-FFF2-40B4-BE49-F238E27FC236}">
                <a16:creationId xmlns:a16="http://schemas.microsoft.com/office/drawing/2014/main" id="{35B54686-6941-2541-B096-11C08B1BDEA0}"/>
              </a:ext>
            </a:extLst>
          </p:cNvPr>
          <p:cNvPicPr>
            <a:picLocks noChangeAspect="1"/>
          </p:cNvPicPr>
          <p:nvPr userDrawn="1"/>
        </p:nvPicPr>
        <p:blipFill>
          <a:blip>
            <a:extLst>
              <a:ext uri="{96DAC541-7B7A-43D3-8B79-37D633B846F1}">
                <asvg:svgBlip xmlns:asvg="http://schemas.microsoft.com/office/drawing/2016/SVG/main" xmlns="" r:embed="rId3"/>
              </a:ext>
            </a:extLst>
          </a:blip>
          <a:srcRect/>
          <a:stretch/>
        </p:blipFill>
        <p:spPr>
          <a:xfrm>
            <a:off x="288949" y="2051"/>
            <a:ext cx="236191" cy="6858000"/>
          </a:xfrm>
          <a:prstGeom prst="rect">
            <a:avLst/>
          </a:prstGeom>
        </p:spPr>
      </p:pic>
      <p:pic>
        <p:nvPicPr>
          <p:cNvPr id="13" name="Graphic 12">
            <a:extLst>
              <a:ext uri="{FF2B5EF4-FFF2-40B4-BE49-F238E27FC236}">
                <a16:creationId xmlns:a16="http://schemas.microsoft.com/office/drawing/2014/main" id="{A8808B5C-1859-104A-826C-D3A463154C6C}"/>
              </a:ext>
            </a:extLst>
          </p:cNvPr>
          <p:cNvPicPr>
            <a:picLocks noChangeAspect="1"/>
          </p:cNvPicPr>
          <p:nvPr userDrawn="1"/>
        </p:nvPicPr>
        <p:blipFill>
          <a:blip>
            <a:extLst>
              <a:ext uri="{96DAC541-7B7A-43D3-8B79-37D633B846F1}">
                <asvg:svgBlip xmlns:asvg="http://schemas.microsoft.com/office/drawing/2016/SVG/main" xmlns="" r:embed="rId4"/>
              </a:ext>
            </a:extLst>
          </a:blip>
          <a:stretch>
            <a:fillRect/>
          </a:stretch>
        </p:blipFill>
        <p:spPr>
          <a:xfrm>
            <a:off x="250206" y="250603"/>
            <a:ext cx="313679" cy="329298"/>
          </a:xfrm>
          <a:prstGeom prst="rect">
            <a:avLst/>
          </a:prstGeom>
        </p:spPr>
      </p:pic>
      <p:sp>
        <p:nvSpPr>
          <p:cNvPr id="3" name="Text Placeholder 2">
            <a:extLst>
              <a:ext uri="{FF2B5EF4-FFF2-40B4-BE49-F238E27FC236}">
                <a16:creationId xmlns:a16="http://schemas.microsoft.com/office/drawing/2014/main" id="{5B03E28E-79CD-8A43-B374-EF35B43959A1}"/>
              </a:ext>
            </a:extLst>
          </p:cNvPr>
          <p:cNvSpPr>
            <a:spLocks noGrp="1"/>
          </p:cNvSpPr>
          <p:nvPr>
            <p:ph type="body" sz="quarter" idx="10"/>
          </p:nvPr>
        </p:nvSpPr>
        <p:spPr>
          <a:xfrm>
            <a:off x="833439" y="1878013"/>
            <a:ext cx="5745388" cy="37544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E"/>
          </a:p>
        </p:txBody>
      </p:sp>
      <p:sp>
        <p:nvSpPr>
          <p:cNvPr id="14" name="Picture Placeholder 13">
            <a:extLst>
              <a:ext uri="{FF2B5EF4-FFF2-40B4-BE49-F238E27FC236}">
                <a16:creationId xmlns:a16="http://schemas.microsoft.com/office/drawing/2014/main" id="{83E722FE-E668-314D-A8DF-BAA81BA98D5B}"/>
              </a:ext>
            </a:extLst>
          </p:cNvPr>
          <p:cNvSpPr>
            <a:spLocks noGrp="1"/>
          </p:cNvSpPr>
          <p:nvPr>
            <p:ph type="pic" sz="quarter" idx="11"/>
          </p:nvPr>
        </p:nvSpPr>
        <p:spPr>
          <a:xfrm>
            <a:off x="6758486" y="1206500"/>
            <a:ext cx="4619127" cy="4445000"/>
          </a:xfrm>
        </p:spPr>
        <p:txBody>
          <a:bodyPr/>
          <a:lstStyle>
            <a:lvl1pPr marL="0" indent="0">
              <a:buNone/>
              <a:defRPr/>
            </a:lvl1pPr>
          </a:lstStyle>
          <a:p>
            <a:r>
              <a:rPr lang="en-US"/>
              <a:t>Click icon to add picture</a:t>
            </a:r>
            <a:endParaRPr lang="en-AE"/>
          </a:p>
        </p:txBody>
      </p:sp>
    </p:spTree>
    <p:extLst>
      <p:ext uri="{BB962C8B-B14F-4D97-AF65-F5344CB8AC3E}">
        <p14:creationId xmlns:p14="http://schemas.microsoft.com/office/powerpoint/2010/main" val="28438903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Content Slide  Option#2 with Graph /Data">
    <p:bg>
      <p:bgPr>
        <a:solidFill>
          <a:schemeClr val="bg2"/>
        </a:solidFill>
        <a:effectLst/>
      </p:bgPr>
    </p:bg>
    <p:spTree>
      <p:nvGrpSpPr>
        <p:cNvPr id="1" name=""/>
        <p:cNvGrpSpPr/>
        <p:nvPr/>
      </p:nvGrpSpPr>
      <p:grpSpPr>
        <a:xfrm>
          <a:off x="0" y="0"/>
          <a:ext cx="0" cy="0"/>
          <a:chOff x="0" y="0"/>
          <a:chExt cx="0" cy="0"/>
        </a:xfrm>
      </p:grpSpPr>
      <p:sp>
        <p:nvSpPr>
          <p:cNvPr id="5" name="Title 3">
            <a:extLst>
              <a:ext uri="{FF2B5EF4-FFF2-40B4-BE49-F238E27FC236}">
                <a16:creationId xmlns:a16="http://schemas.microsoft.com/office/drawing/2014/main" id="{26908BEE-A825-DA40-9969-1B02C84DEF7A}"/>
              </a:ext>
            </a:extLst>
          </p:cNvPr>
          <p:cNvSpPr>
            <a:spLocks noGrp="1"/>
          </p:cNvSpPr>
          <p:nvPr>
            <p:ph type="title" hasCustomPrompt="1"/>
          </p:nvPr>
        </p:nvSpPr>
        <p:spPr>
          <a:xfrm>
            <a:off x="704800" y="1207003"/>
            <a:ext cx="5874026" cy="557061"/>
          </a:xfrm>
        </p:spPr>
        <p:txBody>
          <a:bodyPr anchor="t">
            <a:normAutofit/>
          </a:bodyPr>
          <a:lstStyle>
            <a:lvl1pPr>
              <a:defRPr sz="3000">
                <a:solidFill>
                  <a:schemeClr val="tx1"/>
                </a:solidFill>
              </a:defRPr>
            </a:lvl1pPr>
          </a:lstStyle>
          <a:p>
            <a:r>
              <a:rPr lang="en-US"/>
              <a:t>Click to Add Graph/Data</a:t>
            </a:r>
          </a:p>
        </p:txBody>
      </p:sp>
      <p:sp>
        <p:nvSpPr>
          <p:cNvPr id="6" name="Subtitle 2">
            <a:extLst>
              <a:ext uri="{FF2B5EF4-FFF2-40B4-BE49-F238E27FC236}">
                <a16:creationId xmlns:a16="http://schemas.microsoft.com/office/drawing/2014/main" id="{B6746524-6D09-2F49-8A69-4823C3DCCD24}"/>
              </a:ext>
            </a:extLst>
          </p:cNvPr>
          <p:cNvSpPr>
            <a:spLocks noGrp="1"/>
          </p:cNvSpPr>
          <p:nvPr>
            <p:ph type="subTitle" idx="1" hasCustomPrompt="1"/>
          </p:nvPr>
        </p:nvSpPr>
        <p:spPr>
          <a:xfrm>
            <a:off x="5390087" y="314797"/>
            <a:ext cx="6120159" cy="315424"/>
          </a:xfrm>
        </p:spPr>
        <p:txBody>
          <a:bodyPr>
            <a:noAutofit/>
          </a:bodyPr>
          <a:lstStyle>
            <a:lvl1pPr marL="0" indent="0" algn="r">
              <a:buNone/>
              <a:defRPr sz="1200">
                <a:solidFill>
                  <a:schemeClr val="accent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Presentation Title</a:t>
            </a:r>
          </a:p>
        </p:txBody>
      </p:sp>
      <p:sp>
        <p:nvSpPr>
          <p:cNvPr id="7" name="Slide Number Placeholder 6">
            <a:extLst>
              <a:ext uri="{FF2B5EF4-FFF2-40B4-BE49-F238E27FC236}">
                <a16:creationId xmlns:a16="http://schemas.microsoft.com/office/drawing/2014/main" id="{03FFED15-3BC1-9A47-85CA-5740A1734EB2}"/>
              </a:ext>
            </a:extLst>
          </p:cNvPr>
          <p:cNvSpPr txBox="1">
            <a:spLocks/>
          </p:cNvSpPr>
          <p:nvPr userDrawn="1"/>
        </p:nvSpPr>
        <p:spPr>
          <a:xfrm>
            <a:off x="11377612" y="248602"/>
            <a:ext cx="814388" cy="365125"/>
          </a:xfrm>
          <a:prstGeom prst="rect">
            <a:avLst/>
          </a:prstGeom>
          <a:noFill/>
        </p:spPr>
        <p:txBody>
          <a:bodyPr vert="horz" lIns="91440" tIns="45720" rIns="91440" bIns="45720" rtlCol="0" anchor="ctr"/>
          <a:lstStyle>
            <a:defPPr>
              <a:defRPr lang="en-US"/>
            </a:defPPr>
            <a:lvl1pPr marL="0" algn="ctr" defTabSz="914400" rtl="0" eaLnBrk="1" latinLnBrk="0" hangingPunct="1">
              <a:defRPr sz="1600" b="0" i="0" kern="1200">
                <a:solidFill>
                  <a:schemeClr val="bg1"/>
                </a:solidFill>
                <a:latin typeface="Tahoma" panose="020B0604030504040204" pitchFamily="34" charset="0"/>
                <a:ea typeface="Tahoma" panose="020B0604030504040204" pitchFamily="34" charset="0"/>
                <a:cs typeface="Tahoma" panose="020B060403050404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91C39B3-71BA-C04A-8F90-02179B3D98C0}" type="slidenum">
              <a:rPr lang="en-US" smtClean="0"/>
              <a:pPr/>
              <a:t>‹#›</a:t>
            </a:fld>
            <a:endParaRPr lang="en-US"/>
          </a:p>
        </p:txBody>
      </p:sp>
      <p:pic>
        <p:nvPicPr>
          <p:cNvPr id="9" name="Graphic 8">
            <a:extLst>
              <a:ext uri="{FF2B5EF4-FFF2-40B4-BE49-F238E27FC236}">
                <a16:creationId xmlns:a16="http://schemas.microsoft.com/office/drawing/2014/main" id="{5893B466-AD85-BF49-A335-E853DA6FB0A5}"/>
              </a:ext>
            </a:extLst>
          </p:cNvPr>
          <p:cNvPicPr>
            <a:picLocks noChangeAspect="1"/>
          </p:cNvPicPr>
          <p:nvPr userDrawn="1"/>
        </p:nvPicPr>
        <p:blipFill>
          <a:blip>
            <a:extLst>
              <a:ext uri="{96DAC541-7B7A-43D3-8B79-37D633B846F1}">
                <asvg:svgBlip xmlns:asvg="http://schemas.microsoft.com/office/drawing/2016/SVG/main" xmlns="" r:embed="rId2"/>
              </a:ext>
            </a:extLst>
          </a:blip>
          <a:stretch>
            <a:fillRect/>
          </a:stretch>
        </p:blipFill>
        <p:spPr>
          <a:xfrm>
            <a:off x="12001500" y="306705"/>
            <a:ext cx="177800" cy="248920"/>
          </a:xfrm>
          <a:prstGeom prst="rect">
            <a:avLst/>
          </a:prstGeom>
        </p:spPr>
      </p:pic>
      <p:pic>
        <p:nvPicPr>
          <p:cNvPr id="12" name="Graphic 11">
            <a:extLst>
              <a:ext uri="{FF2B5EF4-FFF2-40B4-BE49-F238E27FC236}">
                <a16:creationId xmlns:a16="http://schemas.microsoft.com/office/drawing/2014/main" id="{35B54686-6941-2541-B096-11C08B1BDEA0}"/>
              </a:ext>
            </a:extLst>
          </p:cNvPr>
          <p:cNvPicPr>
            <a:picLocks noChangeAspect="1"/>
          </p:cNvPicPr>
          <p:nvPr userDrawn="1"/>
        </p:nvPicPr>
        <p:blipFill>
          <a:blip>
            <a:extLst>
              <a:ext uri="{96DAC541-7B7A-43D3-8B79-37D633B846F1}">
                <asvg:svgBlip xmlns:asvg="http://schemas.microsoft.com/office/drawing/2016/SVG/main" xmlns="" r:embed="rId3"/>
              </a:ext>
            </a:extLst>
          </a:blip>
          <a:srcRect/>
          <a:stretch/>
        </p:blipFill>
        <p:spPr>
          <a:xfrm>
            <a:off x="288949" y="2051"/>
            <a:ext cx="236191" cy="6858000"/>
          </a:xfrm>
          <a:prstGeom prst="rect">
            <a:avLst/>
          </a:prstGeom>
        </p:spPr>
      </p:pic>
      <p:pic>
        <p:nvPicPr>
          <p:cNvPr id="13" name="Graphic 12">
            <a:extLst>
              <a:ext uri="{FF2B5EF4-FFF2-40B4-BE49-F238E27FC236}">
                <a16:creationId xmlns:a16="http://schemas.microsoft.com/office/drawing/2014/main" id="{A8808B5C-1859-104A-826C-D3A463154C6C}"/>
              </a:ext>
            </a:extLst>
          </p:cNvPr>
          <p:cNvPicPr>
            <a:picLocks noChangeAspect="1"/>
          </p:cNvPicPr>
          <p:nvPr userDrawn="1"/>
        </p:nvPicPr>
        <p:blipFill>
          <a:blip>
            <a:extLst>
              <a:ext uri="{96DAC541-7B7A-43D3-8B79-37D633B846F1}">
                <asvg:svgBlip xmlns:asvg="http://schemas.microsoft.com/office/drawing/2016/SVG/main" xmlns="" r:embed="rId4"/>
              </a:ext>
            </a:extLst>
          </a:blip>
          <a:stretch>
            <a:fillRect/>
          </a:stretch>
        </p:blipFill>
        <p:spPr>
          <a:xfrm>
            <a:off x="250206" y="250603"/>
            <a:ext cx="313679" cy="329298"/>
          </a:xfrm>
          <a:prstGeom prst="rect">
            <a:avLst/>
          </a:prstGeom>
        </p:spPr>
      </p:pic>
      <p:sp>
        <p:nvSpPr>
          <p:cNvPr id="3" name="Text Placeholder 2">
            <a:extLst>
              <a:ext uri="{FF2B5EF4-FFF2-40B4-BE49-F238E27FC236}">
                <a16:creationId xmlns:a16="http://schemas.microsoft.com/office/drawing/2014/main" id="{5B03E28E-79CD-8A43-B374-EF35B43959A1}"/>
              </a:ext>
            </a:extLst>
          </p:cNvPr>
          <p:cNvSpPr>
            <a:spLocks noGrp="1"/>
          </p:cNvSpPr>
          <p:nvPr>
            <p:ph type="body" sz="quarter" idx="10" hasCustomPrompt="1"/>
          </p:nvPr>
        </p:nvSpPr>
        <p:spPr>
          <a:xfrm>
            <a:off x="707473" y="1878013"/>
            <a:ext cx="4054150" cy="3754437"/>
          </a:xfrm>
        </p:spPr>
        <p:txBody>
          <a:bodyPr>
            <a:normAutofit/>
          </a:bodyPr>
          <a:lstStyle>
            <a:lvl1pPr marL="0" indent="0" algn="l">
              <a:lnSpc>
                <a:spcPct val="95000"/>
              </a:lnSpc>
              <a:buFontTx/>
              <a:buNone/>
              <a:defRPr sz="2000"/>
            </a:lvl1pPr>
            <a:lvl2pPr marL="457200" indent="0" algn="l">
              <a:buFontTx/>
              <a:buNone/>
              <a:defRPr/>
            </a:lvl2pPr>
            <a:lvl3pPr marL="914400" indent="0" algn="l">
              <a:buFontTx/>
              <a:buNone/>
              <a:defRPr/>
            </a:lvl3pPr>
            <a:lvl4pPr marL="1371600" indent="0" algn="l">
              <a:buFontTx/>
              <a:buNone/>
              <a:defRPr/>
            </a:lvl4pPr>
            <a:lvl5pPr marL="1828800" indent="0" algn="l">
              <a:buFontTx/>
              <a:buNone/>
              <a:defRPr/>
            </a:lvl5pPr>
          </a:lstStyle>
          <a:p>
            <a:pPr lvl="0"/>
            <a:r>
              <a:rPr lang="en-AE"/>
              <a:t>Add your </a:t>
            </a:r>
            <a:r>
              <a:rPr lang="en-US"/>
              <a:t>An analytical paragraph,  is a form of descriptive writing which is written on the basis of a given chart, graph, data, outline, clues, table etc.</a:t>
            </a:r>
            <a:endParaRPr lang="en-AE"/>
          </a:p>
        </p:txBody>
      </p:sp>
      <p:sp>
        <p:nvSpPr>
          <p:cNvPr id="4" name="Chart Placeholder 3">
            <a:extLst>
              <a:ext uri="{FF2B5EF4-FFF2-40B4-BE49-F238E27FC236}">
                <a16:creationId xmlns:a16="http://schemas.microsoft.com/office/drawing/2014/main" id="{62D93862-01E6-C24F-A335-F79089BEC504}"/>
              </a:ext>
            </a:extLst>
          </p:cNvPr>
          <p:cNvSpPr>
            <a:spLocks noGrp="1"/>
          </p:cNvSpPr>
          <p:nvPr>
            <p:ph type="chart" sz="quarter" idx="11"/>
          </p:nvPr>
        </p:nvSpPr>
        <p:spPr>
          <a:xfrm>
            <a:off x="5138738" y="1878013"/>
            <a:ext cx="6053137" cy="3754437"/>
          </a:xfrm>
        </p:spPr>
        <p:txBody>
          <a:bodyPr/>
          <a:lstStyle/>
          <a:p>
            <a:r>
              <a:rPr lang="en-US"/>
              <a:t>Click icon to add chart</a:t>
            </a:r>
            <a:endParaRPr lang="en-AE"/>
          </a:p>
        </p:txBody>
      </p:sp>
    </p:spTree>
    <p:extLst>
      <p:ext uri="{BB962C8B-B14F-4D97-AF65-F5344CB8AC3E}">
        <p14:creationId xmlns:p14="http://schemas.microsoft.com/office/powerpoint/2010/main" val="289576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Content Slide  Option#3 with Table">
    <p:bg>
      <p:bgPr>
        <a:solidFill>
          <a:schemeClr val="bg2"/>
        </a:solidFill>
        <a:effectLst/>
      </p:bgPr>
    </p:bg>
    <p:spTree>
      <p:nvGrpSpPr>
        <p:cNvPr id="1" name=""/>
        <p:cNvGrpSpPr/>
        <p:nvPr/>
      </p:nvGrpSpPr>
      <p:grpSpPr>
        <a:xfrm>
          <a:off x="0" y="0"/>
          <a:ext cx="0" cy="0"/>
          <a:chOff x="0" y="0"/>
          <a:chExt cx="0" cy="0"/>
        </a:xfrm>
      </p:grpSpPr>
      <p:sp>
        <p:nvSpPr>
          <p:cNvPr id="5" name="Title 3">
            <a:extLst>
              <a:ext uri="{FF2B5EF4-FFF2-40B4-BE49-F238E27FC236}">
                <a16:creationId xmlns:a16="http://schemas.microsoft.com/office/drawing/2014/main" id="{26908BEE-A825-DA40-9969-1B02C84DEF7A}"/>
              </a:ext>
            </a:extLst>
          </p:cNvPr>
          <p:cNvSpPr>
            <a:spLocks noGrp="1"/>
          </p:cNvSpPr>
          <p:nvPr>
            <p:ph type="title" hasCustomPrompt="1"/>
          </p:nvPr>
        </p:nvSpPr>
        <p:spPr>
          <a:xfrm>
            <a:off x="704800" y="1207003"/>
            <a:ext cx="5874026" cy="557061"/>
          </a:xfrm>
        </p:spPr>
        <p:txBody>
          <a:bodyPr anchor="t">
            <a:normAutofit/>
          </a:bodyPr>
          <a:lstStyle>
            <a:lvl1pPr>
              <a:defRPr sz="3000">
                <a:solidFill>
                  <a:schemeClr val="tx1"/>
                </a:solidFill>
              </a:defRPr>
            </a:lvl1pPr>
          </a:lstStyle>
          <a:p>
            <a:r>
              <a:rPr lang="en-US"/>
              <a:t>Click to Table Title</a:t>
            </a:r>
          </a:p>
        </p:txBody>
      </p:sp>
      <p:sp>
        <p:nvSpPr>
          <p:cNvPr id="6" name="Subtitle 2">
            <a:extLst>
              <a:ext uri="{FF2B5EF4-FFF2-40B4-BE49-F238E27FC236}">
                <a16:creationId xmlns:a16="http://schemas.microsoft.com/office/drawing/2014/main" id="{B6746524-6D09-2F49-8A69-4823C3DCCD24}"/>
              </a:ext>
            </a:extLst>
          </p:cNvPr>
          <p:cNvSpPr>
            <a:spLocks noGrp="1"/>
          </p:cNvSpPr>
          <p:nvPr>
            <p:ph type="subTitle" idx="1" hasCustomPrompt="1"/>
          </p:nvPr>
        </p:nvSpPr>
        <p:spPr>
          <a:xfrm>
            <a:off x="5390087" y="314797"/>
            <a:ext cx="6120159" cy="315424"/>
          </a:xfrm>
        </p:spPr>
        <p:txBody>
          <a:bodyPr>
            <a:noAutofit/>
          </a:bodyPr>
          <a:lstStyle>
            <a:lvl1pPr marL="0" indent="0" algn="r">
              <a:buNone/>
              <a:defRPr sz="1200">
                <a:solidFill>
                  <a:schemeClr val="accent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Presentation Title</a:t>
            </a:r>
          </a:p>
        </p:txBody>
      </p:sp>
      <p:sp>
        <p:nvSpPr>
          <p:cNvPr id="7" name="Slide Number Placeholder 6">
            <a:extLst>
              <a:ext uri="{FF2B5EF4-FFF2-40B4-BE49-F238E27FC236}">
                <a16:creationId xmlns:a16="http://schemas.microsoft.com/office/drawing/2014/main" id="{03FFED15-3BC1-9A47-85CA-5740A1734EB2}"/>
              </a:ext>
            </a:extLst>
          </p:cNvPr>
          <p:cNvSpPr txBox="1">
            <a:spLocks/>
          </p:cNvSpPr>
          <p:nvPr userDrawn="1"/>
        </p:nvSpPr>
        <p:spPr>
          <a:xfrm>
            <a:off x="11377612" y="248602"/>
            <a:ext cx="814388" cy="365125"/>
          </a:xfrm>
          <a:prstGeom prst="rect">
            <a:avLst/>
          </a:prstGeom>
          <a:noFill/>
        </p:spPr>
        <p:txBody>
          <a:bodyPr vert="horz" lIns="91440" tIns="45720" rIns="91440" bIns="45720" rtlCol="0" anchor="ctr"/>
          <a:lstStyle>
            <a:defPPr>
              <a:defRPr lang="en-US"/>
            </a:defPPr>
            <a:lvl1pPr marL="0" algn="ctr" defTabSz="914400" rtl="0" eaLnBrk="1" latinLnBrk="0" hangingPunct="1">
              <a:defRPr sz="1600" b="0" i="0" kern="1200">
                <a:solidFill>
                  <a:schemeClr val="bg1"/>
                </a:solidFill>
                <a:latin typeface="Tahoma" panose="020B0604030504040204" pitchFamily="34" charset="0"/>
                <a:ea typeface="Tahoma" panose="020B0604030504040204" pitchFamily="34" charset="0"/>
                <a:cs typeface="Tahoma" panose="020B060403050404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91C39B3-71BA-C04A-8F90-02179B3D98C0}" type="slidenum">
              <a:rPr lang="en-US" smtClean="0"/>
              <a:pPr/>
              <a:t>‹#›</a:t>
            </a:fld>
            <a:endParaRPr lang="en-US"/>
          </a:p>
        </p:txBody>
      </p:sp>
      <p:pic>
        <p:nvPicPr>
          <p:cNvPr id="9" name="Graphic 8">
            <a:extLst>
              <a:ext uri="{FF2B5EF4-FFF2-40B4-BE49-F238E27FC236}">
                <a16:creationId xmlns:a16="http://schemas.microsoft.com/office/drawing/2014/main" id="{5893B466-AD85-BF49-A335-E853DA6FB0A5}"/>
              </a:ext>
            </a:extLst>
          </p:cNvPr>
          <p:cNvPicPr>
            <a:picLocks noChangeAspect="1"/>
          </p:cNvPicPr>
          <p:nvPr userDrawn="1"/>
        </p:nvPicPr>
        <p:blipFill>
          <a:blip>
            <a:extLst>
              <a:ext uri="{96DAC541-7B7A-43D3-8B79-37D633B846F1}">
                <asvg:svgBlip xmlns:asvg="http://schemas.microsoft.com/office/drawing/2016/SVG/main" xmlns="" r:embed="rId2"/>
              </a:ext>
            </a:extLst>
          </a:blip>
          <a:stretch>
            <a:fillRect/>
          </a:stretch>
        </p:blipFill>
        <p:spPr>
          <a:xfrm>
            <a:off x="12001500" y="306705"/>
            <a:ext cx="177800" cy="248920"/>
          </a:xfrm>
          <a:prstGeom prst="rect">
            <a:avLst/>
          </a:prstGeom>
        </p:spPr>
      </p:pic>
      <p:pic>
        <p:nvPicPr>
          <p:cNvPr id="12" name="Graphic 11">
            <a:extLst>
              <a:ext uri="{FF2B5EF4-FFF2-40B4-BE49-F238E27FC236}">
                <a16:creationId xmlns:a16="http://schemas.microsoft.com/office/drawing/2014/main" id="{35B54686-6941-2541-B096-11C08B1BDEA0}"/>
              </a:ext>
            </a:extLst>
          </p:cNvPr>
          <p:cNvPicPr>
            <a:picLocks noChangeAspect="1"/>
          </p:cNvPicPr>
          <p:nvPr userDrawn="1"/>
        </p:nvPicPr>
        <p:blipFill>
          <a:blip>
            <a:extLst>
              <a:ext uri="{96DAC541-7B7A-43D3-8B79-37D633B846F1}">
                <asvg:svgBlip xmlns:asvg="http://schemas.microsoft.com/office/drawing/2016/SVG/main" xmlns="" r:embed="rId3"/>
              </a:ext>
            </a:extLst>
          </a:blip>
          <a:srcRect/>
          <a:stretch/>
        </p:blipFill>
        <p:spPr>
          <a:xfrm>
            <a:off x="288949" y="2051"/>
            <a:ext cx="236191" cy="6858000"/>
          </a:xfrm>
          <a:prstGeom prst="rect">
            <a:avLst/>
          </a:prstGeom>
        </p:spPr>
      </p:pic>
      <p:pic>
        <p:nvPicPr>
          <p:cNvPr id="13" name="Graphic 12">
            <a:extLst>
              <a:ext uri="{FF2B5EF4-FFF2-40B4-BE49-F238E27FC236}">
                <a16:creationId xmlns:a16="http://schemas.microsoft.com/office/drawing/2014/main" id="{A8808B5C-1859-104A-826C-D3A463154C6C}"/>
              </a:ext>
            </a:extLst>
          </p:cNvPr>
          <p:cNvPicPr>
            <a:picLocks noChangeAspect="1"/>
          </p:cNvPicPr>
          <p:nvPr userDrawn="1"/>
        </p:nvPicPr>
        <p:blipFill>
          <a:blip>
            <a:extLst>
              <a:ext uri="{96DAC541-7B7A-43D3-8B79-37D633B846F1}">
                <asvg:svgBlip xmlns:asvg="http://schemas.microsoft.com/office/drawing/2016/SVG/main" xmlns="" r:embed="rId4"/>
              </a:ext>
            </a:extLst>
          </a:blip>
          <a:stretch>
            <a:fillRect/>
          </a:stretch>
        </p:blipFill>
        <p:spPr>
          <a:xfrm>
            <a:off x="250206" y="250603"/>
            <a:ext cx="313679" cy="329298"/>
          </a:xfrm>
          <a:prstGeom prst="rect">
            <a:avLst/>
          </a:prstGeom>
        </p:spPr>
      </p:pic>
      <p:sp>
        <p:nvSpPr>
          <p:cNvPr id="3" name="Text Placeholder 2">
            <a:extLst>
              <a:ext uri="{FF2B5EF4-FFF2-40B4-BE49-F238E27FC236}">
                <a16:creationId xmlns:a16="http://schemas.microsoft.com/office/drawing/2014/main" id="{5B03E28E-79CD-8A43-B374-EF35B43959A1}"/>
              </a:ext>
            </a:extLst>
          </p:cNvPr>
          <p:cNvSpPr>
            <a:spLocks noGrp="1"/>
          </p:cNvSpPr>
          <p:nvPr>
            <p:ph type="body" sz="quarter" idx="10" hasCustomPrompt="1"/>
          </p:nvPr>
        </p:nvSpPr>
        <p:spPr>
          <a:xfrm>
            <a:off x="704800" y="1878013"/>
            <a:ext cx="4054150" cy="3754437"/>
          </a:xfrm>
        </p:spPr>
        <p:txBody>
          <a:bodyPr>
            <a:noAutofit/>
          </a:bodyPr>
          <a:lstStyle>
            <a:lvl1pPr marL="0" indent="0" algn="l">
              <a:lnSpc>
                <a:spcPct val="95000"/>
              </a:lnSpc>
              <a:buFontTx/>
              <a:buNone/>
              <a:defRPr lang="en-US" sz="2000" b="0" i="0" smtClean="0">
                <a:effectLst/>
              </a:defRPr>
            </a:lvl1pPr>
            <a:lvl2pPr marL="457200" indent="0" algn="l">
              <a:buFontTx/>
              <a:buNone/>
              <a:defRPr/>
            </a:lvl2pPr>
            <a:lvl3pPr marL="914400" indent="0" algn="l">
              <a:buFontTx/>
              <a:buNone/>
              <a:defRPr/>
            </a:lvl3pPr>
            <a:lvl4pPr marL="1371600" indent="0" algn="l">
              <a:buFontTx/>
              <a:buNone/>
              <a:defRPr/>
            </a:lvl4pPr>
            <a:lvl5pPr marL="1828800" indent="0" algn="l">
              <a:buFontTx/>
              <a:buNone/>
              <a:defRPr/>
            </a:lvl5pPr>
          </a:lstStyle>
          <a:p>
            <a:pPr lvl="0"/>
            <a:r>
              <a:rPr lang="en-US"/>
              <a:t>A Table refers to any data which is presented in orderly rows across and/or down the page, often enclosed within borders. A Figure refers to any other form of presentation such as a bar or pie chart, a graph, a diagram, a map, a photograph, a line drawing or a sample of material.</a:t>
            </a:r>
            <a:endParaRPr lang="en-AE"/>
          </a:p>
        </p:txBody>
      </p:sp>
      <p:sp>
        <p:nvSpPr>
          <p:cNvPr id="8" name="Table Placeholder 7">
            <a:extLst>
              <a:ext uri="{FF2B5EF4-FFF2-40B4-BE49-F238E27FC236}">
                <a16:creationId xmlns:a16="http://schemas.microsoft.com/office/drawing/2014/main" id="{78A247DE-41CC-5245-986E-449D869DC74D}"/>
              </a:ext>
            </a:extLst>
          </p:cNvPr>
          <p:cNvSpPr>
            <a:spLocks noGrp="1"/>
          </p:cNvSpPr>
          <p:nvPr>
            <p:ph type="tbl" sz="quarter" idx="11"/>
          </p:nvPr>
        </p:nvSpPr>
        <p:spPr>
          <a:xfrm>
            <a:off x="5154613" y="1878013"/>
            <a:ext cx="6356350" cy="3754437"/>
          </a:xfrm>
        </p:spPr>
        <p:txBody>
          <a:bodyPr/>
          <a:lstStyle/>
          <a:p>
            <a:r>
              <a:rPr lang="en-US"/>
              <a:t>Click icon to add table</a:t>
            </a:r>
            <a:endParaRPr lang="en-AE"/>
          </a:p>
        </p:txBody>
      </p:sp>
    </p:spTree>
    <p:extLst>
      <p:ext uri="{BB962C8B-B14F-4D97-AF65-F5344CB8AC3E}">
        <p14:creationId xmlns:p14="http://schemas.microsoft.com/office/powerpoint/2010/main" val="50089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Slide Option#4 with Infographic">
    <p:bg>
      <p:bgPr>
        <a:solidFill>
          <a:schemeClr val="bg2"/>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3C46900-ACA7-B546-8A78-DFF39C7FE4BE}"/>
              </a:ext>
            </a:extLst>
          </p:cNvPr>
          <p:cNvSpPr>
            <a:spLocks noGrp="1"/>
          </p:cNvSpPr>
          <p:nvPr>
            <p:ph type="title" hasCustomPrompt="1"/>
          </p:nvPr>
        </p:nvSpPr>
        <p:spPr>
          <a:xfrm>
            <a:off x="704800" y="1207004"/>
            <a:ext cx="9770717" cy="597928"/>
          </a:xfrm>
        </p:spPr>
        <p:txBody>
          <a:bodyPr anchor="t">
            <a:normAutofit/>
          </a:bodyPr>
          <a:lstStyle>
            <a:lvl1pPr>
              <a:defRPr sz="3000">
                <a:solidFill>
                  <a:schemeClr val="tx1"/>
                </a:solidFill>
              </a:defRPr>
            </a:lvl1pPr>
          </a:lstStyle>
          <a:p>
            <a:r>
              <a:rPr lang="en-US"/>
              <a:t>Click to Add Icons/Infographics Title</a:t>
            </a:r>
          </a:p>
        </p:txBody>
      </p:sp>
      <p:pic>
        <p:nvPicPr>
          <p:cNvPr id="10" name="Graphic 9">
            <a:extLst>
              <a:ext uri="{FF2B5EF4-FFF2-40B4-BE49-F238E27FC236}">
                <a16:creationId xmlns:a16="http://schemas.microsoft.com/office/drawing/2014/main" id="{C71104D3-4DE6-8346-AD98-5A101FEABA69}"/>
              </a:ext>
            </a:extLst>
          </p:cNvPr>
          <p:cNvPicPr>
            <a:picLocks noChangeAspect="1"/>
          </p:cNvPicPr>
          <p:nvPr userDrawn="1"/>
        </p:nvPicPr>
        <p:blipFill>
          <a:blip>
            <a:extLst>
              <a:ext uri="{96DAC541-7B7A-43D3-8B79-37D633B846F1}">
                <asvg:svgBlip xmlns:asvg="http://schemas.microsoft.com/office/drawing/2016/SVG/main" xmlns="" r:embed="rId2"/>
              </a:ext>
            </a:extLst>
          </a:blip>
          <a:stretch>
            <a:fillRect/>
          </a:stretch>
        </p:blipFill>
        <p:spPr>
          <a:xfrm rot="16200000" flipH="1">
            <a:off x="11501786" y="73025"/>
            <a:ext cx="406400" cy="260350"/>
          </a:xfrm>
          <a:prstGeom prst="rect">
            <a:avLst/>
          </a:prstGeom>
        </p:spPr>
      </p:pic>
      <p:sp>
        <p:nvSpPr>
          <p:cNvPr id="11" name="Slide Number Placeholder 6">
            <a:extLst>
              <a:ext uri="{FF2B5EF4-FFF2-40B4-BE49-F238E27FC236}">
                <a16:creationId xmlns:a16="http://schemas.microsoft.com/office/drawing/2014/main" id="{7957831C-872D-CF44-8DFE-BC74ADA53052}"/>
              </a:ext>
            </a:extLst>
          </p:cNvPr>
          <p:cNvSpPr>
            <a:spLocks noGrp="1"/>
          </p:cNvSpPr>
          <p:nvPr>
            <p:ph type="sldNum" sz="quarter" idx="12"/>
          </p:nvPr>
        </p:nvSpPr>
        <p:spPr>
          <a:xfrm>
            <a:off x="11297792" y="406400"/>
            <a:ext cx="814388" cy="365125"/>
          </a:xfrm>
          <a:noFill/>
        </p:spPr>
        <p:txBody>
          <a:bodyPr/>
          <a:lstStyle>
            <a:lvl1pPr algn="ctr">
              <a:defRPr sz="1600">
                <a:solidFill>
                  <a:schemeClr val="bg1"/>
                </a:solidFill>
              </a:defRPr>
            </a:lvl1pPr>
          </a:lstStyle>
          <a:p>
            <a:fld id="{A91C39B3-71BA-C04A-8F90-02179B3D98C0}" type="slidenum">
              <a:rPr lang="en-US" smtClean="0"/>
              <a:pPr/>
              <a:t>‹#›</a:t>
            </a:fld>
            <a:endParaRPr lang="en-US"/>
          </a:p>
        </p:txBody>
      </p:sp>
      <p:pic>
        <p:nvPicPr>
          <p:cNvPr id="12" name="Picture 5">
            <a:extLst>
              <a:ext uri="{FF2B5EF4-FFF2-40B4-BE49-F238E27FC236}">
                <a16:creationId xmlns:a16="http://schemas.microsoft.com/office/drawing/2014/main" id="{810453EF-472B-6940-A88C-A88100363B0F}"/>
              </a:ext>
            </a:extLst>
          </p:cNvPr>
          <p:cNvPicPr>
            <a:picLocks noChangeAspect="1"/>
          </p:cNvPicPr>
          <p:nvPr userDrawn="1"/>
        </p:nvPicPr>
        <p:blipFill>
          <a:blip>
            <a:extLst>
              <a:ext uri="{96DAC541-7B7A-43D3-8B79-37D633B846F1}">
                <asvg:svgBlip xmlns:asvg="http://schemas.microsoft.com/office/drawing/2016/SVG/main" xmlns="" r:embed="rId3"/>
              </a:ext>
            </a:extLst>
          </a:blip>
          <a:srcRect/>
          <a:stretch/>
        </p:blipFill>
        <p:spPr>
          <a:xfrm>
            <a:off x="9982275" y="5759451"/>
            <a:ext cx="2209725" cy="1098549"/>
          </a:xfrm>
          <a:prstGeom prst="rect">
            <a:avLst/>
          </a:prstGeom>
        </p:spPr>
      </p:pic>
      <p:pic>
        <p:nvPicPr>
          <p:cNvPr id="13" name="Graphic 12">
            <a:extLst>
              <a:ext uri="{FF2B5EF4-FFF2-40B4-BE49-F238E27FC236}">
                <a16:creationId xmlns:a16="http://schemas.microsoft.com/office/drawing/2014/main" id="{7051FCF3-192E-C34F-AAE3-E07D038D817C}"/>
              </a:ext>
            </a:extLst>
          </p:cNvPr>
          <p:cNvPicPr>
            <a:picLocks noChangeAspect="1"/>
          </p:cNvPicPr>
          <p:nvPr userDrawn="1"/>
        </p:nvPicPr>
        <p:blipFill>
          <a:blip>
            <a:extLst>
              <a:ext uri="{96DAC541-7B7A-43D3-8B79-37D633B846F1}">
                <asvg:svgBlip xmlns:asvg="http://schemas.microsoft.com/office/drawing/2016/SVG/main" xmlns="" r:embed="rId4"/>
              </a:ext>
            </a:extLst>
          </a:blip>
          <a:stretch>
            <a:fillRect/>
          </a:stretch>
        </p:blipFill>
        <p:spPr>
          <a:xfrm>
            <a:off x="11310248" y="6030989"/>
            <a:ext cx="529126" cy="555472"/>
          </a:xfrm>
          <a:prstGeom prst="rect">
            <a:avLst/>
          </a:prstGeom>
        </p:spPr>
      </p:pic>
      <p:sp>
        <p:nvSpPr>
          <p:cNvPr id="8" name="Text Placeholder 2">
            <a:extLst>
              <a:ext uri="{FF2B5EF4-FFF2-40B4-BE49-F238E27FC236}">
                <a16:creationId xmlns:a16="http://schemas.microsoft.com/office/drawing/2014/main" id="{9F5D8C5A-4EF8-D744-8722-B704B694B773}"/>
              </a:ext>
            </a:extLst>
          </p:cNvPr>
          <p:cNvSpPr>
            <a:spLocks noGrp="1"/>
          </p:cNvSpPr>
          <p:nvPr>
            <p:ph type="body" sz="quarter" idx="10" hasCustomPrompt="1"/>
          </p:nvPr>
        </p:nvSpPr>
        <p:spPr>
          <a:xfrm>
            <a:off x="704800" y="1804931"/>
            <a:ext cx="4441187" cy="4423024"/>
          </a:xfrm>
        </p:spPr>
        <p:txBody>
          <a:bodyPr>
            <a:normAutofit/>
          </a:bodyPr>
          <a:lstStyle>
            <a:lvl1pPr marL="0" marR="0" indent="0" algn="l" defTabSz="914400" rtl="0" eaLnBrk="1" fontAlgn="auto" latinLnBrk="0" hangingPunct="1">
              <a:lnSpc>
                <a:spcPct val="95000"/>
              </a:lnSpc>
              <a:spcBef>
                <a:spcPts val="1000"/>
              </a:spcBef>
              <a:spcAft>
                <a:spcPts val="0"/>
              </a:spcAft>
              <a:buClrTx/>
              <a:buSzTx/>
              <a:buFontTx/>
              <a:buNone/>
              <a:tabLst/>
              <a:defRPr lang="en-US" sz="2000" b="0" i="0" smtClean="0">
                <a:effectLst/>
              </a:defRPr>
            </a:lvl1pPr>
            <a:lvl2pPr marL="457200" indent="0" algn="l">
              <a:buFontTx/>
              <a:buNone/>
              <a:defRPr/>
            </a:lvl2pPr>
            <a:lvl3pPr marL="914400" indent="0" algn="l">
              <a:buFontTx/>
              <a:buNone/>
              <a:defRPr/>
            </a:lvl3pPr>
            <a:lvl4pPr marL="1371600" indent="0" algn="l">
              <a:buFontTx/>
              <a:buNone/>
              <a:defRPr/>
            </a:lvl4pPr>
            <a:lvl5pPr marL="1828800" indent="0" algn="l">
              <a:buFontTx/>
              <a:buNone/>
              <a:defRPr/>
            </a:lvl5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en-AE"/>
              <a:t>Add your </a:t>
            </a:r>
            <a:r>
              <a:rPr lang="en-US"/>
              <a:t>standard icons or infographics. Which are graphic visual representations of information, data, or knowledge intended to present information quickly and clearly. They can improve cognition by utilizing graphics to enhance the human visual system's ability to see patterns and trends.</a:t>
            </a:r>
            <a:endParaRPr lang="en-AE"/>
          </a:p>
        </p:txBody>
      </p:sp>
    </p:spTree>
    <p:extLst>
      <p:ext uri="{BB962C8B-B14F-4D97-AF65-F5344CB8AC3E}">
        <p14:creationId xmlns:p14="http://schemas.microsoft.com/office/powerpoint/2010/main" val="22719748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losing P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70C30162-B6ED-7641-A0EB-BA573B76DA6D}"/>
              </a:ext>
            </a:extLst>
          </p:cNvPr>
          <p:cNvSpPr>
            <a:spLocks noGrp="1"/>
          </p:cNvSpPr>
          <p:nvPr>
            <p:ph type="ctrTitle" hasCustomPrompt="1"/>
          </p:nvPr>
        </p:nvSpPr>
        <p:spPr>
          <a:xfrm>
            <a:off x="0" y="3258981"/>
            <a:ext cx="12192000" cy="1006475"/>
          </a:xfrm>
          <a:prstGeom prst="rect">
            <a:avLst/>
          </a:prstGeom>
        </p:spPr>
        <p:txBody>
          <a:bodyPr anchor="ctr" anchorCtr="0">
            <a:noAutofit/>
          </a:bodyPr>
          <a:lstStyle>
            <a:lvl1pPr algn="ctr">
              <a:defRPr sz="7200" b="1">
                <a:solidFill>
                  <a:schemeClr val="bg2"/>
                </a:solidFill>
                <a:latin typeface="Tahoma" panose="020B0604030504040204" pitchFamily="34" charset="0"/>
                <a:ea typeface="Tahoma" panose="020B0604030504040204" pitchFamily="34" charset="0"/>
                <a:cs typeface="Tahoma" panose="020B0604030504040204" pitchFamily="34" charset="0"/>
              </a:defRPr>
            </a:lvl1pPr>
          </a:lstStyle>
          <a:p>
            <a:r>
              <a:rPr lang="en-US"/>
              <a:t>Thank You</a:t>
            </a:r>
          </a:p>
        </p:txBody>
      </p:sp>
      <p:pic>
        <p:nvPicPr>
          <p:cNvPr id="14" name="Graphic 13">
            <a:extLst>
              <a:ext uri="{FF2B5EF4-FFF2-40B4-BE49-F238E27FC236}">
                <a16:creationId xmlns:a16="http://schemas.microsoft.com/office/drawing/2014/main" id="{C698337F-7DD8-7B42-AE9F-1C15A834B6E1}"/>
              </a:ext>
            </a:extLst>
          </p:cNvPr>
          <p:cNvPicPr>
            <a:picLocks noChangeAspect="1"/>
          </p:cNvPicPr>
          <p:nvPr userDrawn="1"/>
        </p:nvPicPr>
        <p:blipFill>
          <a:blip>
            <a:extLst>
              <a:ext uri="{96DAC541-7B7A-43D3-8B79-37D633B846F1}">
                <asvg:svgBlip xmlns:asvg="http://schemas.microsoft.com/office/drawing/2016/SVG/main" xmlns="" r:embed="rId3"/>
              </a:ext>
            </a:extLst>
          </a:blip>
          <a:stretch>
            <a:fillRect/>
          </a:stretch>
        </p:blipFill>
        <p:spPr>
          <a:xfrm>
            <a:off x="4032578" y="1380677"/>
            <a:ext cx="4126844" cy="949829"/>
          </a:xfrm>
          <a:prstGeom prst="rect">
            <a:avLst/>
          </a:prstGeom>
        </p:spPr>
      </p:pic>
      <p:grpSp>
        <p:nvGrpSpPr>
          <p:cNvPr id="3" name="Group 2">
            <a:extLst>
              <a:ext uri="{FF2B5EF4-FFF2-40B4-BE49-F238E27FC236}">
                <a16:creationId xmlns:a16="http://schemas.microsoft.com/office/drawing/2014/main" id="{A15B8D55-1D7F-D740-8AB9-DB23116BE410}"/>
              </a:ext>
            </a:extLst>
          </p:cNvPr>
          <p:cNvGrpSpPr/>
          <p:nvPr userDrawn="1"/>
        </p:nvGrpSpPr>
        <p:grpSpPr>
          <a:xfrm>
            <a:off x="1963849" y="5952904"/>
            <a:ext cx="8456037" cy="400326"/>
            <a:chOff x="1896939" y="5952904"/>
            <a:chExt cx="8456037" cy="400326"/>
          </a:xfrm>
        </p:grpSpPr>
        <p:sp>
          <p:nvSpPr>
            <p:cNvPr id="10" name="TextBox 9">
              <a:extLst>
                <a:ext uri="{FF2B5EF4-FFF2-40B4-BE49-F238E27FC236}">
                  <a16:creationId xmlns:a16="http://schemas.microsoft.com/office/drawing/2014/main" id="{7B799641-4B53-2B4F-86DB-18C35E61614E}"/>
                </a:ext>
              </a:extLst>
            </p:cNvPr>
            <p:cNvSpPr txBox="1"/>
            <p:nvPr userDrawn="1"/>
          </p:nvSpPr>
          <p:spPr>
            <a:xfrm>
              <a:off x="2188374" y="5964056"/>
              <a:ext cx="2659052" cy="353045"/>
            </a:xfrm>
            <a:prstGeom prst="rect">
              <a:avLst/>
            </a:prstGeom>
            <a:noFill/>
          </p:spPr>
          <p:txBody>
            <a:bodyPr wrap="square" rtlCol="0">
              <a:spAutoFit/>
            </a:bodyPr>
            <a:lstStyle/>
            <a:p>
              <a:pPr lvl="0">
                <a:lnSpc>
                  <a:spcPts val="2300"/>
                </a:lnSpc>
              </a:pPr>
              <a:r>
                <a:rPr lang="en-US" sz="1500" b="1">
                  <a:solidFill>
                    <a:schemeClr val="bg2"/>
                  </a:solidFill>
                  <a:latin typeface="Tahoma" panose="020B0604030504040204" pitchFamily="34" charset="0"/>
                  <a:ea typeface="Tahoma" panose="020B0604030504040204" pitchFamily="34" charset="0"/>
                  <a:cs typeface="Tahoma" panose="020B0604030504040204" pitchFamily="34" charset="0"/>
                </a:rPr>
                <a:t>800 </a:t>
              </a:r>
              <a:r>
                <a:rPr lang="en-US" sz="1500" b="1" err="1">
                  <a:solidFill>
                    <a:schemeClr val="bg2"/>
                  </a:solidFill>
                  <a:latin typeface="Tahoma" panose="020B0604030504040204" pitchFamily="34" charset="0"/>
                  <a:ea typeface="Tahoma" panose="020B0604030504040204" pitchFamily="34" charset="0"/>
                  <a:cs typeface="Tahoma" panose="020B0604030504040204" pitchFamily="34" charset="0"/>
                </a:rPr>
                <a:t>MyHCT</a:t>
              </a:r>
              <a:r>
                <a:rPr lang="en-US" sz="1500" b="1">
                  <a:solidFill>
                    <a:schemeClr val="bg2"/>
                  </a:solidFill>
                  <a:latin typeface="Tahoma" panose="020B0604030504040204" pitchFamily="34" charset="0"/>
                  <a:ea typeface="Tahoma" panose="020B0604030504040204" pitchFamily="34" charset="0"/>
                  <a:cs typeface="Tahoma" panose="020B0604030504040204" pitchFamily="34" charset="0"/>
                </a:rPr>
                <a:t> (800 69428)</a:t>
              </a:r>
            </a:p>
          </p:txBody>
        </p:sp>
        <p:pic>
          <p:nvPicPr>
            <p:cNvPr id="11" name="Graphic 10">
              <a:extLst>
                <a:ext uri="{FF2B5EF4-FFF2-40B4-BE49-F238E27FC236}">
                  <a16:creationId xmlns:a16="http://schemas.microsoft.com/office/drawing/2014/main" id="{2334549F-B791-094D-904B-02DFE9589DA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xmlns="" r:embed="rId4"/>
                </a:ext>
              </a:extLst>
            </a:blip>
            <a:srcRect/>
            <a:stretch/>
          </p:blipFill>
          <p:spPr>
            <a:xfrm>
              <a:off x="5002299" y="6003908"/>
              <a:ext cx="273124" cy="273124"/>
            </a:xfrm>
            <a:prstGeom prst="rect">
              <a:avLst/>
            </a:prstGeom>
          </p:spPr>
        </p:pic>
        <p:pic>
          <p:nvPicPr>
            <p:cNvPr id="16" name="Graphic 15">
              <a:extLst>
                <a:ext uri="{FF2B5EF4-FFF2-40B4-BE49-F238E27FC236}">
                  <a16:creationId xmlns:a16="http://schemas.microsoft.com/office/drawing/2014/main" id="{B95E0A5D-6B5A-574A-952B-5CCC36F4248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xmlns="" r:embed="rId5"/>
                </a:ext>
              </a:extLst>
            </a:blip>
            <a:srcRect/>
            <a:stretch/>
          </p:blipFill>
          <p:spPr>
            <a:xfrm>
              <a:off x="1896939" y="6065869"/>
              <a:ext cx="276096" cy="184064"/>
            </a:xfrm>
            <a:prstGeom prst="rect">
              <a:avLst/>
            </a:prstGeom>
          </p:spPr>
        </p:pic>
        <p:sp>
          <p:nvSpPr>
            <p:cNvPr id="17" name="TextBox 16">
              <a:extLst>
                <a:ext uri="{FF2B5EF4-FFF2-40B4-BE49-F238E27FC236}">
                  <a16:creationId xmlns:a16="http://schemas.microsoft.com/office/drawing/2014/main" id="{B2A00D36-E1AC-D74E-998F-CC798B2ACD8B}"/>
                </a:ext>
              </a:extLst>
            </p:cNvPr>
            <p:cNvSpPr txBox="1"/>
            <p:nvPr userDrawn="1"/>
          </p:nvSpPr>
          <p:spPr>
            <a:xfrm>
              <a:off x="5293734" y="5952904"/>
              <a:ext cx="2659052" cy="353045"/>
            </a:xfrm>
            <a:prstGeom prst="rect">
              <a:avLst/>
            </a:prstGeom>
            <a:noFill/>
          </p:spPr>
          <p:txBody>
            <a:bodyPr wrap="square" rtlCol="0">
              <a:spAutoFit/>
            </a:bodyPr>
            <a:lstStyle/>
            <a:p>
              <a:pPr lvl="0">
                <a:lnSpc>
                  <a:spcPts val="2300"/>
                </a:lnSpc>
              </a:pPr>
              <a:r>
                <a:rPr lang="en-US" sz="1500" b="1" err="1">
                  <a:solidFill>
                    <a:schemeClr val="bg2"/>
                  </a:solidFill>
                  <a:latin typeface="Tahoma" panose="020B0604030504040204" pitchFamily="34" charset="0"/>
                  <a:ea typeface="Tahoma" panose="020B0604030504040204" pitchFamily="34" charset="0"/>
                  <a:cs typeface="Tahoma" panose="020B0604030504040204" pitchFamily="34" charset="0"/>
                </a:rPr>
                <a:t>www.hct.ac.ae</a:t>
              </a:r>
              <a:endParaRPr lang="en-US" sz="1500" b="1">
                <a:solidFill>
                  <a:schemeClr val="bg2"/>
                </a:solidFill>
                <a:latin typeface="Tahoma" panose="020B0604030504040204" pitchFamily="34" charset="0"/>
                <a:ea typeface="Tahoma" panose="020B0604030504040204" pitchFamily="34" charset="0"/>
                <a:cs typeface="Tahoma" panose="020B0604030504040204" pitchFamily="34" charset="0"/>
              </a:endParaRPr>
            </a:p>
          </p:txBody>
        </p:sp>
        <p:pic>
          <p:nvPicPr>
            <p:cNvPr id="13" name="Graphic 12">
              <a:extLst>
                <a:ext uri="{FF2B5EF4-FFF2-40B4-BE49-F238E27FC236}">
                  <a16:creationId xmlns:a16="http://schemas.microsoft.com/office/drawing/2014/main" id="{BCEE45B5-14AA-FB49-B39F-4EEAEEE0834E}"/>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xmlns="" r:embed="rId6"/>
                </a:ext>
              </a:extLst>
            </a:blip>
            <a:stretch>
              <a:fillRect/>
            </a:stretch>
          </p:blipFill>
          <p:spPr>
            <a:xfrm>
              <a:off x="7191430" y="5976856"/>
              <a:ext cx="3161546" cy="376374"/>
            </a:xfrm>
            <a:prstGeom prst="rect">
              <a:avLst/>
            </a:prstGeom>
          </p:spPr>
        </p:pic>
      </p:grpSp>
    </p:spTree>
    <p:extLst>
      <p:ext uri="{BB962C8B-B14F-4D97-AF65-F5344CB8AC3E}">
        <p14:creationId xmlns:p14="http://schemas.microsoft.com/office/powerpoint/2010/main" val="948808612"/>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252A1A-53F2-9E44-9217-EF55FD212434}"/>
              </a:ext>
            </a:extLst>
          </p:cNvPr>
          <p:cNvSpPr>
            <a:spLocks noGrp="1"/>
          </p:cNvSpPr>
          <p:nvPr>
            <p:ph type="title"/>
          </p:nvPr>
        </p:nvSpPr>
        <p:spPr>
          <a:xfrm>
            <a:off x="356840" y="365125"/>
            <a:ext cx="11471616" cy="1190627"/>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EEBABE-8E1F-FD45-BACB-85DFCD7888BA}"/>
              </a:ext>
            </a:extLst>
          </p:cNvPr>
          <p:cNvSpPr>
            <a:spLocks noGrp="1"/>
          </p:cNvSpPr>
          <p:nvPr>
            <p:ph type="body" idx="1"/>
          </p:nvPr>
        </p:nvSpPr>
        <p:spPr>
          <a:xfrm>
            <a:off x="356839" y="1825625"/>
            <a:ext cx="11471617"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22EEEB-82E9-5B41-A455-E99055A3997A}"/>
              </a:ext>
            </a:extLst>
          </p:cNvPr>
          <p:cNvSpPr>
            <a:spLocks noGrp="1"/>
          </p:cNvSpPr>
          <p:nvPr>
            <p:ph type="dt" sz="half" idx="2"/>
          </p:nvPr>
        </p:nvSpPr>
        <p:spPr>
          <a:xfrm>
            <a:off x="1430790" y="6356350"/>
            <a:ext cx="1633538" cy="365125"/>
          </a:xfrm>
          <a:prstGeom prst="rect">
            <a:avLst/>
          </a:prstGeom>
        </p:spPr>
        <p:txBody>
          <a:bodyPr vert="horz" lIns="91440" tIns="45720" rIns="91440" bIns="45720" rtlCol="0" anchor="ctr"/>
          <a:lstStyle>
            <a:lvl1pPr algn="l">
              <a:defRPr sz="1200" b="0" i="0">
                <a:solidFill>
                  <a:schemeClr val="tx2"/>
                </a:solidFill>
                <a:latin typeface="Tahoma" panose="020B0604030504040204" pitchFamily="34" charset="0"/>
                <a:ea typeface="Tahoma" panose="020B0604030504040204" pitchFamily="34" charset="0"/>
                <a:cs typeface="Tahoma" panose="020B0604030504040204" pitchFamily="34" charset="0"/>
              </a:defRPr>
            </a:lvl1pPr>
          </a:lstStyle>
          <a:p>
            <a:fld id="{4FFDA522-F4CE-F942-9609-C40C1E1F3554}" type="datetime1">
              <a:rPr lang="en-US" smtClean="0"/>
              <a:t>5/13/2026</a:t>
            </a:fld>
            <a:endParaRPr lang="en-US"/>
          </a:p>
        </p:txBody>
      </p:sp>
      <p:sp>
        <p:nvSpPr>
          <p:cNvPr id="5" name="Footer Placeholder 4">
            <a:extLst>
              <a:ext uri="{FF2B5EF4-FFF2-40B4-BE49-F238E27FC236}">
                <a16:creationId xmlns:a16="http://schemas.microsoft.com/office/drawing/2014/main" id="{CEF76DFF-6753-9D4F-95EE-BAA691F44C16}"/>
              </a:ext>
            </a:extLst>
          </p:cNvPr>
          <p:cNvSpPr>
            <a:spLocks noGrp="1"/>
          </p:cNvSpPr>
          <p:nvPr>
            <p:ph type="ftr" sz="quarter" idx="3"/>
          </p:nvPr>
        </p:nvSpPr>
        <p:spPr>
          <a:xfrm>
            <a:off x="3319119" y="6356350"/>
            <a:ext cx="5148000" cy="365125"/>
          </a:xfrm>
          <a:prstGeom prst="rect">
            <a:avLst/>
          </a:prstGeom>
        </p:spPr>
        <p:txBody>
          <a:bodyPr vert="horz" lIns="91440" tIns="45720" rIns="91440" bIns="45720" rtlCol="0" anchor="ctr"/>
          <a:lstStyle>
            <a:lvl1pPr algn="l">
              <a:defRPr sz="1200" b="0" i="0">
                <a:solidFill>
                  <a:schemeClr val="tx2"/>
                </a:solidFill>
                <a:latin typeface="Tahoma" panose="020B0604030504040204" pitchFamily="34" charset="0"/>
                <a:ea typeface="Tahoma" panose="020B0604030504040204" pitchFamily="34" charset="0"/>
                <a:cs typeface="Tahoma" panose="020B0604030504040204" pitchFamily="34" charset="0"/>
              </a:defRPr>
            </a:lvl1pPr>
          </a:lstStyle>
          <a:p>
            <a:r>
              <a:rPr lang="en-US"/>
              <a:t>Footer goes here</a:t>
            </a:r>
          </a:p>
        </p:txBody>
      </p:sp>
      <p:sp>
        <p:nvSpPr>
          <p:cNvPr id="6" name="Slide Number Placeholder 5">
            <a:extLst>
              <a:ext uri="{FF2B5EF4-FFF2-40B4-BE49-F238E27FC236}">
                <a16:creationId xmlns:a16="http://schemas.microsoft.com/office/drawing/2014/main" id="{86E950D9-1D75-D24F-9D65-E9F8AAA0ADE9}"/>
              </a:ext>
            </a:extLst>
          </p:cNvPr>
          <p:cNvSpPr>
            <a:spLocks noGrp="1"/>
          </p:cNvSpPr>
          <p:nvPr>
            <p:ph type="sldNum" sz="quarter" idx="4"/>
          </p:nvPr>
        </p:nvSpPr>
        <p:spPr>
          <a:xfrm>
            <a:off x="356839" y="6356350"/>
            <a:ext cx="814388" cy="365125"/>
          </a:xfrm>
          <a:prstGeom prst="rect">
            <a:avLst/>
          </a:prstGeom>
        </p:spPr>
        <p:txBody>
          <a:bodyPr vert="horz" lIns="91440" tIns="45720" rIns="91440" bIns="45720" rtlCol="0" anchor="ctr"/>
          <a:lstStyle>
            <a:lvl1pPr algn="l">
              <a:defRPr sz="1200" b="0" i="0">
                <a:solidFill>
                  <a:schemeClr val="tx2"/>
                </a:solidFill>
                <a:latin typeface="Tahoma" panose="020B0604030504040204" pitchFamily="34" charset="0"/>
                <a:ea typeface="Tahoma" panose="020B0604030504040204" pitchFamily="34" charset="0"/>
                <a:cs typeface="Tahoma" panose="020B0604030504040204" pitchFamily="34" charset="0"/>
              </a:defRPr>
            </a:lvl1pPr>
          </a:lstStyle>
          <a:p>
            <a:fld id="{A91C39B3-71BA-C04A-8F90-02179B3D98C0}" type="slidenum">
              <a:rPr lang="en-US" smtClean="0"/>
              <a:pPr/>
              <a:t>‹#›</a:t>
            </a:fld>
            <a:endParaRPr lang="en-US"/>
          </a:p>
        </p:txBody>
      </p:sp>
      <p:pic>
        <p:nvPicPr>
          <p:cNvPr id="8" name="Picture 7">
            <a:extLst>
              <a:ext uri="{FF2B5EF4-FFF2-40B4-BE49-F238E27FC236}">
                <a16:creationId xmlns:a16="http://schemas.microsoft.com/office/drawing/2014/main" id="{7FAA968D-3E7E-6787-F0E5-FD50B7DD0955}"/>
              </a:ext>
            </a:extLst>
          </p:cNvPr>
          <p:cNvPicPr>
            <a:picLocks noChangeAspect="1"/>
          </p:cNvPicPr>
          <p:nvPr userDrawn="1"/>
        </p:nvPicPr>
        <p:blipFill>
          <a:blip r:embed="rId11"/>
          <a:stretch>
            <a:fillRect/>
          </a:stretch>
        </p:blipFill>
        <p:spPr>
          <a:xfrm>
            <a:off x="-1884218" y="-104461"/>
            <a:ext cx="1810327" cy="3036593"/>
          </a:xfrm>
          <a:prstGeom prst="rect">
            <a:avLst/>
          </a:prstGeom>
        </p:spPr>
      </p:pic>
    </p:spTree>
    <p:extLst>
      <p:ext uri="{BB962C8B-B14F-4D97-AF65-F5344CB8AC3E}">
        <p14:creationId xmlns:p14="http://schemas.microsoft.com/office/powerpoint/2010/main" val="2467174432"/>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Lst>
  <p:hf hdr="0"/>
  <p:txStyles>
    <p:titleStyle>
      <a:lvl1pPr algn="l" defTabSz="914400" rtl="0" eaLnBrk="1" latinLnBrk="0" hangingPunct="1">
        <a:lnSpc>
          <a:spcPct val="90000"/>
        </a:lnSpc>
        <a:spcBef>
          <a:spcPct val="0"/>
        </a:spcBef>
        <a:buNone/>
        <a:defRPr sz="4400" b="1" kern="1200">
          <a:solidFill>
            <a:schemeClr val="tx2"/>
          </a:solidFill>
          <a:latin typeface="Tahoma" panose="020B0604030504040204" pitchFamily="34" charset="0"/>
          <a:ea typeface="Tahoma" panose="020B0604030504040204" pitchFamily="34" charset="0"/>
          <a:cs typeface="Tahoma" panose="020B060403050404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6.xml"/><Relationship Id="rId4" Type="http://schemas.openxmlformats.org/officeDocument/2006/relationships/chart" Target="../charts/chart4.xml"/></Relationships>
</file>

<file path=ppt/slides/_rels/slide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Layout" Target="../slideLayouts/slideLayout6.xml"/><Relationship Id="rId4" Type="http://schemas.openxmlformats.org/officeDocument/2006/relationships/chart" Target="../charts/chart13.xml"/></Relationships>
</file>

<file path=ppt/slides/_rels/slide12.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chart" Target="../charts/chart14.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chart" Target="../charts/chart16.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chart" Target="../charts/chart17.xml"/><Relationship Id="rId1" Type="http://schemas.openxmlformats.org/officeDocument/2006/relationships/slideLayout" Target="../slideLayouts/slideLayout6.xml"/><Relationship Id="rId4" Type="http://schemas.openxmlformats.org/officeDocument/2006/relationships/chart" Target="../charts/chart19.xml"/></Relationships>
</file>

<file path=ppt/slides/_rels/slide15.xml.rels><?xml version="1.0" encoding="UTF-8" standalone="yes"?>
<Relationships xmlns="http://schemas.openxmlformats.org/package/2006/relationships"><Relationship Id="rId3" Type="http://schemas.openxmlformats.org/officeDocument/2006/relationships/chart" Target="../charts/chart21.xml"/><Relationship Id="rId2" Type="http://schemas.openxmlformats.org/officeDocument/2006/relationships/chart" Target="../charts/chart20.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chart" Target="../charts/chart23.xml"/><Relationship Id="rId2" Type="http://schemas.openxmlformats.org/officeDocument/2006/relationships/chart" Target="../charts/chart22.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chart" Target="../charts/chart25.xml"/><Relationship Id="rId2" Type="http://schemas.openxmlformats.org/officeDocument/2006/relationships/chart" Target="../charts/chart24.xml"/><Relationship Id="rId1" Type="http://schemas.openxmlformats.org/officeDocument/2006/relationships/slideLayout" Target="../slideLayouts/slideLayout6.xml"/><Relationship Id="rId4" Type="http://schemas.openxmlformats.org/officeDocument/2006/relationships/chart" Target="../charts/chart26.xml"/></Relationships>
</file>

<file path=ppt/slides/_rels/slide18.xml.rels><?xml version="1.0" encoding="UTF-8" standalone="yes"?>
<Relationships xmlns="http://schemas.openxmlformats.org/package/2006/relationships"><Relationship Id="rId3" Type="http://schemas.openxmlformats.org/officeDocument/2006/relationships/chart" Target="../charts/chart28.xml"/><Relationship Id="rId2" Type="http://schemas.openxmlformats.org/officeDocument/2006/relationships/chart" Target="../charts/chart2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chart" Target="../charts/chart2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8BD85ED-066A-F1BC-38E5-F4C8C64E1178}"/>
              </a:ext>
            </a:extLst>
          </p:cNvPr>
          <p:cNvSpPr>
            <a:spLocks noGrp="1"/>
          </p:cNvSpPr>
          <p:nvPr>
            <p:ph type="dt" sz="half" idx="10"/>
          </p:nvPr>
        </p:nvSpPr>
        <p:spPr/>
        <p:txBody>
          <a:bodyPr/>
          <a:lstStyle/>
          <a:p>
            <a:fld id="{9FB76777-9218-4188-BD26-CF1E318BE795}" type="datetime2">
              <a:rPr lang="en-US" smtClean="0"/>
              <a:pPr/>
              <a:t>Wednesday, May 13, 2026</a:t>
            </a:fld>
            <a:endParaRPr lang="en-AE" dirty="0"/>
          </a:p>
        </p:txBody>
      </p:sp>
      <p:sp>
        <p:nvSpPr>
          <p:cNvPr id="3" name="Subtitle 2">
            <a:extLst>
              <a:ext uri="{FF2B5EF4-FFF2-40B4-BE49-F238E27FC236}">
                <a16:creationId xmlns:a16="http://schemas.microsoft.com/office/drawing/2014/main" id="{03E5333C-65B7-CE2E-504F-859AF9D7ED07}"/>
              </a:ext>
            </a:extLst>
          </p:cNvPr>
          <p:cNvSpPr>
            <a:spLocks noGrp="1"/>
          </p:cNvSpPr>
          <p:nvPr>
            <p:ph type="subTitle" idx="1"/>
          </p:nvPr>
        </p:nvSpPr>
        <p:spPr/>
        <p:txBody>
          <a:bodyPr/>
          <a:lstStyle/>
          <a:p>
            <a:r>
              <a:rPr lang="en-US" dirty="0"/>
              <a:t>Baniyas Campus A &amp; Campus B</a:t>
            </a:r>
          </a:p>
        </p:txBody>
      </p:sp>
      <p:sp>
        <p:nvSpPr>
          <p:cNvPr id="4" name="Title 3">
            <a:extLst>
              <a:ext uri="{FF2B5EF4-FFF2-40B4-BE49-F238E27FC236}">
                <a16:creationId xmlns:a16="http://schemas.microsoft.com/office/drawing/2014/main" id="{9AC55BC0-EFDB-4FAE-63AF-800DC4706298}"/>
              </a:ext>
            </a:extLst>
          </p:cNvPr>
          <p:cNvSpPr>
            <a:spLocks noGrp="1"/>
          </p:cNvSpPr>
          <p:nvPr>
            <p:ph type="title"/>
          </p:nvPr>
        </p:nvSpPr>
        <p:spPr/>
        <p:txBody>
          <a:bodyPr/>
          <a:lstStyle/>
          <a:p>
            <a:r>
              <a:rPr lang="en-US" dirty="0"/>
              <a:t>EHS Committee Meeting</a:t>
            </a:r>
          </a:p>
        </p:txBody>
      </p:sp>
    </p:spTree>
    <p:extLst>
      <p:ext uri="{BB962C8B-B14F-4D97-AF65-F5344CB8AC3E}">
        <p14:creationId xmlns:p14="http://schemas.microsoft.com/office/powerpoint/2010/main" val="25741329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E0101-3D17-4E82-41CA-EF4FE7E88453}"/>
            </a:ext>
          </a:extLst>
        </p:cNvPr>
        <p:cNvGrpSpPr/>
        <p:nvPr/>
      </p:nvGrpSpPr>
      <p:grpSpPr>
        <a:xfrm>
          <a:off x="0" y="0"/>
          <a:ext cx="0" cy="0"/>
          <a:chOff x="0" y="0"/>
          <a:chExt cx="0" cy="0"/>
        </a:xfrm>
      </p:grpSpPr>
      <p:sp>
        <p:nvSpPr>
          <p:cNvPr id="24" name="Title 1">
            <a:extLst>
              <a:ext uri="{FF2B5EF4-FFF2-40B4-BE49-F238E27FC236}">
                <a16:creationId xmlns:a16="http://schemas.microsoft.com/office/drawing/2014/main" id="{88FF79D9-1B51-6633-5EF3-455E1F0B669D}"/>
              </a:ext>
            </a:extLst>
          </p:cNvPr>
          <p:cNvSpPr txBox="1">
            <a:spLocks/>
          </p:cNvSpPr>
          <p:nvPr/>
        </p:nvSpPr>
        <p:spPr>
          <a:xfrm>
            <a:off x="833385" y="472509"/>
            <a:ext cx="10150301" cy="557061"/>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Agenda</a:t>
            </a:r>
          </a:p>
        </p:txBody>
      </p:sp>
      <p:sp>
        <p:nvSpPr>
          <p:cNvPr id="62" name="TextBox 61">
            <a:extLst>
              <a:ext uri="{FF2B5EF4-FFF2-40B4-BE49-F238E27FC236}">
                <a16:creationId xmlns:a16="http://schemas.microsoft.com/office/drawing/2014/main" id="{4E471528-9CBB-6568-41E6-D2AF7AA2740A}"/>
              </a:ext>
            </a:extLst>
          </p:cNvPr>
          <p:cNvSpPr txBox="1"/>
          <p:nvPr/>
        </p:nvSpPr>
        <p:spPr>
          <a:xfrm>
            <a:off x="990429" y="1875490"/>
            <a:ext cx="9381543" cy="4184543"/>
          </a:xfrm>
          <a:prstGeom prst="rect">
            <a:avLst/>
          </a:prstGeom>
          <a:noFill/>
        </p:spPr>
        <p:txBody>
          <a:bodyPr wrap="square" rtlCol="0">
            <a:spAutoFit/>
          </a:bodyPr>
          <a:lstStyle/>
          <a:p>
            <a:pPr marL="457200" indent="-457200">
              <a:lnSpc>
                <a:spcPct val="150000"/>
              </a:lnSpc>
              <a:buFont typeface="+mj-lt"/>
              <a:buAutoNum type="arabicPeriod"/>
            </a:pPr>
            <a:r>
              <a:rPr lang="en-US" sz="2000" dirty="0">
                <a:latin typeface="Tahoma" panose="020B0604030504040204" pitchFamily="34" charset="0"/>
                <a:ea typeface="Tahoma" panose="020B0604030504040204" pitchFamily="34" charset="0"/>
                <a:cs typeface="Tahoma" panose="020B0604030504040204" pitchFamily="34" charset="0"/>
              </a:rPr>
              <a:t>Opening &amp; Introductions</a:t>
            </a:r>
          </a:p>
          <a:p>
            <a:pPr marL="457200" indent="-457200">
              <a:lnSpc>
                <a:spcPct val="150000"/>
              </a:lnSpc>
              <a:buFont typeface="+mj-lt"/>
              <a:buAutoNum type="arabicPeriod"/>
            </a:pPr>
            <a:r>
              <a:rPr lang="en-US" sz="2000" dirty="0">
                <a:latin typeface="Tahoma" panose="020B0604030504040204" pitchFamily="34" charset="0"/>
                <a:ea typeface="Tahoma" panose="020B0604030504040204" pitchFamily="34" charset="0"/>
                <a:cs typeface="Tahoma" panose="020B0604030504040204" pitchFamily="34" charset="0"/>
              </a:rPr>
              <a:t>Review of Previous Actions &amp; Minutes</a:t>
            </a:r>
          </a:p>
          <a:p>
            <a:pPr marL="457200" indent="-457200">
              <a:lnSpc>
                <a:spcPct val="150000"/>
              </a:lnSpc>
              <a:buFont typeface="+mj-lt"/>
              <a:buAutoNum type="arabicPeriod"/>
            </a:pPr>
            <a:r>
              <a:rPr lang="en-US" sz="2000" dirty="0">
                <a:latin typeface="Tahoma" panose="020B0604030504040204" pitchFamily="34" charset="0"/>
                <a:ea typeface="Tahoma" panose="020B0604030504040204" pitchFamily="34" charset="0"/>
                <a:cs typeface="Tahoma" panose="020B0604030504040204" pitchFamily="34" charset="0"/>
              </a:rPr>
              <a:t>EHS Performance Overview </a:t>
            </a:r>
          </a:p>
          <a:p>
            <a:pPr marL="457200" indent="-457200">
              <a:lnSpc>
                <a:spcPct val="150000"/>
              </a:lnSpc>
              <a:buFont typeface="+mj-lt"/>
              <a:buAutoNum type="arabicPeriod"/>
            </a:pPr>
            <a:r>
              <a:rPr lang="en-US" sz="2000" dirty="0">
                <a:latin typeface="Tahoma" panose="020B0604030504040204" pitchFamily="34" charset="0"/>
                <a:ea typeface="Tahoma" panose="020B0604030504040204" pitchFamily="34" charset="0"/>
                <a:cs typeface="Tahoma" panose="020B0604030504040204" pitchFamily="34" charset="0"/>
              </a:rPr>
              <a:t>EHS KPI Escalations</a:t>
            </a:r>
          </a:p>
          <a:p>
            <a:pPr marL="457200" indent="-457200">
              <a:lnSpc>
                <a:spcPct val="150000"/>
              </a:lnSpc>
              <a:buFont typeface="+mj-lt"/>
              <a:buAutoNum type="arabicPeriod"/>
            </a:pPr>
            <a:r>
              <a:rPr lang="en-US" sz="2000" dirty="0">
                <a:latin typeface="Tahoma" panose="020B0604030504040204" pitchFamily="34" charset="0"/>
                <a:ea typeface="Tahoma" panose="020B0604030504040204" pitchFamily="34" charset="0"/>
                <a:cs typeface="Tahoma" panose="020B0604030504040204" pitchFamily="34" charset="0"/>
              </a:rPr>
              <a:t>Objectives &amp; Targets</a:t>
            </a:r>
          </a:p>
          <a:p>
            <a:pPr marL="457200" indent="-457200">
              <a:lnSpc>
                <a:spcPct val="150000"/>
              </a:lnSpc>
              <a:buFont typeface="+mj-lt"/>
              <a:buAutoNum type="arabicPeriod"/>
            </a:pPr>
            <a:r>
              <a:rPr lang="en-US" sz="2000" dirty="0">
                <a:latin typeface="Tahoma" panose="020B0604030504040204" pitchFamily="34" charset="0"/>
                <a:ea typeface="Tahoma" panose="020B0604030504040204" pitchFamily="34" charset="0"/>
                <a:cs typeface="Tahoma" panose="020B0604030504040204" pitchFamily="34" charset="0"/>
              </a:rPr>
              <a:t>Waste Management &amp; Environmental Programs</a:t>
            </a:r>
          </a:p>
          <a:p>
            <a:pPr marL="457200" indent="-457200">
              <a:lnSpc>
                <a:spcPct val="150000"/>
              </a:lnSpc>
              <a:buFont typeface="+mj-lt"/>
              <a:buAutoNum type="arabicPeriod"/>
            </a:pPr>
            <a:r>
              <a:rPr lang="en-US" sz="2000" dirty="0">
                <a:latin typeface="Tahoma" panose="020B0604030504040204" pitchFamily="34" charset="0"/>
                <a:ea typeface="Tahoma" panose="020B0604030504040204" pitchFamily="34" charset="0"/>
                <a:cs typeface="Tahoma" panose="020B0604030504040204" pitchFamily="34" charset="0"/>
              </a:rPr>
              <a:t>Any Other Agenda Items</a:t>
            </a:r>
          </a:p>
          <a:p>
            <a:pPr marL="457200" indent="-457200">
              <a:lnSpc>
                <a:spcPct val="150000"/>
              </a:lnSpc>
              <a:buFont typeface="+mj-lt"/>
              <a:buAutoNum type="arabicPeriod"/>
            </a:pPr>
            <a:r>
              <a:rPr lang="en-US" sz="2000" dirty="0">
                <a:latin typeface="Tahoma" panose="020B0604030504040204" pitchFamily="34" charset="0"/>
                <a:ea typeface="Tahoma" panose="020B0604030504040204" pitchFamily="34" charset="0"/>
                <a:cs typeface="Tahoma" panose="020B0604030504040204" pitchFamily="34" charset="0"/>
              </a:rPr>
              <a:t>Committee Discussion</a:t>
            </a:r>
          </a:p>
          <a:p>
            <a:pPr marL="457200" indent="-457200">
              <a:lnSpc>
                <a:spcPct val="150000"/>
              </a:lnSpc>
              <a:buFont typeface="+mj-lt"/>
              <a:buAutoNum type="arabicPeriod"/>
            </a:pPr>
            <a:r>
              <a:rPr lang="en-US" sz="2000" dirty="0">
                <a:latin typeface="Tahoma" panose="020B0604030504040204" pitchFamily="34" charset="0"/>
                <a:ea typeface="Tahoma" panose="020B0604030504040204" pitchFamily="34" charset="0"/>
                <a:cs typeface="Tahoma" panose="020B0604030504040204" pitchFamily="34" charset="0"/>
              </a:rPr>
              <a:t>Meeting Closure</a:t>
            </a:r>
          </a:p>
        </p:txBody>
      </p:sp>
    </p:spTree>
    <p:extLst>
      <p:ext uri="{BB962C8B-B14F-4D97-AF65-F5344CB8AC3E}">
        <p14:creationId xmlns:p14="http://schemas.microsoft.com/office/powerpoint/2010/main" val="24819655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0BB0E-E01E-30AB-DD53-E48E281704AB}"/>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4288F560-7E1E-B4C8-5167-1CB8B71686F6}"/>
              </a:ext>
            </a:extLst>
          </p:cNvPr>
          <p:cNvGraphicFramePr>
            <a:graphicFrameLocks noGrp="1"/>
          </p:cNvGraphicFramePr>
          <p:nvPr/>
        </p:nvGraphicFramePr>
        <p:xfrm>
          <a:off x="861960" y="1324706"/>
          <a:ext cx="5234040" cy="2760163"/>
        </p:xfrm>
        <a:graphic>
          <a:graphicData uri="http://schemas.openxmlformats.org/drawingml/2006/table">
            <a:tbl>
              <a:tblPr firstRow="1" bandRow="1">
                <a:tableStyleId>{5C22544A-7EE6-4342-B048-85BDC9FD1C3A}</a:tableStyleId>
              </a:tblPr>
              <a:tblGrid>
                <a:gridCol w="1655097">
                  <a:extLst>
                    <a:ext uri="{9D8B030D-6E8A-4147-A177-3AD203B41FA5}">
                      <a16:colId xmlns:a16="http://schemas.microsoft.com/office/drawing/2014/main" val="3007617848"/>
                    </a:ext>
                  </a:extLst>
                </a:gridCol>
                <a:gridCol w="3578943">
                  <a:extLst>
                    <a:ext uri="{9D8B030D-6E8A-4147-A177-3AD203B41FA5}">
                      <a16:colId xmlns:a16="http://schemas.microsoft.com/office/drawing/2014/main" val="862515432"/>
                    </a:ext>
                  </a:extLst>
                </a:gridCol>
              </a:tblGrid>
              <a:tr h="361244">
                <a:tc gridSpan="2">
                  <a:txBody>
                    <a:bodyPr/>
                    <a:lstStyle/>
                    <a:p>
                      <a:r>
                        <a:rPr lang="en-US" sz="1600" dirty="0">
                          <a:solidFill>
                            <a:schemeClr val="bg2"/>
                          </a:solidFill>
                          <a:latin typeface="Tahoma" panose="020B0604030504040204" pitchFamily="34" charset="0"/>
                          <a:ea typeface="Tahoma" panose="020B0604030504040204" pitchFamily="34" charset="0"/>
                          <a:cs typeface="Tahoma" panose="020B0604030504040204" pitchFamily="34" charset="0"/>
                        </a:rPr>
                        <a:t>Discussion Points:</a:t>
                      </a:r>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A3E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2814244739"/>
                  </a:ext>
                </a:extLst>
              </a:tr>
              <a:tr h="361244">
                <a:tc>
                  <a:txBody>
                    <a:bodyPr/>
                    <a:lstStyle/>
                    <a:p>
                      <a:r>
                        <a:rPr lang="en-US" sz="1400" dirty="0">
                          <a:solidFill>
                            <a:schemeClr val="bg2"/>
                          </a:solidFill>
                          <a:latin typeface="Tahoma" panose="020B0604030504040204" pitchFamily="34" charset="0"/>
                          <a:ea typeface="Tahoma" panose="020B0604030504040204" pitchFamily="34" charset="0"/>
                          <a:cs typeface="Tahoma" panose="020B0604030504040204" pitchFamily="34" charset="0"/>
                        </a:rPr>
                        <a:t>Title</a:t>
                      </a:r>
                      <a:endParaRPr lang="en-US" dirty="0">
                        <a:solidFill>
                          <a:schemeClr val="bg2"/>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249C"/>
                      </a:solidFill>
                      <a:prstDash val="solid"/>
                      <a:round/>
                      <a:headEnd type="none" w="med" len="med"/>
                      <a:tailEnd type="none" w="med" len="med"/>
                    </a:lnL>
                    <a:lnR w="12700" cap="flat" cmpd="sng" algn="ctr">
                      <a:solidFill>
                        <a:srgbClr val="00A3E1"/>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solidFill>
                      <a:srgbClr val="00A3E1"/>
                    </a:solidFill>
                  </a:tcPr>
                </a:tc>
                <a:tc>
                  <a:txBody>
                    <a:bodyPr/>
                    <a:lstStyle/>
                    <a:p>
                      <a:r>
                        <a:rPr lang="en-US" sz="1400" dirty="0">
                          <a:solidFill>
                            <a:schemeClr val="bg2"/>
                          </a:solidFill>
                          <a:latin typeface="Tahoma" panose="020B0604030504040204" pitchFamily="34" charset="0"/>
                          <a:ea typeface="Tahoma" panose="020B0604030504040204" pitchFamily="34" charset="0"/>
                          <a:cs typeface="Tahoma" panose="020B0604030504040204" pitchFamily="34" charset="0"/>
                        </a:rPr>
                        <a:t>Key discussion points</a:t>
                      </a:r>
                    </a:p>
                  </a:txBody>
                  <a:tcPr>
                    <a:lnL w="12700" cap="flat" cmpd="sng" algn="ctr">
                      <a:solidFill>
                        <a:srgbClr val="00A3E1"/>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solidFill>
                      <a:srgbClr val="00A3E1"/>
                    </a:solidFill>
                  </a:tcPr>
                </a:tc>
                <a:extLst>
                  <a:ext uri="{0D108BD9-81ED-4DB2-BD59-A6C34878D82A}">
                    <a16:rowId xmlns:a16="http://schemas.microsoft.com/office/drawing/2014/main" val="2213682750"/>
                  </a:ext>
                </a:extLst>
              </a:tr>
              <a:tr h="407535">
                <a:tc>
                  <a:txBody>
                    <a:bodyPr/>
                    <a:lstStyle/>
                    <a:p>
                      <a:endParaRPr lang="en-US" dirty="0">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249C"/>
                      </a:solidFill>
                      <a:prstDash val="solid"/>
                      <a:round/>
                      <a:headEnd type="none" w="med" len="med"/>
                      <a:tailEnd type="none" w="med" len="med"/>
                    </a:lnL>
                    <a:lnR w="12700" cap="flat" cmpd="sng" algn="ctr">
                      <a:solidFill>
                        <a:srgbClr val="00A3E1"/>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tcPr>
                </a:tc>
                <a:tc>
                  <a:txBody>
                    <a:bodyPr/>
                    <a:lstStyle/>
                    <a:p>
                      <a:endParaRPr lang="en-US" dirty="0">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A3E1"/>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tcPr>
                </a:tc>
                <a:extLst>
                  <a:ext uri="{0D108BD9-81ED-4DB2-BD59-A6C34878D82A}">
                    <a16:rowId xmlns:a16="http://schemas.microsoft.com/office/drawing/2014/main" val="2937728267"/>
                  </a:ext>
                </a:extLst>
              </a:tr>
              <a:tr h="407535">
                <a:tc>
                  <a:txBody>
                    <a:bodyPr/>
                    <a:lstStyle/>
                    <a:p>
                      <a:endParaRPr lang="en-US" dirty="0">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249C"/>
                      </a:solidFill>
                      <a:prstDash val="solid"/>
                      <a:round/>
                      <a:headEnd type="none" w="med" len="med"/>
                      <a:tailEnd type="none" w="med" len="med"/>
                    </a:lnL>
                    <a:lnR w="12700" cap="flat" cmpd="sng" algn="ctr">
                      <a:solidFill>
                        <a:srgbClr val="00A3E1"/>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tcPr>
                </a:tc>
                <a:tc>
                  <a:txBody>
                    <a:bodyPr/>
                    <a:lstStyle/>
                    <a:p>
                      <a:endParaRPr lang="en-US" dirty="0">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A3E1"/>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tcPr>
                </a:tc>
                <a:extLst>
                  <a:ext uri="{0D108BD9-81ED-4DB2-BD59-A6C34878D82A}">
                    <a16:rowId xmlns:a16="http://schemas.microsoft.com/office/drawing/2014/main" val="423199890"/>
                  </a:ext>
                </a:extLst>
              </a:tr>
              <a:tr h="407535">
                <a:tc>
                  <a:txBody>
                    <a:bodyPr/>
                    <a:lstStyle/>
                    <a:p>
                      <a:endParaRPr lang="en-US">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249C"/>
                      </a:solidFill>
                      <a:prstDash val="solid"/>
                      <a:round/>
                      <a:headEnd type="none" w="med" len="med"/>
                      <a:tailEnd type="none" w="med" len="med"/>
                    </a:lnL>
                    <a:lnR w="12700" cap="flat" cmpd="sng" algn="ctr">
                      <a:solidFill>
                        <a:srgbClr val="00A3E1"/>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tcPr>
                </a:tc>
                <a:tc>
                  <a:txBody>
                    <a:bodyPr/>
                    <a:lstStyle/>
                    <a:p>
                      <a:endParaRPr lang="en-US" dirty="0">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A3E1"/>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tcPr>
                </a:tc>
                <a:extLst>
                  <a:ext uri="{0D108BD9-81ED-4DB2-BD59-A6C34878D82A}">
                    <a16:rowId xmlns:a16="http://schemas.microsoft.com/office/drawing/2014/main" val="3894612084"/>
                  </a:ext>
                </a:extLst>
              </a:tr>
              <a:tr h="407535">
                <a:tc>
                  <a:txBody>
                    <a:bodyPr/>
                    <a:lstStyle/>
                    <a:p>
                      <a:endParaRPr lang="en-US">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249C"/>
                      </a:solidFill>
                      <a:prstDash val="solid"/>
                      <a:round/>
                      <a:headEnd type="none" w="med" len="med"/>
                      <a:tailEnd type="none" w="med" len="med"/>
                    </a:lnL>
                    <a:lnR w="12700" cap="flat" cmpd="sng" algn="ctr">
                      <a:solidFill>
                        <a:srgbClr val="00A3E1"/>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tcPr>
                </a:tc>
                <a:tc>
                  <a:txBody>
                    <a:bodyPr/>
                    <a:lstStyle/>
                    <a:p>
                      <a:endParaRPr lang="en-US" dirty="0">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A3E1"/>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tcPr>
                </a:tc>
                <a:extLst>
                  <a:ext uri="{0D108BD9-81ED-4DB2-BD59-A6C34878D82A}">
                    <a16:rowId xmlns:a16="http://schemas.microsoft.com/office/drawing/2014/main" val="338287631"/>
                  </a:ext>
                </a:extLst>
              </a:tr>
              <a:tr h="407535">
                <a:tc>
                  <a:txBody>
                    <a:bodyPr/>
                    <a:lstStyle/>
                    <a:p>
                      <a:endParaRPr lang="en-US">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249C"/>
                      </a:solidFill>
                      <a:prstDash val="solid"/>
                      <a:round/>
                      <a:headEnd type="none" w="med" len="med"/>
                      <a:tailEnd type="none" w="med" len="med"/>
                    </a:lnL>
                    <a:lnR w="12700" cap="flat" cmpd="sng" algn="ctr">
                      <a:solidFill>
                        <a:srgbClr val="00A3E1"/>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249C"/>
                      </a:solidFill>
                      <a:prstDash val="solid"/>
                      <a:round/>
                      <a:headEnd type="none" w="med" len="med"/>
                      <a:tailEnd type="none" w="med" len="med"/>
                    </a:lnB>
                  </a:tcPr>
                </a:tc>
                <a:tc>
                  <a:txBody>
                    <a:bodyPr/>
                    <a:lstStyle/>
                    <a:p>
                      <a:endParaRPr lang="en-US" dirty="0">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A3E1"/>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249C"/>
                      </a:solidFill>
                      <a:prstDash val="solid"/>
                      <a:round/>
                      <a:headEnd type="none" w="med" len="med"/>
                      <a:tailEnd type="none" w="med" len="med"/>
                    </a:lnB>
                  </a:tcPr>
                </a:tc>
                <a:extLst>
                  <a:ext uri="{0D108BD9-81ED-4DB2-BD59-A6C34878D82A}">
                    <a16:rowId xmlns:a16="http://schemas.microsoft.com/office/drawing/2014/main" val="4037290254"/>
                  </a:ext>
                </a:extLst>
              </a:tr>
            </a:tbl>
          </a:graphicData>
        </a:graphic>
      </p:graphicFrame>
      <p:graphicFrame>
        <p:nvGraphicFramePr>
          <p:cNvPr id="11" name="Table 10">
            <a:extLst>
              <a:ext uri="{FF2B5EF4-FFF2-40B4-BE49-F238E27FC236}">
                <a16:creationId xmlns:a16="http://schemas.microsoft.com/office/drawing/2014/main" id="{A84CACC5-A2EB-D5EC-B746-48ECCC1158A6}"/>
              </a:ext>
            </a:extLst>
          </p:cNvPr>
          <p:cNvGraphicFramePr>
            <a:graphicFrameLocks noGrp="1"/>
          </p:cNvGraphicFramePr>
          <p:nvPr/>
        </p:nvGraphicFramePr>
        <p:xfrm>
          <a:off x="6392607" y="1333736"/>
          <a:ext cx="5234040" cy="2695667"/>
        </p:xfrm>
        <a:graphic>
          <a:graphicData uri="http://schemas.openxmlformats.org/drawingml/2006/table">
            <a:tbl>
              <a:tblPr firstRow="1" bandRow="1">
                <a:tableStyleId>{5C22544A-7EE6-4342-B048-85BDC9FD1C3A}</a:tableStyleId>
              </a:tblPr>
              <a:tblGrid>
                <a:gridCol w="1655097">
                  <a:extLst>
                    <a:ext uri="{9D8B030D-6E8A-4147-A177-3AD203B41FA5}">
                      <a16:colId xmlns:a16="http://schemas.microsoft.com/office/drawing/2014/main" val="3007617848"/>
                    </a:ext>
                  </a:extLst>
                </a:gridCol>
                <a:gridCol w="3578943">
                  <a:extLst>
                    <a:ext uri="{9D8B030D-6E8A-4147-A177-3AD203B41FA5}">
                      <a16:colId xmlns:a16="http://schemas.microsoft.com/office/drawing/2014/main" val="862515432"/>
                    </a:ext>
                  </a:extLst>
                </a:gridCol>
              </a:tblGrid>
              <a:tr h="331742">
                <a:tc gridSpan="2">
                  <a:txBody>
                    <a:bodyPr/>
                    <a:lstStyle/>
                    <a:p>
                      <a:r>
                        <a:rPr lang="en-US" sz="1600" dirty="0">
                          <a:solidFill>
                            <a:schemeClr val="bg2"/>
                          </a:solidFill>
                          <a:latin typeface="Tahoma" panose="020B0604030504040204" pitchFamily="34" charset="0"/>
                          <a:ea typeface="Tahoma" panose="020B0604030504040204" pitchFamily="34" charset="0"/>
                          <a:cs typeface="Tahoma" panose="020B0604030504040204" pitchFamily="34" charset="0"/>
                        </a:rPr>
                        <a:t>Action Plan:</a:t>
                      </a:r>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A3E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2814244739"/>
                  </a:ext>
                </a:extLst>
              </a:tr>
              <a:tr h="331742">
                <a:tc>
                  <a:txBody>
                    <a:bodyPr/>
                    <a:lstStyle/>
                    <a:p>
                      <a:r>
                        <a:rPr lang="en-US" sz="1400" dirty="0">
                          <a:solidFill>
                            <a:schemeClr val="bg2"/>
                          </a:solidFill>
                          <a:latin typeface="Tahoma" panose="020B0604030504040204" pitchFamily="34" charset="0"/>
                          <a:ea typeface="Tahoma" panose="020B0604030504040204" pitchFamily="34" charset="0"/>
                          <a:cs typeface="Tahoma" panose="020B0604030504040204" pitchFamily="34" charset="0"/>
                        </a:rPr>
                        <a:t>Assigned to</a:t>
                      </a:r>
                    </a:p>
                  </a:txBody>
                  <a:tcPr>
                    <a:lnL w="12700" cap="flat" cmpd="sng" algn="ctr">
                      <a:solidFill>
                        <a:srgbClr val="00249C"/>
                      </a:solidFill>
                      <a:prstDash val="solid"/>
                      <a:round/>
                      <a:headEnd type="none" w="med" len="med"/>
                      <a:tailEnd type="none" w="med" len="med"/>
                    </a:lnL>
                    <a:lnR w="12700" cap="flat" cmpd="sng" algn="ctr">
                      <a:solidFill>
                        <a:srgbClr val="00A3E1"/>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solidFill>
                      <a:srgbClr val="00A3E1"/>
                    </a:solidFill>
                  </a:tcPr>
                </a:tc>
                <a:tc>
                  <a:txBody>
                    <a:bodyPr/>
                    <a:lstStyle/>
                    <a:p>
                      <a:r>
                        <a:rPr lang="en-US" sz="1400" dirty="0">
                          <a:solidFill>
                            <a:schemeClr val="bg2"/>
                          </a:solidFill>
                          <a:latin typeface="Tahoma" panose="020B0604030504040204" pitchFamily="34" charset="0"/>
                          <a:ea typeface="Tahoma" panose="020B0604030504040204" pitchFamily="34" charset="0"/>
                          <a:cs typeface="Tahoma" panose="020B0604030504040204" pitchFamily="34" charset="0"/>
                        </a:rPr>
                        <a:t>Action</a:t>
                      </a:r>
                      <a:endParaRPr lang="en-US" dirty="0">
                        <a:solidFill>
                          <a:schemeClr val="bg2"/>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A3E1"/>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solidFill>
                      <a:srgbClr val="00A3E1"/>
                    </a:solidFill>
                  </a:tcPr>
                </a:tc>
                <a:extLst>
                  <a:ext uri="{0D108BD9-81ED-4DB2-BD59-A6C34878D82A}">
                    <a16:rowId xmlns:a16="http://schemas.microsoft.com/office/drawing/2014/main" val="2213682750"/>
                  </a:ext>
                </a:extLst>
              </a:tr>
              <a:tr h="405729">
                <a:tc>
                  <a:txBody>
                    <a:bodyPr/>
                    <a:lstStyle/>
                    <a:p>
                      <a:endParaRPr lang="en-US" dirty="0">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249C"/>
                      </a:solidFill>
                      <a:prstDash val="solid"/>
                      <a:round/>
                      <a:headEnd type="none" w="med" len="med"/>
                      <a:tailEnd type="none" w="med" len="med"/>
                    </a:lnL>
                    <a:lnR w="12700" cap="flat" cmpd="sng" algn="ctr">
                      <a:solidFill>
                        <a:srgbClr val="00A3E1"/>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tcPr>
                </a:tc>
                <a:tc>
                  <a:txBody>
                    <a:bodyPr/>
                    <a:lstStyle/>
                    <a:p>
                      <a:endParaRPr lang="en-US" dirty="0">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A3E1"/>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tcPr>
                </a:tc>
                <a:extLst>
                  <a:ext uri="{0D108BD9-81ED-4DB2-BD59-A6C34878D82A}">
                    <a16:rowId xmlns:a16="http://schemas.microsoft.com/office/drawing/2014/main" val="2937728267"/>
                  </a:ext>
                </a:extLst>
              </a:tr>
              <a:tr h="405729">
                <a:tc>
                  <a:txBody>
                    <a:bodyPr/>
                    <a:lstStyle/>
                    <a:p>
                      <a:endParaRPr lang="en-US">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249C"/>
                      </a:solidFill>
                      <a:prstDash val="solid"/>
                      <a:round/>
                      <a:headEnd type="none" w="med" len="med"/>
                      <a:tailEnd type="none" w="med" len="med"/>
                    </a:lnL>
                    <a:lnR w="12700" cap="flat" cmpd="sng" algn="ctr">
                      <a:solidFill>
                        <a:srgbClr val="00A3E1"/>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tcPr>
                </a:tc>
                <a:tc>
                  <a:txBody>
                    <a:bodyPr/>
                    <a:lstStyle/>
                    <a:p>
                      <a:endParaRPr lang="en-US" dirty="0">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A3E1"/>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tcPr>
                </a:tc>
                <a:extLst>
                  <a:ext uri="{0D108BD9-81ED-4DB2-BD59-A6C34878D82A}">
                    <a16:rowId xmlns:a16="http://schemas.microsoft.com/office/drawing/2014/main" val="423199890"/>
                  </a:ext>
                </a:extLst>
              </a:tr>
              <a:tr h="405729">
                <a:tc>
                  <a:txBody>
                    <a:bodyPr/>
                    <a:lstStyle/>
                    <a:p>
                      <a:endParaRPr lang="en-US">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249C"/>
                      </a:solidFill>
                      <a:prstDash val="solid"/>
                      <a:round/>
                      <a:headEnd type="none" w="med" len="med"/>
                      <a:tailEnd type="none" w="med" len="med"/>
                    </a:lnL>
                    <a:lnR w="12700" cap="flat" cmpd="sng" algn="ctr">
                      <a:solidFill>
                        <a:srgbClr val="00A3E1"/>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tcPr>
                </a:tc>
                <a:tc>
                  <a:txBody>
                    <a:bodyPr/>
                    <a:lstStyle/>
                    <a:p>
                      <a:endParaRPr lang="en-US" dirty="0">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A3E1"/>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tcPr>
                </a:tc>
                <a:extLst>
                  <a:ext uri="{0D108BD9-81ED-4DB2-BD59-A6C34878D82A}">
                    <a16:rowId xmlns:a16="http://schemas.microsoft.com/office/drawing/2014/main" val="3894612084"/>
                  </a:ext>
                </a:extLst>
              </a:tr>
              <a:tr h="405729">
                <a:tc>
                  <a:txBody>
                    <a:bodyPr/>
                    <a:lstStyle/>
                    <a:p>
                      <a:endParaRPr lang="en-US">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249C"/>
                      </a:solidFill>
                      <a:prstDash val="solid"/>
                      <a:round/>
                      <a:headEnd type="none" w="med" len="med"/>
                      <a:tailEnd type="none" w="med" len="med"/>
                    </a:lnL>
                    <a:lnR w="12700" cap="flat" cmpd="sng" algn="ctr">
                      <a:solidFill>
                        <a:srgbClr val="00A3E1"/>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tcPr>
                </a:tc>
                <a:tc>
                  <a:txBody>
                    <a:bodyPr/>
                    <a:lstStyle/>
                    <a:p>
                      <a:endParaRPr lang="en-US" dirty="0">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A3E1"/>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A3E1"/>
                      </a:solidFill>
                      <a:prstDash val="solid"/>
                      <a:round/>
                      <a:headEnd type="none" w="med" len="med"/>
                      <a:tailEnd type="none" w="med" len="med"/>
                    </a:lnB>
                  </a:tcPr>
                </a:tc>
                <a:extLst>
                  <a:ext uri="{0D108BD9-81ED-4DB2-BD59-A6C34878D82A}">
                    <a16:rowId xmlns:a16="http://schemas.microsoft.com/office/drawing/2014/main" val="338287631"/>
                  </a:ext>
                </a:extLst>
              </a:tr>
              <a:tr h="405729">
                <a:tc>
                  <a:txBody>
                    <a:bodyPr/>
                    <a:lstStyle/>
                    <a:p>
                      <a:endParaRPr lang="en-US" dirty="0">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249C"/>
                      </a:solidFill>
                      <a:prstDash val="solid"/>
                      <a:round/>
                      <a:headEnd type="none" w="med" len="med"/>
                      <a:tailEnd type="none" w="med" len="med"/>
                    </a:lnL>
                    <a:lnR w="12700" cap="flat" cmpd="sng" algn="ctr">
                      <a:solidFill>
                        <a:srgbClr val="00A3E1"/>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249C"/>
                      </a:solidFill>
                      <a:prstDash val="solid"/>
                      <a:round/>
                      <a:headEnd type="none" w="med" len="med"/>
                      <a:tailEnd type="none" w="med" len="med"/>
                    </a:lnB>
                  </a:tcPr>
                </a:tc>
                <a:tc>
                  <a:txBody>
                    <a:bodyPr/>
                    <a:lstStyle/>
                    <a:p>
                      <a:endParaRPr lang="en-US" dirty="0">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rgbClr val="00A3E1"/>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A3E1"/>
                      </a:solidFill>
                      <a:prstDash val="solid"/>
                      <a:round/>
                      <a:headEnd type="none" w="med" len="med"/>
                      <a:tailEnd type="none" w="med" len="med"/>
                    </a:lnT>
                    <a:lnB w="12700" cap="flat" cmpd="sng" algn="ctr">
                      <a:solidFill>
                        <a:srgbClr val="00249C"/>
                      </a:solidFill>
                      <a:prstDash val="solid"/>
                      <a:round/>
                      <a:headEnd type="none" w="med" len="med"/>
                      <a:tailEnd type="none" w="med" len="med"/>
                    </a:lnB>
                  </a:tcPr>
                </a:tc>
                <a:extLst>
                  <a:ext uri="{0D108BD9-81ED-4DB2-BD59-A6C34878D82A}">
                    <a16:rowId xmlns:a16="http://schemas.microsoft.com/office/drawing/2014/main" val="4037290254"/>
                  </a:ext>
                </a:extLst>
              </a:tr>
            </a:tbl>
          </a:graphicData>
        </a:graphic>
      </p:graphicFrame>
      <p:sp>
        <p:nvSpPr>
          <p:cNvPr id="13" name="TextBox 12">
            <a:extLst>
              <a:ext uri="{FF2B5EF4-FFF2-40B4-BE49-F238E27FC236}">
                <a16:creationId xmlns:a16="http://schemas.microsoft.com/office/drawing/2014/main" id="{F4AAA573-F6B5-7E48-63D2-82DFF6C85D85}"/>
              </a:ext>
            </a:extLst>
          </p:cNvPr>
          <p:cNvSpPr txBox="1"/>
          <p:nvPr/>
        </p:nvSpPr>
        <p:spPr>
          <a:xfrm>
            <a:off x="861960" y="4252809"/>
            <a:ext cx="5234040" cy="954107"/>
          </a:xfrm>
          <a:prstGeom prst="rect">
            <a:avLst/>
          </a:prstGeom>
          <a:solidFill>
            <a:schemeClr val="bg2"/>
          </a:solidFill>
          <a:ln>
            <a:solidFill>
              <a:srgbClr val="00249C"/>
            </a:solidFill>
          </a:ln>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Outstanding items from previous meetings</a:t>
            </a:r>
          </a:p>
          <a:p>
            <a:r>
              <a:rPr lang="en-US" sz="1400" dirty="0">
                <a:latin typeface="Tahoma" panose="020B0604030504040204" pitchFamily="34" charset="0"/>
                <a:ea typeface="Tahoma" panose="020B0604030504040204" pitchFamily="34" charset="0"/>
                <a:cs typeface="Tahoma" panose="020B0604030504040204" pitchFamily="34" charset="0"/>
              </a:rPr>
              <a:t>1. </a:t>
            </a:r>
          </a:p>
          <a:p>
            <a:r>
              <a:rPr lang="en-US" sz="1400" dirty="0">
                <a:latin typeface="Tahoma" panose="020B0604030504040204" pitchFamily="34" charset="0"/>
                <a:ea typeface="Tahoma" panose="020B0604030504040204" pitchFamily="34" charset="0"/>
                <a:cs typeface="Tahoma" panose="020B0604030504040204" pitchFamily="34" charset="0"/>
              </a:rPr>
              <a:t>2.</a:t>
            </a:r>
          </a:p>
          <a:p>
            <a:r>
              <a:rPr lang="en-US" sz="1400" dirty="0">
                <a:latin typeface="Tahoma" panose="020B0604030504040204" pitchFamily="34" charset="0"/>
                <a:ea typeface="Tahoma" panose="020B0604030504040204" pitchFamily="34" charset="0"/>
                <a:cs typeface="Tahoma" panose="020B0604030504040204" pitchFamily="34" charset="0"/>
              </a:rPr>
              <a:t>3.</a:t>
            </a:r>
          </a:p>
        </p:txBody>
      </p:sp>
      <p:sp>
        <p:nvSpPr>
          <p:cNvPr id="15" name="TextBox 14">
            <a:extLst>
              <a:ext uri="{FF2B5EF4-FFF2-40B4-BE49-F238E27FC236}">
                <a16:creationId xmlns:a16="http://schemas.microsoft.com/office/drawing/2014/main" id="{884CE10A-549A-F96C-8ADB-170D1C9A9E6A}"/>
              </a:ext>
            </a:extLst>
          </p:cNvPr>
          <p:cNvSpPr txBox="1"/>
          <p:nvPr/>
        </p:nvSpPr>
        <p:spPr>
          <a:xfrm>
            <a:off x="6392607" y="4252809"/>
            <a:ext cx="5234040" cy="954107"/>
          </a:xfrm>
          <a:prstGeom prst="rect">
            <a:avLst/>
          </a:prstGeom>
          <a:solidFill>
            <a:schemeClr val="bg2"/>
          </a:solidFill>
          <a:ln>
            <a:solidFill>
              <a:schemeClr val="tx1"/>
            </a:solidFill>
          </a:ln>
        </p:spPr>
        <p:txBody>
          <a:bodyPr wrap="square" rtlCol="0">
            <a:spAutoFit/>
          </a:bodyPr>
          <a:lstStyle>
            <a:defPPr>
              <a:defRPr lang="en-US"/>
            </a:defPPr>
            <a:lvl1pPr>
              <a:defRPr sz="1400"/>
            </a:lvl1pPr>
          </a:lstStyle>
          <a:p>
            <a:r>
              <a:rPr lang="en-US" dirty="0">
                <a:latin typeface="Tahoma" panose="020B0604030504040204" pitchFamily="34" charset="0"/>
                <a:ea typeface="Tahoma" panose="020B0604030504040204" pitchFamily="34" charset="0"/>
                <a:cs typeface="Tahoma" panose="020B0604030504040204" pitchFamily="34" charset="0"/>
              </a:rPr>
              <a:t>Critical risks and issues that needs immediate attention</a:t>
            </a:r>
          </a:p>
          <a:p>
            <a:r>
              <a:rPr lang="en-US" dirty="0">
                <a:latin typeface="Tahoma" panose="020B0604030504040204" pitchFamily="34" charset="0"/>
                <a:ea typeface="Tahoma" panose="020B0604030504040204" pitchFamily="34" charset="0"/>
                <a:cs typeface="Tahoma" panose="020B0604030504040204" pitchFamily="34" charset="0"/>
              </a:rPr>
              <a:t>1. </a:t>
            </a:r>
          </a:p>
          <a:p>
            <a:r>
              <a:rPr lang="en-US" dirty="0">
                <a:latin typeface="Tahoma" panose="020B0604030504040204" pitchFamily="34" charset="0"/>
                <a:ea typeface="Tahoma" panose="020B0604030504040204" pitchFamily="34" charset="0"/>
                <a:cs typeface="Tahoma" panose="020B0604030504040204" pitchFamily="34" charset="0"/>
              </a:rPr>
              <a:t>2.</a:t>
            </a:r>
          </a:p>
          <a:p>
            <a:r>
              <a:rPr lang="en-US" dirty="0">
                <a:latin typeface="Tahoma" panose="020B0604030504040204" pitchFamily="34" charset="0"/>
                <a:ea typeface="Tahoma" panose="020B0604030504040204" pitchFamily="34" charset="0"/>
                <a:cs typeface="Tahoma" panose="020B0604030504040204" pitchFamily="34" charset="0"/>
              </a:rPr>
              <a:t>3.</a:t>
            </a:r>
          </a:p>
        </p:txBody>
      </p:sp>
      <p:sp>
        <p:nvSpPr>
          <p:cNvPr id="17" name="TextBox 16">
            <a:extLst>
              <a:ext uri="{FF2B5EF4-FFF2-40B4-BE49-F238E27FC236}">
                <a16:creationId xmlns:a16="http://schemas.microsoft.com/office/drawing/2014/main" id="{55480435-E840-AA3B-A0E0-54081A99ED38}"/>
              </a:ext>
            </a:extLst>
          </p:cNvPr>
          <p:cNvSpPr txBox="1"/>
          <p:nvPr/>
        </p:nvSpPr>
        <p:spPr>
          <a:xfrm>
            <a:off x="861961" y="5374856"/>
            <a:ext cx="5234040" cy="523220"/>
          </a:xfrm>
          <a:prstGeom prst="rect">
            <a:avLst/>
          </a:prstGeom>
          <a:solidFill>
            <a:schemeClr val="bg2"/>
          </a:solidFill>
          <a:ln>
            <a:solidFill>
              <a:schemeClr val="tx1"/>
            </a:solidFill>
          </a:ln>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Next Meeting:            Date:                           Time: </a:t>
            </a:r>
          </a:p>
          <a:p>
            <a:endParaRPr lang="en-US" sz="1400" dirty="0"/>
          </a:p>
        </p:txBody>
      </p:sp>
      <p:sp>
        <p:nvSpPr>
          <p:cNvPr id="24" name="Title 1">
            <a:extLst>
              <a:ext uri="{FF2B5EF4-FFF2-40B4-BE49-F238E27FC236}">
                <a16:creationId xmlns:a16="http://schemas.microsoft.com/office/drawing/2014/main" id="{53868107-5FAA-C3F8-AC0E-7D55E0D9A9AF}"/>
              </a:ext>
            </a:extLst>
          </p:cNvPr>
          <p:cNvSpPr txBox="1">
            <a:spLocks/>
          </p:cNvSpPr>
          <p:nvPr/>
        </p:nvSpPr>
        <p:spPr>
          <a:xfrm>
            <a:off x="833385" y="472509"/>
            <a:ext cx="10150301" cy="557061"/>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Review of Previous Actions &amp; Minutes </a:t>
            </a:r>
          </a:p>
        </p:txBody>
      </p:sp>
      <p:sp>
        <p:nvSpPr>
          <p:cNvPr id="2" name="TextBox 1">
            <a:extLst>
              <a:ext uri="{FF2B5EF4-FFF2-40B4-BE49-F238E27FC236}">
                <a16:creationId xmlns:a16="http://schemas.microsoft.com/office/drawing/2014/main" id="{6E38CD2D-3DC6-323E-9E2B-88E7079AD51C}"/>
              </a:ext>
            </a:extLst>
          </p:cNvPr>
          <p:cNvSpPr txBox="1"/>
          <p:nvPr/>
        </p:nvSpPr>
        <p:spPr>
          <a:xfrm>
            <a:off x="813065" y="6066016"/>
            <a:ext cx="10813582" cy="523220"/>
          </a:xfrm>
          <a:prstGeom prst="rect">
            <a:avLst/>
          </a:prstGeom>
          <a:solidFill>
            <a:schemeClr val="bg2"/>
          </a:solidFill>
          <a:ln>
            <a:solidFill>
              <a:schemeClr val="tx1"/>
            </a:solidFill>
          </a:ln>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Name (Committee Chair):            			Signed:                          		Date: </a:t>
            </a:r>
          </a:p>
          <a:p>
            <a:endParaRPr lang="en-US" sz="1400" dirty="0"/>
          </a:p>
        </p:txBody>
      </p:sp>
    </p:spTree>
    <p:extLst>
      <p:ext uri="{BB962C8B-B14F-4D97-AF65-F5344CB8AC3E}">
        <p14:creationId xmlns:p14="http://schemas.microsoft.com/office/powerpoint/2010/main" val="28475187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27DCC-5E00-0635-43F5-6B252E573325}"/>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A37879D8-A518-75F7-338E-597F2C4C7D25}"/>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EHS Performance Overview</a:t>
            </a:r>
          </a:p>
          <a:p>
            <a:r>
              <a:rPr lang="en-US" sz="2400" b="0" dirty="0"/>
              <a:t>Campus KPI Scoring Breakdown</a:t>
            </a:r>
          </a:p>
        </p:txBody>
      </p:sp>
      <p:graphicFrame>
        <p:nvGraphicFramePr>
          <p:cNvPr id="13" name="Chart 12">
            <a:extLst>
              <a:ext uri="{FF2B5EF4-FFF2-40B4-BE49-F238E27FC236}">
                <a16:creationId xmlns:a16="http://schemas.microsoft.com/office/drawing/2014/main" id="{270BB58F-3E87-E938-A921-3DDE6303E9EA}"/>
              </a:ext>
            </a:extLst>
          </p:cNvPr>
          <p:cNvGraphicFramePr>
            <a:graphicFrameLocks/>
          </p:cNvGraphicFramePr>
          <p:nvPr>
            <p:extLst>
              <p:ext uri="{D42A27DB-BD31-4B8C-83A1-F6EECF244321}">
                <p14:modId xmlns:p14="http://schemas.microsoft.com/office/powerpoint/2010/main" val="2191341835"/>
              </p:ext>
            </p:extLst>
          </p:nvPr>
        </p:nvGraphicFramePr>
        <p:xfrm>
          <a:off x="2069532" y="1556405"/>
          <a:ext cx="8052935" cy="507783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560330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89ABA-BD96-B3CA-5018-C1B2CA7AE4D7}"/>
            </a:ext>
          </a:extLst>
        </p:cNvPr>
        <p:cNvGrpSpPr/>
        <p:nvPr/>
      </p:nvGrpSpPr>
      <p:grpSpPr>
        <a:xfrm>
          <a:off x="0" y="0"/>
          <a:ext cx="0" cy="0"/>
          <a:chOff x="0" y="0"/>
          <a:chExt cx="0" cy="0"/>
        </a:xfrm>
      </p:grpSpPr>
      <p:sp>
        <p:nvSpPr>
          <p:cNvPr id="3" name="Text 3">
            <a:extLst>
              <a:ext uri="{FF2B5EF4-FFF2-40B4-BE49-F238E27FC236}">
                <a16:creationId xmlns:a16="http://schemas.microsoft.com/office/drawing/2014/main" id="{778B66EF-F996-93C2-D91E-1CF89E5CED42}"/>
              </a:ext>
            </a:extLst>
          </p:cNvPr>
          <p:cNvSpPr/>
          <p:nvPr/>
        </p:nvSpPr>
        <p:spPr>
          <a:xfrm>
            <a:off x="1876526" y="1300254"/>
            <a:ext cx="7315200" cy="384048"/>
          </a:xfrm>
          <a:prstGeom prst="rect">
            <a:avLst/>
          </a:prstGeom>
          <a:noFill/>
          <a:ln/>
        </p:spPr>
        <p:txBody>
          <a:bodyPr wrap="square" lIns="0" tIns="0" rIns="0" bIns="0" rtlCol="0" anchor="ctr"/>
          <a:lstStyle/>
          <a:p>
            <a:pPr marL="0" indent="0">
              <a:buNone/>
            </a:pPr>
            <a:r>
              <a:rPr lang="en-US" sz="2000" b="1" dirty="0">
                <a:solidFill>
                  <a:srgbClr val="FFFFFF"/>
                </a:solidFill>
                <a:latin typeface="Tahoma" panose="020B0604030504040204" pitchFamily="34" charset="0"/>
                <a:ea typeface="Tahoma" panose="020B0604030504040204" pitchFamily="34" charset="0"/>
                <a:cs typeface="Tahoma" panose="020B0604030504040204" pitchFamily="34" charset="0"/>
              </a:rPr>
              <a:t>Compliance Rating Scale</a:t>
            </a:r>
            <a:endParaRPr lang="en-US" sz="2000" dirty="0">
              <a:latin typeface="Tahoma" panose="020B0604030504040204" pitchFamily="34" charset="0"/>
              <a:ea typeface="Tahoma" panose="020B0604030504040204" pitchFamily="34" charset="0"/>
              <a:cs typeface="Tahoma" panose="020B0604030504040204" pitchFamily="34" charset="0"/>
            </a:endParaRPr>
          </a:p>
        </p:txBody>
      </p:sp>
      <p:sp>
        <p:nvSpPr>
          <p:cNvPr id="4" name="Text 4">
            <a:extLst>
              <a:ext uri="{FF2B5EF4-FFF2-40B4-BE49-F238E27FC236}">
                <a16:creationId xmlns:a16="http://schemas.microsoft.com/office/drawing/2014/main" id="{00332B5E-1D51-0CBD-F5FB-76356276F574}"/>
              </a:ext>
            </a:extLst>
          </p:cNvPr>
          <p:cNvSpPr/>
          <p:nvPr/>
        </p:nvSpPr>
        <p:spPr>
          <a:xfrm>
            <a:off x="990429" y="1977345"/>
            <a:ext cx="1298448" cy="201168"/>
          </a:xfrm>
          <a:prstGeom prst="rect">
            <a:avLst/>
          </a:prstGeom>
          <a:noFill/>
          <a:ln/>
        </p:spPr>
        <p:txBody>
          <a:bodyPr wrap="square" lIns="0" tIns="0" rIns="0" bIns="0" rtlCol="0" anchor="ctr"/>
          <a:lstStyle/>
          <a:p>
            <a:pPr marL="0" indent="0" algn="ctr">
              <a:buNone/>
            </a:pPr>
            <a:r>
              <a:rPr lang="en-US" sz="1100" b="1" dirty="0">
                <a:solidFill>
                  <a:srgbClr val="64748B"/>
                </a:solidFill>
                <a:latin typeface="Tahoma" panose="020B0604030504040204" pitchFamily="34" charset="0"/>
                <a:ea typeface="Tahoma" panose="020B0604030504040204" pitchFamily="34" charset="0"/>
                <a:cs typeface="Tahoma" panose="020B0604030504040204" pitchFamily="34" charset="0"/>
              </a:rPr>
              <a:t>Compliance Rate</a:t>
            </a:r>
            <a:endParaRPr lang="en-US" sz="1100" dirty="0">
              <a:latin typeface="Tahoma" panose="020B0604030504040204" pitchFamily="34" charset="0"/>
              <a:ea typeface="Tahoma" panose="020B0604030504040204" pitchFamily="34" charset="0"/>
              <a:cs typeface="Tahoma" panose="020B0604030504040204" pitchFamily="34" charset="0"/>
            </a:endParaRPr>
          </a:p>
        </p:txBody>
      </p:sp>
      <p:sp>
        <p:nvSpPr>
          <p:cNvPr id="5" name="Text 5">
            <a:extLst>
              <a:ext uri="{FF2B5EF4-FFF2-40B4-BE49-F238E27FC236}">
                <a16:creationId xmlns:a16="http://schemas.microsoft.com/office/drawing/2014/main" id="{65B85E38-AFED-5126-F3FF-5022598E26B9}"/>
              </a:ext>
            </a:extLst>
          </p:cNvPr>
          <p:cNvSpPr/>
          <p:nvPr/>
        </p:nvSpPr>
        <p:spPr>
          <a:xfrm>
            <a:off x="2362029" y="1977345"/>
            <a:ext cx="2103120" cy="201168"/>
          </a:xfrm>
          <a:prstGeom prst="rect">
            <a:avLst/>
          </a:prstGeom>
          <a:noFill/>
          <a:ln/>
        </p:spPr>
        <p:txBody>
          <a:bodyPr wrap="square" lIns="0" tIns="0" rIns="0" bIns="0" rtlCol="0" anchor="ctr"/>
          <a:lstStyle/>
          <a:p>
            <a:pPr marL="0" indent="0" algn="l">
              <a:buNone/>
            </a:pPr>
            <a:r>
              <a:rPr lang="en-US" sz="1100" b="1" dirty="0">
                <a:solidFill>
                  <a:srgbClr val="64748B"/>
                </a:solidFill>
                <a:latin typeface="Tahoma" panose="020B0604030504040204" pitchFamily="34" charset="0"/>
                <a:ea typeface="Tahoma" panose="020B0604030504040204" pitchFamily="34" charset="0"/>
                <a:cs typeface="Tahoma" panose="020B0604030504040204" pitchFamily="34" charset="0"/>
              </a:rPr>
              <a:t>Category</a:t>
            </a:r>
            <a:endParaRPr lang="en-US" sz="1100" dirty="0">
              <a:latin typeface="Tahoma" panose="020B0604030504040204" pitchFamily="34" charset="0"/>
              <a:ea typeface="Tahoma" panose="020B0604030504040204" pitchFamily="34" charset="0"/>
              <a:cs typeface="Tahoma" panose="020B0604030504040204" pitchFamily="34" charset="0"/>
            </a:endParaRPr>
          </a:p>
        </p:txBody>
      </p:sp>
      <p:sp>
        <p:nvSpPr>
          <p:cNvPr id="6" name="Text 6">
            <a:extLst>
              <a:ext uri="{FF2B5EF4-FFF2-40B4-BE49-F238E27FC236}">
                <a16:creationId xmlns:a16="http://schemas.microsoft.com/office/drawing/2014/main" id="{5A92D196-A1EE-7A92-6CB5-DD81BCEEDD84}"/>
              </a:ext>
            </a:extLst>
          </p:cNvPr>
          <p:cNvSpPr/>
          <p:nvPr/>
        </p:nvSpPr>
        <p:spPr>
          <a:xfrm>
            <a:off x="4556589" y="1977345"/>
            <a:ext cx="1463040" cy="201168"/>
          </a:xfrm>
          <a:prstGeom prst="rect">
            <a:avLst/>
          </a:prstGeom>
          <a:noFill/>
          <a:ln/>
        </p:spPr>
        <p:txBody>
          <a:bodyPr wrap="square" lIns="0" tIns="0" rIns="0" bIns="0" rtlCol="0" anchor="ctr"/>
          <a:lstStyle/>
          <a:p>
            <a:pPr marL="0" indent="0" algn="l">
              <a:buNone/>
            </a:pPr>
            <a:r>
              <a:rPr lang="en-US" sz="1100" b="1" dirty="0">
                <a:solidFill>
                  <a:srgbClr val="64748B"/>
                </a:solidFill>
                <a:latin typeface="Tahoma" panose="020B0604030504040204" pitchFamily="34" charset="0"/>
                <a:ea typeface="Tahoma" panose="020B0604030504040204" pitchFamily="34" charset="0"/>
                <a:cs typeface="Tahoma" panose="020B0604030504040204" pitchFamily="34" charset="0"/>
              </a:rPr>
              <a:t>Evaluation Outcome</a:t>
            </a:r>
            <a:endParaRPr lang="en-US" sz="1100" dirty="0">
              <a:latin typeface="Tahoma" panose="020B0604030504040204" pitchFamily="34" charset="0"/>
              <a:ea typeface="Tahoma" panose="020B0604030504040204" pitchFamily="34" charset="0"/>
              <a:cs typeface="Tahoma" panose="020B0604030504040204" pitchFamily="34" charset="0"/>
            </a:endParaRPr>
          </a:p>
        </p:txBody>
      </p:sp>
      <p:sp>
        <p:nvSpPr>
          <p:cNvPr id="7" name="Text 7">
            <a:extLst>
              <a:ext uri="{FF2B5EF4-FFF2-40B4-BE49-F238E27FC236}">
                <a16:creationId xmlns:a16="http://schemas.microsoft.com/office/drawing/2014/main" id="{C284BAD5-0C28-0B15-4EA1-51F0E7E1BCD7}"/>
              </a:ext>
            </a:extLst>
          </p:cNvPr>
          <p:cNvSpPr/>
          <p:nvPr/>
        </p:nvSpPr>
        <p:spPr>
          <a:xfrm>
            <a:off x="6111069" y="1977345"/>
            <a:ext cx="3566160" cy="201168"/>
          </a:xfrm>
          <a:prstGeom prst="rect">
            <a:avLst/>
          </a:prstGeom>
          <a:noFill/>
          <a:ln/>
        </p:spPr>
        <p:txBody>
          <a:bodyPr wrap="square" lIns="0" tIns="0" rIns="0" bIns="0" rtlCol="0" anchor="ctr"/>
          <a:lstStyle/>
          <a:p>
            <a:pPr marL="0" indent="0" algn="l">
              <a:buNone/>
            </a:pPr>
            <a:r>
              <a:rPr lang="en-US" sz="1100" b="1" dirty="0">
                <a:solidFill>
                  <a:srgbClr val="64748B"/>
                </a:solidFill>
                <a:latin typeface="Tahoma" panose="020B0604030504040204" pitchFamily="34" charset="0"/>
                <a:ea typeface="Tahoma" panose="020B0604030504040204" pitchFamily="34" charset="0"/>
                <a:cs typeface="Tahoma" panose="020B0604030504040204" pitchFamily="34" charset="0"/>
              </a:rPr>
              <a:t>Description</a:t>
            </a:r>
            <a:endParaRPr lang="en-US" sz="1100" dirty="0">
              <a:latin typeface="Tahoma" panose="020B0604030504040204" pitchFamily="34" charset="0"/>
              <a:ea typeface="Tahoma" panose="020B0604030504040204" pitchFamily="34" charset="0"/>
              <a:cs typeface="Tahoma" panose="020B0604030504040204" pitchFamily="34" charset="0"/>
            </a:endParaRPr>
          </a:p>
        </p:txBody>
      </p:sp>
      <p:sp>
        <p:nvSpPr>
          <p:cNvPr id="8" name="Shape 8">
            <a:extLst>
              <a:ext uri="{FF2B5EF4-FFF2-40B4-BE49-F238E27FC236}">
                <a16:creationId xmlns:a16="http://schemas.microsoft.com/office/drawing/2014/main" id="{AAF22878-5CEE-E109-B438-41FCCF6831F1}"/>
              </a:ext>
            </a:extLst>
          </p:cNvPr>
          <p:cNvSpPr/>
          <p:nvPr/>
        </p:nvSpPr>
        <p:spPr>
          <a:xfrm>
            <a:off x="990429" y="2178513"/>
            <a:ext cx="8869680" cy="16459"/>
          </a:xfrm>
          <a:prstGeom prst="rect">
            <a:avLst/>
          </a:prstGeom>
          <a:solidFill>
            <a:srgbClr val="2A3A4E"/>
          </a:solidFill>
          <a:ln w="12700">
            <a:solidFill>
              <a:srgbClr val="2A3A4E"/>
            </a:solidFill>
            <a:prstDash val="solid"/>
          </a:ln>
        </p:spPr>
        <p:txBody>
          <a:bodyPr/>
          <a:lstStyle/>
          <a:p>
            <a:endParaRPr lang="en-US"/>
          </a:p>
        </p:txBody>
      </p:sp>
      <p:sp>
        <p:nvSpPr>
          <p:cNvPr id="9" name="Shape 9">
            <a:extLst>
              <a:ext uri="{FF2B5EF4-FFF2-40B4-BE49-F238E27FC236}">
                <a16:creationId xmlns:a16="http://schemas.microsoft.com/office/drawing/2014/main" id="{02F969E0-295D-7704-FFAB-1E654CBA4302}"/>
              </a:ext>
            </a:extLst>
          </p:cNvPr>
          <p:cNvSpPr/>
          <p:nvPr/>
        </p:nvSpPr>
        <p:spPr>
          <a:xfrm>
            <a:off x="990429" y="2205945"/>
            <a:ext cx="8869680" cy="850392"/>
          </a:xfrm>
          <a:prstGeom prst="rect">
            <a:avLst/>
          </a:prstGeom>
          <a:solidFill>
            <a:schemeClr val="bg2"/>
          </a:solidFill>
          <a:ln w="6350">
            <a:solidFill>
              <a:srgbClr val="2A3A4E"/>
            </a:solidFill>
            <a:prstDash val="solid"/>
          </a:ln>
        </p:spPr>
        <p:txBody>
          <a:bodyPr/>
          <a:lstStyle/>
          <a:p>
            <a:endParaRPr lang="en-US"/>
          </a:p>
        </p:txBody>
      </p:sp>
      <p:sp>
        <p:nvSpPr>
          <p:cNvPr id="10" name="Shape 10">
            <a:extLst>
              <a:ext uri="{FF2B5EF4-FFF2-40B4-BE49-F238E27FC236}">
                <a16:creationId xmlns:a16="http://schemas.microsoft.com/office/drawing/2014/main" id="{01AB11DB-FA23-AD9C-947B-2EDD39B77C58}"/>
              </a:ext>
            </a:extLst>
          </p:cNvPr>
          <p:cNvSpPr/>
          <p:nvPr/>
        </p:nvSpPr>
        <p:spPr>
          <a:xfrm>
            <a:off x="990429" y="2205945"/>
            <a:ext cx="1298448" cy="850392"/>
          </a:xfrm>
          <a:prstGeom prst="rect">
            <a:avLst/>
          </a:prstGeom>
          <a:solidFill>
            <a:srgbClr val="EAF3DE"/>
          </a:solidFill>
          <a:ln w="12700">
            <a:solidFill>
              <a:srgbClr val="EAF3DE"/>
            </a:solidFill>
            <a:prstDash val="solid"/>
          </a:ln>
        </p:spPr>
        <p:txBody>
          <a:bodyPr/>
          <a:lstStyle/>
          <a:p>
            <a:endParaRPr lang="en-US"/>
          </a:p>
        </p:txBody>
      </p:sp>
      <p:sp>
        <p:nvSpPr>
          <p:cNvPr id="11" name="Text 11">
            <a:extLst>
              <a:ext uri="{FF2B5EF4-FFF2-40B4-BE49-F238E27FC236}">
                <a16:creationId xmlns:a16="http://schemas.microsoft.com/office/drawing/2014/main" id="{DDB4A692-C2FA-F751-4C10-AE2CF6E19179}"/>
              </a:ext>
            </a:extLst>
          </p:cNvPr>
          <p:cNvSpPr/>
          <p:nvPr/>
        </p:nvSpPr>
        <p:spPr>
          <a:xfrm>
            <a:off x="990429" y="2343105"/>
            <a:ext cx="1298448" cy="411480"/>
          </a:xfrm>
          <a:prstGeom prst="rect">
            <a:avLst/>
          </a:prstGeom>
          <a:noFill/>
          <a:ln/>
        </p:spPr>
        <p:txBody>
          <a:bodyPr wrap="square" lIns="0" tIns="0" rIns="0" bIns="0" rtlCol="0" anchor="ctr"/>
          <a:lstStyle/>
          <a:p>
            <a:pPr marL="0" indent="0" algn="ctr">
              <a:buNone/>
            </a:pPr>
            <a:r>
              <a:rPr lang="en-US" sz="2000" b="1" dirty="0">
                <a:solidFill>
                  <a:srgbClr val="27500A"/>
                </a:solidFill>
                <a:latin typeface="Tahoma" panose="020B0604030504040204" pitchFamily="34" charset="0"/>
                <a:ea typeface="Tahoma" panose="020B0604030504040204" pitchFamily="34" charset="0"/>
                <a:cs typeface="Tahoma" panose="020B0604030504040204" pitchFamily="34" charset="0"/>
              </a:rPr>
              <a:t>91–100%</a:t>
            </a:r>
            <a:endParaRPr lang="en-US" sz="2000" dirty="0">
              <a:latin typeface="Tahoma" panose="020B0604030504040204" pitchFamily="34" charset="0"/>
              <a:ea typeface="Tahoma" panose="020B0604030504040204" pitchFamily="34" charset="0"/>
              <a:cs typeface="Tahoma" panose="020B0604030504040204" pitchFamily="34" charset="0"/>
            </a:endParaRPr>
          </a:p>
        </p:txBody>
      </p:sp>
      <p:sp>
        <p:nvSpPr>
          <p:cNvPr id="12" name="Text 12">
            <a:extLst>
              <a:ext uri="{FF2B5EF4-FFF2-40B4-BE49-F238E27FC236}">
                <a16:creationId xmlns:a16="http://schemas.microsoft.com/office/drawing/2014/main" id="{D130073C-1553-BC4B-2C9E-3DDD884D374B}"/>
              </a:ext>
            </a:extLst>
          </p:cNvPr>
          <p:cNvSpPr/>
          <p:nvPr/>
        </p:nvSpPr>
        <p:spPr>
          <a:xfrm>
            <a:off x="990429" y="2736297"/>
            <a:ext cx="1298448" cy="228600"/>
          </a:xfrm>
          <a:prstGeom prst="rect">
            <a:avLst/>
          </a:prstGeom>
          <a:noFill/>
          <a:ln/>
        </p:spPr>
        <p:txBody>
          <a:bodyPr wrap="square" lIns="0" tIns="0" rIns="0" bIns="0" rtlCol="0" anchor="ctr"/>
          <a:lstStyle/>
          <a:p>
            <a:pPr marL="0" indent="0" algn="ctr">
              <a:buNone/>
            </a:pPr>
            <a:r>
              <a:rPr lang="en-US" sz="750" dirty="0">
                <a:solidFill>
                  <a:srgbClr val="27500A"/>
                </a:solidFill>
                <a:latin typeface="Tahoma" panose="020B0604030504040204" pitchFamily="34" charset="0"/>
                <a:ea typeface="Tahoma" panose="020B0604030504040204" pitchFamily="34" charset="0"/>
                <a:cs typeface="Tahoma" panose="020B0604030504040204" pitchFamily="34" charset="0"/>
              </a:rPr>
              <a:t>compliance rate</a:t>
            </a:r>
            <a:endParaRPr lang="en-US" sz="750" dirty="0">
              <a:latin typeface="Tahoma" panose="020B0604030504040204" pitchFamily="34" charset="0"/>
              <a:ea typeface="Tahoma" panose="020B0604030504040204" pitchFamily="34" charset="0"/>
              <a:cs typeface="Tahoma" panose="020B0604030504040204" pitchFamily="34" charset="0"/>
            </a:endParaRPr>
          </a:p>
        </p:txBody>
      </p:sp>
      <p:sp>
        <p:nvSpPr>
          <p:cNvPr id="13" name="Shape 13">
            <a:extLst>
              <a:ext uri="{FF2B5EF4-FFF2-40B4-BE49-F238E27FC236}">
                <a16:creationId xmlns:a16="http://schemas.microsoft.com/office/drawing/2014/main" id="{3E1D1BD1-5DD4-7A07-E981-FBD0B0E84496}"/>
              </a:ext>
            </a:extLst>
          </p:cNvPr>
          <p:cNvSpPr/>
          <p:nvPr/>
        </p:nvSpPr>
        <p:spPr>
          <a:xfrm>
            <a:off x="2334597" y="2315673"/>
            <a:ext cx="54864" cy="630936"/>
          </a:xfrm>
          <a:prstGeom prst="rect">
            <a:avLst/>
          </a:prstGeom>
          <a:solidFill>
            <a:srgbClr val="63991A"/>
          </a:solidFill>
          <a:ln w="12700">
            <a:solidFill>
              <a:srgbClr val="63991A"/>
            </a:solidFill>
            <a:prstDash val="solid"/>
          </a:ln>
        </p:spPr>
        <p:txBody>
          <a:bodyPr/>
          <a:lstStyle/>
          <a:p>
            <a:endParaRPr lang="en-US"/>
          </a:p>
        </p:txBody>
      </p:sp>
      <p:sp>
        <p:nvSpPr>
          <p:cNvPr id="14" name="Text 14">
            <a:extLst>
              <a:ext uri="{FF2B5EF4-FFF2-40B4-BE49-F238E27FC236}">
                <a16:creationId xmlns:a16="http://schemas.microsoft.com/office/drawing/2014/main" id="{D086CEC4-1513-C7CB-21A8-2D66CBD14B1A}"/>
              </a:ext>
            </a:extLst>
          </p:cNvPr>
          <p:cNvSpPr/>
          <p:nvPr/>
        </p:nvSpPr>
        <p:spPr>
          <a:xfrm>
            <a:off x="2453469" y="2333961"/>
            <a:ext cx="2011680" cy="201168"/>
          </a:xfrm>
          <a:prstGeom prst="rect">
            <a:avLst/>
          </a:prstGeom>
          <a:noFill/>
          <a:ln/>
        </p:spPr>
        <p:txBody>
          <a:bodyPr wrap="square" lIns="0" tIns="0" rIns="0" bIns="0" rtlCol="0" anchor="ctr"/>
          <a:lstStyle/>
          <a:p>
            <a:pPr marL="0" indent="0">
              <a:buNone/>
            </a:pPr>
            <a:r>
              <a:rPr lang="en-US" sz="750" dirty="0">
                <a:solidFill>
                  <a:srgbClr val="64748B"/>
                </a:solidFill>
                <a:latin typeface="Tahoma" panose="020B0604030504040204" pitchFamily="34" charset="0"/>
                <a:ea typeface="Tahoma" panose="020B0604030504040204" pitchFamily="34" charset="0"/>
                <a:cs typeface="Tahoma" panose="020B0604030504040204" pitchFamily="34" charset="0"/>
              </a:rPr>
              <a:t>Category</a:t>
            </a:r>
            <a:endParaRPr lang="en-US" sz="750" dirty="0">
              <a:latin typeface="Tahoma" panose="020B0604030504040204" pitchFamily="34" charset="0"/>
              <a:ea typeface="Tahoma" panose="020B0604030504040204" pitchFamily="34" charset="0"/>
              <a:cs typeface="Tahoma" panose="020B0604030504040204" pitchFamily="34" charset="0"/>
            </a:endParaRPr>
          </a:p>
        </p:txBody>
      </p:sp>
      <p:sp>
        <p:nvSpPr>
          <p:cNvPr id="15" name="Text 15">
            <a:extLst>
              <a:ext uri="{FF2B5EF4-FFF2-40B4-BE49-F238E27FC236}">
                <a16:creationId xmlns:a16="http://schemas.microsoft.com/office/drawing/2014/main" id="{81448073-2926-252A-14A0-8158311366B5}"/>
              </a:ext>
            </a:extLst>
          </p:cNvPr>
          <p:cNvSpPr/>
          <p:nvPr/>
        </p:nvSpPr>
        <p:spPr>
          <a:xfrm>
            <a:off x="2453469" y="2535129"/>
            <a:ext cx="2011680" cy="347472"/>
          </a:xfrm>
          <a:prstGeom prst="rect">
            <a:avLst/>
          </a:prstGeom>
          <a:noFill/>
          <a:ln/>
        </p:spPr>
        <p:txBody>
          <a:bodyPr wrap="square" lIns="0" tIns="0" rIns="0" bIns="0" rtlCol="0" anchor="ctr"/>
          <a:lstStyle/>
          <a:p>
            <a:pPr marL="0" indent="0">
              <a:buNone/>
            </a:pPr>
            <a:r>
              <a:rPr lang="en-US" sz="1400" b="1" dirty="0">
                <a:solidFill>
                  <a:srgbClr val="3B6D11"/>
                </a:solidFill>
                <a:latin typeface="Tahoma" panose="020B0604030504040204" pitchFamily="34" charset="0"/>
                <a:ea typeface="Tahoma" panose="020B0604030504040204" pitchFamily="34" charset="0"/>
                <a:cs typeface="Tahoma" panose="020B0604030504040204" pitchFamily="34" charset="0"/>
              </a:rPr>
              <a:t>Full Compliance</a:t>
            </a:r>
            <a:endParaRPr lang="en-US" sz="1400" dirty="0">
              <a:latin typeface="Tahoma" panose="020B0604030504040204" pitchFamily="34" charset="0"/>
              <a:ea typeface="Tahoma" panose="020B0604030504040204" pitchFamily="34" charset="0"/>
              <a:cs typeface="Tahoma" panose="020B0604030504040204" pitchFamily="34" charset="0"/>
            </a:endParaRPr>
          </a:p>
        </p:txBody>
      </p:sp>
      <p:sp>
        <p:nvSpPr>
          <p:cNvPr id="16" name="Shape 16">
            <a:extLst>
              <a:ext uri="{FF2B5EF4-FFF2-40B4-BE49-F238E27FC236}">
                <a16:creationId xmlns:a16="http://schemas.microsoft.com/office/drawing/2014/main" id="{3799C6BB-71B3-8BC1-8179-CEB2C00CF9EE}"/>
              </a:ext>
            </a:extLst>
          </p:cNvPr>
          <p:cNvSpPr/>
          <p:nvPr/>
        </p:nvSpPr>
        <p:spPr>
          <a:xfrm>
            <a:off x="4667625" y="2461977"/>
            <a:ext cx="1325880" cy="310896"/>
          </a:xfrm>
          <a:prstGeom prst="roundRect">
            <a:avLst>
              <a:gd name="adj" fmla="val 14706"/>
            </a:avLst>
          </a:prstGeom>
          <a:solidFill>
            <a:srgbClr val="C0DD97"/>
          </a:solidFill>
          <a:ln w="12700">
            <a:solidFill>
              <a:srgbClr val="C0DD97"/>
            </a:solidFill>
            <a:prstDash val="solid"/>
          </a:ln>
        </p:spPr>
        <p:txBody>
          <a:bodyPr/>
          <a:lstStyle/>
          <a:p>
            <a:endParaRPr lang="en-US"/>
          </a:p>
        </p:txBody>
      </p:sp>
      <p:sp>
        <p:nvSpPr>
          <p:cNvPr id="17" name="Text 17">
            <a:extLst>
              <a:ext uri="{FF2B5EF4-FFF2-40B4-BE49-F238E27FC236}">
                <a16:creationId xmlns:a16="http://schemas.microsoft.com/office/drawing/2014/main" id="{BE02EC12-F71B-F257-5611-227D2E1B3646}"/>
              </a:ext>
            </a:extLst>
          </p:cNvPr>
          <p:cNvSpPr/>
          <p:nvPr/>
        </p:nvSpPr>
        <p:spPr>
          <a:xfrm>
            <a:off x="4667625" y="2461977"/>
            <a:ext cx="1325880" cy="310896"/>
          </a:xfrm>
          <a:prstGeom prst="rect">
            <a:avLst/>
          </a:prstGeom>
          <a:noFill/>
          <a:ln/>
        </p:spPr>
        <p:txBody>
          <a:bodyPr wrap="square" lIns="0" tIns="0" rIns="0" bIns="0" rtlCol="0" anchor="ctr"/>
          <a:lstStyle/>
          <a:p>
            <a:pPr marL="0" indent="0" algn="ctr">
              <a:buNone/>
            </a:pPr>
            <a:r>
              <a:rPr lang="en-US" sz="1100" b="1" dirty="0">
                <a:solidFill>
                  <a:srgbClr val="27500A"/>
                </a:solidFill>
                <a:latin typeface="Tahoma" panose="020B0604030504040204" pitchFamily="34" charset="0"/>
                <a:ea typeface="Tahoma" panose="020B0604030504040204" pitchFamily="34" charset="0"/>
                <a:cs typeface="Tahoma" panose="020B0604030504040204" pitchFamily="34" charset="0"/>
              </a:rPr>
              <a:t>Optimal</a:t>
            </a:r>
            <a:endParaRPr lang="en-US" sz="1100" dirty="0">
              <a:latin typeface="Tahoma" panose="020B0604030504040204" pitchFamily="34" charset="0"/>
              <a:ea typeface="Tahoma" panose="020B0604030504040204" pitchFamily="34" charset="0"/>
              <a:cs typeface="Tahoma" panose="020B0604030504040204" pitchFamily="34" charset="0"/>
            </a:endParaRPr>
          </a:p>
        </p:txBody>
      </p:sp>
      <p:sp>
        <p:nvSpPr>
          <p:cNvPr id="18" name="Text 18">
            <a:extLst>
              <a:ext uri="{FF2B5EF4-FFF2-40B4-BE49-F238E27FC236}">
                <a16:creationId xmlns:a16="http://schemas.microsoft.com/office/drawing/2014/main" id="{06521714-7D70-3F4D-C274-D6C5A5D06B2D}"/>
              </a:ext>
            </a:extLst>
          </p:cNvPr>
          <p:cNvSpPr/>
          <p:nvPr/>
        </p:nvSpPr>
        <p:spPr>
          <a:xfrm>
            <a:off x="6156789" y="2297385"/>
            <a:ext cx="3611880" cy="667512"/>
          </a:xfrm>
          <a:prstGeom prst="rect">
            <a:avLst/>
          </a:prstGeom>
          <a:noFill/>
          <a:ln/>
        </p:spPr>
        <p:txBody>
          <a:bodyPr wrap="square" lIns="0" tIns="0" rIns="0" bIns="0" rtlCol="0" anchor="ctr"/>
          <a:lstStyle/>
          <a:p>
            <a:pPr marL="0" indent="0">
              <a:lnSpc>
                <a:spcPct val="120000"/>
              </a:lnSpc>
              <a:buNone/>
            </a:pPr>
            <a:r>
              <a:rPr lang="en-US" sz="1050" dirty="0">
                <a:latin typeface="Tahoma" panose="020B0604030504040204" pitchFamily="34" charset="0"/>
                <a:ea typeface="Tahoma" panose="020B0604030504040204" pitchFamily="34" charset="0"/>
                <a:cs typeface="Tahoma" panose="020B0604030504040204" pitchFamily="34" charset="0"/>
              </a:rPr>
              <a:t>All HSMS requirements are fully implemented and maintained with evidence, with minor observations only.</a:t>
            </a:r>
          </a:p>
        </p:txBody>
      </p:sp>
      <p:sp>
        <p:nvSpPr>
          <p:cNvPr id="19" name="Shape 19">
            <a:extLst>
              <a:ext uri="{FF2B5EF4-FFF2-40B4-BE49-F238E27FC236}">
                <a16:creationId xmlns:a16="http://schemas.microsoft.com/office/drawing/2014/main" id="{18445276-3536-0A41-9825-0DFB2DA7B6C6}"/>
              </a:ext>
            </a:extLst>
          </p:cNvPr>
          <p:cNvSpPr/>
          <p:nvPr/>
        </p:nvSpPr>
        <p:spPr>
          <a:xfrm>
            <a:off x="2316309" y="2260809"/>
            <a:ext cx="16459" cy="740664"/>
          </a:xfrm>
          <a:prstGeom prst="rect">
            <a:avLst/>
          </a:prstGeom>
          <a:solidFill>
            <a:srgbClr val="2A3A4E"/>
          </a:solidFill>
          <a:ln w="12700">
            <a:solidFill>
              <a:srgbClr val="2A3A4E"/>
            </a:solidFill>
            <a:prstDash val="solid"/>
          </a:ln>
        </p:spPr>
        <p:txBody>
          <a:bodyPr/>
          <a:lstStyle/>
          <a:p>
            <a:endParaRPr lang="en-US"/>
          </a:p>
        </p:txBody>
      </p:sp>
      <p:sp>
        <p:nvSpPr>
          <p:cNvPr id="20" name="Shape 20">
            <a:extLst>
              <a:ext uri="{FF2B5EF4-FFF2-40B4-BE49-F238E27FC236}">
                <a16:creationId xmlns:a16="http://schemas.microsoft.com/office/drawing/2014/main" id="{1A75C4E3-3BB4-D719-25A7-3F5C06A16DF9}"/>
              </a:ext>
            </a:extLst>
          </p:cNvPr>
          <p:cNvSpPr/>
          <p:nvPr/>
        </p:nvSpPr>
        <p:spPr>
          <a:xfrm>
            <a:off x="4556589" y="2260809"/>
            <a:ext cx="16459" cy="740664"/>
          </a:xfrm>
          <a:prstGeom prst="rect">
            <a:avLst/>
          </a:prstGeom>
          <a:solidFill>
            <a:srgbClr val="2A3A4E"/>
          </a:solidFill>
          <a:ln w="12700">
            <a:solidFill>
              <a:srgbClr val="2A3A4E"/>
            </a:solidFill>
            <a:prstDash val="solid"/>
          </a:ln>
        </p:spPr>
        <p:txBody>
          <a:bodyPr/>
          <a:lstStyle/>
          <a:p>
            <a:endParaRPr lang="en-US"/>
          </a:p>
        </p:txBody>
      </p:sp>
      <p:sp>
        <p:nvSpPr>
          <p:cNvPr id="21" name="Shape 21">
            <a:extLst>
              <a:ext uri="{FF2B5EF4-FFF2-40B4-BE49-F238E27FC236}">
                <a16:creationId xmlns:a16="http://schemas.microsoft.com/office/drawing/2014/main" id="{64FB31D6-A3BF-086F-4BA6-F733B11F5679}"/>
              </a:ext>
            </a:extLst>
          </p:cNvPr>
          <p:cNvSpPr/>
          <p:nvPr/>
        </p:nvSpPr>
        <p:spPr>
          <a:xfrm>
            <a:off x="6111069" y="2260809"/>
            <a:ext cx="16459" cy="740664"/>
          </a:xfrm>
          <a:prstGeom prst="rect">
            <a:avLst/>
          </a:prstGeom>
          <a:solidFill>
            <a:srgbClr val="2A3A4E"/>
          </a:solidFill>
          <a:ln w="12700">
            <a:solidFill>
              <a:srgbClr val="2A3A4E"/>
            </a:solidFill>
            <a:prstDash val="solid"/>
          </a:ln>
        </p:spPr>
        <p:txBody>
          <a:bodyPr/>
          <a:lstStyle/>
          <a:p>
            <a:endParaRPr lang="en-US"/>
          </a:p>
        </p:txBody>
      </p:sp>
      <p:sp>
        <p:nvSpPr>
          <p:cNvPr id="22" name="Shape 22">
            <a:extLst>
              <a:ext uri="{FF2B5EF4-FFF2-40B4-BE49-F238E27FC236}">
                <a16:creationId xmlns:a16="http://schemas.microsoft.com/office/drawing/2014/main" id="{AB8984A8-B48D-B41D-11D8-BB1187B4F185}"/>
              </a:ext>
            </a:extLst>
          </p:cNvPr>
          <p:cNvSpPr/>
          <p:nvPr/>
        </p:nvSpPr>
        <p:spPr>
          <a:xfrm>
            <a:off x="990429" y="3147777"/>
            <a:ext cx="8869680" cy="850392"/>
          </a:xfrm>
          <a:prstGeom prst="rect">
            <a:avLst/>
          </a:prstGeom>
          <a:solidFill>
            <a:schemeClr val="bg2"/>
          </a:solidFill>
          <a:ln w="6350">
            <a:solidFill>
              <a:srgbClr val="2A3A4E"/>
            </a:solidFill>
            <a:prstDash val="solid"/>
          </a:ln>
        </p:spPr>
        <p:txBody>
          <a:bodyPr/>
          <a:lstStyle/>
          <a:p>
            <a:endParaRPr lang="en-US"/>
          </a:p>
        </p:txBody>
      </p:sp>
      <p:sp>
        <p:nvSpPr>
          <p:cNvPr id="23" name="Shape 23">
            <a:extLst>
              <a:ext uri="{FF2B5EF4-FFF2-40B4-BE49-F238E27FC236}">
                <a16:creationId xmlns:a16="http://schemas.microsoft.com/office/drawing/2014/main" id="{08EF96B8-E379-E305-DC1E-32AD6FBA2D3E}"/>
              </a:ext>
            </a:extLst>
          </p:cNvPr>
          <p:cNvSpPr/>
          <p:nvPr/>
        </p:nvSpPr>
        <p:spPr>
          <a:xfrm>
            <a:off x="990429" y="3147777"/>
            <a:ext cx="1298448" cy="850392"/>
          </a:xfrm>
          <a:prstGeom prst="rect">
            <a:avLst/>
          </a:prstGeom>
          <a:solidFill>
            <a:srgbClr val="E6F1FB"/>
          </a:solidFill>
          <a:ln w="12700">
            <a:solidFill>
              <a:srgbClr val="E6F1FB"/>
            </a:solidFill>
            <a:prstDash val="solid"/>
          </a:ln>
        </p:spPr>
        <p:txBody>
          <a:bodyPr/>
          <a:lstStyle/>
          <a:p>
            <a:endParaRPr lang="en-US"/>
          </a:p>
        </p:txBody>
      </p:sp>
      <p:sp>
        <p:nvSpPr>
          <p:cNvPr id="24" name="Text 24">
            <a:extLst>
              <a:ext uri="{FF2B5EF4-FFF2-40B4-BE49-F238E27FC236}">
                <a16:creationId xmlns:a16="http://schemas.microsoft.com/office/drawing/2014/main" id="{746F5EFE-AFA5-740D-D958-7891E1B413BE}"/>
              </a:ext>
            </a:extLst>
          </p:cNvPr>
          <p:cNvSpPr/>
          <p:nvPr/>
        </p:nvSpPr>
        <p:spPr>
          <a:xfrm>
            <a:off x="990429" y="3284937"/>
            <a:ext cx="1298448" cy="411480"/>
          </a:xfrm>
          <a:prstGeom prst="rect">
            <a:avLst/>
          </a:prstGeom>
          <a:noFill/>
          <a:ln/>
        </p:spPr>
        <p:txBody>
          <a:bodyPr wrap="square" lIns="0" tIns="0" rIns="0" bIns="0" rtlCol="0" anchor="ctr"/>
          <a:lstStyle/>
          <a:p>
            <a:pPr marL="0" indent="0" algn="ctr">
              <a:buNone/>
            </a:pPr>
            <a:r>
              <a:rPr lang="en-US" sz="2000" b="1" dirty="0">
                <a:solidFill>
                  <a:srgbClr val="0C447C"/>
                </a:solidFill>
                <a:latin typeface="Tahoma" panose="020B0604030504040204" pitchFamily="34" charset="0"/>
                <a:ea typeface="Tahoma" panose="020B0604030504040204" pitchFamily="34" charset="0"/>
                <a:cs typeface="Tahoma" panose="020B0604030504040204" pitchFamily="34" charset="0"/>
              </a:rPr>
              <a:t>81–90%</a:t>
            </a:r>
            <a:endParaRPr lang="en-US" sz="2000" dirty="0">
              <a:latin typeface="Tahoma" panose="020B0604030504040204" pitchFamily="34" charset="0"/>
              <a:ea typeface="Tahoma" panose="020B0604030504040204" pitchFamily="34" charset="0"/>
              <a:cs typeface="Tahoma" panose="020B0604030504040204" pitchFamily="34" charset="0"/>
            </a:endParaRPr>
          </a:p>
        </p:txBody>
      </p:sp>
      <p:sp>
        <p:nvSpPr>
          <p:cNvPr id="25" name="Text 25">
            <a:extLst>
              <a:ext uri="{FF2B5EF4-FFF2-40B4-BE49-F238E27FC236}">
                <a16:creationId xmlns:a16="http://schemas.microsoft.com/office/drawing/2014/main" id="{434CEBC7-DF60-2585-214D-389E3E56985B}"/>
              </a:ext>
            </a:extLst>
          </p:cNvPr>
          <p:cNvSpPr/>
          <p:nvPr/>
        </p:nvSpPr>
        <p:spPr>
          <a:xfrm>
            <a:off x="990429" y="3678129"/>
            <a:ext cx="1298448" cy="228600"/>
          </a:xfrm>
          <a:prstGeom prst="rect">
            <a:avLst/>
          </a:prstGeom>
          <a:noFill/>
          <a:ln/>
        </p:spPr>
        <p:txBody>
          <a:bodyPr wrap="square" lIns="0" tIns="0" rIns="0" bIns="0" rtlCol="0" anchor="ctr"/>
          <a:lstStyle/>
          <a:p>
            <a:pPr marL="0" indent="0" algn="ctr">
              <a:buNone/>
            </a:pPr>
            <a:r>
              <a:rPr lang="en-US" sz="750" dirty="0">
                <a:solidFill>
                  <a:srgbClr val="0C447C"/>
                </a:solidFill>
                <a:latin typeface="Tahoma" panose="020B0604030504040204" pitchFamily="34" charset="0"/>
                <a:ea typeface="Tahoma" panose="020B0604030504040204" pitchFamily="34" charset="0"/>
                <a:cs typeface="Tahoma" panose="020B0604030504040204" pitchFamily="34" charset="0"/>
              </a:rPr>
              <a:t>compliance rate</a:t>
            </a:r>
            <a:endParaRPr lang="en-US" sz="750" dirty="0">
              <a:latin typeface="Tahoma" panose="020B0604030504040204" pitchFamily="34" charset="0"/>
              <a:ea typeface="Tahoma" panose="020B0604030504040204" pitchFamily="34" charset="0"/>
              <a:cs typeface="Tahoma" panose="020B0604030504040204" pitchFamily="34" charset="0"/>
            </a:endParaRPr>
          </a:p>
        </p:txBody>
      </p:sp>
      <p:sp>
        <p:nvSpPr>
          <p:cNvPr id="26" name="Shape 26">
            <a:extLst>
              <a:ext uri="{FF2B5EF4-FFF2-40B4-BE49-F238E27FC236}">
                <a16:creationId xmlns:a16="http://schemas.microsoft.com/office/drawing/2014/main" id="{B15B4EBD-8650-57A0-0331-20B5713589C1}"/>
              </a:ext>
            </a:extLst>
          </p:cNvPr>
          <p:cNvSpPr/>
          <p:nvPr/>
        </p:nvSpPr>
        <p:spPr>
          <a:xfrm>
            <a:off x="2334597" y="3257505"/>
            <a:ext cx="54864" cy="630936"/>
          </a:xfrm>
          <a:prstGeom prst="rect">
            <a:avLst/>
          </a:prstGeom>
          <a:solidFill>
            <a:srgbClr val="378ADD"/>
          </a:solidFill>
          <a:ln w="12700">
            <a:solidFill>
              <a:srgbClr val="378ADD"/>
            </a:solidFill>
            <a:prstDash val="solid"/>
          </a:ln>
        </p:spPr>
        <p:txBody>
          <a:bodyPr/>
          <a:lstStyle/>
          <a:p>
            <a:endParaRPr lang="en-US"/>
          </a:p>
        </p:txBody>
      </p:sp>
      <p:sp>
        <p:nvSpPr>
          <p:cNvPr id="27" name="Text 27">
            <a:extLst>
              <a:ext uri="{FF2B5EF4-FFF2-40B4-BE49-F238E27FC236}">
                <a16:creationId xmlns:a16="http://schemas.microsoft.com/office/drawing/2014/main" id="{A7F4976C-1397-1517-695C-7FE01648AC90}"/>
              </a:ext>
            </a:extLst>
          </p:cNvPr>
          <p:cNvSpPr/>
          <p:nvPr/>
        </p:nvSpPr>
        <p:spPr>
          <a:xfrm>
            <a:off x="2453469" y="3275793"/>
            <a:ext cx="2011680" cy="201168"/>
          </a:xfrm>
          <a:prstGeom prst="rect">
            <a:avLst/>
          </a:prstGeom>
          <a:noFill/>
          <a:ln/>
        </p:spPr>
        <p:txBody>
          <a:bodyPr wrap="square" lIns="0" tIns="0" rIns="0" bIns="0" rtlCol="0" anchor="ctr"/>
          <a:lstStyle/>
          <a:p>
            <a:pPr marL="0" indent="0">
              <a:buNone/>
            </a:pPr>
            <a:r>
              <a:rPr lang="en-US" sz="750" dirty="0">
                <a:solidFill>
                  <a:srgbClr val="64748B"/>
                </a:solidFill>
                <a:latin typeface="Tahoma" panose="020B0604030504040204" pitchFamily="34" charset="0"/>
                <a:ea typeface="Tahoma" panose="020B0604030504040204" pitchFamily="34" charset="0"/>
                <a:cs typeface="Tahoma" panose="020B0604030504040204" pitchFamily="34" charset="0"/>
              </a:rPr>
              <a:t>Category</a:t>
            </a:r>
            <a:endParaRPr lang="en-US" sz="750" dirty="0">
              <a:latin typeface="Tahoma" panose="020B0604030504040204" pitchFamily="34" charset="0"/>
              <a:ea typeface="Tahoma" panose="020B0604030504040204" pitchFamily="34" charset="0"/>
              <a:cs typeface="Tahoma" panose="020B0604030504040204" pitchFamily="34" charset="0"/>
            </a:endParaRPr>
          </a:p>
        </p:txBody>
      </p:sp>
      <p:sp>
        <p:nvSpPr>
          <p:cNvPr id="28" name="Text 28">
            <a:extLst>
              <a:ext uri="{FF2B5EF4-FFF2-40B4-BE49-F238E27FC236}">
                <a16:creationId xmlns:a16="http://schemas.microsoft.com/office/drawing/2014/main" id="{D913319E-6B2C-4F2E-0A16-BB99B70BC649}"/>
              </a:ext>
            </a:extLst>
          </p:cNvPr>
          <p:cNvSpPr/>
          <p:nvPr/>
        </p:nvSpPr>
        <p:spPr>
          <a:xfrm>
            <a:off x="2453469" y="3476961"/>
            <a:ext cx="2011680" cy="347472"/>
          </a:xfrm>
          <a:prstGeom prst="rect">
            <a:avLst/>
          </a:prstGeom>
          <a:noFill/>
          <a:ln/>
        </p:spPr>
        <p:txBody>
          <a:bodyPr wrap="square" lIns="0" tIns="0" rIns="0" bIns="0" rtlCol="0" anchor="ctr"/>
          <a:lstStyle/>
          <a:p>
            <a:pPr marL="0" indent="0">
              <a:buNone/>
            </a:pPr>
            <a:r>
              <a:rPr lang="en-US" sz="1400" b="1" dirty="0">
                <a:solidFill>
                  <a:srgbClr val="185FA5"/>
                </a:solidFill>
                <a:latin typeface="Tahoma" panose="020B0604030504040204" pitchFamily="34" charset="0"/>
                <a:ea typeface="Tahoma" panose="020B0604030504040204" pitchFamily="34" charset="0"/>
                <a:cs typeface="Tahoma" panose="020B0604030504040204" pitchFamily="34" charset="0"/>
              </a:rPr>
              <a:t>High Compliance</a:t>
            </a:r>
            <a:endParaRPr lang="en-US" sz="1400" dirty="0">
              <a:latin typeface="Tahoma" panose="020B0604030504040204" pitchFamily="34" charset="0"/>
              <a:ea typeface="Tahoma" panose="020B0604030504040204" pitchFamily="34" charset="0"/>
              <a:cs typeface="Tahoma" panose="020B0604030504040204" pitchFamily="34" charset="0"/>
            </a:endParaRPr>
          </a:p>
        </p:txBody>
      </p:sp>
      <p:sp>
        <p:nvSpPr>
          <p:cNvPr id="29" name="Shape 29">
            <a:extLst>
              <a:ext uri="{FF2B5EF4-FFF2-40B4-BE49-F238E27FC236}">
                <a16:creationId xmlns:a16="http://schemas.microsoft.com/office/drawing/2014/main" id="{701D2134-3B00-9148-668B-721E89A7A528}"/>
              </a:ext>
            </a:extLst>
          </p:cNvPr>
          <p:cNvSpPr/>
          <p:nvPr/>
        </p:nvSpPr>
        <p:spPr>
          <a:xfrm>
            <a:off x="4667625" y="3403809"/>
            <a:ext cx="1325880" cy="310896"/>
          </a:xfrm>
          <a:prstGeom prst="roundRect">
            <a:avLst>
              <a:gd name="adj" fmla="val 14706"/>
            </a:avLst>
          </a:prstGeom>
          <a:solidFill>
            <a:srgbClr val="B5D4F4"/>
          </a:solidFill>
          <a:ln w="12700">
            <a:solidFill>
              <a:srgbClr val="B5D4F4"/>
            </a:solidFill>
            <a:prstDash val="solid"/>
          </a:ln>
        </p:spPr>
        <p:txBody>
          <a:bodyPr/>
          <a:lstStyle/>
          <a:p>
            <a:endParaRPr lang="en-US"/>
          </a:p>
        </p:txBody>
      </p:sp>
      <p:sp>
        <p:nvSpPr>
          <p:cNvPr id="30" name="Text 30">
            <a:extLst>
              <a:ext uri="{FF2B5EF4-FFF2-40B4-BE49-F238E27FC236}">
                <a16:creationId xmlns:a16="http://schemas.microsoft.com/office/drawing/2014/main" id="{4F15540E-586B-1BAB-068B-DD1626638BF4}"/>
              </a:ext>
            </a:extLst>
          </p:cNvPr>
          <p:cNvSpPr/>
          <p:nvPr/>
        </p:nvSpPr>
        <p:spPr>
          <a:xfrm>
            <a:off x="4667625" y="3403809"/>
            <a:ext cx="1325880" cy="310896"/>
          </a:xfrm>
          <a:prstGeom prst="rect">
            <a:avLst/>
          </a:prstGeom>
          <a:noFill/>
          <a:ln/>
        </p:spPr>
        <p:txBody>
          <a:bodyPr wrap="square" lIns="0" tIns="0" rIns="0" bIns="0" rtlCol="0" anchor="ctr"/>
          <a:lstStyle/>
          <a:p>
            <a:pPr marL="0" indent="0" algn="ctr">
              <a:buNone/>
            </a:pPr>
            <a:r>
              <a:rPr lang="en-US" sz="1100" b="1" dirty="0">
                <a:solidFill>
                  <a:srgbClr val="0C447C"/>
                </a:solidFill>
                <a:latin typeface="Tahoma" panose="020B0604030504040204" pitchFamily="34" charset="0"/>
                <a:ea typeface="Tahoma" panose="020B0604030504040204" pitchFamily="34" charset="0"/>
                <a:cs typeface="Tahoma" panose="020B0604030504040204" pitchFamily="34" charset="0"/>
              </a:rPr>
              <a:t>Acceptable</a:t>
            </a:r>
            <a:endParaRPr lang="en-US" sz="1100" dirty="0">
              <a:latin typeface="Tahoma" panose="020B0604030504040204" pitchFamily="34" charset="0"/>
              <a:ea typeface="Tahoma" panose="020B0604030504040204" pitchFamily="34" charset="0"/>
              <a:cs typeface="Tahoma" panose="020B0604030504040204" pitchFamily="34" charset="0"/>
            </a:endParaRPr>
          </a:p>
        </p:txBody>
      </p:sp>
      <p:sp>
        <p:nvSpPr>
          <p:cNvPr id="31" name="Text 31">
            <a:extLst>
              <a:ext uri="{FF2B5EF4-FFF2-40B4-BE49-F238E27FC236}">
                <a16:creationId xmlns:a16="http://schemas.microsoft.com/office/drawing/2014/main" id="{5CE0B5C3-A8CE-99B7-8810-943AE835D6E3}"/>
              </a:ext>
            </a:extLst>
          </p:cNvPr>
          <p:cNvSpPr/>
          <p:nvPr/>
        </p:nvSpPr>
        <p:spPr>
          <a:xfrm>
            <a:off x="6156789" y="3239217"/>
            <a:ext cx="3611880" cy="667512"/>
          </a:xfrm>
          <a:prstGeom prst="rect">
            <a:avLst/>
          </a:prstGeom>
          <a:noFill/>
          <a:ln/>
        </p:spPr>
        <p:txBody>
          <a:bodyPr wrap="square" lIns="0" tIns="0" rIns="0" bIns="0" rtlCol="0" anchor="ctr"/>
          <a:lstStyle/>
          <a:p>
            <a:pPr marL="0" indent="0">
              <a:lnSpc>
                <a:spcPct val="120000"/>
              </a:lnSpc>
              <a:buNone/>
            </a:pPr>
            <a:r>
              <a:rPr lang="en-US" sz="1050" dirty="0">
                <a:latin typeface="Tahoma" panose="020B0604030504040204" pitchFamily="34" charset="0"/>
                <a:ea typeface="Tahoma" panose="020B0604030504040204" pitchFamily="34" charset="0"/>
                <a:cs typeface="Tahoma" panose="020B0604030504040204" pitchFamily="34" charset="0"/>
              </a:rPr>
              <a:t>Most HSMS requirements implemented; minor non-conformities exist.</a:t>
            </a:r>
          </a:p>
        </p:txBody>
      </p:sp>
      <p:sp>
        <p:nvSpPr>
          <p:cNvPr id="32" name="Shape 32">
            <a:extLst>
              <a:ext uri="{FF2B5EF4-FFF2-40B4-BE49-F238E27FC236}">
                <a16:creationId xmlns:a16="http://schemas.microsoft.com/office/drawing/2014/main" id="{E14DC613-7558-AC05-3FFB-330926892DC2}"/>
              </a:ext>
            </a:extLst>
          </p:cNvPr>
          <p:cNvSpPr/>
          <p:nvPr/>
        </p:nvSpPr>
        <p:spPr>
          <a:xfrm>
            <a:off x="2316309" y="3202641"/>
            <a:ext cx="16459" cy="740664"/>
          </a:xfrm>
          <a:prstGeom prst="rect">
            <a:avLst/>
          </a:prstGeom>
          <a:solidFill>
            <a:srgbClr val="2A3A4E"/>
          </a:solidFill>
          <a:ln w="12700">
            <a:solidFill>
              <a:srgbClr val="2A3A4E"/>
            </a:solidFill>
            <a:prstDash val="solid"/>
          </a:ln>
        </p:spPr>
        <p:txBody>
          <a:bodyPr/>
          <a:lstStyle/>
          <a:p>
            <a:endParaRPr lang="en-US"/>
          </a:p>
        </p:txBody>
      </p:sp>
      <p:sp>
        <p:nvSpPr>
          <p:cNvPr id="33" name="Shape 33">
            <a:extLst>
              <a:ext uri="{FF2B5EF4-FFF2-40B4-BE49-F238E27FC236}">
                <a16:creationId xmlns:a16="http://schemas.microsoft.com/office/drawing/2014/main" id="{A58F5052-5655-0000-B905-64140C389196}"/>
              </a:ext>
            </a:extLst>
          </p:cNvPr>
          <p:cNvSpPr/>
          <p:nvPr/>
        </p:nvSpPr>
        <p:spPr>
          <a:xfrm>
            <a:off x="4556589" y="3202641"/>
            <a:ext cx="16459" cy="740664"/>
          </a:xfrm>
          <a:prstGeom prst="rect">
            <a:avLst/>
          </a:prstGeom>
          <a:solidFill>
            <a:srgbClr val="2A3A4E"/>
          </a:solidFill>
          <a:ln w="12700">
            <a:solidFill>
              <a:srgbClr val="2A3A4E"/>
            </a:solidFill>
            <a:prstDash val="solid"/>
          </a:ln>
        </p:spPr>
        <p:txBody>
          <a:bodyPr/>
          <a:lstStyle/>
          <a:p>
            <a:endParaRPr lang="en-US"/>
          </a:p>
        </p:txBody>
      </p:sp>
      <p:sp>
        <p:nvSpPr>
          <p:cNvPr id="34" name="Shape 34">
            <a:extLst>
              <a:ext uri="{FF2B5EF4-FFF2-40B4-BE49-F238E27FC236}">
                <a16:creationId xmlns:a16="http://schemas.microsoft.com/office/drawing/2014/main" id="{4586FA43-1DDA-C0EF-EA71-09B7FC420FB0}"/>
              </a:ext>
            </a:extLst>
          </p:cNvPr>
          <p:cNvSpPr/>
          <p:nvPr/>
        </p:nvSpPr>
        <p:spPr>
          <a:xfrm>
            <a:off x="6111069" y="3202641"/>
            <a:ext cx="16459" cy="740664"/>
          </a:xfrm>
          <a:prstGeom prst="rect">
            <a:avLst/>
          </a:prstGeom>
          <a:solidFill>
            <a:srgbClr val="2A3A4E"/>
          </a:solidFill>
          <a:ln w="12700">
            <a:solidFill>
              <a:srgbClr val="2A3A4E"/>
            </a:solidFill>
            <a:prstDash val="solid"/>
          </a:ln>
        </p:spPr>
        <p:txBody>
          <a:bodyPr/>
          <a:lstStyle/>
          <a:p>
            <a:endParaRPr lang="en-US"/>
          </a:p>
        </p:txBody>
      </p:sp>
      <p:sp>
        <p:nvSpPr>
          <p:cNvPr id="35" name="Shape 35">
            <a:extLst>
              <a:ext uri="{FF2B5EF4-FFF2-40B4-BE49-F238E27FC236}">
                <a16:creationId xmlns:a16="http://schemas.microsoft.com/office/drawing/2014/main" id="{FED35DA9-8507-6DD7-78F5-4F5620F7BE97}"/>
              </a:ext>
            </a:extLst>
          </p:cNvPr>
          <p:cNvSpPr/>
          <p:nvPr/>
        </p:nvSpPr>
        <p:spPr>
          <a:xfrm>
            <a:off x="990429" y="4089609"/>
            <a:ext cx="8869680" cy="850392"/>
          </a:xfrm>
          <a:prstGeom prst="rect">
            <a:avLst/>
          </a:prstGeom>
          <a:solidFill>
            <a:schemeClr val="bg2"/>
          </a:solidFill>
          <a:ln w="6350">
            <a:solidFill>
              <a:srgbClr val="2A3A4E"/>
            </a:solidFill>
            <a:prstDash val="solid"/>
          </a:ln>
        </p:spPr>
        <p:txBody>
          <a:bodyPr/>
          <a:lstStyle/>
          <a:p>
            <a:endParaRPr lang="en-US"/>
          </a:p>
        </p:txBody>
      </p:sp>
      <p:sp>
        <p:nvSpPr>
          <p:cNvPr id="36" name="Shape 36">
            <a:extLst>
              <a:ext uri="{FF2B5EF4-FFF2-40B4-BE49-F238E27FC236}">
                <a16:creationId xmlns:a16="http://schemas.microsoft.com/office/drawing/2014/main" id="{97A1DD05-5AF3-E07B-7680-8A949DF5558C}"/>
              </a:ext>
            </a:extLst>
          </p:cNvPr>
          <p:cNvSpPr/>
          <p:nvPr/>
        </p:nvSpPr>
        <p:spPr>
          <a:xfrm>
            <a:off x="990429" y="4089609"/>
            <a:ext cx="1298448" cy="850392"/>
          </a:xfrm>
          <a:prstGeom prst="rect">
            <a:avLst/>
          </a:prstGeom>
          <a:solidFill>
            <a:srgbClr val="FAEEDA"/>
          </a:solidFill>
          <a:ln w="12700">
            <a:solidFill>
              <a:srgbClr val="FAEEDA"/>
            </a:solidFill>
            <a:prstDash val="solid"/>
          </a:ln>
        </p:spPr>
        <p:txBody>
          <a:bodyPr/>
          <a:lstStyle/>
          <a:p>
            <a:endParaRPr lang="en-US"/>
          </a:p>
        </p:txBody>
      </p:sp>
      <p:sp>
        <p:nvSpPr>
          <p:cNvPr id="37" name="Text 37">
            <a:extLst>
              <a:ext uri="{FF2B5EF4-FFF2-40B4-BE49-F238E27FC236}">
                <a16:creationId xmlns:a16="http://schemas.microsoft.com/office/drawing/2014/main" id="{93A1ADCC-4135-7558-B226-E59FCB3AB5B6}"/>
              </a:ext>
            </a:extLst>
          </p:cNvPr>
          <p:cNvSpPr/>
          <p:nvPr/>
        </p:nvSpPr>
        <p:spPr>
          <a:xfrm>
            <a:off x="990429" y="4226769"/>
            <a:ext cx="1298448" cy="411480"/>
          </a:xfrm>
          <a:prstGeom prst="rect">
            <a:avLst/>
          </a:prstGeom>
          <a:noFill/>
          <a:ln/>
        </p:spPr>
        <p:txBody>
          <a:bodyPr wrap="square" lIns="0" tIns="0" rIns="0" bIns="0" rtlCol="0" anchor="ctr"/>
          <a:lstStyle/>
          <a:p>
            <a:pPr marL="0" indent="0" algn="ctr">
              <a:buNone/>
            </a:pPr>
            <a:r>
              <a:rPr lang="en-US" sz="2000" b="1" dirty="0">
                <a:solidFill>
                  <a:srgbClr val="633806"/>
                </a:solidFill>
                <a:latin typeface="Tahoma" panose="020B0604030504040204" pitchFamily="34" charset="0"/>
                <a:ea typeface="Tahoma" panose="020B0604030504040204" pitchFamily="34" charset="0"/>
                <a:cs typeface="Tahoma" panose="020B0604030504040204" pitchFamily="34" charset="0"/>
              </a:rPr>
              <a:t>71–80%</a:t>
            </a:r>
            <a:endParaRPr lang="en-US" sz="2000" dirty="0">
              <a:latin typeface="Tahoma" panose="020B0604030504040204" pitchFamily="34" charset="0"/>
              <a:ea typeface="Tahoma" panose="020B0604030504040204" pitchFamily="34" charset="0"/>
              <a:cs typeface="Tahoma" panose="020B0604030504040204" pitchFamily="34" charset="0"/>
            </a:endParaRPr>
          </a:p>
        </p:txBody>
      </p:sp>
      <p:sp>
        <p:nvSpPr>
          <p:cNvPr id="38" name="Text 38">
            <a:extLst>
              <a:ext uri="{FF2B5EF4-FFF2-40B4-BE49-F238E27FC236}">
                <a16:creationId xmlns:a16="http://schemas.microsoft.com/office/drawing/2014/main" id="{B655E844-A2F5-54CF-BAED-E30C2F40F83E}"/>
              </a:ext>
            </a:extLst>
          </p:cNvPr>
          <p:cNvSpPr/>
          <p:nvPr/>
        </p:nvSpPr>
        <p:spPr>
          <a:xfrm>
            <a:off x="990429" y="4619961"/>
            <a:ext cx="1298448" cy="228600"/>
          </a:xfrm>
          <a:prstGeom prst="rect">
            <a:avLst/>
          </a:prstGeom>
          <a:noFill/>
          <a:ln/>
        </p:spPr>
        <p:txBody>
          <a:bodyPr wrap="square" lIns="0" tIns="0" rIns="0" bIns="0" rtlCol="0" anchor="ctr"/>
          <a:lstStyle/>
          <a:p>
            <a:pPr marL="0" indent="0" algn="ctr">
              <a:buNone/>
            </a:pPr>
            <a:r>
              <a:rPr lang="en-US" sz="750" dirty="0">
                <a:solidFill>
                  <a:srgbClr val="633806"/>
                </a:solidFill>
                <a:latin typeface="Tahoma" panose="020B0604030504040204" pitchFamily="34" charset="0"/>
                <a:ea typeface="Tahoma" panose="020B0604030504040204" pitchFamily="34" charset="0"/>
                <a:cs typeface="Tahoma" panose="020B0604030504040204" pitchFamily="34" charset="0"/>
              </a:rPr>
              <a:t>compliance rate</a:t>
            </a:r>
            <a:endParaRPr lang="en-US" sz="750" dirty="0">
              <a:latin typeface="Tahoma" panose="020B0604030504040204" pitchFamily="34" charset="0"/>
              <a:ea typeface="Tahoma" panose="020B0604030504040204" pitchFamily="34" charset="0"/>
              <a:cs typeface="Tahoma" panose="020B0604030504040204" pitchFamily="34" charset="0"/>
            </a:endParaRPr>
          </a:p>
        </p:txBody>
      </p:sp>
      <p:sp>
        <p:nvSpPr>
          <p:cNvPr id="39" name="Shape 39">
            <a:extLst>
              <a:ext uri="{FF2B5EF4-FFF2-40B4-BE49-F238E27FC236}">
                <a16:creationId xmlns:a16="http://schemas.microsoft.com/office/drawing/2014/main" id="{5EEF45A2-2D3B-E3A9-AF74-F36269AB81E4}"/>
              </a:ext>
            </a:extLst>
          </p:cNvPr>
          <p:cNvSpPr/>
          <p:nvPr/>
        </p:nvSpPr>
        <p:spPr>
          <a:xfrm>
            <a:off x="2334597" y="4199337"/>
            <a:ext cx="54864" cy="630936"/>
          </a:xfrm>
          <a:prstGeom prst="rect">
            <a:avLst/>
          </a:prstGeom>
          <a:solidFill>
            <a:srgbClr val="EF9F27"/>
          </a:solidFill>
          <a:ln w="12700">
            <a:solidFill>
              <a:srgbClr val="EF9F27"/>
            </a:solidFill>
            <a:prstDash val="solid"/>
          </a:ln>
        </p:spPr>
        <p:txBody>
          <a:bodyPr/>
          <a:lstStyle/>
          <a:p>
            <a:endParaRPr lang="en-US"/>
          </a:p>
        </p:txBody>
      </p:sp>
      <p:sp>
        <p:nvSpPr>
          <p:cNvPr id="40" name="Text 40">
            <a:extLst>
              <a:ext uri="{FF2B5EF4-FFF2-40B4-BE49-F238E27FC236}">
                <a16:creationId xmlns:a16="http://schemas.microsoft.com/office/drawing/2014/main" id="{076C19D0-3B24-8156-D146-271F59EF2776}"/>
              </a:ext>
            </a:extLst>
          </p:cNvPr>
          <p:cNvSpPr/>
          <p:nvPr/>
        </p:nvSpPr>
        <p:spPr>
          <a:xfrm>
            <a:off x="2453469" y="4217625"/>
            <a:ext cx="2011680" cy="201168"/>
          </a:xfrm>
          <a:prstGeom prst="rect">
            <a:avLst/>
          </a:prstGeom>
          <a:noFill/>
          <a:ln/>
        </p:spPr>
        <p:txBody>
          <a:bodyPr wrap="square" lIns="0" tIns="0" rIns="0" bIns="0" rtlCol="0" anchor="ctr"/>
          <a:lstStyle/>
          <a:p>
            <a:pPr marL="0" indent="0">
              <a:buNone/>
            </a:pPr>
            <a:r>
              <a:rPr lang="en-US" sz="750" dirty="0">
                <a:solidFill>
                  <a:srgbClr val="64748B"/>
                </a:solidFill>
                <a:latin typeface="Tahoma" panose="020B0604030504040204" pitchFamily="34" charset="0"/>
                <a:ea typeface="Tahoma" panose="020B0604030504040204" pitchFamily="34" charset="0"/>
                <a:cs typeface="Tahoma" panose="020B0604030504040204" pitchFamily="34" charset="0"/>
              </a:rPr>
              <a:t>Category</a:t>
            </a:r>
            <a:endParaRPr lang="en-US" sz="750" dirty="0">
              <a:latin typeface="Tahoma" panose="020B0604030504040204" pitchFamily="34" charset="0"/>
              <a:ea typeface="Tahoma" panose="020B0604030504040204" pitchFamily="34" charset="0"/>
              <a:cs typeface="Tahoma" panose="020B0604030504040204" pitchFamily="34" charset="0"/>
            </a:endParaRPr>
          </a:p>
        </p:txBody>
      </p:sp>
      <p:sp>
        <p:nvSpPr>
          <p:cNvPr id="41" name="Text 41">
            <a:extLst>
              <a:ext uri="{FF2B5EF4-FFF2-40B4-BE49-F238E27FC236}">
                <a16:creationId xmlns:a16="http://schemas.microsoft.com/office/drawing/2014/main" id="{1324AF8F-40D0-3E42-DF9A-D08C937D179E}"/>
              </a:ext>
            </a:extLst>
          </p:cNvPr>
          <p:cNvSpPr/>
          <p:nvPr/>
        </p:nvSpPr>
        <p:spPr>
          <a:xfrm>
            <a:off x="2453469" y="4418793"/>
            <a:ext cx="2011680" cy="347472"/>
          </a:xfrm>
          <a:prstGeom prst="rect">
            <a:avLst/>
          </a:prstGeom>
          <a:noFill/>
          <a:ln/>
        </p:spPr>
        <p:txBody>
          <a:bodyPr wrap="square" lIns="0" tIns="0" rIns="0" bIns="0" rtlCol="0" anchor="ctr"/>
          <a:lstStyle/>
          <a:p>
            <a:pPr marL="0" indent="0">
              <a:buNone/>
            </a:pPr>
            <a:r>
              <a:rPr lang="en-US" sz="1400" b="1" dirty="0">
                <a:solidFill>
                  <a:srgbClr val="854F0B"/>
                </a:solidFill>
                <a:latin typeface="Tahoma" panose="020B0604030504040204" pitchFamily="34" charset="0"/>
                <a:ea typeface="Tahoma" panose="020B0604030504040204" pitchFamily="34" charset="0"/>
                <a:cs typeface="Tahoma" panose="020B0604030504040204" pitchFamily="34" charset="0"/>
              </a:rPr>
              <a:t>Partial Compliance</a:t>
            </a:r>
            <a:endParaRPr lang="en-US" sz="1400" dirty="0">
              <a:latin typeface="Tahoma" panose="020B0604030504040204" pitchFamily="34" charset="0"/>
              <a:ea typeface="Tahoma" panose="020B0604030504040204" pitchFamily="34" charset="0"/>
              <a:cs typeface="Tahoma" panose="020B0604030504040204" pitchFamily="34" charset="0"/>
            </a:endParaRPr>
          </a:p>
        </p:txBody>
      </p:sp>
      <p:sp>
        <p:nvSpPr>
          <p:cNvPr id="42" name="Shape 42">
            <a:extLst>
              <a:ext uri="{FF2B5EF4-FFF2-40B4-BE49-F238E27FC236}">
                <a16:creationId xmlns:a16="http://schemas.microsoft.com/office/drawing/2014/main" id="{F97BE8B7-54CA-13AA-9BA1-F306A21C6C7A}"/>
              </a:ext>
            </a:extLst>
          </p:cNvPr>
          <p:cNvSpPr/>
          <p:nvPr/>
        </p:nvSpPr>
        <p:spPr>
          <a:xfrm>
            <a:off x="4656739" y="4345641"/>
            <a:ext cx="1325880" cy="310896"/>
          </a:xfrm>
          <a:prstGeom prst="roundRect">
            <a:avLst>
              <a:gd name="adj" fmla="val 14706"/>
            </a:avLst>
          </a:prstGeom>
          <a:solidFill>
            <a:srgbClr val="FAC775"/>
          </a:solidFill>
          <a:ln w="12700">
            <a:solidFill>
              <a:srgbClr val="FAC775"/>
            </a:solidFill>
            <a:prstDash val="solid"/>
          </a:ln>
        </p:spPr>
        <p:txBody>
          <a:bodyPr/>
          <a:lstStyle/>
          <a:p>
            <a:endParaRPr lang="en-US"/>
          </a:p>
        </p:txBody>
      </p:sp>
      <p:sp>
        <p:nvSpPr>
          <p:cNvPr id="43" name="Text 43">
            <a:extLst>
              <a:ext uri="{FF2B5EF4-FFF2-40B4-BE49-F238E27FC236}">
                <a16:creationId xmlns:a16="http://schemas.microsoft.com/office/drawing/2014/main" id="{604BF9BE-828D-9538-976C-CA9745CF299D}"/>
              </a:ext>
            </a:extLst>
          </p:cNvPr>
          <p:cNvSpPr/>
          <p:nvPr/>
        </p:nvSpPr>
        <p:spPr>
          <a:xfrm>
            <a:off x="4667625" y="4345641"/>
            <a:ext cx="1325880" cy="310896"/>
          </a:xfrm>
          <a:prstGeom prst="rect">
            <a:avLst/>
          </a:prstGeom>
          <a:noFill/>
          <a:ln/>
        </p:spPr>
        <p:txBody>
          <a:bodyPr wrap="square" lIns="0" tIns="0" rIns="0" bIns="0" rtlCol="0" anchor="ctr"/>
          <a:lstStyle/>
          <a:p>
            <a:pPr marL="0" indent="0" algn="ctr">
              <a:buNone/>
            </a:pPr>
            <a:r>
              <a:rPr lang="en-US" sz="1100" b="1" dirty="0">
                <a:solidFill>
                  <a:srgbClr val="633806"/>
                </a:solidFill>
                <a:latin typeface="Tahoma" panose="020B0604030504040204" pitchFamily="34" charset="0"/>
                <a:ea typeface="Tahoma" panose="020B0604030504040204" pitchFamily="34" charset="0"/>
                <a:cs typeface="Tahoma" panose="020B0604030504040204" pitchFamily="34" charset="0"/>
              </a:rPr>
              <a:t>Sub-Optimal</a:t>
            </a:r>
            <a:endParaRPr lang="en-US" sz="1100" dirty="0">
              <a:latin typeface="Tahoma" panose="020B0604030504040204" pitchFamily="34" charset="0"/>
              <a:ea typeface="Tahoma" panose="020B0604030504040204" pitchFamily="34" charset="0"/>
              <a:cs typeface="Tahoma" panose="020B0604030504040204" pitchFamily="34" charset="0"/>
            </a:endParaRPr>
          </a:p>
        </p:txBody>
      </p:sp>
      <p:sp>
        <p:nvSpPr>
          <p:cNvPr id="44" name="Text 44">
            <a:extLst>
              <a:ext uri="{FF2B5EF4-FFF2-40B4-BE49-F238E27FC236}">
                <a16:creationId xmlns:a16="http://schemas.microsoft.com/office/drawing/2014/main" id="{FB205971-BDE9-303F-05DF-DD1BAAE38B36}"/>
              </a:ext>
            </a:extLst>
          </p:cNvPr>
          <p:cNvSpPr/>
          <p:nvPr/>
        </p:nvSpPr>
        <p:spPr>
          <a:xfrm>
            <a:off x="6156789" y="4181049"/>
            <a:ext cx="3611880" cy="667512"/>
          </a:xfrm>
          <a:prstGeom prst="rect">
            <a:avLst/>
          </a:prstGeom>
          <a:noFill/>
          <a:ln/>
        </p:spPr>
        <p:txBody>
          <a:bodyPr wrap="square" lIns="0" tIns="0" rIns="0" bIns="0" rtlCol="0" anchor="ctr"/>
          <a:lstStyle/>
          <a:p>
            <a:pPr marL="0" indent="0">
              <a:lnSpc>
                <a:spcPct val="120000"/>
              </a:lnSpc>
              <a:buNone/>
            </a:pPr>
            <a:r>
              <a:rPr lang="en-US" sz="1050" dirty="0">
                <a:latin typeface="Tahoma" panose="020B0604030504040204" pitchFamily="34" charset="0"/>
                <a:ea typeface="Tahoma" panose="020B0604030504040204" pitchFamily="34" charset="0"/>
                <a:cs typeface="Tahoma" panose="020B0604030504040204" pitchFamily="34" charset="0"/>
              </a:rPr>
              <a:t>Some HSMS elements implemented; corrective actions needed.</a:t>
            </a:r>
          </a:p>
        </p:txBody>
      </p:sp>
      <p:sp>
        <p:nvSpPr>
          <p:cNvPr id="45" name="Shape 45">
            <a:extLst>
              <a:ext uri="{FF2B5EF4-FFF2-40B4-BE49-F238E27FC236}">
                <a16:creationId xmlns:a16="http://schemas.microsoft.com/office/drawing/2014/main" id="{E2C0F8C1-F1AF-1058-37E9-26A44DA2A32A}"/>
              </a:ext>
            </a:extLst>
          </p:cNvPr>
          <p:cNvSpPr/>
          <p:nvPr/>
        </p:nvSpPr>
        <p:spPr>
          <a:xfrm>
            <a:off x="2316309" y="4144473"/>
            <a:ext cx="16459" cy="740664"/>
          </a:xfrm>
          <a:prstGeom prst="rect">
            <a:avLst/>
          </a:prstGeom>
          <a:solidFill>
            <a:srgbClr val="2A3A4E"/>
          </a:solidFill>
          <a:ln w="12700">
            <a:solidFill>
              <a:srgbClr val="2A3A4E"/>
            </a:solidFill>
            <a:prstDash val="solid"/>
          </a:ln>
        </p:spPr>
        <p:txBody>
          <a:bodyPr/>
          <a:lstStyle/>
          <a:p>
            <a:endParaRPr lang="en-US"/>
          </a:p>
        </p:txBody>
      </p:sp>
      <p:sp>
        <p:nvSpPr>
          <p:cNvPr id="46" name="Shape 46">
            <a:extLst>
              <a:ext uri="{FF2B5EF4-FFF2-40B4-BE49-F238E27FC236}">
                <a16:creationId xmlns:a16="http://schemas.microsoft.com/office/drawing/2014/main" id="{B510D9F4-994F-61BE-CEA5-88DD8878DC3B}"/>
              </a:ext>
            </a:extLst>
          </p:cNvPr>
          <p:cNvSpPr/>
          <p:nvPr/>
        </p:nvSpPr>
        <p:spPr>
          <a:xfrm>
            <a:off x="4556589" y="4144473"/>
            <a:ext cx="16459" cy="740664"/>
          </a:xfrm>
          <a:prstGeom prst="rect">
            <a:avLst/>
          </a:prstGeom>
          <a:solidFill>
            <a:srgbClr val="2A3A4E"/>
          </a:solidFill>
          <a:ln w="12700">
            <a:solidFill>
              <a:srgbClr val="2A3A4E"/>
            </a:solidFill>
            <a:prstDash val="solid"/>
          </a:ln>
        </p:spPr>
        <p:txBody>
          <a:bodyPr/>
          <a:lstStyle/>
          <a:p>
            <a:endParaRPr lang="en-US"/>
          </a:p>
        </p:txBody>
      </p:sp>
      <p:sp>
        <p:nvSpPr>
          <p:cNvPr id="47" name="Shape 47">
            <a:extLst>
              <a:ext uri="{FF2B5EF4-FFF2-40B4-BE49-F238E27FC236}">
                <a16:creationId xmlns:a16="http://schemas.microsoft.com/office/drawing/2014/main" id="{09F2FFEB-59A1-E319-01FC-1D0B99722D1B}"/>
              </a:ext>
            </a:extLst>
          </p:cNvPr>
          <p:cNvSpPr/>
          <p:nvPr/>
        </p:nvSpPr>
        <p:spPr>
          <a:xfrm>
            <a:off x="6111069" y="4144473"/>
            <a:ext cx="16459" cy="740664"/>
          </a:xfrm>
          <a:prstGeom prst="rect">
            <a:avLst/>
          </a:prstGeom>
          <a:solidFill>
            <a:srgbClr val="2A3A4E"/>
          </a:solidFill>
          <a:ln w="12700">
            <a:solidFill>
              <a:srgbClr val="2A3A4E"/>
            </a:solidFill>
            <a:prstDash val="solid"/>
          </a:ln>
        </p:spPr>
        <p:txBody>
          <a:bodyPr/>
          <a:lstStyle/>
          <a:p>
            <a:endParaRPr lang="en-US"/>
          </a:p>
        </p:txBody>
      </p:sp>
      <p:sp>
        <p:nvSpPr>
          <p:cNvPr id="48" name="Shape 48">
            <a:extLst>
              <a:ext uri="{FF2B5EF4-FFF2-40B4-BE49-F238E27FC236}">
                <a16:creationId xmlns:a16="http://schemas.microsoft.com/office/drawing/2014/main" id="{C70A939D-FD85-6119-4677-EE4E1E99063E}"/>
              </a:ext>
            </a:extLst>
          </p:cNvPr>
          <p:cNvSpPr/>
          <p:nvPr/>
        </p:nvSpPr>
        <p:spPr>
          <a:xfrm>
            <a:off x="990429" y="5031441"/>
            <a:ext cx="8869680" cy="850392"/>
          </a:xfrm>
          <a:prstGeom prst="rect">
            <a:avLst/>
          </a:prstGeom>
          <a:solidFill>
            <a:schemeClr val="bg2"/>
          </a:solidFill>
          <a:ln w="6350">
            <a:solidFill>
              <a:srgbClr val="2A3A4E"/>
            </a:solidFill>
            <a:prstDash val="solid"/>
          </a:ln>
        </p:spPr>
        <p:txBody>
          <a:bodyPr/>
          <a:lstStyle/>
          <a:p>
            <a:endParaRPr lang="en-US"/>
          </a:p>
        </p:txBody>
      </p:sp>
      <p:sp>
        <p:nvSpPr>
          <p:cNvPr id="49" name="Shape 49">
            <a:extLst>
              <a:ext uri="{FF2B5EF4-FFF2-40B4-BE49-F238E27FC236}">
                <a16:creationId xmlns:a16="http://schemas.microsoft.com/office/drawing/2014/main" id="{81BF103D-4665-FEDB-36C0-60EF556FEB3E}"/>
              </a:ext>
            </a:extLst>
          </p:cNvPr>
          <p:cNvSpPr/>
          <p:nvPr/>
        </p:nvSpPr>
        <p:spPr>
          <a:xfrm>
            <a:off x="990429" y="5031441"/>
            <a:ext cx="1298448" cy="850392"/>
          </a:xfrm>
          <a:prstGeom prst="rect">
            <a:avLst/>
          </a:prstGeom>
          <a:solidFill>
            <a:srgbClr val="FCEBEB"/>
          </a:solidFill>
          <a:ln w="12700">
            <a:solidFill>
              <a:srgbClr val="FCEBEB"/>
            </a:solidFill>
            <a:prstDash val="solid"/>
          </a:ln>
        </p:spPr>
        <p:txBody>
          <a:bodyPr/>
          <a:lstStyle/>
          <a:p>
            <a:endParaRPr lang="en-US"/>
          </a:p>
        </p:txBody>
      </p:sp>
      <p:sp>
        <p:nvSpPr>
          <p:cNvPr id="50" name="Text 50">
            <a:extLst>
              <a:ext uri="{FF2B5EF4-FFF2-40B4-BE49-F238E27FC236}">
                <a16:creationId xmlns:a16="http://schemas.microsoft.com/office/drawing/2014/main" id="{E2E5D771-5182-D1B6-397B-BCE3E869E7B3}"/>
              </a:ext>
            </a:extLst>
          </p:cNvPr>
          <p:cNvSpPr/>
          <p:nvPr/>
        </p:nvSpPr>
        <p:spPr>
          <a:xfrm>
            <a:off x="990429" y="5168601"/>
            <a:ext cx="1298448" cy="411480"/>
          </a:xfrm>
          <a:prstGeom prst="rect">
            <a:avLst/>
          </a:prstGeom>
          <a:noFill/>
          <a:ln/>
        </p:spPr>
        <p:txBody>
          <a:bodyPr wrap="square" lIns="0" tIns="0" rIns="0" bIns="0" rtlCol="0" anchor="ctr"/>
          <a:lstStyle/>
          <a:p>
            <a:pPr algn="ctr"/>
            <a:r>
              <a:rPr lang="en-AE" sz="2000" b="1">
                <a:solidFill>
                  <a:srgbClr val="791F1F"/>
                </a:solidFill>
                <a:latin typeface="Tahoma" panose="020B0604030504040204" pitchFamily="34" charset="0"/>
                <a:ea typeface="Tahoma" panose="020B0604030504040204" pitchFamily="34" charset="0"/>
                <a:cs typeface="Tahoma" panose="020B0604030504040204" pitchFamily="34" charset="0"/>
              </a:rPr>
              <a:t>≤</a:t>
            </a:r>
            <a:r>
              <a:rPr lang="en-US" sz="2000" b="1" smtClean="0">
                <a:solidFill>
                  <a:srgbClr val="791F1F"/>
                </a:solidFill>
                <a:latin typeface="Tahoma" panose="020B0604030504040204" pitchFamily="34" charset="0"/>
                <a:ea typeface="Tahoma" panose="020B0604030504040204" pitchFamily="34" charset="0"/>
                <a:cs typeface="Tahoma" panose="020B0604030504040204" pitchFamily="34" charset="0"/>
              </a:rPr>
              <a:t> </a:t>
            </a:r>
            <a:r>
              <a:rPr lang="en-US" sz="2000" b="1" dirty="0">
                <a:solidFill>
                  <a:srgbClr val="791F1F"/>
                </a:solidFill>
                <a:latin typeface="Tahoma" panose="020B0604030504040204" pitchFamily="34" charset="0"/>
                <a:ea typeface="Tahoma" panose="020B0604030504040204" pitchFamily="34" charset="0"/>
                <a:cs typeface="Tahoma" panose="020B0604030504040204" pitchFamily="34" charset="0"/>
              </a:rPr>
              <a:t>70%</a:t>
            </a:r>
            <a:endParaRPr lang="en-US" sz="2000" dirty="0">
              <a:latin typeface="Tahoma" panose="020B0604030504040204" pitchFamily="34" charset="0"/>
              <a:ea typeface="Tahoma" panose="020B0604030504040204" pitchFamily="34" charset="0"/>
              <a:cs typeface="Tahoma" panose="020B0604030504040204" pitchFamily="34" charset="0"/>
            </a:endParaRPr>
          </a:p>
        </p:txBody>
      </p:sp>
      <p:sp>
        <p:nvSpPr>
          <p:cNvPr id="51" name="Text 51">
            <a:extLst>
              <a:ext uri="{FF2B5EF4-FFF2-40B4-BE49-F238E27FC236}">
                <a16:creationId xmlns:a16="http://schemas.microsoft.com/office/drawing/2014/main" id="{DCB7D8CC-E555-E495-17F5-A46017CF465C}"/>
              </a:ext>
            </a:extLst>
          </p:cNvPr>
          <p:cNvSpPr/>
          <p:nvPr/>
        </p:nvSpPr>
        <p:spPr>
          <a:xfrm>
            <a:off x="990429" y="5561793"/>
            <a:ext cx="1298448" cy="228600"/>
          </a:xfrm>
          <a:prstGeom prst="rect">
            <a:avLst/>
          </a:prstGeom>
          <a:noFill/>
          <a:ln/>
        </p:spPr>
        <p:txBody>
          <a:bodyPr wrap="square" lIns="0" tIns="0" rIns="0" bIns="0" rtlCol="0" anchor="ctr"/>
          <a:lstStyle/>
          <a:p>
            <a:pPr marL="0" indent="0" algn="ctr">
              <a:buNone/>
            </a:pPr>
            <a:r>
              <a:rPr lang="en-US" sz="750" dirty="0">
                <a:solidFill>
                  <a:srgbClr val="791F1F"/>
                </a:solidFill>
                <a:latin typeface="Tahoma" panose="020B0604030504040204" pitchFamily="34" charset="0"/>
                <a:ea typeface="Tahoma" panose="020B0604030504040204" pitchFamily="34" charset="0"/>
                <a:cs typeface="Tahoma" panose="020B0604030504040204" pitchFamily="34" charset="0"/>
              </a:rPr>
              <a:t>compliance rate</a:t>
            </a:r>
            <a:endParaRPr lang="en-US" sz="750" dirty="0">
              <a:latin typeface="Tahoma" panose="020B0604030504040204" pitchFamily="34" charset="0"/>
              <a:ea typeface="Tahoma" panose="020B0604030504040204" pitchFamily="34" charset="0"/>
              <a:cs typeface="Tahoma" panose="020B0604030504040204" pitchFamily="34" charset="0"/>
            </a:endParaRPr>
          </a:p>
        </p:txBody>
      </p:sp>
      <p:sp>
        <p:nvSpPr>
          <p:cNvPr id="52" name="Shape 52">
            <a:extLst>
              <a:ext uri="{FF2B5EF4-FFF2-40B4-BE49-F238E27FC236}">
                <a16:creationId xmlns:a16="http://schemas.microsoft.com/office/drawing/2014/main" id="{5C19D33E-FC0E-D38E-2997-5212D868D985}"/>
              </a:ext>
            </a:extLst>
          </p:cNvPr>
          <p:cNvSpPr/>
          <p:nvPr/>
        </p:nvSpPr>
        <p:spPr>
          <a:xfrm>
            <a:off x="2334597" y="5141169"/>
            <a:ext cx="54864" cy="630936"/>
          </a:xfrm>
          <a:prstGeom prst="rect">
            <a:avLst/>
          </a:prstGeom>
          <a:solidFill>
            <a:srgbClr val="E24B4A"/>
          </a:solidFill>
          <a:ln w="12700">
            <a:solidFill>
              <a:srgbClr val="E24B4A"/>
            </a:solidFill>
            <a:prstDash val="solid"/>
          </a:ln>
        </p:spPr>
        <p:txBody>
          <a:bodyPr/>
          <a:lstStyle/>
          <a:p>
            <a:endParaRPr lang="en-US"/>
          </a:p>
        </p:txBody>
      </p:sp>
      <p:sp>
        <p:nvSpPr>
          <p:cNvPr id="53" name="Text 53">
            <a:extLst>
              <a:ext uri="{FF2B5EF4-FFF2-40B4-BE49-F238E27FC236}">
                <a16:creationId xmlns:a16="http://schemas.microsoft.com/office/drawing/2014/main" id="{530131CB-57B0-FF41-FDE9-128174FC38DD}"/>
              </a:ext>
            </a:extLst>
          </p:cNvPr>
          <p:cNvSpPr/>
          <p:nvPr/>
        </p:nvSpPr>
        <p:spPr>
          <a:xfrm>
            <a:off x="2453469" y="5159457"/>
            <a:ext cx="2011680" cy="201168"/>
          </a:xfrm>
          <a:prstGeom prst="rect">
            <a:avLst/>
          </a:prstGeom>
          <a:noFill/>
          <a:ln/>
        </p:spPr>
        <p:txBody>
          <a:bodyPr wrap="square" lIns="0" tIns="0" rIns="0" bIns="0" rtlCol="0" anchor="ctr"/>
          <a:lstStyle/>
          <a:p>
            <a:pPr marL="0" indent="0">
              <a:buNone/>
            </a:pPr>
            <a:r>
              <a:rPr lang="en-US" sz="750" dirty="0">
                <a:solidFill>
                  <a:srgbClr val="64748B"/>
                </a:solidFill>
                <a:latin typeface="Tahoma" panose="020B0604030504040204" pitchFamily="34" charset="0"/>
                <a:ea typeface="Tahoma" panose="020B0604030504040204" pitchFamily="34" charset="0"/>
                <a:cs typeface="Tahoma" panose="020B0604030504040204" pitchFamily="34" charset="0"/>
              </a:rPr>
              <a:t>Category</a:t>
            </a:r>
            <a:endParaRPr lang="en-US" sz="750" dirty="0">
              <a:latin typeface="Tahoma" panose="020B0604030504040204" pitchFamily="34" charset="0"/>
              <a:ea typeface="Tahoma" panose="020B0604030504040204" pitchFamily="34" charset="0"/>
              <a:cs typeface="Tahoma" panose="020B0604030504040204" pitchFamily="34" charset="0"/>
            </a:endParaRPr>
          </a:p>
        </p:txBody>
      </p:sp>
      <p:sp>
        <p:nvSpPr>
          <p:cNvPr id="54" name="Text 54">
            <a:extLst>
              <a:ext uri="{FF2B5EF4-FFF2-40B4-BE49-F238E27FC236}">
                <a16:creationId xmlns:a16="http://schemas.microsoft.com/office/drawing/2014/main" id="{F2486456-62AB-B0F6-1E03-A30E688D6736}"/>
              </a:ext>
            </a:extLst>
          </p:cNvPr>
          <p:cNvSpPr/>
          <p:nvPr/>
        </p:nvSpPr>
        <p:spPr>
          <a:xfrm>
            <a:off x="2453469" y="5360625"/>
            <a:ext cx="2011680" cy="347472"/>
          </a:xfrm>
          <a:prstGeom prst="rect">
            <a:avLst/>
          </a:prstGeom>
          <a:noFill/>
          <a:ln/>
        </p:spPr>
        <p:txBody>
          <a:bodyPr wrap="square" lIns="0" tIns="0" rIns="0" bIns="0" rtlCol="0" anchor="ctr"/>
          <a:lstStyle/>
          <a:p>
            <a:pPr marL="0" indent="0">
              <a:buNone/>
            </a:pPr>
            <a:r>
              <a:rPr lang="en-US" sz="1400" b="1" dirty="0">
                <a:solidFill>
                  <a:srgbClr val="A32D2D"/>
                </a:solidFill>
                <a:latin typeface="Tahoma" panose="020B0604030504040204" pitchFamily="34" charset="0"/>
                <a:ea typeface="Tahoma" panose="020B0604030504040204" pitchFamily="34" charset="0"/>
                <a:cs typeface="Tahoma" panose="020B0604030504040204" pitchFamily="34" charset="0"/>
              </a:rPr>
              <a:t>Low Compliance</a:t>
            </a:r>
            <a:endParaRPr lang="en-US" sz="1400" dirty="0">
              <a:latin typeface="Tahoma" panose="020B0604030504040204" pitchFamily="34" charset="0"/>
              <a:ea typeface="Tahoma" panose="020B0604030504040204" pitchFamily="34" charset="0"/>
              <a:cs typeface="Tahoma" panose="020B0604030504040204" pitchFamily="34" charset="0"/>
            </a:endParaRPr>
          </a:p>
        </p:txBody>
      </p:sp>
      <p:sp>
        <p:nvSpPr>
          <p:cNvPr id="55" name="Shape 55">
            <a:extLst>
              <a:ext uri="{FF2B5EF4-FFF2-40B4-BE49-F238E27FC236}">
                <a16:creationId xmlns:a16="http://schemas.microsoft.com/office/drawing/2014/main" id="{226DF0B6-5E1B-67BC-5AEC-B4F909341742}"/>
              </a:ext>
            </a:extLst>
          </p:cNvPr>
          <p:cNvSpPr/>
          <p:nvPr/>
        </p:nvSpPr>
        <p:spPr>
          <a:xfrm>
            <a:off x="4667625" y="5287473"/>
            <a:ext cx="1325880" cy="310896"/>
          </a:xfrm>
          <a:prstGeom prst="roundRect">
            <a:avLst>
              <a:gd name="adj" fmla="val 14706"/>
            </a:avLst>
          </a:prstGeom>
          <a:solidFill>
            <a:srgbClr val="F7C1C1"/>
          </a:solidFill>
          <a:ln w="12700">
            <a:solidFill>
              <a:srgbClr val="F7C1C1"/>
            </a:solidFill>
            <a:prstDash val="solid"/>
          </a:ln>
        </p:spPr>
        <p:txBody>
          <a:bodyPr/>
          <a:lstStyle/>
          <a:p>
            <a:endParaRPr lang="en-US"/>
          </a:p>
        </p:txBody>
      </p:sp>
      <p:sp>
        <p:nvSpPr>
          <p:cNvPr id="56" name="Text 56">
            <a:extLst>
              <a:ext uri="{FF2B5EF4-FFF2-40B4-BE49-F238E27FC236}">
                <a16:creationId xmlns:a16="http://schemas.microsoft.com/office/drawing/2014/main" id="{7C0BA62D-7218-82F9-36FF-C56790328D06}"/>
              </a:ext>
            </a:extLst>
          </p:cNvPr>
          <p:cNvSpPr/>
          <p:nvPr/>
        </p:nvSpPr>
        <p:spPr>
          <a:xfrm>
            <a:off x="4667625" y="5287473"/>
            <a:ext cx="1325880" cy="310896"/>
          </a:xfrm>
          <a:prstGeom prst="rect">
            <a:avLst/>
          </a:prstGeom>
          <a:noFill/>
          <a:ln/>
        </p:spPr>
        <p:txBody>
          <a:bodyPr wrap="square" lIns="0" tIns="0" rIns="0" bIns="0" rtlCol="0" anchor="ctr"/>
          <a:lstStyle/>
          <a:p>
            <a:pPr marL="0" indent="0" algn="ctr">
              <a:buNone/>
            </a:pPr>
            <a:r>
              <a:rPr lang="en-US" sz="1100" b="1" dirty="0">
                <a:solidFill>
                  <a:srgbClr val="791F1F"/>
                </a:solidFill>
                <a:latin typeface="Tahoma" panose="020B0604030504040204" pitchFamily="34" charset="0"/>
                <a:ea typeface="Tahoma" panose="020B0604030504040204" pitchFamily="34" charset="0"/>
                <a:cs typeface="Tahoma" panose="020B0604030504040204" pitchFamily="34" charset="0"/>
              </a:rPr>
              <a:t>Poor</a:t>
            </a:r>
            <a:endParaRPr lang="en-US" sz="1100" dirty="0">
              <a:latin typeface="Tahoma" panose="020B0604030504040204" pitchFamily="34" charset="0"/>
              <a:ea typeface="Tahoma" panose="020B0604030504040204" pitchFamily="34" charset="0"/>
              <a:cs typeface="Tahoma" panose="020B0604030504040204" pitchFamily="34" charset="0"/>
            </a:endParaRPr>
          </a:p>
        </p:txBody>
      </p:sp>
      <p:sp>
        <p:nvSpPr>
          <p:cNvPr id="57" name="Text 57">
            <a:extLst>
              <a:ext uri="{FF2B5EF4-FFF2-40B4-BE49-F238E27FC236}">
                <a16:creationId xmlns:a16="http://schemas.microsoft.com/office/drawing/2014/main" id="{A7F5D70B-261E-00B9-5ABC-69C2DE6FE5F3}"/>
              </a:ext>
            </a:extLst>
          </p:cNvPr>
          <p:cNvSpPr/>
          <p:nvPr/>
        </p:nvSpPr>
        <p:spPr>
          <a:xfrm>
            <a:off x="6156789" y="5122881"/>
            <a:ext cx="3611880" cy="667512"/>
          </a:xfrm>
          <a:prstGeom prst="rect">
            <a:avLst/>
          </a:prstGeom>
          <a:noFill/>
          <a:ln/>
        </p:spPr>
        <p:txBody>
          <a:bodyPr wrap="square" lIns="0" tIns="0" rIns="0" bIns="0" rtlCol="0" anchor="ctr"/>
          <a:lstStyle/>
          <a:p>
            <a:pPr marL="0" indent="0">
              <a:lnSpc>
                <a:spcPct val="120000"/>
              </a:lnSpc>
              <a:buNone/>
            </a:pPr>
            <a:r>
              <a:rPr lang="en-US" sz="1050" dirty="0">
                <a:latin typeface="Tahoma" panose="020B0604030504040204" pitchFamily="34" charset="0"/>
                <a:ea typeface="Tahoma" panose="020B0604030504040204" pitchFamily="34" charset="0"/>
                <a:cs typeface="Tahoma" panose="020B0604030504040204" pitchFamily="34" charset="0"/>
              </a:rPr>
              <a:t>Major gaps in implementation; immediate action required.</a:t>
            </a:r>
          </a:p>
        </p:txBody>
      </p:sp>
      <p:sp>
        <p:nvSpPr>
          <p:cNvPr id="58" name="Shape 58">
            <a:extLst>
              <a:ext uri="{FF2B5EF4-FFF2-40B4-BE49-F238E27FC236}">
                <a16:creationId xmlns:a16="http://schemas.microsoft.com/office/drawing/2014/main" id="{4E941C7E-7AEE-3411-38F7-CF89013DFC1A}"/>
              </a:ext>
            </a:extLst>
          </p:cNvPr>
          <p:cNvSpPr/>
          <p:nvPr/>
        </p:nvSpPr>
        <p:spPr>
          <a:xfrm>
            <a:off x="2316309" y="5086305"/>
            <a:ext cx="16459" cy="740664"/>
          </a:xfrm>
          <a:prstGeom prst="rect">
            <a:avLst/>
          </a:prstGeom>
          <a:solidFill>
            <a:srgbClr val="2A3A4E"/>
          </a:solidFill>
          <a:ln w="12700">
            <a:solidFill>
              <a:srgbClr val="2A3A4E"/>
            </a:solidFill>
            <a:prstDash val="solid"/>
          </a:ln>
        </p:spPr>
        <p:txBody>
          <a:bodyPr/>
          <a:lstStyle/>
          <a:p>
            <a:endParaRPr lang="en-US"/>
          </a:p>
        </p:txBody>
      </p:sp>
      <p:sp>
        <p:nvSpPr>
          <p:cNvPr id="59" name="Shape 59">
            <a:extLst>
              <a:ext uri="{FF2B5EF4-FFF2-40B4-BE49-F238E27FC236}">
                <a16:creationId xmlns:a16="http://schemas.microsoft.com/office/drawing/2014/main" id="{ED398547-7A13-5440-B25D-99EB2137261B}"/>
              </a:ext>
            </a:extLst>
          </p:cNvPr>
          <p:cNvSpPr/>
          <p:nvPr/>
        </p:nvSpPr>
        <p:spPr>
          <a:xfrm>
            <a:off x="4556589" y="5086305"/>
            <a:ext cx="16459" cy="740664"/>
          </a:xfrm>
          <a:prstGeom prst="rect">
            <a:avLst/>
          </a:prstGeom>
          <a:solidFill>
            <a:srgbClr val="2A3A4E"/>
          </a:solidFill>
          <a:ln w="12700">
            <a:solidFill>
              <a:srgbClr val="2A3A4E"/>
            </a:solidFill>
            <a:prstDash val="solid"/>
          </a:ln>
        </p:spPr>
        <p:txBody>
          <a:bodyPr/>
          <a:lstStyle/>
          <a:p>
            <a:endParaRPr lang="en-US"/>
          </a:p>
        </p:txBody>
      </p:sp>
      <p:sp>
        <p:nvSpPr>
          <p:cNvPr id="60" name="Shape 60">
            <a:extLst>
              <a:ext uri="{FF2B5EF4-FFF2-40B4-BE49-F238E27FC236}">
                <a16:creationId xmlns:a16="http://schemas.microsoft.com/office/drawing/2014/main" id="{4CD382AE-C527-6FDA-19F8-8AE2A40FFDB0}"/>
              </a:ext>
            </a:extLst>
          </p:cNvPr>
          <p:cNvSpPr/>
          <p:nvPr/>
        </p:nvSpPr>
        <p:spPr>
          <a:xfrm>
            <a:off x="6111069" y="5086305"/>
            <a:ext cx="16459" cy="740664"/>
          </a:xfrm>
          <a:prstGeom prst="rect">
            <a:avLst/>
          </a:prstGeom>
          <a:solidFill>
            <a:srgbClr val="2A3A4E"/>
          </a:solidFill>
          <a:ln w="12700">
            <a:solidFill>
              <a:srgbClr val="2A3A4E"/>
            </a:solidFill>
            <a:prstDash val="solid"/>
          </a:ln>
        </p:spPr>
        <p:txBody>
          <a:bodyPr/>
          <a:lstStyle/>
          <a:p>
            <a:endParaRPr lang="en-US"/>
          </a:p>
        </p:txBody>
      </p:sp>
      <p:sp>
        <p:nvSpPr>
          <p:cNvPr id="61" name="Title 1">
            <a:extLst>
              <a:ext uri="{FF2B5EF4-FFF2-40B4-BE49-F238E27FC236}">
                <a16:creationId xmlns:a16="http://schemas.microsoft.com/office/drawing/2014/main" id="{58C3F2A9-3105-C28D-695E-ED98A483B9C9}"/>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EHS Performance Overview</a:t>
            </a:r>
          </a:p>
          <a:p>
            <a:r>
              <a:rPr lang="en-US" sz="2400" b="0" dirty="0"/>
              <a:t>KPI Compliance Rate Classification</a:t>
            </a:r>
          </a:p>
        </p:txBody>
      </p:sp>
    </p:spTree>
    <p:extLst>
      <p:ext uri="{BB962C8B-B14F-4D97-AF65-F5344CB8AC3E}">
        <p14:creationId xmlns:p14="http://schemas.microsoft.com/office/powerpoint/2010/main" val="4049878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52324-451F-D0B8-57F6-026148947624}"/>
            </a:ext>
          </a:extLst>
        </p:cNvPr>
        <p:cNvGrpSpPr/>
        <p:nvPr/>
      </p:nvGrpSpPr>
      <p:grpSpPr>
        <a:xfrm>
          <a:off x="0" y="0"/>
          <a:ext cx="0" cy="0"/>
          <a:chOff x="0" y="0"/>
          <a:chExt cx="0" cy="0"/>
        </a:xfrm>
      </p:grpSpPr>
      <p:sp>
        <p:nvSpPr>
          <p:cNvPr id="5" name="Text 11">
            <a:extLst>
              <a:ext uri="{FF2B5EF4-FFF2-40B4-BE49-F238E27FC236}">
                <a16:creationId xmlns:a16="http://schemas.microsoft.com/office/drawing/2014/main" id="{3F55F258-627E-C342-6D0B-0A85728E5409}"/>
              </a:ext>
            </a:extLst>
          </p:cNvPr>
          <p:cNvSpPr/>
          <p:nvPr/>
        </p:nvSpPr>
        <p:spPr>
          <a:xfrm>
            <a:off x="998202" y="2020357"/>
            <a:ext cx="2938864" cy="640080"/>
          </a:xfrm>
          <a:prstGeom prst="rect">
            <a:avLst/>
          </a:prstGeom>
          <a:solidFill>
            <a:srgbClr val="00249C"/>
          </a:solidFill>
          <a:ln>
            <a:solidFill>
              <a:srgbClr val="00249C"/>
            </a:solidFill>
          </a:ln>
        </p:spPr>
        <p:style>
          <a:lnRef idx="2">
            <a:schemeClr val="accent1"/>
          </a:lnRef>
          <a:fillRef idx="1">
            <a:schemeClr val="lt1"/>
          </a:fillRef>
          <a:effectRef idx="0">
            <a:schemeClr val="accent1"/>
          </a:effectRef>
          <a:fontRef idx="minor">
            <a:schemeClr val="dk1"/>
          </a:fontRef>
        </p:style>
        <p:txBody>
          <a:bodyPr wrap="square" lIns="0" tIns="0" rIns="0" bIns="0" rtlCol="0" anchor="ctr"/>
          <a:lstStyle/>
          <a:p>
            <a:pPr algn="ctr"/>
            <a:r>
              <a:rPr lang="en-US" sz="1200" b="1" dirty="0">
                <a:solidFill>
                  <a:schemeClr val="bg2"/>
                </a:solidFill>
                <a:latin typeface="Tahoma" panose="020B0604030504040204" pitchFamily="34" charset="0"/>
                <a:ea typeface="Tahoma" panose="020B0604030504040204" pitchFamily="34" charset="0"/>
                <a:cs typeface="Tahoma" panose="020B0604030504040204" pitchFamily="34" charset="0"/>
              </a:rPr>
              <a:t>1. </a:t>
            </a:r>
            <a:r>
              <a:rPr lang="en-US" sz="1200" b="1">
                <a:solidFill>
                  <a:schemeClr val="bg2"/>
                </a:solidFill>
                <a:latin typeface="Tahoma" panose="020B0604030504040204" pitchFamily="34" charset="0"/>
                <a:ea typeface="Tahoma" panose="020B0604030504040204" pitchFamily="34" charset="0"/>
                <a:cs typeface="Tahoma" panose="020B0604030504040204" pitchFamily="34" charset="0"/>
              </a:rPr>
              <a:t>Leadership, Accountability &amp; Engagement (20%)</a:t>
            </a:r>
            <a:endParaRPr lang="en-US" sz="1200" b="1" dirty="0">
              <a:solidFill>
                <a:schemeClr val="bg2"/>
              </a:solidFill>
              <a:latin typeface="Tahoma" panose="020B0604030504040204" pitchFamily="34" charset="0"/>
              <a:ea typeface="Tahoma" panose="020B0604030504040204" pitchFamily="34" charset="0"/>
              <a:cs typeface="Tahoma" panose="020B0604030504040204" pitchFamily="34" charset="0"/>
            </a:endParaRPr>
          </a:p>
        </p:txBody>
      </p:sp>
      <p:sp>
        <p:nvSpPr>
          <p:cNvPr id="6" name="Shape 12">
            <a:extLst>
              <a:ext uri="{FF2B5EF4-FFF2-40B4-BE49-F238E27FC236}">
                <a16:creationId xmlns:a16="http://schemas.microsoft.com/office/drawing/2014/main" id="{C06D5E10-AB68-9754-5AF4-A9ECBEB80A1A}"/>
              </a:ext>
            </a:extLst>
          </p:cNvPr>
          <p:cNvSpPr/>
          <p:nvPr/>
        </p:nvSpPr>
        <p:spPr>
          <a:xfrm>
            <a:off x="4409537" y="2236239"/>
            <a:ext cx="1463040" cy="201168"/>
          </a:xfrm>
          <a:prstGeom prst="rect">
            <a:avLst/>
          </a:prstGeom>
          <a:solidFill>
            <a:srgbClr val="1E3A4A"/>
          </a:solidFill>
          <a:ln w="12700">
            <a:solidFill>
              <a:srgbClr val="1E3A4A"/>
            </a:solidFill>
            <a:prstDash val="solid"/>
          </a:ln>
        </p:spPr>
        <p:txBody>
          <a:bodyPr/>
          <a:lstStyle/>
          <a:p>
            <a:endParaRPr lang="en-US"/>
          </a:p>
        </p:txBody>
      </p:sp>
      <p:sp>
        <p:nvSpPr>
          <p:cNvPr id="7" name="Shape 13">
            <a:extLst>
              <a:ext uri="{FF2B5EF4-FFF2-40B4-BE49-F238E27FC236}">
                <a16:creationId xmlns:a16="http://schemas.microsoft.com/office/drawing/2014/main" id="{7C5B943F-16FF-C711-37D4-7D6F94F64EC2}"/>
              </a:ext>
            </a:extLst>
          </p:cNvPr>
          <p:cNvSpPr/>
          <p:nvPr/>
        </p:nvSpPr>
        <p:spPr>
          <a:xfrm>
            <a:off x="4409537" y="2236239"/>
            <a:ext cx="1274983" cy="201168"/>
          </a:xfrm>
          <a:prstGeom prst="rect">
            <a:avLst/>
          </a:prstGeom>
          <a:solidFill>
            <a:srgbClr val="C0DD97"/>
          </a:solidFill>
          <a:ln w="12700">
            <a:solidFill>
              <a:srgbClr val="C0DD97"/>
            </a:solidFill>
            <a:prstDash val="solid"/>
          </a:ln>
        </p:spPr>
        <p:txBody>
          <a:bodyPr/>
          <a:lstStyle/>
          <a:p>
            <a:endParaRPr lang="en-US"/>
          </a:p>
        </p:txBody>
      </p:sp>
      <p:sp>
        <p:nvSpPr>
          <p:cNvPr id="16" name="Text 14">
            <a:extLst>
              <a:ext uri="{FF2B5EF4-FFF2-40B4-BE49-F238E27FC236}">
                <a16:creationId xmlns:a16="http://schemas.microsoft.com/office/drawing/2014/main" id="{752B5F82-3B5D-4CED-B410-8BF3D74D3644}"/>
              </a:ext>
            </a:extLst>
          </p:cNvPr>
          <p:cNvSpPr/>
          <p:nvPr/>
        </p:nvSpPr>
        <p:spPr>
          <a:xfrm>
            <a:off x="4409537" y="2035071"/>
            <a:ext cx="1463040"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92%</a:t>
            </a:r>
            <a:endParaRPr lang="en-US" sz="1400" dirty="0">
              <a:solidFill>
                <a:schemeClr val="tx1">
                  <a:lumMod val="75000"/>
                </a:schemeClr>
              </a:solidFill>
            </a:endParaRPr>
          </a:p>
        </p:txBody>
      </p:sp>
      <p:sp>
        <p:nvSpPr>
          <p:cNvPr id="24" name="Shape 15">
            <a:extLst>
              <a:ext uri="{FF2B5EF4-FFF2-40B4-BE49-F238E27FC236}">
                <a16:creationId xmlns:a16="http://schemas.microsoft.com/office/drawing/2014/main" id="{AEE15EB6-F47F-6F38-F0EA-91CDF1FFFC84}"/>
              </a:ext>
            </a:extLst>
          </p:cNvPr>
          <p:cNvSpPr/>
          <p:nvPr/>
        </p:nvSpPr>
        <p:spPr>
          <a:xfrm>
            <a:off x="6564959" y="2236239"/>
            <a:ext cx="1316736" cy="201168"/>
          </a:xfrm>
          <a:prstGeom prst="rect">
            <a:avLst/>
          </a:prstGeom>
          <a:solidFill>
            <a:srgbClr val="2A1A0A"/>
          </a:solidFill>
          <a:ln w="12700">
            <a:solidFill>
              <a:srgbClr val="2A1A0A"/>
            </a:solidFill>
            <a:prstDash val="solid"/>
          </a:ln>
        </p:spPr>
        <p:txBody>
          <a:bodyPr/>
          <a:lstStyle/>
          <a:p>
            <a:endParaRPr lang="en-US"/>
          </a:p>
        </p:txBody>
      </p:sp>
      <p:sp>
        <p:nvSpPr>
          <p:cNvPr id="32" name="Shape 16">
            <a:extLst>
              <a:ext uri="{FF2B5EF4-FFF2-40B4-BE49-F238E27FC236}">
                <a16:creationId xmlns:a16="http://schemas.microsoft.com/office/drawing/2014/main" id="{B6650983-EAA8-9A33-9361-7A7E630E5B61}"/>
              </a:ext>
            </a:extLst>
          </p:cNvPr>
          <p:cNvSpPr/>
          <p:nvPr/>
        </p:nvSpPr>
        <p:spPr>
          <a:xfrm>
            <a:off x="6564959" y="2236239"/>
            <a:ext cx="1151561" cy="201168"/>
          </a:xfrm>
          <a:prstGeom prst="rect">
            <a:avLst/>
          </a:prstGeom>
          <a:solidFill>
            <a:srgbClr val="C0DD97"/>
          </a:solidFill>
          <a:ln w="12700">
            <a:solidFill>
              <a:srgbClr val="C0DD97"/>
            </a:solidFill>
            <a:prstDash val="solid"/>
          </a:ln>
        </p:spPr>
        <p:txBody>
          <a:bodyPr/>
          <a:lstStyle/>
          <a:p>
            <a:endParaRPr lang="en-US"/>
          </a:p>
        </p:txBody>
      </p:sp>
      <p:sp>
        <p:nvSpPr>
          <p:cNvPr id="40" name="Text 17">
            <a:extLst>
              <a:ext uri="{FF2B5EF4-FFF2-40B4-BE49-F238E27FC236}">
                <a16:creationId xmlns:a16="http://schemas.microsoft.com/office/drawing/2014/main" id="{ACD0D2E3-CD3A-D539-C9D0-47D2352CFAA2}"/>
              </a:ext>
            </a:extLst>
          </p:cNvPr>
          <p:cNvSpPr/>
          <p:nvPr/>
        </p:nvSpPr>
        <p:spPr>
          <a:xfrm>
            <a:off x="6564959" y="2035071"/>
            <a:ext cx="1316736"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92%</a:t>
            </a:r>
            <a:endParaRPr lang="en-US" sz="1400" dirty="0">
              <a:solidFill>
                <a:schemeClr val="tx1">
                  <a:lumMod val="75000"/>
                </a:schemeClr>
              </a:solidFill>
            </a:endParaRPr>
          </a:p>
        </p:txBody>
      </p:sp>
      <p:sp>
        <p:nvSpPr>
          <p:cNvPr id="57" name="Text 18">
            <a:extLst>
              <a:ext uri="{FF2B5EF4-FFF2-40B4-BE49-F238E27FC236}">
                <a16:creationId xmlns:a16="http://schemas.microsoft.com/office/drawing/2014/main" id="{A3C7168E-F4F7-4A66-D258-D673834E9AA6}"/>
              </a:ext>
            </a:extLst>
          </p:cNvPr>
          <p:cNvSpPr/>
          <p:nvPr/>
        </p:nvSpPr>
        <p:spPr>
          <a:xfrm>
            <a:off x="9076660" y="2160300"/>
            <a:ext cx="731520" cy="411480"/>
          </a:xfrm>
          <a:prstGeom prst="rect">
            <a:avLst/>
          </a:prstGeom>
          <a:noFill/>
          <a:ln/>
        </p:spPr>
        <p:txBody>
          <a:bodyPr wrap="square" lIns="0" tIns="0" rIns="0" bIns="0" rtlCol="0" anchor="ctr"/>
          <a:lstStyle/>
          <a:p>
            <a:pPr marL="0" indent="0" algn="ctr">
              <a:buNone/>
            </a:pPr>
            <a:r>
              <a:rPr lang="en-US" sz="1400" dirty="0">
                <a:solidFill>
                  <a:schemeClr val="tx1">
                    <a:lumMod val="75000"/>
                  </a:schemeClr>
                </a:solidFill>
                <a:latin typeface="Calibri" pitchFamily="34" charset="0"/>
                <a:ea typeface="Calibri" pitchFamily="34" charset="-122"/>
                <a:cs typeface="Calibri" pitchFamily="34" charset="-120"/>
              </a:rPr>
              <a:t>91%</a:t>
            </a:r>
            <a:endParaRPr lang="en-US" sz="1400" dirty="0">
              <a:solidFill>
                <a:schemeClr val="tx1">
                  <a:lumMod val="75000"/>
                </a:schemeClr>
              </a:solidFill>
            </a:endParaRPr>
          </a:p>
        </p:txBody>
      </p:sp>
      <p:sp>
        <p:nvSpPr>
          <p:cNvPr id="58" name="Shape 23">
            <a:extLst>
              <a:ext uri="{FF2B5EF4-FFF2-40B4-BE49-F238E27FC236}">
                <a16:creationId xmlns:a16="http://schemas.microsoft.com/office/drawing/2014/main" id="{97ADCB36-D4B7-4612-6078-1953767AA242}"/>
              </a:ext>
            </a:extLst>
          </p:cNvPr>
          <p:cNvSpPr/>
          <p:nvPr/>
        </p:nvSpPr>
        <p:spPr>
          <a:xfrm>
            <a:off x="4409537" y="2998292"/>
            <a:ext cx="1463040" cy="201168"/>
          </a:xfrm>
          <a:prstGeom prst="rect">
            <a:avLst/>
          </a:prstGeom>
          <a:solidFill>
            <a:srgbClr val="1E3A4A"/>
          </a:solidFill>
          <a:ln w="12700">
            <a:solidFill>
              <a:srgbClr val="1E3A4A"/>
            </a:solidFill>
            <a:prstDash val="solid"/>
          </a:ln>
        </p:spPr>
        <p:txBody>
          <a:bodyPr/>
          <a:lstStyle/>
          <a:p>
            <a:endParaRPr lang="en-US"/>
          </a:p>
        </p:txBody>
      </p:sp>
      <p:sp>
        <p:nvSpPr>
          <p:cNvPr id="60" name="Shape 24">
            <a:extLst>
              <a:ext uri="{FF2B5EF4-FFF2-40B4-BE49-F238E27FC236}">
                <a16:creationId xmlns:a16="http://schemas.microsoft.com/office/drawing/2014/main" id="{E229C519-03FB-884B-C2A8-1A83E96A514D}"/>
              </a:ext>
            </a:extLst>
          </p:cNvPr>
          <p:cNvSpPr/>
          <p:nvPr/>
        </p:nvSpPr>
        <p:spPr>
          <a:xfrm>
            <a:off x="4409537" y="2998292"/>
            <a:ext cx="1396903" cy="201168"/>
          </a:xfrm>
          <a:prstGeom prst="rect">
            <a:avLst/>
          </a:prstGeom>
          <a:solidFill>
            <a:srgbClr val="C0DD97"/>
          </a:solidFill>
          <a:ln w="12700">
            <a:solidFill>
              <a:srgbClr val="C0DD97"/>
            </a:solidFill>
            <a:prstDash val="solid"/>
          </a:ln>
        </p:spPr>
        <p:txBody>
          <a:bodyPr/>
          <a:lstStyle/>
          <a:p>
            <a:endParaRPr lang="en-US"/>
          </a:p>
        </p:txBody>
      </p:sp>
      <p:sp>
        <p:nvSpPr>
          <p:cNvPr id="61" name="Text 25">
            <a:extLst>
              <a:ext uri="{FF2B5EF4-FFF2-40B4-BE49-F238E27FC236}">
                <a16:creationId xmlns:a16="http://schemas.microsoft.com/office/drawing/2014/main" id="{7D3E2696-1C7D-E887-C8A6-7B5E664FC0B9}"/>
              </a:ext>
            </a:extLst>
          </p:cNvPr>
          <p:cNvSpPr/>
          <p:nvPr/>
        </p:nvSpPr>
        <p:spPr>
          <a:xfrm>
            <a:off x="4409537" y="2797124"/>
            <a:ext cx="1463040"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96%</a:t>
            </a:r>
            <a:endParaRPr lang="en-US" sz="1400" dirty="0">
              <a:solidFill>
                <a:schemeClr val="tx1">
                  <a:lumMod val="75000"/>
                </a:schemeClr>
              </a:solidFill>
            </a:endParaRPr>
          </a:p>
        </p:txBody>
      </p:sp>
      <p:sp>
        <p:nvSpPr>
          <p:cNvPr id="62" name="Shape 26">
            <a:extLst>
              <a:ext uri="{FF2B5EF4-FFF2-40B4-BE49-F238E27FC236}">
                <a16:creationId xmlns:a16="http://schemas.microsoft.com/office/drawing/2014/main" id="{477B2D49-C06E-3204-0FD8-897075906B95}"/>
              </a:ext>
            </a:extLst>
          </p:cNvPr>
          <p:cNvSpPr/>
          <p:nvPr/>
        </p:nvSpPr>
        <p:spPr>
          <a:xfrm>
            <a:off x="6564959" y="2998292"/>
            <a:ext cx="1316736" cy="201168"/>
          </a:xfrm>
          <a:prstGeom prst="rect">
            <a:avLst/>
          </a:prstGeom>
          <a:solidFill>
            <a:srgbClr val="2A1A0A"/>
          </a:solidFill>
          <a:ln w="12700">
            <a:solidFill>
              <a:srgbClr val="2A1A0A"/>
            </a:solidFill>
            <a:prstDash val="solid"/>
          </a:ln>
        </p:spPr>
        <p:txBody>
          <a:bodyPr/>
          <a:lstStyle/>
          <a:p>
            <a:endParaRPr lang="en-US"/>
          </a:p>
        </p:txBody>
      </p:sp>
      <p:sp>
        <p:nvSpPr>
          <p:cNvPr id="63" name="Shape 27">
            <a:extLst>
              <a:ext uri="{FF2B5EF4-FFF2-40B4-BE49-F238E27FC236}">
                <a16:creationId xmlns:a16="http://schemas.microsoft.com/office/drawing/2014/main" id="{6C635BCA-F263-5450-502D-CE63C0214550}"/>
              </a:ext>
            </a:extLst>
          </p:cNvPr>
          <p:cNvSpPr/>
          <p:nvPr/>
        </p:nvSpPr>
        <p:spPr>
          <a:xfrm>
            <a:off x="6564959" y="2998292"/>
            <a:ext cx="1316736" cy="201168"/>
          </a:xfrm>
          <a:prstGeom prst="rect">
            <a:avLst/>
          </a:prstGeom>
          <a:solidFill>
            <a:srgbClr val="C0DD97"/>
          </a:solidFill>
          <a:ln w="12700">
            <a:solidFill>
              <a:srgbClr val="C0DD97"/>
            </a:solidFill>
            <a:prstDash val="solid"/>
          </a:ln>
        </p:spPr>
        <p:txBody>
          <a:bodyPr/>
          <a:lstStyle/>
          <a:p>
            <a:endParaRPr lang="en-US"/>
          </a:p>
        </p:txBody>
      </p:sp>
      <p:sp>
        <p:nvSpPr>
          <p:cNvPr id="64" name="Text 28">
            <a:extLst>
              <a:ext uri="{FF2B5EF4-FFF2-40B4-BE49-F238E27FC236}">
                <a16:creationId xmlns:a16="http://schemas.microsoft.com/office/drawing/2014/main" id="{5F7C0F9F-D9CD-DD83-5F75-017B43BCB500}"/>
              </a:ext>
            </a:extLst>
          </p:cNvPr>
          <p:cNvSpPr/>
          <p:nvPr/>
        </p:nvSpPr>
        <p:spPr>
          <a:xfrm>
            <a:off x="6564959" y="2797124"/>
            <a:ext cx="1316736"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100%</a:t>
            </a:r>
            <a:endParaRPr lang="en-US" sz="1400" dirty="0">
              <a:solidFill>
                <a:schemeClr val="tx1">
                  <a:lumMod val="75000"/>
                </a:schemeClr>
              </a:solidFill>
            </a:endParaRPr>
          </a:p>
        </p:txBody>
      </p:sp>
      <p:sp>
        <p:nvSpPr>
          <p:cNvPr id="65" name="Text 29">
            <a:extLst>
              <a:ext uri="{FF2B5EF4-FFF2-40B4-BE49-F238E27FC236}">
                <a16:creationId xmlns:a16="http://schemas.microsoft.com/office/drawing/2014/main" id="{FC4FA658-F281-1852-ABCB-2B9E53858B4B}"/>
              </a:ext>
            </a:extLst>
          </p:cNvPr>
          <p:cNvSpPr/>
          <p:nvPr/>
        </p:nvSpPr>
        <p:spPr>
          <a:xfrm>
            <a:off x="9076660" y="2911059"/>
            <a:ext cx="731520" cy="411480"/>
          </a:xfrm>
          <a:prstGeom prst="rect">
            <a:avLst/>
          </a:prstGeom>
          <a:noFill/>
          <a:ln/>
        </p:spPr>
        <p:txBody>
          <a:bodyPr wrap="square" lIns="0" tIns="0" rIns="0" bIns="0" rtlCol="0" anchor="ctr"/>
          <a:lstStyle/>
          <a:p>
            <a:pPr marL="0" indent="0" algn="ctr">
              <a:buNone/>
            </a:pPr>
            <a:r>
              <a:rPr lang="en-US" sz="1400" dirty="0">
                <a:solidFill>
                  <a:schemeClr val="tx1">
                    <a:lumMod val="75000"/>
                  </a:schemeClr>
                </a:solidFill>
                <a:latin typeface="Calibri" pitchFamily="34" charset="0"/>
                <a:ea typeface="Calibri" pitchFamily="34" charset="-122"/>
                <a:cs typeface="Calibri" pitchFamily="34" charset="-120"/>
              </a:rPr>
              <a:t>96%</a:t>
            </a:r>
            <a:endParaRPr lang="en-US" sz="1400" dirty="0">
              <a:solidFill>
                <a:schemeClr val="tx1">
                  <a:lumMod val="75000"/>
                </a:schemeClr>
              </a:solidFill>
            </a:endParaRPr>
          </a:p>
        </p:txBody>
      </p:sp>
      <p:sp>
        <p:nvSpPr>
          <p:cNvPr id="66" name="Shape 34">
            <a:extLst>
              <a:ext uri="{FF2B5EF4-FFF2-40B4-BE49-F238E27FC236}">
                <a16:creationId xmlns:a16="http://schemas.microsoft.com/office/drawing/2014/main" id="{61F34F27-6FAD-DA29-8AE4-E43586B41147}"/>
              </a:ext>
            </a:extLst>
          </p:cNvPr>
          <p:cNvSpPr/>
          <p:nvPr/>
        </p:nvSpPr>
        <p:spPr>
          <a:xfrm>
            <a:off x="4409537" y="3719086"/>
            <a:ext cx="1463040" cy="201168"/>
          </a:xfrm>
          <a:prstGeom prst="rect">
            <a:avLst/>
          </a:prstGeom>
          <a:solidFill>
            <a:srgbClr val="1E3A4A"/>
          </a:solidFill>
          <a:ln w="12700">
            <a:solidFill>
              <a:srgbClr val="1E3A4A"/>
            </a:solidFill>
            <a:prstDash val="solid"/>
          </a:ln>
        </p:spPr>
        <p:txBody>
          <a:bodyPr/>
          <a:lstStyle/>
          <a:p>
            <a:endParaRPr lang="en-US"/>
          </a:p>
        </p:txBody>
      </p:sp>
      <p:sp>
        <p:nvSpPr>
          <p:cNvPr id="67" name="Shape 35">
            <a:extLst>
              <a:ext uri="{FF2B5EF4-FFF2-40B4-BE49-F238E27FC236}">
                <a16:creationId xmlns:a16="http://schemas.microsoft.com/office/drawing/2014/main" id="{D08D1D90-1BCB-ED87-C828-968E7B8CF13F}"/>
              </a:ext>
            </a:extLst>
          </p:cNvPr>
          <p:cNvSpPr/>
          <p:nvPr/>
        </p:nvSpPr>
        <p:spPr>
          <a:xfrm>
            <a:off x="4409537" y="3719086"/>
            <a:ext cx="1463040" cy="201168"/>
          </a:xfrm>
          <a:prstGeom prst="rect">
            <a:avLst/>
          </a:prstGeom>
          <a:solidFill>
            <a:srgbClr val="C0DD97"/>
          </a:solidFill>
          <a:ln w="12700">
            <a:solidFill>
              <a:srgbClr val="C0DD97"/>
            </a:solidFill>
            <a:prstDash val="solid"/>
          </a:ln>
        </p:spPr>
        <p:txBody>
          <a:bodyPr/>
          <a:lstStyle/>
          <a:p>
            <a:endParaRPr lang="en-US"/>
          </a:p>
        </p:txBody>
      </p:sp>
      <p:sp>
        <p:nvSpPr>
          <p:cNvPr id="68" name="Text 36">
            <a:extLst>
              <a:ext uri="{FF2B5EF4-FFF2-40B4-BE49-F238E27FC236}">
                <a16:creationId xmlns:a16="http://schemas.microsoft.com/office/drawing/2014/main" id="{30C476F7-DAE0-A2F9-356C-0D443B75B487}"/>
              </a:ext>
            </a:extLst>
          </p:cNvPr>
          <p:cNvSpPr/>
          <p:nvPr/>
        </p:nvSpPr>
        <p:spPr>
          <a:xfrm>
            <a:off x="4409537" y="3517918"/>
            <a:ext cx="1463040"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100%</a:t>
            </a:r>
            <a:endParaRPr lang="en-US" sz="1400" dirty="0">
              <a:solidFill>
                <a:schemeClr val="tx1">
                  <a:lumMod val="75000"/>
                </a:schemeClr>
              </a:solidFill>
            </a:endParaRPr>
          </a:p>
        </p:txBody>
      </p:sp>
      <p:sp>
        <p:nvSpPr>
          <p:cNvPr id="69" name="Shape 37">
            <a:extLst>
              <a:ext uri="{FF2B5EF4-FFF2-40B4-BE49-F238E27FC236}">
                <a16:creationId xmlns:a16="http://schemas.microsoft.com/office/drawing/2014/main" id="{26365B79-35D5-0C07-B7F7-E345FBDA90C3}"/>
              </a:ext>
            </a:extLst>
          </p:cNvPr>
          <p:cNvSpPr/>
          <p:nvPr/>
        </p:nvSpPr>
        <p:spPr>
          <a:xfrm>
            <a:off x="6564959" y="3719086"/>
            <a:ext cx="1316736" cy="201168"/>
          </a:xfrm>
          <a:prstGeom prst="rect">
            <a:avLst/>
          </a:prstGeom>
          <a:solidFill>
            <a:srgbClr val="2A1A0A"/>
          </a:solidFill>
          <a:ln w="12700">
            <a:solidFill>
              <a:srgbClr val="2A1A0A"/>
            </a:solidFill>
            <a:prstDash val="solid"/>
          </a:ln>
        </p:spPr>
        <p:txBody>
          <a:bodyPr/>
          <a:lstStyle/>
          <a:p>
            <a:endParaRPr lang="en-US"/>
          </a:p>
        </p:txBody>
      </p:sp>
      <p:sp>
        <p:nvSpPr>
          <p:cNvPr id="70" name="Shape 38">
            <a:extLst>
              <a:ext uri="{FF2B5EF4-FFF2-40B4-BE49-F238E27FC236}">
                <a16:creationId xmlns:a16="http://schemas.microsoft.com/office/drawing/2014/main" id="{79E2A930-C51E-B5CD-72F7-12AF9147F652}"/>
              </a:ext>
            </a:extLst>
          </p:cNvPr>
          <p:cNvSpPr/>
          <p:nvPr/>
        </p:nvSpPr>
        <p:spPr>
          <a:xfrm>
            <a:off x="6564959" y="3719086"/>
            <a:ext cx="1316736" cy="201168"/>
          </a:xfrm>
          <a:prstGeom prst="rect">
            <a:avLst/>
          </a:prstGeom>
          <a:solidFill>
            <a:srgbClr val="C0DD97"/>
          </a:solidFill>
          <a:ln w="12700">
            <a:solidFill>
              <a:srgbClr val="C0DD97"/>
            </a:solidFill>
            <a:prstDash val="solid"/>
          </a:ln>
        </p:spPr>
        <p:txBody>
          <a:bodyPr/>
          <a:lstStyle/>
          <a:p>
            <a:endParaRPr lang="en-US"/>
          </a:p>
        </p:txBody>
      </p:sp>
      <p:sp>
        <p:nvSpPr>
          <p:cNvPr id="71" name="Text 39">
            <a:extLst>
              <a:ext uri="{FF2B5EF4-FFF2-40B4-BE49-F238E27FC236}">
                <a16:creationId xmlns:a16="http://schemas.microsoft.com/office/drawing/2014/main" id="{469FCAB6-937E-6D60-4424-9C8141132417}"/>
              </a:ext>
            </a:extLst>
          </p:cNvPr>
          <p:cNvSpPr/>
          <p:nvPr/>
        </p:nvSpPr>
        <p:spPr>
          <a:xfrm>
            <a:off x="6564959" y="3517918"/>
            <a:ext cx="1316736"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100%</a:t>
            </a:r>
            <a:endParaRPr lang="en-US" sz="1400" dirty="0">
              <a:solidFill>
                <a:schemeClr val="tx1">
                  <a:lumMod val="75000"/>
                </a:schemeClr>
              </a:solidFill>
            </a:endParaRPr>
          </a:p>
        </p:txBody>
      </p:sp>
      <p:sp>
        <p:nvSpPr>
          <p:cNvPr id="72" name="Text 40">
            <a:extLst>
              <a:ext uri="{FF2B5EF4-FFF2-40B4-BE49-F238E27FC236}">
                <a16:creationId xmlns:a16="http://schemas.microsoft.com/office/drawing/2014/main" id="{4A2C479A-2749-80D7-F7B8-CB82A41E95E7}"/>
              </a:ext>
            </a:extLst>
          </p:cNvPr>
          <p:cNvSpPr/>
          <p:nvPr/>
        </p:nvSpPr>
        <p:spPr>
          <a:xfrm>
            <a:off x="9076660" y="3614106"/>
            <a:ext cx="731520" cy="411480"/>
          </a:xfrm>
          <a:prstGeom prst="rect">
            <a:avLst/>
          </a:prstGeom>
          <a:noFill/>
          <a:ln/>
        </p:spPr>
        <p:txBody>
          <a:bodyPr wrap="square" lIns="0" tIns="0" rIns="0" bIns="0" rtlCol="0" anchor="ctr"/>
          <a:lstStyle/>
          <a:p>
            <a:pPr marL="0" indent="0" algn="ctr">
              <a:buNone/>
            </a:pPr>
            <a:r>
              <a:rPr lang="en-US" sz="1400" dirty="0">
                <a:solidFill>
                  <a:schemeClr val="tx1">
                    <a:lumMod val="75000"/>
                  </a:schemeClr>
                </a:solidFill>
                <a:latin typeface="Calibri" pitchFamily="34" charset="0"/>
                <a:ea typeface="Calibri" pitchFamily="34" charset="-122"/>
                <a:cs typeface="Calibri" pitchFamily="34" charset="-120"/>
              </a:rPr>
              <a:t>100%</a:t>
            </a:r>
            <a:endParaRPr lang="en-US" sz="1400" dirty="0">
              <a:solidFill>
                <a:schemeClr val="tx1">
                  <a:lumMod val="75000"/>
                </a:schemeClr>
              </a:solidFill>
            </a:endParaRPr>
          </a:p>
        </p:txBody>
      </p:sp>
      <p:sp>
        <p:nvSpPr>
          <p:cNvPr id="73" name="Shape 45">
            <a:extLst>
              <a:ext uri="{FF2B5EF4-FFF2-40B4-BE49-F238E27FC236}">
                <a16:creationId xmlns:a16="http://schemas.microsoft.com/office/drawing/2014/main" id="{69B39C9B-0F8B-78DA-355A-C9709C587F93}"/>
              </a:ext>
            </a:extLst>
          </p:cNvPr>
          <p:cNvSpPr/>
          <p:nvPr/>
        </p:nvSpPr>
        <p:spPr>
          <a:xfrm>
            <a:off x="4409537" y="4410241"/>
            <a:ext cx="1463040" cy="201168"/>
          </a:xfrm>
          <a:prstGeom prst="rect">
            <a:avLst/>
          </a:prstGeom>
          <a:solidFill>
            <a:srgbClr val="1E3A4A"/>
          </a:solidFill>
          <a:ln w="12700">
            <a:solidFill>
              <a:srgbClr val="1E3A4A"/>
            </a:solidFill>
            <a:prstDash val="solid"/>
          </a:ln>
        </p:spPr>
        <p:txBody>
          <a:bodyPr/>
          <a:lstStyle/>
          <a:p>
            <a:endParaRPr lang="en-US"/>
          </a:p>
        </p:txBody>
      </p:sp>
      <p:sp>
        <p:nvSpPr>
          <p:cNvPr id="74" name="Shape 46">
            <a:extLst>
              <a:ext uri="{FF2B5EF4-FFF2-40B4-BE49-F238E27FC236}">
                <a16:creationId xmlns:a16="http://schemas.microsoft.com/office/drawing/2014/main" id="{41E4B394-1A07-1E7D-D80C-08A58E1835F4}"/>
              </a:ext>
            </a:extLst>
          </p:cNvPr>
          <p:cNvSpPr/>
          <p:nvPr/>
        </p:nvSpPr>
        <p:spPr>
          <a:xfrm>
            <a:off x="4409537" y="4410241"/>
            <a:ext cx="1133957" cy="201168"/>
          </a:xfrm>
          <a:prstGeom prst="rect">
            <a:avLst/>
          </a:prstGeom>
          <a:solidFill>
            <a:srgbClr val="B5D4F4"/>
          </a:solidFill>
          <a:ln w="12700">
            <a:solidFill>
              <a:srgbClr val="B5D4F4"/>
            </a:solidFill>
            <a:prstDash val="solid"/>
          </a:ln>
        </p:spPr>
        <p:txBody>
          <a:bodyPr/>
          <a:lstStyle/>
          <a:p>
            <a:endParaRPr lang="en-US"/>
          </a:p>
        </p:txBody>
      </p:sp>
      <p:sp>
        <p:nvSpPr>
          <p:cNvPr id="75" name="Text 47">
            <a:extLst>
              <a:ext uri="{FF2B5EF4-FFF2-40B4-BE49-F238E27FC236}">
                <a16:creationId xmlns:a16="http://schemas.microsoft.com/office/drawing/2014/main" id="{50B1D3C1-444C-2099-C9E4-B27A564B7059}"/>
              </a:ext>
            </a:extLst>
          </p:cNvPr>
          <p:cNvSpPr/>
          <p:nvPr/>
        </p:nvSpPr>
        <p:spPr>
          <a:xfrm>
            <a:off x="4409537" y="4209073"/>
            <a:ext cx="1463040"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82%</a:t>
            </a:r>
            <a:endParaRPr lang="en-US" sz="1400" dirty="0">
              <a:solidFill>
                <a:schemeClr val="tx1">
                  <a:lumMod val="75000"/>
                </a:schemeClr>
              </a:solidFill>
            </a:endParaRPr>
          </a:p>
        </p:txBody>
      </p:sp>
      <p:sp>
        <p:nvSpPr>
          <p:cNvPr id="76" name="Shape 48">
            <a:extLst>
              <a:ext uri="{FF2B5EF4-FFF2-40B4-BE49-F238E27FC236}">
                <a16:creationId xmlns:a16="http://schemas.microsoft.com/office/drawing/2014/main" id="{68CE2CAD-EC87-780D-125D-7EAC58DBB473}"/>
              </a:ext>
            </a:extLst>
          </p:cNvPr>
          <p:cNvSpPr/>
          <p:nvPr/>
        </p:nvSpPr>
        <p:spPr>
          <a:xfrm>
            <a:off x="6564959" y="4410241"/>
            <a:ext cx="1316736" cy="201168"/>
          </a:xfrm>
          <a:prstGeom prst="rect">
            <a:avLst/>
          </a:prstGeom>
          <a:solidFill>
            <a:srgbClr val="2A1A0A"/>
          </a:solidFill>
          <a:ln w="12700">
            <a:solidFill>
              <a:srgbClr val="2A1A0A"/>
            </a:solidFill>
            <a:prstDash val="solid"/>
          </a:ln>
        </p:spPr>
        <p:txBody>
          <a:bodyPr/>
          <a:lstStyle/>
          <a:p>
            <a:endParaRPr lang="en-US"/>
          </a:p>
        </p:txBody>
      </p:sp>
      <p:sp>
        <p:nvSpPr>
          <p:cNvPr id="77" name="Shape 49">
            <a:extLst>
              <a:ext uri="{FF2B5EF4-FFF2-40B4-BE49-F238E27FC236}">
                <a16:creationId xmlns:a16="http://schemas.microsoft.com/office/drawing/2014/main" id="{F799BC8F-C149-BFFE-939C-686F6532FFE1}"/>
              </a:ext>
            </a:extLst>
          </p:cNvPr>
          <p:cNvSpPr/>
          <p:nvPr/>
        </p:nvSpPr>
        <p:spPr>
          <a:xfrm>
            <a:off x="6564960" y="4410241"/>
            <a:ext cx="1081654" cy="201168"/>
          </a:xfrm>
          <a:prstGeom prst="rect">
            <a:avLst/>
          </a:prstGeom>
          <a:solidFill>
            <a:srgbClr val="B5D4F4"/>
          </a:solidFill>
          <a:ln w="12700">
            <a:solidFill>
              <a:srgbClr val="B5D4F4"/>
            </a:solidFill>
            <a:prstDash val="solid"/>
          </a:ln>
        </p:spPr>
        <p:txBody>
          <a:bodyPr/>
          <a:lstStyle/>
          <a:p>
            <a:endParaRPr lang="en-US"/>
          </a:p>
        </p:txBody>
      </p:sp>
      <p:sp>
        <p:nvSpPr>
          <p:cNvPr id="78" name="Text 50">
            <a:extLst>
              <a:ext uri="{FF2B5EF4-FFF2-40B4-BE49-F238E27FC236}">
                <a16:creationId xmlns:a16="http://schemas.microsoft.com/office/drawing/2014/main" id="{CC3F8160-8295-4FD1-5C99-5896053FACBF}"/>
              </a:ext>
            </a:extLst>
          </p:cNvPr>
          <p:cNvSpPr/>
          <p:nvPr/>
        </p:nvSpPr>
        <p:spPr>
          <a:xfrm>
            <a:off x="6564959" y="4209073"/>
            <a:ext cx="1316736"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86%</a:t>
            </a:r>
            <a:endParaRPr lang="en-US" sz="1400" dirty="0">
              <a:solidFill>
                <a:schemeClr val="tx1">
                  <a:lumMod val="75000"/>
                </a:schemeClr>
              </a:solidFill>
            </a:endParaRPr>
          </a:p>
        </p:txBody>
      </p:sp>
      <p:sp>
        <p:nvSpPr>
          <p:cNvPr id="79" name="Text 51">
            <a:extLst>
              <a:ext uri="{FF2B5EF4-FFF2-40B4-BE49-F238E27FC236}">
                <a16:creationId xmlns:a16="http://schemas.microsoft.com/office/drawing/2014/main" id="{4A4F5897-6C14-39EE-3703-A1235A3C886B}"/>
              </a:ext>
            </a:extLst>
          </p:cNvPr>
          <p:cNvSpPr/>
          <p:nvPr/>
        </p:nvSpPr>
        <p:spPr>
          <a:xfrm>
            <a:off x="9076660" y="4306636"/>
            <a:ext cx="731520" cy="411480"/>
          </a:xfrm>
          <a:prstGeom prst="rect">
            <a:avLst/>
          </a:prstGeom>
          <a:noFill/>
          <a:ln/>
        </p:spPr>
        <p:txBody>
          <a:bodyPr wrap="square" lIns="0" tIns="0" rIns="0" bIns="0" rtlCol="0" anchor="ctr"/>
          <a:lstStyle/>
          <a:p>
            <a:pPr marL="0" indent="0" algn="ctr">
              <a:buNone/>
            </a:pPr>
            <a:r>
              <a:rPr lang="en-US" sz="1400" dirty="0">
                <a:solidFill>
                  <a:schemeClr val="tx1">
                    <a:lumMod val="75000"/>
                  </a:schemeClr>
                </a:solidFill>
                <a:latin typeface="Calibri" pitchFamily="34" charset="0"/>
                <a:ea typeface="Calibri" pitchFamily="34" charset="-122"/>
                <a:cs typeface="Calibri" pitchFamily="34" charset="-120"/>
              </a:rPr>
              <a:t>88%</a:t>
            </a:r>
            <a:endParaRPr lang="en-US" sz="1400" dirty="0">
              <a:solidFill>
                <a:schemeClr val="tx1">
                  <a:lumMod val="75000"/>
                </a:schemeClr>
              </a:solidFill>
            </a:endParaRPr>
          </a:p>
        </p:txBody>
      </p:sp>
      <p:sp>
        <p:nvSpPr>
          <p:cNvPr id="80" name="Shape 56">
            <a:extLst>
              <a:ext uri="{FF2B5EF4-FFF2-40B4-BE49-F238E27FC236}">
                <a16:creationId xmlns:a16="http://schemas.microsoft.com/office/drawing/2014/main" id="{A8989166-20AE-A56B-BB14-6B4BA81E880D}"/>
              </a:ext>
            </a:extLst>
          </p:cNvPr>
          <p:cNvSpPr/>
          <p:nvPr/>
        </p:nvSpPr>
        <p:spPr>
          <a:xfrm>
            <a:off x="4409538" y="5151026"/>
            <a:ext cx="1463040" cy="201168"/>
          </a:xfrm>
          <a:prstGeom prst="rect">
            <a:avLst/>
          </a:prstGeom>
          <a:solidFill>
            <a:srgbClr val="1E3A4A"/>
          </a:solidFill>
          <a:ln w="12700">
            <a:solidFill>
              <a:srgbClr val="1E3A4A"/>
            </a:solidFill>
            <a:prstDash val="solid"/>
          </a:ln>
        </p:spPr>
        <p:txBody>
          <a:bodyPr/>
          <a:lstStyle/>
          <a:p>
            <a:endParaRPr lang="en-US"/>
          </a:p>
        </p:txBody>
      </p:sp>
      <p:sp>
        <p:nvSpPr>
          <p:cNvPr id="81" name="Shape 57">
            <a:extLst>
              <a:ext uri="{FF2B5EF4-FFF2-40B4-BE49-F238E27FC236}">
                <a16:creationId xmlns:a16="http://schemas.microsoft.com/office/drawing/2014/main" id="{0B06808D-3535-90C9-D5A5-1EE0021CD71D}"/>
              </a:ext>
            </a:extLst>
          </p:cNvPr>
          <p:cNvSpPr/>
          <p:nvPr/>
        </p:nvSpPr>
        <p:spPr>
          <a:xfrm>
            <a:off x="4409538" y="5151026"/>
            <a:ext cx="1133956" cy="201168"/>
          </a:xfrm>
          <a:prstGeom prst="rect">
            <a:avLst/>
          </a:prstGeom>
          <a:solidFill>
            <a:srgbClr val="FAC775"/>
          </a:solidFill>
          <a:ln w="12700">
            <a:solidFill>
              <a:srgbClr val="FAC775"/>
            </a:solidFill>
            <a:prstDash val="solid"/>
          </a:ln>
        </p:spPr>
        <p:txBody>
          <a:bodyPr/>
          <a:lstStyle/>
          <a:p>
            <a:endParaRPr lang="en-US"/>
          </a:p>
        </p:txBody>
      </p:sp>
      <p:sp>
        <p:nvSpPr>
          <p:cNvPr id="82" name="Text 58">
            <a:extLst>
              <a:ext uri="{FF2B5EF4-FFF2-40B4-BE49-F238E27FC236}">
                <a16:creationId xmlns:a16="http://schemas.microsoft.com/office/drawing/2014/main" id="{1FEACE66-747E-3DA6-B004-A02E95301C59}"/>
              </a:ext>
            </a:extLst>
          </p:cNvPr>
          <p:cNvSpPr/>
          <p:nvPr/>
        </p:nvSpPr>
        <p:spPr>
          <a:xfrm>
            <a:off x="4409538" y="4949858"/>
            <a:ext cx="1463040"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79%</a:t>
            </a:r>
            <a:endParaRPr lang="en-US" sz="1400" dirty="0">
              <a:solidFill>
                <a:schemeClr val="tx1">
                  <a:lumMod val="75000"/>
                </a:schemeClr>
              </a:solidFill>
            </a:endParaRPr>
          </a:p>
        </p:txBody>
      </p:sp>
      <p:sp>
        <p:nvSpPr>
          <p:cNvPr id="83" name="Shape 59">
            <a:extLst>
              <a:ext uri="{FF2B5EF4-FFF2-40B4-BE49-F238E27FC236}">
                <a16:creationId xmlns:a16="http://schemas.microsoft.com/office/drawing/2014/main" id="{7BFCC5D1-D0CB-047D-A133-3F217E5F89B1}"/>
              </a:ext>
            </a:extLst>
          </p:cNvPr>
          <p:cNvSpPr/>
          <p:nvPr/>
        </p:nvSpPr>
        <p:spPr>
          <a:xfrm>
            <a:off x="6564960" y="5151026"/>
            <a:ext cx="1316736" cy="201168"/>
          </a:xfrm>
          <a:prstGeom prst="rect">
            <a:avLst/>
          </a:prstGeom>
          <a:solidFill>
            <a:srgbClr val="2A1A0A"/>
          </a:solidFill>
          <a:ln w="12700">
            <a:solidFill>
              <a:srgbClr val="2A1A0A"/>
            </a:solidFill>
            <a:prstDash val="solid"/>
          </a:ln>
        </p:spPr>
        <p:txBody>
          <a:bodyPr/>
          <a:lstStyle/>
          <a:p>
            <a:endParaRPr lang="en-US"/>
          </a:p>
        </p:txBody>
      </p:sp>
      <p:sp>
        <p:nvSpPr>
          <p:cNvPr id="84" name="Shape 60">
            <a:extLst>
              <a:ext uri="{FF2B5EF4-FFF2-40B4-BE49-F238E27FC236}">
                <a16:creationId xmlns:a16="http://schemas.microsoft.com/office/drawing/2014/main" id="{ABD24DCA-17EA-C8D1-2B67-308309075D0C}"/>
              </a:ext>
            </a:extLst>
          </p:cNvPr>
          <p:cNvSpPr/>
          <p:nvPr/>
        </p:nvSpPr>
        <p:spPr>
          <a:xfrm>
            <a:off x="6564960" y="5151026"/>
            <a:ext cx="959734" cy="201168"/>
          </a:xfrm>
          <a:prstGeom prst="rect">
            <a:avLst/>
          </a:prstGeom>
          <a:solidFill>
            <a:srgbClr val="FAC775"/>
          </a:solidFill>
          <a:ln w="12700">
            <a:solidFill>
              <a:srgbClr val="FAC775"/>
            </a:solidFill>
            <a:prstDash val="solid"/>
          </a:ln>
        </p:spPr>
        <p:txBody>
          <a:bodyPr/>
          <a:lstStyle/>
          <a:p>
            <a:endParaRPr lang="en-US"/>
          </a:p>
        </p:txBody>
      </p:sp>
      <p:sp>
        <p:nvSpPr>
          <p:cNvPr id="85" name="Text 61">
            <a:extLst>
              <a:ext uri="{FF2B5EF4-FFF2-40B4-BE49-F238E27FC236}">
                <a16:creationId xmlns:a16="http://schemas.microsoft.com/office/drawing/2014/main" id="{EB6684DE-5CE5-E2C2-94F5-7397A99093DA}"/>
              </a:ext>
            </a:extLst>
          </p:cNvPr>
          <p:cNvSpPr/>
          <p:nvPr/>
        </p:nvSpPr>
        <p:spPr>
          <a:xfrm>
            <a:off x="6564960" y="4949858"/>
            <a:ext cx="1316736"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75%</a:t>
            </a:r>
            <a:endParaRPr lang="en-US" sz="1400" dirty="0">
              <a:solidFill>
                <a:schemeClr val="tx1">
                  <a:lumMod val="75000"/>
                </a:schemeClr>
              </a:solidFill>
            </a:endParaRPr>
          </a:p>
        </p:txBody>
      </p:sp>
      <p:sp>
        <p:nvSpPr>
          <p:cNvPr id="86" name="Text 62">
            <a:extLst>
              <a:ext uri="{FF2B5EF4-FFF2-40B4-BE49-F238E27FC236}">
                <a16:creationId xmlns:a16="http://schemas.microsoft.com/office/drawing/2014/main" id="{C844CE18-33A1-23A6-4FF9-2B2099AA500C}"/>
              </a:ext>
            </a:extLst>
          </p:cNvPr>
          <p:cNvSpPr/>
          <p:nvPr/>
        </p:nvSpPr>
        <p:spPr>
          <a:xfrm>
            <a:off x="9076661" y="5057253"/>
            <a:ext cx="731520" cy="411480"/>
          </a:xfrm>
          <a:prstGeom prst="rect">
            <a:avLst/>
          </a:prstGeom>
          <a:noFill/>
          <a:ln/>
        </p:spPr>
        <p:txBody>
          <a:bodyPr wrap="square" lIns="0" tIns="0" rIns="0" bIns="0" rtlCol="0" anchor="ctr"/>
          <a:lstStyle/>
          <a:p>
            <a:pPr marL="0" indent="0" algn="ctr">
              <a:buNone/>
            </a:pPr>
            <a:r>
              <a:rPr lang="en-US" sz="1400" dirty="0">
                <a:solidFill>
                  <a:schemeClr val="tx1">
                    <a:lumMod val="75000"/>
                  </a:schemeClr>
                </a:solidFill>
                <a:latin typeface="Calibri" pitchFamily="34" charset="0"/>
                <a:ea typeface="Calibri" pitchFamily="34" charset="-122"/>
                <a:cs typeface="Calibri" pitchFamily="34" charset="-120"/>
              </a:rPr>
              <a:t>58%</a:t>
            </a:r>
            <a:endParaRPr lang="en-US" sz="1400" dirty="0">
              <a:solidFill>
                <a:schemeClr val="tx1">
                  <a:lumMod val="75000"/>
                </a:schemeClr>
              </a:solidFill>
            </a:endParaRPr>
          </a:p>
        </p:txBody>
      </p:sp>
      <p:sp>
        <p:nvSpPr>
          <p:cNvPr id="87" name="Text 11">
            <a:extLst>
              <a:ext uri="{FF2B5EF4-FFF2-40B4-BE49-F238E27FC236}">
                <a16:creationId xmlns:a16="http://schemas.microsoft.com/office/drawing/2014/main" id="{917D5CD2-EEF6-C0AE-3008-6D3CAC039BF5}"/>
              </a:ext>
            </a:extLst>
          </p:cNvPr>
          <p:cNvSpPr/>
          <p:nvPr/>
        </p:nvSpPr>
        <p:spPr>
          <a:xfrm>
            <a:off x="998202" y="2745183"/>
            <a:ext cx="2938864" cy="640080"/>
          </a:xfrm>
          <a:prstGeom prst="rect">
            <a:avLst/>
          </a:prstGeom>
          <a:solidFill>
            <a:srgbClr val="00249C"/>
          </a:solidFill>
          <a:ln>
            <a:solidFill>
              <a:srgbClr val="00249C"/>
            </a:solidFill>
          </a:ln>
        </p:spPr>
        <p:style>
          <a:lnRef idx="2">
            <a:schemeClr val="accent1"/>
          </a:lnRef>
          <a:fillRef idx="1">
            <a:schemeClr val="lt1"/>
          </a:fillRef>
          <a:effectRef idx="0">
            <a:schemeClr val="accent1"/>
          </a:effectRef>
          <a:fontRef idx="minor">
            <a:schemeClr val="dk1"/>
          </a:fontRef>
        </p:style>
        <p:txBody>
          <a:bodyPr wrap="square" lIns="0" tIns="0" rIns="0" bIns="0" rtlCol="0" anchor="ctr"/>
          <a:lstStyle/>
          <a:p>
            <a:pPr algn="ctr"/>
            <a:r>
              <a:rPr lang="en-US" sz="1200" b="1" dirty="0">
                <a:solidFill>
                  <a:schemeClr val="bg2"/>
                </a:solidFill>
                <a:latin typeface="Tahoma" panose="020B0604030504040204" pitchFamily="34" charset="0"/>
                <a:ea typeface="Tahoma" panose="020B0604030504040204" pitchFamily="34" charset="0"/>
                <a:cs typeface="Tahoma" panose="020B0604030504040204" pitchFamily="34" charset="0"/>
              </a:rPr>
              <a:t>2. Risk Management &amp; Planning (20%)</a:t>
            </a:r>
            <a:endParaRPr lang="en-US" sz="1200" b="1" dirty="0">
              <a:solidFill>
                <a:schemeClr val="bg2"/>
              </a:solidFill>
              <a:latin typeface="Tahoma" panose="020B0604030504040204" pitchFamily="34" charset="0"/>
              <a:ea typeface="Tahoma" panose="020B0604030504040204" pitchFamily="34" charset="0"/>
              <a:cs typeface="Tahoma" panose="020B0604030504040204" pitchFamily="34" charset="0"/>
            </a:endParaRPr>
          </a:p>
        </p:txBody>
      </p:sp>
      <p:sp>
        <p:nvSpPr>
          <p:cNvPr id="88" name="Text 11">
            <a:extLst>
              <a:ext uri="{FF2B5EF4-FFF2-40B4-BE49-F238E27FC236}">
                <a16:creationId xmlns:a16="http://schemas.microsoft.com/office/drawing/2014/main" id="{7F86E6F3-81BB-01AF-2D9F-6A1991D63281}"/>
              </a:ext>
            </a:extLst>
          </p:cNvPr>
          <p:cNvSpPr/>
          <p:nvPr/>
        </p:nvSpPr>
        <p:spPr>
          <a:xfrm>
            <a:off x="998202" y="3479437"/>
            <a:ext cx="2938864" cy="640080"/>
          </a:xfrm>
          <a:prstGeom prst="rect">
            <a:avLst/>
          </a:prstGeom>
          <a:solidFill>
            <a:srgbClr val="00249C"/>
          </a:solidFill>
          <a:ln>
            <a:solidFill>
              <a:srgbClr val="00249C"/>
            </a:solidFill>
          </a:ln>
        </p:spPr>
        <p:style>
          <a:lnRef idx="2">
            <a:schemeClr val="accent1"/>
          </a:lnRef>
          <a:fillRef idx="1">
            <a:schemeClr val="lt1"/>
          </a:fillRef>
          <a:effectRef idx="0">
            <a:schemeClr val="accent1"/>
          </a:effectRef>
          <a:fontRef idx="minor">
            <a:schemeClr val="dk1"/>
          </a:fontRef>
        </p:style>
        <p:txBody>
          <a:bodyPr wrap="square" lIns="0" tIns="0" rIns="0" bIns="0" rtlCol="0" anchor="ctr"/>
          <a:lstStyle/>
          <a:p>
            <a:pPr algn="ctr"/>
            <a:r>
              <a:rPr lang="en-US" sz="1200" b="1" dirty="0">
                <a:solidFill>
                  <a:schemeClr val="bg2"/>
                </a:solidFill>
                <a:latin typeface="Tahoma" panose="020B0604030504040204" pitchFamily="34" charset="0"/>
                <a:ea typeface="Tahoma" panose="020B0604030504040204" pitchFamily="34" charset="0"/>
                <a:cs typeface="Tahoma" panose="020B0604030504040204" pitchFamily="34" charset="0"/>
              </a:rPr>
              <a:t>3. Training &amp; Awareness (10%)</a:t>
            </a:r>
            <a:endParaRPr lang="en-US" sz="1200" b="1" dirty="0">
              <a:solidFill>
                <a:schemeClr val="bg2"/>
              </a:solidFill>
              <a:latin typeface="Tahoma" panose="020B0604030504040204" pitchFamily="34" charset="0"/>
              <a:ea typeface="Tahoma" panose="020B0604030504040204" pitchFamily="34" charset="0"/>
              <a:cs typeface="Tahoma" panose="020B0604030504040204" pitchFamily="34" charset="0"/>
            </a:endParaRPr>
          </a:p>
        </p:txBody>
      </p:sp>
      <p:sp>
        <p:nvSpPr>
          <p:cNvPr id="89" name="Text 11">
            <a:extLst>
              <a:ext uri="{FF2B5EF4-FFF2-40B4-BE49-F238E27FC236}">
                <a16:creationId xmlns:a16="http://schemas.microsoft.com/office/drawing/2014/main" id="{FBBB0DA6-AC6E-CF5B-16A3-16D32590C3AA}"/>
              </a:ext>
            </a:extLst>
          </p:cNvPr>
          <p:cNvSpPr/>
          <p:nvPr/>
        </p:nvSpPr>
        <p:spPr>
          <a:xfrm>
            <a:off x="998202" y="4207826"/>
            <a:ext cx="2938864" cy="640080"/>
          </a:xfrm>
          <a:prstGeom prst="rect">
            <a:avLst/>
          </a:prstGeom>
          <a:solidFill>
            <a:srgbClr val="00249C"/>
          </a:solidFill>
          <a:ln>
            <a:solidFill>
              <a:srgbClr val="00249C"/>
            </a:solidFill>
          </a:ln>
        </p:spPr>
        <p:style>
          <a:lnRef idx="2">
            <a:schemeClr val="accent1"/>
          </a:lnRef>
          <a:fillRef idx="1">
            <a:schemeClr val="lt1"/>
          </a:fillRef>
          <a:effectRef idx="0">
            <a:schemeClr val="accent1"/>
          </a:effectRef>
          <a:fontRef idx="minor">
            <a:schemeClr val="dk1"/>
          </a:fontRef>
        </p:style>
        <p:txBody>
          <a:bodyPr wrap="square" lIns="0" tIns="0" rIns="0" bIns="0" rtlCol="0" anchor="ctr"/>
          <a:lstStyle/>
          <a:p>
            <a:pPr algn="ctr"/>
            <a:r>
              <a:rPr lang="en-US" sz="1200" b="1" dirty="0">
                <a:solidFill>
                  <a:schemeClr val="bg2"/>
                </a:solidFill>
                <a:latin typeface="Tahoma" panose="020B0604030504040204" pitchFamily="34" charset="0"/>
                <a:ea typeface="Tahoma" panose="020B0604030504040204" pitchFamily="34" charset="0"/>
                <a:cs typeface="Tahoma" panose="020B0604030504040204" pitchFamily="34" charset="0"/>
              </a:rPr>
              <a:t>4. Operational Control &amp; Emergency Preparedness (25%)</a:t>
            </a:r>
            <a:endParaRPr lang="en-US" sz="1200" b="1" dirty="0">
              <a:solidFill>
                <a:schemeClr val="bg2"/>
              </a:solidFill>
              <a:latin typeface="Tahoma" panose="020B0604030504040204" pitchFamily="34" charset="0"/>
              <a:ea typeface="Tahoma" panose="020B0604030504040204" pitchFamily="34" charset="0"/>
              <a:cs typeface="Tahoma" panose="020B0604030504040204" pitchFamily="34" charset="0"/>
            </a:endParaRPr>
          </a:p>
        </p:txBody>
      </p:sp>
      <p:sp>
        <p:nvSpPr>
          <p:cNvPr id="90" name="Text 11">
            <a:extLst>
              <a:ext uri="{FF2B5EF4-FFF2-40B4-BE49-F238E27FC236}">
                <a16:creationId xmlns:a16="http://schemas.microsoft.com/office/drawing/2014/main" id="{24DE36AD-FE9C-9906-C01C-1D9E5DC42CDD}"/>
              </a:ext>
            </a:extLst>
          </p:cNvPr>
          <p:cNvSpPr/>
          <p:nvPr/>
        </p:nvSpPr>
        <p:spPr>
          <a:xfrm>
            <a:off x="998202" y="4939856"/>
            <a:ext cx="2938864" cy="640080"/>
          </a:xfrm>
          <a:prstGeom prst="rect">
            <a:avLst/>
          </a:prstGeom>
          <a:solidFill>
            <a:srgbClr val="00249C"/>
          </a:solidFill>
          <a:ln>
            <a:solidFill>
              <a:srgbClr val="00249C"/>
            </a:solidFill>
          </a:ln>
        </p:spPr>
        <p:style>
          <a:lnRef idx="2">
            <a:schemeClr val="accent1"/>
          </a:lnRef>
          <a:fillRef idx="1">
            <a:schemeClr val="lt1"/>
          </a:fillRef>
          <a:effectRef idx="0">
            <a:schemeClr val="accent1"/>
          </a:effectRef>
          <a:fontRef idx="minor">
            <a:schemeClr val="dk1"/>
          </a:fontRef>
        </p:style>
        <p:txBody>
          <a:bodyPr wrap="square" lIns="0" tIns="0" rIns="0" bIns="0" rtlCol="0" anchor="ctr"/>
          <a:lstStyle/>
          <a:p>
            <a:pPr algn="ctr"/>
            <a:r>
              <a:rPr lang="en-US" sz="1200" b="1" dirty="0">
                <a:solidFill>
                  <a:schemeClr val="bg2"/>
                </a:solidFill>
                <a:latin typeface="Tahoma" panose="020B0604030504040204" pitchFamily="34" charset="0"/>
                <a:ea typeface="Tahoma" panose="020B0604030504040204" pitchFamily="34" charset="0"/>
                <a:cs typeface="Tahoma" panose="020B0604030504040204" pitchFamily="34" charset="0"/>
              </a:rPr>
              <a:t>5. Performance Evaluation &amp; Continuous Improvement (25%)</a:t>
            </a:r>
            <a:endParaRPr lang="en-US" sz="1200" b="1" dirty="0">
              <a:solidFill>
                <a:schemeClr val="bg2"/>
              </a:solidFill>
              <a:latin typeface="Tahoma" panose="020B0604030504040204" pitchFamily="34" charset="0"/>
              <a:ea typeface="Tahoma" panose="020B0604030504040204" pitchFamily="34" charset="0"/>
              <a:cs typeface="Tahoma" panose="020B0604030504040204" pitchFamily="34" charset="0"/>
            </a:endParaRPr>
          </a:p>
        </p:txBody>
      </p:sp>
      <p:sp>
        <p:nvSpPr>
          <p:cNvPr id="91" name="Text 3">
            <a:extLst>
              <a:ext uri="{FF2B5EF4-FFF2-40B4-BE49-F238E27FC236}">
                <a16:creationId xmlns:a16="http://schemas.microsoft.com/office/drawing/2014/main" id="{4F70E5BA-29BD-30FB-2776-2823F9A26413}"/>
              </a:ext>
            </a:extLst>
          </p:cNvPr>
          <p:cNvSpPr/>
          <p:nvPr/>
        </p:nvSpPr>
        <p:spPr>
          <a:xfrm>
            <a:off x="998201" y="1577237"/>
            <a:ext cx="2938863" cy="296249"/>
          </a:xfrm>
          <a:prstGeom prst="rect">
            <a:avLst/>
          </a:prstGeom>
          <a:noFill/>
          <a:ln/>
        </p:spPr>
        <p:txBody>
          <a:bodyPr wrap="square" lIns="0" tIns="0" rIns="0" bIns="0" rtlCol="0" anchor="ctr"/>
          <a:lstStyle/>
          <a:p>
            <a:pPr marL="0" indent="0" algn="ctr">
              <a:buNone/>
            </a:pPr>
            <a:r>
              <a:rPr lang="en-US" sz="1600" dirty="0">
                <a:solidFill>
                  <a:srgbClr val="00249C"/>
                </a:solidFill>
                <a:latin typeface="Calibri" pitchFamily="34" charset="0"/>
                <a:ea typeface="Calibri" pitchFamily="34" charset="-122"/>
                <a:cs typeface="Calibri" pitchFamily="34" charset="-120"/>
              </a:rPr>
              <a:t>Pillar</a:t>
            </a:r>
            <a:endParaRPr lang="en-US" sz="1600" dirty="0">
              <a:solidFill>
                <a:srgbClr val="00249C"/>
              </a:solidFill>
            </a:endParaRPr>
          </a:p>
        </p:txBody>
      </p:sp>
      <p:sp>
        <p:nvSpPr>
          <p:cNvPr id="92" name="Text 4">
            <a:extLst>
              <a:ext uri="{FF2B5EF4-FFF2-40B4-BE49-F238E27FC236}">
                <a16:creationId xmlns:a16="http://schemas.microsoft.com/office/drawing/2014/main" id="{D7A36F8B-6D54-086E-C3F8-C1347A7D3E6C}"/>
              </a:ext>
            </a:extLst>
          </p:cNvPr>
          <p:cNvSpPr/>
          <p:nvPr/>
        </p:nvSpPr>
        <p:spPr>
          <a:xfrm>
            <a:off x="4164458" y="1571795"/>
            <a:ext cx="1831378" cy="248846"/>
          </a:xfrm>
          <a:prstGeom prst="rect">
            <a:avLst/>
          </a:prstGeom>
          <a:noFill/>
          <a:ln/>
        </p:spPr>
        <p:txBody>
          <a:bodyPr wrap="square" lIns="0" tIns="0" rIns="0" bIns="0" rtlCol="0" anchor="ctr"/>
          <a:lstStyle/>
          <a:p>
            <a:pPr marL="0" indent="0" algn="ctr">
              <a:buNone/>
            </a:pPr>
            <a:r>
              <a:rPr lang="en-US" sz="1600" dirty="0">
                <a:solidFill>
                  <a:srgbClr val="00249C"/>
                </a:solidFill>
                <a:latin typeface="Calibri" pitchFamily="34" charset="0"/>
                <a:ea typeface="Calibri" pitchFamily="34" charset="-122"/>
                <a:cs typeface="Calibri" pitchFamily="34" charset="-120"/>
              </a:rPr>
              <a:t>Baniyas Campus A</a:t>
            </a:r>
            <a:endParaRPr lang="en-US" sz="1600" dirty="0">
              <a:solidFill>
                <a:srgbClr val="00249C"/>
              </a:solidFill>
            </a:endParaRPr>
          </a:p>
        </p:txBody>
      </p:sp>
      <p:sp>
        <p:nvSpPr>
          <p:cNvPr id="93" name="Text 5">
            <a:extLst>
              <a:ext uri="{FF2B5EF4-FFF2-40B4-BE49-F238E27FC236}">
                <a16:creationId xmlns:a16="http://schemas.microsoft.com/office/drawing/2014/main" id="{F852F043-5104-652E-EADA-52E6968D0F19}"/>
              </a:ext>
            </a:extLst>
          </p:cNvPr>
          <p:cNvSpPr/>
          <p:nvPr/>
        </p:nvSpPr>
        <p:spPr>
          <a:xfrm>
            <a:off x="6336148" y="1592923"/>
            <a:ext cx="1774358" cy="251945"/>
          </a:xfrm>
          <a:prstGeom prst="rect">
            <a:avLst/>
          </a:prstGeom>
          <a:noFill/>
          <a:ln/>
        </p:spPr>
        <p:txBody>
          <a:bodyPr wrap="square" lIns="0" tIns="0" rIns="0" bIns="0" rtlCol="0" anchor="ctr"/>
          <a:lstStyle/>
          <a:p>
            <a:pPr marL="0" indent="0" algn="ctr">
              <a:buNone/>
            </a:pPr>
            <a:r>
              <a:rPr lang="en-US" sz="1600" dirty="0">
                <a:solidFill>
                  <a:srgbClr val="00249C"/>
                </a:solidFill>
                <a:latin typeface="Calibri" pitchFamily="34" charset="0"/>
                <a:ea typeface="Calibri" pitchFamily="34" charset="-122"/>
                <a:cs typeface="Calibri" pitchFamily="34" charset="-120"/>
              </a:rPr>
              <a:t>Baniyas Campus B</a:t>
            </a:r>
          </a:p>
        </p:txBody>
      </p:sp>
      <p:sp>
        <p:nvSpPr>
          <p:cNvPr id="94" name="Text 6">
            <a:extLst>
              <a:ext uri="{FF2B5EF4-FFF2-40B4-BE49-F238E27FC236}">
                <a16:creationId xmlns:a16="http://schemas.microsoft.com/office/drawing/2014/main" id="{1E43C59F-9345-7D15-5069-F608DAE42EE6}"/>
              </a:ext>
            </a:extLst>
          </p:cNvPr>
          <p:cNvSpPr/>
          <p:nvPr/>
        </p:nvSpPr>
        <p:spPr>
          <a:xfrm>
            <a:off x="8450818" y="1595450"/>
            <a:ext cx="2124260" cy="246889"/>
          </a:xfrm>
          <a:prstGeom prst="rect">
            <a:avLst/>
          </a:prstGeom>
          <a:noFill/>
          <a:ln/>
        </p:spPr>
        <p:txBody>
          <a:bodyPr wrap="square" lIns="0" tIns="0" rIns="0" bIns="0" rtlCol="0" anchor="ctr"/>
          <a:lstStyle/>
          <a:p>
            <a:pPr marL="0" indent="0" algn="ctr">
              <a:buNone/>
            </a:pPr>
            <a:r>
              <a:rPr lang="en-US" sz="1600" dirty="0">
                <a:solidFill>
                  <a:srgbClr val="00249C"/>
                </a:solidFill>
                <a:latin typeface="Calibri" pitchFamily="34" charset="0"/>
                <a:ea typeface="Calibri" pitchFamily="34" charset="-122"/>
                <a:cs typeface="Calibri" pitchFamily="34" charset="-120"/>
              </a:rPr>
              <a:t>Avg Across Campuses </a:t>
            </a:r>
            <a:endParaRPr lang="en-US" sz="1600" dirty="0">
              <a:solidFill>
                <a:srgbClr val="00249C"/>
              </a:solidFill>
            </a:endParaRPr>
          </a:p>
        </p:txBody>
      </p:sp>
      <p:cxnSp>
        <p:nvCxnSpPr>
          <p:cNvPr id="95" name="Straight Connector 94">
            <a:extLst>
              <a:ext uri="{FF2B5EF4-FFF2-40B4-BE49-F238E27FC236}">
                <a16:creationId xmlns:a16="http://schemas.microsoft.com/office/drawing/2014/main" id="{42D10289-80BB-B0EA-E1D3-66ED48D5518F}"/>
              </a:ext>
            </a:extLst>
          </p:cNvPr>
          <p:cNvCxnSpPr/>
          <p:nvPr/>
        </p:nvCxnSpPr>
        <p:spPr>
          <a:xfrm>
            <a:off x="998202" y="1932032"/>
            <a:ext cx="9604942" cy="0"/>
          </a:xfrm>
          <a:prstGeom prst="line">
            <a:avLst/>
          </a:prstGeom>
          <a:ln>
            <a:solidFill>
              <a:srgbClr val="00249C"/>
            </a:solidFill>
          </a:ln>
        </p:spPr>
        <p:style>
          <a:lnRef idx="1">
            <a:schemeClr val="accent1"/>
          </a:lnRef>
          <a:fillRef idx="0">
            <a:schemeClr val="accent1"/>
          </a:fillRef>
          <a:effectRef idx="0">
            <a:schemeClr val="accent1"/>
          </a:effectRef>
          <a:fontRef idx="minor">
            <a:schemeClr val="tx1"/>
          </a:fontRef>
        </p:style>
      </p:cxnSp>
      <p:sp>
        <p:nvSpPr>
          <p:cNvPr id="96" name="Title 1">
            <a:extLst>
              <a:ext uri="{FF2B5EF4-FFF2-40B4-BE49-F238E27FC236}">
                <a16:creationId xmlns:a16="http://schemas.microsoft.com/office/drawing/2014/main" id="{9EE37021-3D06-DC2F-2254-77DA3EB90B9E}"/>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EHS Performance Overview</a:t>
            </a:r>
          </a:p>
          <a:p>
            <a:r>
              <a:rPr lang="en-US" sz="2400" b="0" dirty="0"/>
              <a:t>Q1 Baseline</a:t>
            </a:r>
          </a:p>
        </p:txBody>
      </p:sp>
      <p:sp>
        <p:nvSpPr>
          <p:cNvPr id="2" name="Shape 3">
            <a:extLst>
              <a:ext uri="{FF2B5EF4-FFF2-40B4-BE49-F238E27FC236}">
                <a16:creationId xmlns:a16="http://schemas.microsoft.com/office/drawing/2014/main" id="{20B80BA5-F304-C2A3-8802-DC97E50A4ED0}"/>
              </a:ext>
            </a:extLst>
          </p:cNvPr>
          <p:cNvSpPr/>
          <p:nvPr/>
        </p:nvSpPr>
        <p:spPr>
          <a:xfrm>
            <a:off x="4405066" y="5656773"/>
            <a:ext cx="2011680" cy="1143000"/>
          </a:xfrm>
          <a:prstGeom prst="roundRect">
            <a:avLst>
              <a:gd name="adj" fmla="val 6400"/>
            </a:avLst>
          </a:prstGeom>
          <a:solidFill>
            <a:srgbClr val="FFFFFF"/>
          </a:solidFill>
          <a:ln w="8890">
            <a:solidFill>
              <a:srgbClr val="DDE6F3"/>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3" name="Shape 4">
            <a:extLst>
              <a:ext uri="{FF2B5EF4-FFF2-40B4-BE49-F238E27FC236}">
                <a16:creationId xmlns:a16="http://schemas.microsoft.com/office/drawing/2014/main" id="{A29C7D7B-77B4-22D1-782D-3E48EA43A63E}"/>
              </a:ext>
            </a:extLst>
          </p:cNvPr>
          <p:cNvSpPr/>
          <p:nvPr/>
        </p:nvSpPr>
        <p:spPr>
          <a:xfrm>
            <a:off x="4412015" y="5656773"/>
            <a:ext cx="73152" cy="1143000"/>
          </a:xfrm>
          <a:prstGeom prst="rect">
            <a:avLst/>
          </a:prstGeom>
          <a:solidFill>
            <a:srgbClr val="B5D4F4"/>
          </a:solidFill>
          <a:ln w="12700">
            <a:solidFill>
              <a:srgbClr val="B5D4F4"/>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4" name="Text 5">
            <a:extLst>
              <a:ext uri="{FF2B5EF4-FFF2-40B4-BE49-F238E27FC236}">
                <a16:creationId xmlns:a16="http://schemas.microsoft.com/office/drawing/2014/main" id="{CC5A3054-ECB2-4DC3-FFBD-C7D890E4F142}"/>
              </a:ext>
            </a:extLst>
          </p:cNvPr>
          <p:cNvSpPr/>
          <p:nvPr/>
        </p:nvSpPr>
        <p:spPr>
          <a:xfrm>
            <a:off x="4606234" y="5803077"/>
            <a:ext cx="1691640" cy="201168"/>
          </a:xfrm>
          <a:prstGeom prst="rect">
            <a:avLst/>
          </a:prstGeom>
          <a:noFill/>
          <a:ln/>
        </p:spPr>
        <p:txBody>
          <a:bodyPr wrap="square" lIns="0" tIns="0" rIns="0" bIns="0" rtlCol="0" anchor="ctr">
            <a:normAutofit/>
          </a:bodyPr>
          <a:lstStyle/>
          <a:p>
            <a:pPr marL="0" indent="0">
              <a:buNone/>
            </a:pPr>
            <a:r>
              <a:rPr lang="en-US" sz="850" b="1" dirty="0">
                <a:solidFill>
                  <a:srgbClr val="00249C"/>
                </a:solidFill>
                <a:latin typeface="Tahoma" panose="020B0604030504040204" pitchFamily="34" charset="0"/>
                <a:ea typeface="Tahoma" panose="020B0604030504040204" pitchFamily="34" charset="0"/>
                <a:cs typeface="Tahoma" panose="020B0604030504040204" pitchFamily="34" charset="0"/>
              </a:rPr>
              <a:t>Baniyas Campus A Total Score</a:t>
            </a:r>
            <a:endParaRPr lang="en-US" sz="850" dirty="0">
              <a:solidFill>
                <a:srgbClr val="00249C"/>
              </a:solidFill>
              <a:latin typeface="Tahoma" panose="020B0604030504040204" pitchFamily="34" charset="0"/>
              <a:ea typeface="Tahoma" panose="020B0604030504040204" pitchFamily="34" charset="0"/>
              <a:cs typeface="Tahoma" panose="020B0604030504040204" pitchFamily="34" charset="0"/>
            </a:endParaRPr>
          </a:p>
        </p:txBody>
      </p:sp>
      <p:sp>
        <p:nvSpPr>
          <p:cNvPr id="8" name="Text 6">
            <a:extLst>
              <a:ext uri="{FF2B5EF4-FFF2-40B4-BE49-F238E27FC236}">
                <a16:creationId xmlns:a16="http://schemas.microsoft.com/office/drawing/2014/main" id="{23838B55-691B-071B-E85E-A6B74C8CCFBF}"/>
              </a:ext>
            </a:extLst>
          </p:cNvPr>
          <p:cNvSpPr/>
          <p:nvPr/>
        </p:nvSpPr>
        <p:spPr>
          <a:xfrm>
            <a:off x="4606234" y="6068253"/>
            <a:ext cx="1691640" cy="384048"/>
          </a:xfrm>
          <a:prstGeom prst="rect">
            <a:avLst/>
          </a:prstGeom>
          <a:noFill/>
          <a:ln/>
        </p:spPr>
        <p:txBody>
          <a:bodyPr wrap="square" lIns="0" tIns="0" rIns="0" bIns="0" rtlCol="0" anchor="ctr"/>
          <a:lstStyle/>
          <a:p>
            <a:pPr marL="0" indent="0">
              <a:buNone/>
            </a:pPr>
            <a:r>
              <a:rPr lang="en-US" sz="2400" b="1" dirty="0">
                <a:solidFill>
                  <a:srgbClr val="B5D4F4"/>
                </a:solidFill>
                <a:latin typeface="Tahoma" panose="020B0604030504040204" pitchFamily="34" charset="0"/>
                <a:ea typeface="Tahoma" panose="020B0604030504040204" pitchFamily="34" charset="0"/>
                <a:cs typeface="Tahoma" panose="020B0604030504040204" pitchFamily="34" charset="0"/>
              </a:rPr>
              <a:t>88%</a:t>
            </a:r>
            <a:endParaRPr lang="en-US" sz="2400" dirty="0">
              <a:solidFill>
                <a:srgbClr val="B5D4F4"/>
              </a:solidFill>
              <a:latin typeface="Tahoma" panose="020B0604030504040204" pitchFamily="34" charset="0"/>
              <a:ea typeface="Tahoma" panose="020B0604030504040204" pitchFamily="34" charset="0"/>
              <a:cs typeface="Tahoma" panose="020B0604030504040204" pitchFamily="34" charset="0"/>
            </a:endParaRPr>
          </a:p>
        </p:txBody>
      </p:sp>
      <p:sp>
        <p:nvSpPr>
          <p:cNvPr id="9" name="Text 7">
            <a:extLst>
              <a:ext uri="{FF2B5EF4-FFF2-40B4-BE49-F238E27FC236}">
                <a16:creationId xmlns:a16="http://schemas.microsoft.com/office/drawing/2014/main" id="{8F485DFD-C27F-DE27-6A11-1CBB09C4CED7}"/>
              </a:ext>
            </a:extLst>
          </p:cNvPr>
          <p:cNvSpPr/>
          <p:nvPr/>
        </p:nvSpPr>
        <p:spPr>
          <a:xfrm>
            <a:off x="4606234" y="6498021"/>
            <a:ext cx="1691640" cy="228600"/>
          </a:xfrm>
          <a:prstGeom prst="rect">
            <a:avLst/>
          </a:prstGeom>
          <a:noFill/>
          <a:ln/>
        </p:spPr>
        <p:txBody>
          <a:bodyPr wrap="square" lIns="0" tIns="0" rIns="0" bIns="0" rtlCol="0" anchor="ctr">
            <a:normAutofit/>
          </a:bodyPr>
          <a:lstStyle/>
          <a:p>
            <a:pPr marL="0" indent="0">
              <a:buNone/>
            </a:pPr>
            <a:r>
              <a:rPr lang="en-US" sz="800" dirty="0">
                <a:solidFill>
                  <a:srgbClr val="00249C"/>
                </a:solidFill>
                <a:latin typeface="Tahoma" panose="020B0604030504040204" pitchFamily="34" charset="0"/>
                <a:ea typeface="Tahoma" panose="020B0604030504040204" pitchFamily="34" charset="0"/>
                <a:cs typeface="Tahoma" panose="020B0604030504040204" pitchFamily="34" charset="0"/>
              </a:rPr>
              <a:t>Target: 100%</a:t>
            </a:r>
          </a:p>
        </p:txBody>
      </p:sp>
      <p:sp>
        <p:nvSpPr>
          <p:cNvPr id="10" name="Shape 8">
            <a:extLst>
              <a:ext uri="{FF2B5EF4-FFF2-40B4-BE49-F238E27FC236}">
                <a16:creationId xmlns:a16="http://schemas.microsoft.com/office/drawing/2014/main" id="{D490E1E8-506F-A5B9-A4CC-784E98FE5337}"/>
              </a:ext>
            </a:extLst>
          </p:cNvPr>
          <p:cNvSpPr/>
          <p:nvPr/>
        </p:nvSpPr>
        <p:spPr>
          <a:xfrm>
            <a:off x="6558010" y="5656773"/>
            <a:ext cx="2011680" cy="1143000"/>
          </a:xfrm>
          <a:prstGeom prst="roundRect">
            <a:avLst>
              <a:gd name="adj" fmla="val 6400"/>
            </a:avLst>
          </a:prstGeom>
          <a:solidFill>
            <a:srgbClr val="FFFFFF"/>
          </a:solidFill>
          <a:ln w="8890">
            <a:solidFill>
              <a:srgbClr val="DDE6F3"/>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11" name="Shape 9">
            <a:extLst>
              <a:ext uri="{FF2B5EF4-FFF2-40B4-BE49-F238E27FC236}">
                <a16:creationId xmlns:a16="http://schemas.microsoft.com/office/drawing/2014/main" id="{DE9DDCEF-95FE-FC55-11BB-730BFF4CE7E0}"/>
              </a:ext>
            </a:extLst>
          </p:cNvPr>
          <p:cNvSpPr/>
          <p:nvPr/>
        </p:nvSpPr>
        <p:spPr>
          <a:xfrm>
            <a:off x="6564959" y="5656773"/>
            <a:ext cx="73152" cy="1143000"/>
          </a:xfrm>
          <a:prstGeom prst="rect">
            <a:avLst/>
          </a:prstGeom>
          <a:solidFill>
            <a:srgbClr val="B5D4F4"/>
          </a:solidFill>
          <a:ln w="12700">
            <a:solidFill>
              <a:srgbClr val="B5D4F4"/>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12" name="Text 10">
            <a:extLst>
              <a:ext uri="{FF2B5EF4-FFF2-40B4-BE49-F238E27FC236}">
                <a16:creationId xmlns:a16="http://schemas.microsoft.com/office/drawing/2014/main" id="{F94524AF-AAB9-6972-CCEF-22D6F85BB006}"/>
              </a:ext>
            </a:extLst>
          </p:cNvPr>
          <p:cNvSpPr/>
          <p:nvPr/>
        </p:nvSpPr>
        <p:spPr>
          <a:xfrm>
            <a:off x="6759178" y="5803077"/>
            <a:ext cx="1691640" cy="201168"/>
          </a:xfrm>
          <a:prstGeom prst="rect">
            <a:avLst/>
          </a:prstGeom>
          <a:noFill/>
          <a:ln/>
        </p:spPr>
        <p:txBody>
          <a:bodyPr wrap="square" lIns="0" tIns="0" rIns="0" bIns="0" rtlCol="0" anchor="ctr">
            <a:normAutofit/>
          </a:bodyPr>
          <a:lstStyle/>
          <a:p>
            <a:pPr marL="0" indent="0">
              <a:buNone/>
            </a:pPr>
            <a:r>
              <a:rPr lang="en-US" sz="850" b="1" dirty="0">
                <a:solidFill>
                  <a:srgbClr val="00249C"/>
                </a:solidFill>
                <a:latin typeface="Tahoma" panose="020B0604030504040204" pitchFamily="34" charset="0"/>
                <a:ea typeface="Tahoma" panose="020B0604030504040204" pitchFamily="34" charset="0"/>
                <a:cs typeface="Tahoma" panose="020B0604030504040204" pitchFamily="34" charset="0"/>
              </a:rPr>
              <a:t>Baniyas Campus B Total Score</a:t>
            </a:r>
            <a:endParaRPr lang="en-US" sz="850" dirty="0">
              <a:solidFill>
                <a:srgbClr val="00249C"/>
              </a:solidFill>
              <a:latin typeface="Tahoma" panose="020B0604030504040204" pitchFamily="34" charset="0"/>
              <a:ea typeface="Tahoma" panose="020B0604030504040204" pitchFamily="34" charset="0"/>
              <a:cs typeface="Tahoma" panose="020B0604030504040204" pitchFamily="34" charset="0"/>
            </a:endParaRPr>
          </a:p>
        </p:txBody>
      </p:sp>
      <p:sp>
        <p:nvSpPr>
          <p:cNvPr id="13" name="Text 11">
            <a:extLst>
              <a:ext uri="{FF2B5EF4-FFF2-40B4-BE49-F238E27FC236}">
                <a16:creationId xmlns:a16="http://schemas.microsoft.com/office/drawing/2014/main" id="{AB5F7F04-7F88-D15D-9522-74A54C148186}"/>
              </a:ext>
            </a:extLst>
          </p:cNvPr>
          <p:cNvSpPr/>
          <p:nvPr/>
        </p:nvSpPr>
        <p:spPr>
          <a:xfrm>
            <a:off x="6759178" y="6068253"/>
            <a:ext cx="1691640" cy="384048"/>
          </a:xfrm>
          <a:prstGeom prst="rect">
            <a:avLst/>
          </a:prstGeom>
          <a:noFill/>
          <a:ln/>
        </p:spPr>
        <p:txBody>
          <a:bodyPr wrap="square" lIns="0" tIns="0" rIns="0" bIns="0" rtlCol="0" anchor="ctr"/>
          <a:lstStyle/>
          <a:p>
            <a:pPr marL="0" indent="0">
              <a:buNone/>
            </a:pPr>
            <a:r>
              <a:rPr lang="en-US" sz="2400" b="1" dirty="0">
                <a:solidFill>
                  <a:srgbClr val="B5D4F4"/>
                </a:solidFill>
                <a:latin typeface="Tahoma" panose="020B0604030504040204" pitchFamily="34" charset="0"/>
                <a:ea typeface="Tahoma" panose="020B0604030504040204" pitchFamily="34" charset="0"/>
                <a:cs typeface="Tahoma" panose="020B0604030504040204" pitchFamily="34" charset="0"/>
              </a:rPr>
              <a:t>89%</a:t>
            </a:r>
            <a:endParaRPr lang="en-US" sz="2400" dirty="0">
              <a:solidFill>
                <a:srgbClr val="B5D4F4"/>
              </a:solidFill>
              <a:latin typeface="Tahoma" panose="020B0604030504040204" pitchFamily="34" charset="0"/>
              <a:ea typeface="Tahoma" panose="020B0604030504040204" pitchFamily="34" charset="0"/>
              <a:cs typeface="Tahoma" panose="020B0604030504040204" pitchFamily="34" charset="0"/>
            </a:endParaRPr>
          </a:p>
        </p:txBody>
      </p:sp>
      <p:sp>
        <p:nvSpPr>
          <p:cNvPr id="14" name="Text 12">
            <a:extLst>
              <a:ext uri="{FF2B5EF4-FFF2-40B4-BE49-F238E27FC236}">
                <a16:creationId xmlns:a16="http://schemas.microsoft.com/office/drawing/2014/main" id="{C38DF26B-7C62-9920-49B6-52D3654044D0}"/>
              </a:ext>
            </a:extLst>
          </p:cNvPr>
          <p:cNvSpPr/>
          <p:nvPr/>
        </p:nvSpPr>
        <p:spPr>
          <a:xfrm>
            <a:off x="6759178" y="6498021"/>
            <a:ext cx="1691640" cy="228600"/>
          </a:xfrm>
          <a:prstGeom prst="rect">
            <a:avLst/>
          </a:prstGeom>
          <a:noFill/>
          <a:ln/>
        </p:spPr>
        <p:txBody>
          <a:bodyPr wrap="square" lIns="0" tIns="0" rIns="0" bIns="0" rtlCol="0" anchor="ctr">
            <a:normAutofit/>
          </a:bodyPr>
          <a:lstStyle/>
          <a:p>
            <a:pPr marL="0" indent="0">
              <a:buNone/>
            </a:pPr>
            <a:r>
              <a:rPr lang="en-US" sz="800" dirty="0">
                <a:solidFill>
                  <a:srgbClr val="00249C"/>
                </a:solidFill>
                <a:latin typeface="Tahoma" panose="020B0604030504040204" pitchFamily="34" charset="0"/>
                <a:ea typeface="Tahoma" panose="020B0604030504040204" pitchFamily="34" charset="0"/>
                <a:cs typeface="Tahoma" panose="020B0604030504040204" pitchFamily="34" charset="0"/>
              </a:rPr>
              <a:t>Target: 100%</a:t>
            </a:r>
          </a:p>
        </p:txBody>
      </p:sp>
      <p:sp>
        <p:nvSpPr>
          <p:cNvPr id="15" name="Shape 13">
            <a:extLst>
              <a:ext uri="{FF2B5EF4-FFF2-40B4-BE49-F238E27FC236}">
                <a16:creationId xmlns:a16="http://schemas.microsoft.com/office/drawing/2014/main" id="{85582E47-FDA5-7BD3-9993-ACA0D7136A1C}"/>
              </a:ext>
            </a:extLst>
          </p:cNvPr>
          <p:cNvSpPr/>
          <p:nvPr/>
        </p:nvSpPr>
        <p:spPr>
          <a:xfrm>
            <a:off x="8710954" y="5663225"/>
            <a:ext cx="2011680" cy="1143000"/>
          </a:xfrm>
          <a:prstGeom prst="roundRect">
            <a:avLst>
              <a:gd name="adj" fmla="val 6400"/>
            </a:avLst>
          </a:prstGeom>
          <a:solidFill>
            <a:srgbClr val="FFFFFF"/>
          </a:solidFill>
          <a:ln w="8890">
            <a:solidFill>
              <a:srgbClr val="DDE6F3"/>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17" name="Shape 14">
            <a:extLst>
              <a:ext uri="{FF2B5EF4-FFF2-40B4-BE49-F238E27FC236}">
                <a16:creationId xmlns:a16="http://schemas.microsoft.com/office/drawing/2014/main" id="{360916A7-3E42-58AE-F5C2-8C3004CBCB12}"/>
              </a:ext>
            </a:extLst>
          </p:cNvPr>
          <p:cNvSpPr/>
          <p:nvPr/>
        </p:nvSpPr>
        <p:spPr>
          <a:xfrm>
            <a:off x="8710954" y="5663225"/>
            <a:ext cx="73152" cy="1143000"/>
          </a:xfrm>
          <a:prstGeom prst="rect">
            <a:avLst/>
          </a:prstGeom>
          <a:solidFill>
            <a:srgbClr val="B5D4F4"/>
          </a:solidFill>
          <a:ln w="12700">
            <a:solidFill>
              <a:srgbClr val="B5D4F4"/>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18" name="Text 15">
            <a:extLst>
              <a:ext uri="{FF2B5EF4-FFF2-40B4-BE49-F238E27FC236}">
                <a16:creationId xmlns:a16="http://schemas.microsoft.com/office/drawing/2014/main" id="{4B09F206-B6DA-38C5-5B9A-AE66D7E02895}"/>
              </a:ext>
            </a:extLst>
          </p:cNvPr>
          <p:cNvSpPr/>
          <p:nvPr/>
        </p:nvSpPr>
        <p:spPr>
          <a:xfrm>
            <a:off x="8912122" y="5809529"/>
            <a:ext cx="1691640" cy="201168"/>
          </a:xfrm>
          <a:prstGeom prst="rect">
            <a:avLst/>
          </a:prstGeom>
          <a:noFill/>
          <a:ln/>
        </p:spPr>
        <p:txBody>
          <a:bodyPr wrap="square" lIns="0" tIns="0" rIns="0" bIns="0" rtlCol="0" anchor="ctr">
            <a:normAutofit/>
          </a:bodyPr>
          <a:lstStyle/>
          <a:p>
            <a:pPr marL="0" indent="0">
              <a:buNone/>
            </a:pPr>
            <a:r>
              <a:rPr lang="en-US" sz="850" b="1" dirty="0">
                <a:solidFill>
                  <a:srgbClr val="00249C"/>
                </a:solidFill>
                <a:latin typeface="Tahoma" panose="020B0604030504040204" pitchFamily="34" charset="0"/>
                <a:ea typeface="Tahoma" panose="020B0604030504040204" pitchFamily="34" charset="0"/>
                <a:cs typeface="Tahoma" panose="020B0604030504040204" pitchFamily="34" charset="0"/>
              </a:rPr>
              <a:t>Avg Across Campuses</a:t>
            </a:r>
            <a:endParaRPr lang="en-US" sz="850" dirty="0">
              <a:solidFill>
                <a:srgbClr val="00249C"/>
              </a:solidFill>
              <a:latin typeface="Tahoma" panose="020B0604030504040204" pitchFamily="34" charset="0"/>
              <a:ea typeface="Tahoma" panose="020B0604030504040204" pitchFamily="34" charset="0"/>
              <a:cs typeface="Tahoma" panose="020B0604030504040204" pitchFamily="34" charset="0"/>
            </a:endParaRPr>
          </a:p>
        </p:txBody>
      </p:sp>
      <p:sp>
        <p:nvSpPr>
          <p:cNvPr id="19" name="Text 16">
            <a:extLst>
              <a:ext uri="{FF2B5EF4-FFF2-40B4-BE49-F238E27FC236}">
                <a16:creationId xmlns:a16="http://schemas.microsoft.com/office/drawing/2014/main" id="{36836A9C-BE22-08D0-60CB-84A1FDB6FE39}"/>
              </a:ext>
            </a:extLst>
          </p:cNvPr>
          <p:cNvSpPr/>
          <p:nvPr/>
        </p:nvSpPr>
        <p:spPr>
          <a:xfrm>
            <a:off x="8912122" y="6074705"/>
            <a:ext cx="1691640" cy="384048"/>
          </a:xfrm>
          <a:prstGeom prst="rect">
            <a:avLst/>
          </a:prstGeom>
          <a:noFill/>
          <a:ln/>
        </p:spPr>
        <p:txBody>
          <a:bodyPr wrap="square" lIns="0" tIns="0" rIns="0" bIns="0" rtlCol="0" anchor="ctr"/>
          <a:lstStyle/>
          <a:p>
            <a:pPr marL="0" indent="0">
              <a:buNone/>
            </a:pPr>
            <a:r>
              <a:rPr lang="en-US" sz="2400" b="1" dirty="0">
                <a:solidFill>
                  <a:srgbClr val="B5D4F4"/>
                </a:solidFill>
                <a:latin typeface="Tahoma" panose="020B0604030504040204" pitchFamily="34" charset="0"/>
                <a:ea typeface="Tahoma" panose="020B0604030504040204" pitchFamily="34" charset="0"/>
                <a:cs typeface="Tahoma" panose="020B0604030504040204" pitchFamily="34" charset="0"/>
              </a:rPr>
              <a:t>85%</a:t>
            </a:r>
            <a:endParaRPr lang="en-US" sz="2400" dirty="0">
              <a:solidFill>
                <a:srgbClr val="B5D4F4"/>
              </a:solidFill>
              <a:latin typeface="Tahoma" panose="020B0604030504040204" pitchFamily="34" charset="0"/>
              <a:ea typeface="Tahoma" panose="020B0604030504040204" pitchFamily="34" charset="0"/>
              <a:cs typeface="Tahoma" panose="020B0604030504040204" pitchFamily="34" charset="0"/>
            </a:endParaRPr>
          </a:p>
        </p:txBody>
      </p:sp>
      <p:sp>
        <p:nvSpPr>
          <p:cNvPr id="20" name="Text 17">
            <a:extLst>
              <a:ext uri="{FF2B5EF4-FFF2-40B4-BE49-F238E27FC236}">
                <a16:creationId xmlns:a16="http://schemas.microsoft.com/office/drawing/2014/main" id="{7624AC58-4425-0C3E-F731-43A967488991}"/>
              </a:ext>
            </a:extLst>
          </p:cNvPr>
          <p:cNvSpPr/>
          <p:nvPr/>
        </p:nvSpPr>
        <p:spPr>
          <a:xfrm>
            <a:off x="8912122" y="6504473"/>
            <a:ext cx="1691640" cy="228600"/>
          </a:xfrm>
          <a:prstGeom prst="rect">
            <a:avLst/>
          </a:prstGeom>
          <a:noFill/>
          <a:ln/>
        </p:spPr>
        <p:txBody>
          <a:bodyPr wrap="square" lIns="0" tIns="0" rIns="0" bIns="0" rtlCol="0" anchor="ctr">
            <a:normAutofit/>
          </a:bodyPr>
          <a:lstStyle/>
          <a:p>
            <a:pPr marL="0" indent="0">
              <a:buNone/>
            </a:pPr>
            <a:r>
              <a:rPr lang="en-US" sz="800" dirty="0">
                <a:solidFill>
                  <a:srgbClr val="00249C"/>
                </a:solidFill>
                <a:latin typeface="Tahoma" panose="020B0604030504040204" pitchFamily="34" charset="0"/>
                <a:ea typeface="Tahoma" panose="020B0604030504040204" pitchFamily="34" charset="0"/>
                <a:cs typeface="Tahoma" panose="020B0604030504040204" pitchFamily="34" charset="0"/>
              </a:rPr>
              <a:t>Benchmark comparison</a:t>
            </a:r>
          </a:p>
        </p:txBody>
      </p:sp>
    </p:spTree>
    <p:extLst>
      <p:ext uri="{BB962C8B-B14F-4D97-AF65-F5344CB8AC3E}">
        <p14:creationId xmlns:p14="http://schemas.microsoft.com/office/powerpoint/2010/main" val="7737803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F6121-DA9E-6A9D-7F26-CCD5EED2F349}"/>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7BBC6999-4CE4-91D3-1C16-251F7FB8B875}"/>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EHS Performance Overview</a:t>
            </a:r>
          </a:p>
          <a:p>
            <a:r>
              <a:rPr lang="en-US" sz="2400" b="0" dirty="0"/>
              <a:t>Leadership, Accountability &amp; Engagement</a:t>
            </a:r>
          </a:p>
        </p:txBody>
      </p:sp>
      <p:graphicFrame>
        <p:nvGraphicFramePr>
          <p:cNvPr id="13" name="Chart 12">
            <a:extLst>
              <a:ext uri="{FF2B5EF4-FFF2-40B4-BE49-F238E27FC236}">
                <a16:creationId xmlns:a16="http://schemas.microsoft.com/office/drawing/2014/main" id="{178863DD-F66D-CFD8-38FD-2A1994332BF8}"/>
              </a:ext>
            </a:extLst>
          </p:cNvPr>
          <p:cNvGraphicFramePr>
            <a:graphicFrameLocks/>
          </p:cNvGraphicFramePr>
          <p:nvPr>
            <p:extLst>
              <p:ext uri="{D42A27DB-BD31-4B8C-83A1-F6EECF244321}">
                <p14:modId xmlns:p14="http://schemas.microsoft.com/office/powerpoint/2010/main" val="1311055436"/>
              </p:ext>
            </p:extLst>
          </p:nvPr>
        </p:nvGraphicFramePr>
        <p:xfrm>
          <a:off x="492351" y="1458686"/>
          <a:ext cx="8052935" cy="507783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 name="Chart 1">
            <a:extLst>
              <a:ext uri="{FF2B5EF4-FFF2-40B4-BE49-F238E27FC236}">
                <a16:creationId xmlns:a16="http://schemas.microsoft.com/office/drawing/2014/main" id="{E5541BE3-EA43-43DF-BC31-53051608F7B1}"/>
              </a:ext>
            </a:extLst>
          </p:cNvPr>
          <p:cNvGraphicFramePr>
            <a:graphicFrameLocks/>
          </p:cNvGraphicFramePr>
          <p:nvPr>
            <p:extLst>
              <p:ext uri="{D42A27DB-BD31-4B8C-83A1-F6EECF244321}">
                <p14:modId xmlns:p14="http://schemas.microsoft.com/office/powerpoint/2010/main" val="1043359676"/>
              </p:ext>
            </p:extLst>
          </p:nvPr>
        </p:nvGraphicFramePr>
        <p:xfrm>
          <a:off x="6718982" y="1369786"/>
          <a:ext cx="5233532" cy="248375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3" name="Chart 2">
            <a:extLst>
              <a:ext uri="{FF2B5EF4-FFF2-40B4-BE49-F238E27FC236}">
                <a16:creationId xmlns:a16="http://schemas.microsoft.com/office/drawing/2014/main" id="{DD80F098-BB32-48E5-B521-7296FCABEC8B}"/>
              </a:ext>
            </a:extLst>
          </p:cNvPr>
          <p:cNvGraphicFramePr>
            <a:graphicFrameLocks/>
          </p:cNvGraphicFramePr>
          <p:nvPr>
            <p:extLst>
              <p:ext uri="{D42A27DB-BD31-4B8C-83A1-F6EECF244321}">
                <p14:modId xmlns:p14="http://schemas.microsoft.com/office/powerpoint/2010/main" val="502179447"/>
              </p:ext>
            </p:extLst>
          </p:nvPr>
        </p:nvGraphicFramePr>
        <p:xfrm>
          <a:off x="7249886" y="3997601"/>
          <a:ext cx="4702628" cy="2483757"/>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5561732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D99B9-3820-B971-B1D7-620DEE0071F1}"/>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C48238A1-D318-D613-6F89-40EEC84EF164}"/>
              </a:ext>
            </a:extLst>
          </p:cNvPr>
          <p:cNvSpPr>
            <a:spLocks noGrp="1"/>
          </p:cNvSpPr>
          <p:nvPr>
            <p:ph type="body" sz="quarter" idx="10"/>
          </p:nvPr>
        </p:nvSpPr>
        <p:spPr>
          <a:xfrm>
            <a:off x="659214" y="4915569"/>
            <a:ext cx="5860026" cy="1724717"/>
          </a:xfrm>
        </p:spPr>
        <p:txBody>
          <a:bodyPr>
            <a:normAutofit/>
          </a:bodyPr>
          <a:lstStyle/>
          <a:p>
            <a:r>
              <a:rPr lang="en-US" sz="1400" b="1" dirty="0"/>
              <a:t>Key Observations: </a:t>
            </a:r>
          </a:p>
          <a:p>
            <a:pPr marL="285750" indent="-285750">
              <a:buFont typeface="Arial" panose="020B0604020202020204" pitchFamily="34" charset="0"/>
              <a:buChar char="•"/>
            </a:pPr>
            <a:r>
              <a:rPr lang="en-US" sz="1200" u="sng" dirty="0"/>
              <a:t>External Authority Compliance</a:t>
            </a:r>
            <a:r>
              <a:rPr lang="en-US" sz="1200" dirty="0"/>
              <a:t>. Expired Civil Defense Certificate for both campuses</a:t>
            </a:r>
          </a:p>
          <a:p>
            <a:endParaRPr lang="en-US" sz="1100" dirty="0"/>
          </a:p>
        </p:txBody>
      </p:sp>
      <p:sp>
        <p:nvSpPr>
          <p:cNvPr id="9" name="Rectangle 8">
            <a:extLst>
              <a:ext uri="{FF2B5EF4-FFF2-40B4-BE49-F238E27FC236}">
                <a16:creationId xmlns:a16="http://schemas.microsoft.com/office/drawing/2014/main" id="{8F898888-EAF2-DFE9-83D9-1D6C461018AA}"/>
              </a:ext>
            </a:extLst>
          </p:cNvPr>
          <p:cNvSpPr/>
          <p:nvPr/>
        </p:nvSpPr>
        <p:spPr>
          <a:xfrm>
            <a:off x="4618039" y="2077298"/>
            <a:ext cx="3454707" cy="15339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solidFill>
                  <a:srgbClr val="00249C">
                    <a:lumMod val="65000"/>
                    <a:lumOff val="35000"/>
                  </a:srgbClr>
                </a:solidFill>
              </a:rPr>
              <a:t>External Audit</a:t>
            </a:r>
          </a:p>
          <a:p>
            <a:endParaRPr lang="en-US" sz="1400" dirty="0">
              <a:solidFill>
                <a:srgbClr val="00249C">
                  <a:lumMod val="65000"/>
                  <a:lumOff val="35000"/>
                </a:srgbClr>
              </a:solidFill>
            </a:endParaRPr>
          </a:p>
          <a:p>
            <a:pPr marL="285750" indent="-285750">
              <a:buFont typeface="Arial" panose="020B0604020202020204" pitchFamily="34" charset="0"/>
              <a:buChar char="•"/>
            </a:pPr>
            <a:r>
              <a:rPr lang="en-US" sz="1400" dirty="0">
                <a:solidFill>
                  <a:srgbClr val="00249C">
                    <a:lumMod val="65000"/>
                    <a:lumOff val="35000"/>
                  </a:srgbClr>
                </a:solidFill>
              </a:rPr>
              <a:t>No items to report for this quarter</a:t>
            </a:r>
          </a:p>
        </p:txBody>
      </p:sp>
      <p:sp>
        <p:nvSpPr>
          <p:cNvPr id="5" name="Title 1">
            <a:extLst>
              <a:ext uri="{FF2B5EF4-FFF2-40B4-BE49-F238E27FC236}">
                <a16:creationId xmlns:a16="http://schemas.microsoft.com/office/drawing/2014/main" id="{F0CA8B27-2052-82D9-14D5-4BBDD783CF5D}"/>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EHS Performance Overview</a:t>
            </a:r>
          </a:p>
          <a:p>
            <a:r>
              <a:rPr lang="en-US" sz="2400" b="0" dirty="0"/>
              <a:t>1. Leadership, Accountability &amp; Engagement - </a:t>
            </a:r>
            <a:r>
              <a:rPr lang="en-US" sz="2400" b="0" i="1" dirty="0"/>
              <a:t>Accountability</a:t>
            </a:r>
          </a:p>
        </p:txBody>
      </p:sp>
      <p:graphicFrame>
        <p:nvGraphicFramePr>
          <p:cNvPr id="3" name="Chart 2">
            <a:extLst>
              <a:ext uri="{FF2B5EF4-FFF2-40B4-BE49-F238E27FC236}">
                <a16:creationId xmlns:a16="http://schemas.microsoft.com/office/drawing/2014/main" id="{B4FE2108-7EBB-9B2A-3BF7-4070BFE36E6C}"/>
              </a:ext>
            </a:extLst>
          </p:cNvPr>
          <p:cNvGraphicFramePr>
            <a:graphicFrameLocks/>
          </p:cNvGraphicFramePr>
          <p:nvPr>
            <p:extLst>
              <p:ext uri="{D42A27DB-BD31-4B8C-83A1-F6EECF244321}">
                <p14:modId xmlns:p14="http://schemas.microsoft.com/office/powerpoint/2010/main" val="2983390501"/>
              </p:ext>
            </p:extLst>
          </p:nvPr>
        </p:nvGraphicFramePr>
        <p:xfrm>
          <a:off x="659214" y="2077298"/>
          <a:ext cx="3958825" cy="246888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 name="Chart 1">
            <a:extLst>
              <a:ext uri="{FF2B5EF4-FFF2-40B4-BE49-F238E27FC236}">
                <a16:creationId xmlns:a16="http://schemas.microsoft.com/office/drawing/2014/main" id="{4DB05F93-B658-FBA3-6703-E4D77F6E085D}"/>
              </a:ext>
            </a:extLst>
          </p:cNvPr>
          <p:cNvGraphicFramePr>
            <a:graphicFrameLocks/>
          </p:cNvGraphicFramePr>
          <p:nvPr>
            <p:extLst>
              <p:ext uri="{D42A27DB-BD31-4B8C-83A1-F6EECF244321}">
                <p14:modId xmlns:p14="http://schemas.microsoft.com/office/powerpoint/2010/main" val="2348214455"/>
              </p:ext>
            </p:extLst>
          </p:nvPr>
        </p:nvGraphicFramePr>
        <p:xfrm>
          <a:off x="7930328" y="2077298"/>
          <a:ext cx="3931024" cy="219635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626795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AA4CD-1E57-C9A4-DB22-BF3E48579D75}"/>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7DBF19E5-0524-21F8-FF1E-47A61DA7EA1F}"/>
              </a:ext>
            </a:extLst>
          </p:cNvPr>
          <p:cNvSpPr>
            <a:spLocks noGrp="1"/>
          </p:cNvSpPr>
          <p:nvPr>
            <p:ph type="body" sz="quarter" idx="10"/>
          </p:nvPr>
        </p:nvSpPr>
        <p:spPr>
          <a:xfrm>
            <a:off x="8572580" y="2077298"/>
            <a:ext cx="3412592" cy="1724717"/>
          </a:xfrm>
        </p:spPr>
        <p:txBody>
          <a:bodyPr>
            <a:normAutofit/>
          </a:bodyPr>
          <a:lstStyle/>
          <a:p>
            <a:r>
              <a:rPr lang="en-US" sz="1400" b="1" dirty="0"/>
              <a:t>Key Observations: </a:t>
            </a:r>
          </a:p>
          <a:p>
            <a:pPr marL="285750" indent="-285750">
              <a:buFont typeface="Arial" panose="020B0604020202020204" pitchFamily="34" charset="0"/>
              <a:buChar char="•"/>
            </a:pPr>
            <a:r>
              <a:rPr lang="en-US" sz="1200" u="sng" dirty="0"/>
              <a:t>Committee Action Closed</a:t>
            </a:r>
            <a:r>
              <a:rPr lang="en-US" sz="1200" dirty="0"/>
              <a:t>. 3 Out of 10 actions closed. 6 Actions in progress. 1 Action overdue</a:t>
            </a:r>
            <a:endParaRPr lang="en-US" sz="1050" dirty="0"/>
          </a:p>
        </p:txBody>
      </p:sp>
      <p:sp>
        <p:nvSpPr>
          <p:cNvPr id="5" name="Title 1">
            <a:extLst>
              <a:ext uri="{FF2B5EF4-FFF2-40B4-BE49-F238E27FC236}">
                <a16:creationId xmlns:a16="http://schemas.microsoft.com/office/drawing/2014/main" id="{A3E015FF-C9AB-9D7B-9D92-48500A7C48B7}"/>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EHS Performance Overview</a:t>
            </a:r>
          </a:p>
          <a:p>
            <a:r>
              <a:rPr lang="en-US" sz="2400" b="0" dirty="0"/>
              <a:t>1. Leadership, Accountability &amp; Engagement – </a:t>
            </a:r>
            <a:r>
              <a:rPr lang="en-US" sz="2400" b="0" i="1" dirty="0"/>
              <a:t>Leadership Engagement</a:t>
            </a:r>
          </a:p>
        </p:txBody>
      </p:sp>
      <p:graphicFrame>
        <p:nvGraphicFramePr>
          <p:cNvPr id="3" name="Chart 2">
            <a:extLst>
              <a:ext uri="{FF2B5EF4-FFF2-40B4-BE49-F238E27FC236}">
                <a16:creationId xmlns:a16="http://schemas.microsoft.com/office/drawing/2014/main" id="{AE7146A2-024C-9FED-0789-F948A002FC68}"/>
              </a:ext>
            </a:extLst>
          </p:cNvPr>
          <p:cNvGraphicFramePr>
            <a:graphicFrameLocks/>
          </p:cNvGraphicFramePr>
          <p:nvPr>
            <p:extLst>
              <p:ext uri="{D42A27DB-BD31-4B8C-83A1-F6EECF244321}">
                <p14:modId xmlns:p14="http://schemas.microsoft.com/office/powerpoint/2010/main" val="4283236565"/>
              </p:ext>
            </p:extLst>
          </p:nvPr>
        </p:nvGraphicFramePr>
        <p:xfrm>
          <a:off x="4677000" y="2064539"/>
          <a:ext cx="3768919" cy="246888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 name="Chart 1">
            <a:extLst>
              <a:ext uri="{FF2B5EF4-FFF2-40B4-BE49-F238E27FC236}">
                <a16:creationId xmlns:a16="http://schemas.microsoft.com/office/drawing/2014/main" id="{DDA8B213-AFBF-EB17-D7C3-6BB677E39590}"/>
              </a:ext>
            </a:extLst>
          </p:cNvPr>
          <p:cNvGraphicFramePr>
            <a:graphicFrameLocks/>
          </p:cNvGraphicFramePr>
          <p:nvPr>
            <p:extLst>
              <p:ext uri="{D42A27DB-BD31-4B8C-83A1-F6EECF244321}">
                <p14:modId xmlns:p14="http://schemas.microsoft.com/office/powerpoint/2010/main" val="3393644875"/>
              </p:ext>
            </p:extLst>
          </p:nvPr>
        </p:nvGraphicFramePr>
        <p:xfrm>
          <a:off x="680118" y="2064539"/>
          <a:ext cx="3644153" cy="246888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6710722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92825-FF95-81E3-3AED-7894B3D1A41C}"/>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A2F526DC-A017-D437-8C4C-AB4FE6E3E291}"/>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EHS Performance Overview</a:t>
            </a:r>
          </a:p>
          <a:p>
            <a:r>
              <a:rPr lang="en-US" sz="2400" b="0" dirty="0"/>
              <a:t>2. Risk Management &amp; Planning</a:t>
            </a:r>
          </a:p>
        </p:txBody>
      </p:sp>
      <p:graphicFrame>
        <p:nvGraphicFramePr>
          <p:cNvPr id="13" name="Chart 12">
            <a:extLst>
              <a:ext uri="{FF2B5EF4-FFF2-40B4-BE49-F238E27FC236}">
                <a16:creationId xmlns:a16="http://schemas.microsoft.com/office/drawing/2014/main" id="{271FE186-0CC0-0DB2-6D75-D1D56756AD75}"/>
              </a:ext>
            </a:extLst>
          </p:cNvPr>
          <p:cNvGraphicFramePr>
            <a:graphicFrameLocks/>
          </p:cNvGraphicFramePr>
          <p:nvPr>
            <p:extLst>
              <p:ext uri="{D42A27DB-BD31-4B8C-83A1-F6EECF244321}">
                <p14:modId xmlns:p14="http://schemas.microsoft.com/office/powerpoint/2010/main" val="2160821703"/>
              </p:ext>
            </p:extLst>
          </p:nvPr>
        </p:nvGraphicFramePr>
        <p:xfrm>
          <a:off x="492351" y="1458686"/>
          <a:ext cx="8052935" cy="507783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a:extLst>
              <a:ext uri="{FF2B5EF4-FFF2-40B4-BE49-F238E27FC236}">
                <a16:creationId xmlns:a16="http://schemas.microsoft.com/office/drawing/2014/main" id="{9DB5EF63-3F45-4B1D-B48E-ACDCF4E6AB3A}"/>
              </a:ext>
            </a:extLst>
          </p:cNvPr>
          <p:cNvGraphicFramePr>
            <a:graphicFrameLocks/>
          </p:cNvGraphicFramePr>
          <p:nvPr>
            <p:extLst>
              <p:ext uri="{D42A27DB-BD31-4B8C-83A1-F6EECF244321}">
                <p14:modId xmlns:p14="http://schemas.microsoft.com/office/powerpoint/2010/main" val="3010389787"/>
              </p:ext>
            </p:extLst>
          </p:nvPr>
        </p:nvGraphicFramePr>
        <p:xfrm>
          <a:off x="7202156" y="1400625"/>
          <a:ext cx="4783016" cy="248375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6574012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74DA79F2-0212-3EA4-ED2F-8B8E9CE8E498}"/>
              </a:ext>
            </a:extLst>
          </p:cNvPr>
          <p:cNvSpPr>
            <a:spLocks noGrp="1"/>
          </p:cNvSpPr>
          <p:nvPr>
            <p:ph type="body" sz="quarter" idx="10"/>
          </p:nvPr>
        </p:nvSpPr>
        <p:spPr>
          <a:xfrm>
            <a:off x="833384" y="4455723"/>
            <a:ext cx="3599521" cy="1008375"/>
          </a:xfrm>
        </p:spPr>
        <p:txBody>
          <a:bodyPr>
            <a:normAutofit/>
          </a:bodyPr>
          <a:lstStyle/>
          <a:p>
            <a:r>
              <a:rPr lang="en-US" sz="1200" i="1" dirty="0"/>
              <a:t>Note: Each month, a sample of 3 risk assessments shall be reviewed, with 10 control measures evaluated for each assessment, totaling 30 control measures per month.</a:t>
            </a:r>
          </a:p>
        </p:txBody>
      </p:sp>
      <p:sp>
        <p:nvSpPr>
          <p:cNvPr id="14" name="Text Placeholder 3">
            <a:extLst>
              <a:ext uri="{FF2B5EF4-FFF2-40B4-BE49-F238E27FC236}">
                <a16:creationId xmlns:a16="http://schemas.microsoft.com/office/drawing/2014/main" id="{0D11CDD3-336E-D945-1CC1-C3A4C8E623BE}"/>
              </a:ext>
            </a:extLst>
          </p:cNvPr>
          <p:cNvSpPr txBox="1">
            <a:spLocks/>
          </p:cNvSpPr>
          <p:nvPr/>
        </p:nvSpPr>
        <p:spPr>
          <a:xfrm>
            <a:off x="4432907" y="4455723"/>
            <a:ext cx="3749039" cy="1008375"/>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0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1pPr>
            <a:lvl2pPr marL="457200" indent="0" algn="l" defTabSz="914400" rtl="0" eaLnBrk="1" latinLnBrk="0" hangingPunct="1">
              <a:lnSpc>
                <a:spcPct val="90000"/>
              </a:lnSpc>
              <a:spcBef>
                <a:spcPts val="500"/>
              </a:spcBef>
              <a:buFontTx/>
              <a:buNone/>
              <a:defRPr sz="24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2pPr>
            <a:lvl3pPr marL="914400" indent="0" algn="l" defTabSz="914400" rtl="0" eaLnBrk="1" latinLnBrk="0" hangingPunct="1">
              <a:lnSpc>
                <a:spcPct val="90000"/>
              </a:lnSpc>
              <a:spcBef>
                <a:spcPts val="5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3pPr>
            <a:lvl4pPr marL="13716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4pPr>
            <a:lvl5pPr marL="18288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i="1" dirty="0"/>
              <a:t>Note: Total number of risk assessments recorded in the Risk Register, including the count of those currently valid based on their next scheduled review date.</a:t>
            </a:r>
          </a:p>
        </p:txBody>
      </p:sp>
      <p:sp>
        <p:nvSpPr>
          <p:cNvPr id="15" name="Text Placeholder 3">
            <a:extLst>
              <a:ext uri="{FF2B5EF4-FFF2-40B4-BE49-F238E27FC236}">
                <a16:creationId xmlns:a16="http://schemas.microsoft.com/office/drawing/2014/main" id="{30C15310-4A42-2CAC-108B-A89BF9CFBE19}"/>
              </a:ext>
            </a:extLst>
          </p:cNvPr>
          <p:cNvSpPr txBox="1">
            <a:spLocks/>
          </p:cNvSpPr>
          <p:nvPr/>
        </p:nvSpPr>
        <p:spPr>
          <a:xfrm>
            <a:off x="8181946" y="4455723"/>
            <a:ext cx="3749038" cy="1008375"/>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0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1pPr>
            <a:lvl2pPr marL="457200" indent="0" algn="l" defTabSz="914400" rtl="0" eaLnBrk="1" latinLnBrk="0" hangingPunct="1">
              <a:lnSpc>
                <a:spcPct val="90000"/>
              </a:lnSpc>
              <a:spcBef>
                <a:spcPts val="500"/>
              </a:spcBef>
              <a:buFontTx/>
              <a:buNone/>
              <a:defRPr sz="24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2pPr>
            <a:lvl3pPr marL="914400" indent="0" algn="l" defTabSz="914400" rtl="0" eaLnBrk="1" latinLnBrk="0" hangingPunct="1">
              <a:lnSpc>
                <a:spcPct val="90000"/>
              </a:lnSpc>
              <a:spcBef>
                <a:spcPts val="5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3pPr>
            <a:lvl4pPr marL="13716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4pPr>
            <a:lvl5pPr marL="18288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i="1" dirty="0"/>
              <a:t>Note: Comparison of the total number of new risk assessments planned for inclusion in the Risk Register versus the number of risk assessments completed and added.</a:t>
            </a:r>
          </a:p>
        </p:txBody>
      </p:sp>
      <p:sp>
        <p:nvSpPr>
          <p:cNvPr id="5" name="Title 1">
            <a:extLst>
              <a:ext uri="{FF2B5EF4-FFF2-40B4-BE49-F238E27FC236}">
                <a16:creationId xmlns:a16="http://schemas.microsoft.com/office/drawing/2014/main" id="{3797ABFA-DAB7-9613-394A-E9B024961208}"/>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EHS Performance Overview</a:t>
            </a:r>
          </a:p>
          <a:p>
            <a:r>
              <a:rPr lang="en-US" sz="2400" b="0" dirty="0"/>
              <a:t>2. Risk Management &amp; Planning</a:t>
            </a:r>
            <a:endParaRPr lang="en-US" sz="2400" b="0" i="1" dirty="0"/>
          </a:p>
        </p:txBody>
      </p:sp>
      <p:sp>
        <p:nvSpPr>
          <p:cNvPr id="9" name="Text Placeholder 3">
            <a:extLst>
              <a:ext uri="{FF2B5EF4-FFF2-40B4-BE49-F238E27FC236}">
                <a16:creationId xmlns:a16="http://schemas.microsoft.com/office/drawing/2014/main" id="{55E216D3-0548-661D-FEDF-457BB9830479}"/>
              </a:ext>
            </a:extLst>
          </p:cNvPr>
          <p:cNvSpPr txBox="1">
            <a:spLocks/>
          </p:cNvSpPr>
          <p:nvPr/>
        </p:nvSpPr>
        <p:spPr>
          <a:xfrm>
            <a:off x="833384" y="5584240"/>
            <a:ext cx="7927225" cy="1056046"/>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0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1pPr>
            <a:lvl2pPr marL="457200" indent="0" algn="l" defTabSz="914400" rtl="0" eaLnBrk="1" latinLnBrk="0" hangingPunct="1">
              <a:lnSpc>
                <a:spcPct val="90000"/>
              </a:lnSpc>
              <a:spcBef>
                <a:spcPts val="500"/>
              </a:spcBef>
              <a:buFontTx/>
              <a:buNone/>
              <a:defRPr sz="24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2pPr>
            <a:lvl3pPr marL="914400" indent="0" algn="l" defTabSz="914400" rtl="0" eaLnBrk="1" latinLnBrk="0" hangingPunct="1">
              <a:lnSpc>
                <a:spcPct val="90000"/>
              </a:lnSpc>
              <a:spcBef>
                <a:spcPts val="5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3pPr>
            <a:lvl4pPr marL="13716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4pPr>
            <a:lvl5pPr marL="18288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400" b="1" dirty="0"/>
              <a:t>Key Observations: </a:t>
            </a:r>
          </a:p>
          <a:p>
            <a:pPr marL="285750" indent="-285750">
              <a:buFont typeface="Arial" panose="020B0604020202020204" pitchFamily="34" charset="0"/>
              <a:buChar char="•"/>
            </a:pPr>
            <a:r>
              <a:rPr lang="en-US" sz="1200" u="sng" dirty="0"/>
              <a:t>Hazard Identification</a:t>
            </a:r>
            <a:r>
              <a:rPr lang="en-US" sz="1200" dirty="0"/>
              <a:t>. </a:t>
            </a:r>
          </a:p>
          <a:p>
            <a:endParaRPr lang="en-US" sz="1400" dirty="0"/>
          </a:p>
        </p:txBody>
      </p:sp>
      <p:graphicFrame>
        <p:nvGraphicFramePr>
          <p:cNvPr id="2" name="Chart 1">
            <a:extLst>
              <a:ext uri="{FF2B5EF4-FFF2-40B4-BE49-F238E27FC236}">
                <a16:creationId xmlns:a16="http://schemas.microsoft.com/office/drawing/2014/main" id="{F53482EA-35EC-3F71-BD19-B9CE6428EF62}"/>
              </a:ext>
            </a:extLst>
          </p:cNvPr>
          <p:cNvGraphicFramePr>
            <a:graphicFrameLocks/>
          </p:cNvGraphicFramePr>
          <p:nvPr>
            <p:extLst>
              <p:ext uri="{D42A27DB-BD31-4B8C-83A1-F6EECF244321}">
                <p14:modId xmlns:p14="http://schemas.microsoft.com/office/powerpoint/2010/main" val="2577140458"/>
              </p:ext>
            </p:extLst>
          </p:nvPr>
        </p:nvGraphicFramePr>
        <p:xfrm>
          <a:off x="583910" y="1791792"/>
          <a:ext cx="3749040" cy="246888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1165FA48-A609-AF01-D096-E6FC5EA98A79}"/>
              </a:ext>
            </a:extLst>
          </p:cNvPr>
          <p:cNvGraphicFramePr>
            <a:graphicFrameLocks/>
          </p:cNvGraphicFramePr>
          <p:nvPr>
            <p:extLst>
              <p:ext uri="{D42A27DB-BD31-4B8C-83A1-F6EECF244321}">
                <p14:modId xmlns:p14="http://schemas.microsoft.com/office/powerpoint/2010/main" val="828864360"/>
              </p:ext>
            </p:extLst>
          </p:nvPr>
        </p:nvGraphicFramePr>
        <p:xfrm>
          <a:off x="4432905" y="1791792"/>
          <a:ext cx="3749039" cy="24688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489F9A47-9259-AB8E-D6B6-4F8745373AAD}"/>
              </a:ext>
            </a:extLst>
          </p:cNvPr>
          <p:cNvGraphicFramePr>
            <a:graphicFrameLocks/>
          </p:cNvGraphicFramePr>
          <p:nvPr>
            <p:extLst>
              <p:ext uri="{D42A27DB-BD31-4B8C-83A1-F6EECF244321}">
                <p14:modId xmlns:p14="http://schemas.microsoft.com/office/powerpoint/2010/main" val="4110425811"/>
              </p:ext>
            </p:extLst>
          </p:nvPr>
        </p:nvGraphicFramePr>
        <p:xfrm>
          <a:off x="8281899" y="1791792"/>
          <a:ext cx="3749038" cy="2468879"/>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1011874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346BE-8ADC-E64A-05F7-84BBDB1189B5}"/>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8B33135-32CC-BF3D-61A2-F458C6FA13E5}"/>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EHS Performance Overview</a:t>
            </a:r>
          </a:p>
          <a:p>
            <a:r>
              <a:rPr lang="en-US" sz="2400" b="0" dirty="0"/>
              <a:t>3. Training &amp; Awareness</a:t>
            </a:r>
          </a:p>
        </p:txBody>
      </p:sp>
      <p:graphicFrame>
        <p:nvGraphicFramePr>
          <p:cNvPr id="13" name="Chart 12">
            <a:extLst>
              <a:ext uri="{FF2B5EF4-FFF2-40B4-BE49-F238E27FC236}">
                <a16:creationId xmlns:a16="http://schemas.microsoft.com/office/drawing/2014/main" id="{F5A9892A-F0D6-5F21-A4E0-6698EAD6C21F}"/>
              </a:ext>
            </a:extLst>
          </p:cNvPr>
          <p:cNvGraphicFramePr>
            <a:graphicFrameLocks/>
          </p:cNvGraphicFramePr>
          <p:nvPr>
            <p:extLst>
              <p:ext uri="{D42A27DB-BD31-4B8C-83A1-F6EECF244321}">
                <p14:modId xmlns:p14="http://schemas.microsoft.com/office/powerpoint/2010/main" val="2013192357"/>
              </p:ext>
            </p:extLst>
          </p:nvPr>
        </p:nvGraphicFramePr>
        <p:xfrm>
          <a:off x="492351" y="1458686"/>
          <a:ext cx="8052935" cy="507783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 name="Chart 1">
            <a:extLst>
              <a:ext uri="{FF2B5EF4-FFF2-40B4-BE49-F238E27FC236}">
                <a16:creationId xmlns:a16="http://schemas.microsoft.com/office/drawing/2014/main" id="{76901D60-114F-420E-84D3-A6E3AF66797A}"/>
              </a:ext>
            </a:extLst>
          </p:cNvPr>
          <p:cNvGraphicFramePr>
            <a:graphicFrameLocks/>
          </p:cNvGraphicFramePr>
          <p:nvPr>
            <p:extLst>
              <p:ext uri="{D42A27DB-BD31-4B8C-83A1-F6EECF244321}">
                <p14:modId xmlns:p14="http://schemas.microsoft.com/office/powerpoint/2010/main" val="1117017184"/>
              </p:ext>
            </p:extLst>
          </p:nvPr>
        </p:nvGraphicFramePr>
        <p:xfrm>
          <a:off x="7123855" y="1400624"/>
          <a:ext cx="4983162" cy="248375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5580486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81E45-EE28-8639-6952-C4C9C7E4C8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088CA5-25ED-25B8-0604-F703B959ED40}"/>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EHS Performance Overview</a:t>
            </a:r>
          </a:p>
          <a:p>
            <a:r>
              <a:rPr lang="en-US" sz="2400" b="0" dirty="0"/>
              <a:t>3. Training &amp; Awareness</a:t>
            </a:r>
            <a:endParaRPr lang="en-US" sz="2400" b="0" i="1" dirty="0"/>
          </a:p>
        </p:txBody>
      </p:sp>
      <p:sp>
        <p:nvSpPr>
          <p:cNvPr id="11" name="Rectangle 10">
            <a:extLst>
              <a:ext uri="{FF2B5EF4-FFF2-40B4-BE49-F238E27FC236}">
                <a16:creationId xmlns:a16="http://schemas.microsoft.com/office/drawing/2014/main" id="{54CB0C96-09D1-4DBC-EFD3-C955EC179076}"/>
              </a:ext>
            </a:extLst>
          </p:cNvPr>
          <p:cNvSpPr/>
          <p:nvPr/>
        </p:nvSpPr>
        <p:spPr>
          <a:xfrm>
            <a:off x="4618039" y="2077298"/>
            <a:ext cx="3454707" cy="15339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solidFill>
                  <a:srgbClr val="00249C">
                    <a:lumMod val="65000"/>
                    <a:lumOff val="35000"/>
                  </a:srgbClr>
                </a:solidFill>
              </a:rPr>
              <a:t>Awareness &amp; Communication</a:t>
            </a:r>
          </a:p>
          <a:p>
            <a:endParaRPr lang="en-US" sz="1400" dirty="0">
              <a:solidFill>
                <a:srgbClr val="00249C">
                  <a:lumMod val="65000"/>
                  <a:lumOff val="35000"/>
                </a:srgbClr>
              </a:solidFill>
            </a:endParaRPr>
          </a:p>
          <a:p>
            <a:pPr marL="285750" indent="-285750">
              <a:buFont typeface="Arial" panose="020B0604020202020204" pitchFamily="34" charset="0"/>
              <a:buChar char="•"/>
            </a:pPr>
            <a:r>
              <a:rPr lang="en-US" sz="1400" dirty="0">
                <a:solidFill>
                  <a:srgbClr val="00249C">
                    <a:lumMod val="65000"/>
                    <a:lumOff val="35000"/>
                  </a:srgbClr>
                </a:solidFill>
              </a:rPr>
              <a:t>No items to report for this quarter.</a:t>
            </a:r>
          </a:p>
        </p:txBody>
      </p:sp>
      <p:sp>
        <p:nvSpPr>
          <p:cNvPr id="12" name="Text Placeholder 3">
            <a:extLst>
              <a:ext uri="{FF2B5EF4-FFF2-40B4-BE49-F238E27FC236}">
                <a16:creationId xmlns:a16="http://schemas.microsoft.com/office/drawing/2014/main" id="{C6AF7444-2941-9B38-313D-7B308D77BE39}"/>
              </a:ext>
            </a:extLst>
          </p:cNvPr>
          <p:cNvSpPr>
            <a:spLocks noGrp="1"/>
          </p:cNvSpPr>
          <p:nvPr>
            <p:ph type="body" sz="quarter" idx="10"/>
          </p:nvPr>
        </p:nvSpPr>
        <p:spPr>
          <a:xfrm>
            <a:off x="659214" y="4915569"/>
            <a:ext cx="5860026" cy="1724717"/>
          </a:xfrm>
        </p:spPr>
        <p:txBody>
          <a:bodyPr>
            <a:normAutofit/>
          </a:bodyPr>
          <a:lstStyle/>
          <a:p>
            <a:r>
              <a:rPr lang="en-US" sz="1400" b="1" dirty="0"/>
              <a:t>Key Observations: </a:t>
            </a:r>
          </a:p>
          <a:p>
            <a:endParaRPr lang="en-US" sz="1100" dirty="0"/>
          </a:p>
        </p:txBody>
      </p:sp>
      <p:graphicFrame>
        <p:nvGraphicFramePr>
          <p:cNvPr id="3" name="Chart 2">
            <a:extLst>
              <a:ext uri="{FF2B5EF4-FFF2-40B4-BE49-F238E27FC236}">
                <a16:creationId xmlns:a16="http://schemas.microsoft.com/office/drawing/2014/main" id="{3D8F5C9E-1CE4-3BE8-2D98-29DD8CE0144C}"/>
              </a:ext>
            </a:extLst>
          </p:cNvPr>
          <p:cNvGraphicFramePr>
            <a:graphicFrameLocks/>
          </p:cNvGraphicFramePr>
          <p:nvPr>
            <p:extLst>
              <p:ext uri="{D42A27DB-BD31-4B8C-83A1-F6EECF244321}">
                <p14:modId xmlns:p14="http://schemas.microsoft.com/office/powerpoint/2010/main" val="287384709"/>
              </p:ext>
            </p:extLst>
          </p:nvPr>
        </p:nvGraphicFramePr>
        <p:xfrm>
          <a:off x="833385" y="1520186"/>
          <a:ext cx="374904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098505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2A635-F950-F753-5226-4ECE7150267D}"/>
            </a:ext>
          </a:extLst>
        </p:cNvPr>
        <p:cNvGrpSpPr/>
        <p:nvPr/>
      </p:nvGrpSpPr>
      <p:grpSpPr>
        <a:xfrm>
          <a:off x="0" y="0"/>
          <a:ext cx="0" cy="0"/>
          <a:chOff x="0" y="0"/>
          <a:chExt cx="0" cy="0"/>
        </a:xfrm>
      </p:grpSpPr>
      <p:graphicFrame>
        <p:nvGraphicFramePr>
          <p:cNvPr id="13" name="Chart 12">
            <a:extLst>
              <a:ext uri="{FF2B5EF4-FFF2-40B4-BE49-F238E27FC236}">
                <a16:creationId xmlns:a16="http://schemas.microsoft.com/office/drawing/2014/main" id="{7A9141A0-85C9-C36A-7527-B19A9F43A4BF}"/>
              </a:ext>
            </a:extLst>
          </p:cNvPr>
          <p:cNvGraphicFramePr>
            <a:graphicFrameLocks/>
          </p:cNvGraphicFramePr>
          <p:nvPr>
            <p:extLst>
              <p:ext uri="{D42A27DB-BD31-4B8C-83A1-F6EECF244321}">
                <p14:modId xmlns:p14="http://schemas.microsoft.com/office/powerpoint/2010/main" val="4157402824"/>
              </p:ext>
            </p:extLst>
          </p:nvPr>
        </p:nvGraphicFramePr>
        <p:xfrm>
          <a:off x="492351" y="1458686"/>
          <a:ext cx="8052935" cy="507783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1BEC1EBB-976D-4482-90CA-F68B71DFE580}"/>
              </a:ext>
            </a:extLst>
          </p:cNvPr>
          <p:cNvGraphicFramePr>
            <a:graphicFrameLocks/>
          </p:cNvGraphicFramePr>
          <p:nvPr>
            <p:extLst>
              <p:ext uri="{D42A27DB-BD31-4B8C-83A1-F6EECF244321}">
                <p14:modId xmlns:p14="http://schemas.microsoft.com/office/powerpoint/2010/main" val="374738042"/>
              </p:ext>
            </p:extLst>
          </p:nvPr>
        </p:nvGraphicFramePr>
        <p:xfrm>
          <a:off x="7297630" y="4506686"/>
          <a:ext cx="4110601" cy="2029833"/>
        </p:xfrm>
        <a:graphic>
          <a:graphicData uri="http://schemas.openxmlformats.org/drawingml/2006/chart">
            <c:chart xmlns:c="http://schemas.openxmlformats.org/drawingml/2006/chart" xmlns:r="http://schemas.openxmlformats.org/officeDocument/2006/relationships" r:id="rId3"/>
          </a:graphicData>
        </a:graphic>
      </p:graphicFrame>
      <p:sp>
        <p:nvSpPr>
          <p:cNvPr id="12" name="Title 1">
            <a:extLst>
              <a:ext uri="{FF2B5EF4-FFF2-40B4-BE49-F238E27FC236}">
                <a16:creationId xmlns:a16="http://schemas.microsoft.com/office/drawing/2014/main" id="{6D9ECD30-364C-C06D-A594-4E3F4DCFE67E}"/>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EHS Performance Overview</a:t>
            </a:r>
          </a:p>
          <a:p>
            <a:r>
              <a:rPr lang="en-US" sz="2400" b="0" dirty="0"/>
              <a:t>4. Operational Control &amp; Emergency Preparedness</a:t>
            </a:r>
          </a:p>
        </p:txBody>
      </p:sp>
      <p:graphicFrame>
        <p:nvGraphicFramePr>
          <p:cNvPr id="7" name="Chart 6">
            <a:extLst>
              <a:ext uri="{FF2B5EF4-FFF2-40B4-BE49-F238E27FC236}">
                <a16:creationId xmlns:a16="http://schemas.microsoft.com/office/drawing/2014/main" id="{1BEC1EBB-976D-4482-90CA-F68B71DFE580}"/>
              </a:ext>
            </a:extLst>
          </p:cNvPr>
          <p:cNvGraphicFramePr>
            <a:graphicFrameLocks/>
          </p:cNvGraphicFramePr>
          <p:nvPr>
            <p:extLst>
              <p:ext uri="{D42A27DB-BD31-4B8C-83A1-F6EECF244321}">
                <p14:modId xmlns:p14="http://schemas.microsoft.com/office/powerpoint/2010/main" val="1054903417"/>
              </p:ext>
            </p:extLst>
          </p:nvPr>
        </p:nvGraphicFramePr>
        <p:xfrm>
          <a:off x="7358744" y="1394828"/>
          <a:ext cx="4489108" cy="2483757"/>
        </p:xfrm>
        <a:graphic>
          <a:graphicData uri="http://schemas.openxmlformats.org/drawingml/2006/chart">
            <c:chart xmlns:c="http://schemas.openxmlformats.org/drawingml/2006/chart" xmlns:r="http://schemas.openxmlformats.org/officeDocument/2006/relationships" r:id="rId4"/>
          </a:graphicData>
        </a:graphic>
      </p:graphicFrame>
      <p:cxnSp>
        <p:nvCxnSpPr>
          <p:cNvPr id="16" name="Straight Connector 15">
            <a:extLst>
              <a:ext uri="{FF2B5EF4-FFF2-40B4-BE49-F238E27FC236}">
                <a16:creationId xmlns:a16="http://schemas.microsoft.com/office/drawing/2014/main" id="{AB5236EC-8DF6-E47B-F803-451B4F7C85C0}"/>
              </a:ext>
            </a:extLst>
          </p:cNvPr>
          <p:cNvCxnSpPr>
            <a:cxnSpLocks/>
          </p:cNvCxnSpPr>
          <p:nvPr/>
        </p:nvCxnSpPr>
        <p:spPr>
          <a:xfrm>
            <a:off x="9791701" y="3624943"/>
            <a:ext cx="256103" cy="1698171"/>
          </a:xfrm>
          <a:prstGeom prst="line">
            <a:avLst/>
          </a:prstGeom>
          <a:ln>
            <a:solidFill>
              <a:srgbClr val="00249C"/>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2AD0B40-1198-C8F9-C845-1B9546D62FB2}"/>
              </a:ext>
            </a:extLst>
          </p:cNvPr>
          <p:cNvCxnSpPr>
            <a:cxnSpLocks/>
          </p:cNvCxnSpPr>
          <p:nvPr/>
        </p:nvCxnSpPr>
        <p:spPr>
          <a:xfrm flipH="1">
            <a:off x="8109857" y="3624942"/>
            <a:ext cx="267278" cy="1698172"/>
          </a:xfrm>
          <a:prstGeom prst="line">
            <a:avLst/>
          </a:prstGeom>
          <a:ln>
            <a:solidFill>
              <a:srgbClr val="00249C"/>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02883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42C9E53-0198-9672-5698-D316A6CC6F60}"/>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EHS Performance Overview</a:t>
            </a:r>
          </a:p>
          <a:p>
            <a:r>
              <a:rPr lang="en-US" sz="2400" b="0" dirty="0"/>
              <a:t>4. Operational Control &amp; Emergency Preparedness</a:t>
            </a:r>
          </a:p>
        </p:txBody>
      </p:sp>
      <p:sp>
        <p:nvSpPr>
          <p:cNvPr id="11" name="Text Placeholder 3">
            <a:extLst>
              <a:ext uri="{FF2B5EF4-FFF2-40B4-BE49-F238E27FC236}">
                <a16:creationId xmlns:a16="http://schemas.microsoft.com/office/drawing/2014/main" id="{0564378A-04EC-649A-0CF5-5D10B79A706B}"/>
              </a:ext>
            </a:extLst>
          </p:cNvPr>
          <p:cNvSpPr>
            <a:spLocks noGrp="1"/>
          </p:cNvSpPr>
          <p:nvPr>
            <p:ph type="body" sz="quarter" idx="10"/>
          </p:nvPr>
        </p:nvSpPr>
        <p:spPr>
          <a:xfrm>
            <a:off x="647879" y="4519520"/>
            <a:ext cx="3783331" cy="1008375"/>
          </a:xfrm>
        </p:spPr>
        <p:txBody>
          <a:bodyPr>
            <a:normAutofit/>
          </a:bodyPr>
          <a:lstStyle/>
          <a:p>
            <a:r>
              <a:rPr lang="en-US" sz="1200" i="1" dirty="0"/>
              <a:t>Note: Select 2 Operational Control Procedures (OCPs) each month and review a sample of 10 procedures / requirements within each, totaling 30 procedures / requirements per month.</a:t>
            </a:r>
          </a:p>
        </p:txBody>
      </p:sp>
      <p:sp>
        <p:nvSpPr>
          <p:cNvPr id="15" name="Text Placeholder 3">
            <a:extLst>
              <a:ext uri="{FF2B5EF4-FFF2-40B4-BE49-F238E27FC236}">
                <a16:creationId xmlns:a16="http://schemas.microsoft.com/office/drawing/2014/main" id="{F0A69AEF-6CFB-F786-343F-7D06C5D07DA1}"/>
              </a:ext>
            </a:extLst>
          </p:cNvPr>
          <p:cNvSpPr txBox="1">
            <a:spLocks/>
          </p:cNvSpPr>
          <p:nvPr/>
        </p:nvSpPr>
        <p:spPr>
          <a:xfrm>
            <a:off x="8572580" y="2077298"/>
            <a:ext cx="3412592" cy="3450596"/>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0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1pPr>
            <a:lvl2pPr marL="457200" indent="0" algn="l" defTabSz="914400" rtl="0" eaLnBrk="1" latinLnBrk="0" hangingPunct="1">
              <a:lnSpc>
                <a:spcPct val="90000"/>
              </a:lnSpc>
              <a:spcBef>
                <a:spcPts val="500"/>
              </a:spcBef>
              <a:buFontTx/>
              <a:buNone/>
              <a:defRPr sz="24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2pPr>
            <a:lvl3pPr marL="914400" indent="0" algn="l" defTabSz="914400" rtl="0" eaLnBrk="1" latinLnBrk="0" hangingPunct="1">
              <a:lnSpc>
                <a:spcPct val="90000"/>
              </a:lnSpc>
              <a:spcBef>
                <a:spcPts val="5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3pPr>
            <a:lvl4pPr marL="13716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4pPr>
            <a:lvl5pPr marL="18288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b="1" dirty="0"/>
              <a:t>Key Observations: </a:t>
            </a:r>
          </a:p>
          <a:p>
            <a:pPr marL="285750" indent="-285750">
              <a:buFont typeface="Arial" panose="020B0604020202020204" pitchFamily="34" charset="0"/>
              <a:buChar char="•"/>
            </a:pPr>
            <a:r>
              <a:rPr lang="en-US" sz="1200" u="sng" dirty="0"/>
              <a:t>Operational Control Procedures. </a:t>
            </a:r>
          </a:p>
          <a:p>
            <a:pPr marL="285750" indent="-285750">
              <a:buFont typeface="Arial" panose="020B0604020202020204" pitchFamily="34" charset="0"/>
              <a:buChar char="•"/>
            </a:pPr>
            <a:r>
              <a:rPr lang="en-US" sz="1200" u="sng" dirty="0"/>
              <a:t>Drills.</a:t>
            </a:r>
            <a:r>
              <a:rPr lang="en-US" sz="1200" dirty="0"/>
              <a:t> Baniyas Campus A: 3 of 4 planned drills completed. 1 unplanned missile-threat drill successfully executed.</a:t>
            </a:r>
          </a:p>
          <a:p>
            <a:pPr marL="285750" indent="-285750">
              <a:buFont typeface="Arial" panose="020B0604020202020204" pitchFamily="34" charset="0"/>
              <a:buChar char="•"/>
            </a:pPr>
            <a:r>
              <a:rPr lang="en-US" sz="1200" u="sng" dirty="0"/>
              <a:t>Drills</a:t>
            </a:r>
            <a:r>
              <a:rPr lang="en-US" sz="1200" dirty="0"/>
              <a:t>. Baniyas Campus B: 2 of 3 planned drills completed.</a:t>
            </a:r>
            <a:endParaRPr lang="en-US" sz="1050" dirty="0"/>
          </a:p>
        </p:txBody>
      </p:sp>
      <p:graphicFrame>
        <p:nvGraphicFramePr>
          <p:cNvPr id="3" name="Chart 2">
            <a:extLst>
              <a:ext uri="{FF2B5EF4-FFF2-40B4-BE49-F238E27FC236}">
                <a16:creationId xmlns:a16="http://schemas.microsoft.com/office/drawing/2014/main" id="{D5044993-CBCC-D96E-70AC-C94CF4317D83}"/>
              </a:ext>
            </a:extLst>
          </p:cNvPr>
          <p:cNvGraphicFramePr>
            <a:graphicFrameLocks/>
          </p:cNvGraphicFramePr>
          <p:nvPr>
            <p:extLst>
              <p:ext uri="{D42A27DB-BD31-4B8C-83A1-F6EECF244321}">
                <p14:modId xmlns:p14="http://schemas.microsoft.com/office/powerpoint/2010/main" val="2049726672"/>
              </p:ext>
            </p:extLst>
          </p:nvPr>
        </p:nvGraphicFramePr>
        <p:xfrm>
          <a:off x="740632" y="2104312"/>
          <a:ext cx="3863111" cy="246888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hart 3">
            <a:extLst>
              <a:ext uri="{FF2B5EF4-FFF2-40B4-BE49-F238E27FC236}">
                <a16:creationId xmlns:a16="http://schemas.microsoft.com/office/drawing/2014/main" id="{26F91B75-B9C3-0CD2-0E3B-50AEEDC02023}"/>
              </a:ext>
            </a:extLst>
          </p:cNvPr>
          <p:cNvGraphicFramePr>
            <a:graphicFrameLocks/>
          </p:cNvGraphicFramePr>
          <p:nvPr>
            <p:extLst>
              <p:ext uri="{D42A27DB-BD31-4B8C-83A1-F6EECF244321}">
                <p14:modId xmlns:p14="http://schemas.microsoft.com/office/powerpoint/2010/main" val="4152157647"/>
              </p:ext>
            </p:extLst>
          </p:nvPr>
        </p:nvGraphicFramePr>
        <p:xfrm>
          <a:off x="4785865" y="2104312"/>
          <a:ext cx="3604592" cy="246888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2446006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5184A6D8-A2DE-2807-E45F-2D1BDC29A312}"/>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fontScale="92500"/>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EHS Performance Overview</a:t>
            </a:r>
          </a:p>
          <a:p>
            <a:r>
              <a:rPr lang="en-US" sz="2400" b="0" dirty="0"/>
              <a:t>4. Operational Control &amp; Emergency Preparedness – </a:t>
            </a:r>
            <a:r>
              <a:rPr lang="en-US" sz="2400" b="0" i="1" dirty="0"/>
              <a:t>Contractor Management</a:t>
            </a:r>
          </a:p>
        </p:txBody>
      </p:sp>
      <p:sp>
        <p:nvSpPr>
          <p:cNvPr id="13" name="Text Placeholder 3">
            <a:extLst>
              <a:ext uri="{FF2B5EF4-FFF2-40B4-BE49-F238E27FC236}">
                <a16:creationId xmlns:a16="http://schemas.microsoft.com/office/drawing/2014/main" id="{3CF39BF5-B213-A5B5-AC7C-99BDC5EB171A}"/>
              </a:ext>
            </a:extLst>
          </p:cNvPr>
          <p:cNvSpPr txBox="1">
            <a:spLocks/>
          </p:cNvSpPr>
          <p:nvPr/>
        </p:nvSpPr>
        <p:spPr>
          <a:xfrm>
            <a:off x="8572580" y="2077298"/>
            <a:ext cx="3412592" cy="3450596"/>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0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1pPr>
            <a:lvl2pPr marL="457200" indent="0" algn="l" defTabSz="914400" rtl="0" eaLnBrk="1" latinLnBrk="0" hangingPunct="1">
              <a:lnSpc>
                <a:spcPct val="90000"/>
              </a:lnSpc>
              <a:spcBef>
                <a:spcPts val="500"/>
              </a:spcBef>
              <a:buFontTx/>
              <a:buNone/>
              <a:defRPr sz="24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2pPr>
            <a:lvl3pPr marL="914400" indent="0" algn="l" defTabSz="914400" rtl="0" eaLnBrk="1" latinLnBrk="0" hangingPunct="1">
              <a:lnSpc>
                <a:spcPct val="90000"/>
              </a:lnSpc>
              <a:spcBef>
                <a:spcPts val="5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3pPr>
            <a:lvl4pPr marL="13716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4pPr>
            <a:lvl5pPr marL="18288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b="1" dirty="0"/>
              <a:t>Key Observations: </a:t>
            </a:r>
          </a:p>
        </p:txBody>
      </p:sp>
      <p:graphicFrame>
        <p:nvGraphicFramePr>
          <p:cNvPr id="2" name="Chart 1">
            <a:extLst>
              <a:ext uri="{FF2B5EF4-FFF2-40B4-BE49-F238E27FC236}">
                <a16:creationId xmlns:a16="http://schemas.microsoft.com/office/drawing/2014/main" id="{CF3D869B-BC66-E9B5-C78B-4513E1E31EC8}"/>
              </a:ext>
            </a:extLst>
          </p:cNvPr>
          <p:cNvGraphicFramePr>
            <a:graphicFrameLocks/>
          </p:cNvGraphicFramePr>
          <p:nvPr>
            <p:extLst>
              <p:ext uri="{D42A27DB-BD31-4B8C-83A1-F6EECF244321}">
                <p14:modId xmlns:p14="http://schemas.microsoft.com/office/powerpoint/2010/main" val="2310013154"/>
              </p:ext>
            </p:extLst>
          </p:nvPr>
        </p:nvGraphicFramePr>
        <p:xfrm>
          <a:off x="737101" y="2077298"/>
          <a:ext cx="3749040" cy="246888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 name="Chart 4">
            <a:extLst>
              <a:ext uri="{FF2B5EF4-FFF2-40B4-BE49-F238E27FC236}">
                <a16:creationId xmlns:a16="http://schemas.microsoft.com/office/drawing/2014/main" id="{A849E8D2-65F5-0E85-19A8-B4A9322DBD18}"/>
              </a:ext>
            </a:extLst>
          </p:cNvPr>
          <p:cNvGraphicFramePr>
            <a:graphicFrameLocks/>
          </p:cNvGraphicFramePr>
          <p:nvPr>
            <p:extLst>
              <p:ext uri="{D42A27DB-BD31-4B8C-83A1-F6EECF244321}">
                <p14:modId xmlns:p14="http://schemas.microsoft.com/office/powerpoint/2010/main" val="2277964999"/>
              </p:ext>
            </p:extLst>
          </p:nvPr>
        </p:nvGraphicFramePr>
        <p:xfrm>
          <a:off x="4677172" y="2077298"/>
          <a:ext cx="3749039" cy="246888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8850714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894F-2747-298F-294A-2A5D344E8AC2}"/>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A494899E-ECE3-7A16-8325-A82CCC6C2F49}"/>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EHS Performance Overview</a:t>
            </a:r>
          </a:p>
          <a:p>
            <a:r>
              <a:rPr lang="en-US" sz="2400" b="0" dirty="0"/>
              <a:t>5. Performance Evaluation &amp; Continual Improvement</a:t>
            </a:r>
          </a:p>
        </p:txBody>
      </p:sp>
      <p:graphicFrame>
        <p:nvGraphicFramePr>
          <p:cNvPr id="13" name="Chart 12">
            <a:extLst>
              <a:ext uri="{FF2B5EF4-FFF2-40B4-BE49-F238E27FC236}">
                <a16:creationId xmlns:a16="http://schemas.microsoft.com/office/drawing/2014/main" id="{9DD3A4B7-2525-E344-A4C7-8DCF7E076F19}"/>
              </a:ext>
            </a:extLst>
          </p:cNvPr>
          <p:cNvGraphicFramePr>
            <a:graphicFrameLocks/>
          </p:cNvGraphicFramePr>
          <p:nvPr>
            <p:extLst>
              <p:ext uri="{D42A27DB-BD31-4B8C-83A1-F6EECF244321}">
                <p14:modId xmlns:p14="http://schemas.microsoft.com/office/powerpoint/2010/main" val="3085530107"/>
              </p:ext>
            </p:extLst>
          </p:nvPr>
        </p:nvGraphicFramePr>
        <p:xfrm>
          <a:off x="492351" y="1458686"/>
          <a:ext cx="8052935" cy="507783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 name="Chart 1">
            <a:extLst>
              <a:ext uri="{FF2B5EF4-FFF2-40B4-BE49-F238E27FC236}">
                <a16:creationId xmlns:a16="http://schemas.microsoft.com/office/drawing/2014/main" id="{71EEF3D2-C744-229D-2321-4002B6C12549}"/>
              </a:ext>
            </a:extLst>
          </p:cNvPr>
          <p:cNvGraphicFramePr>
            <a:graphicFrameLocks/>
          </p:cNvGraphicFramePr>
          <p:nvPr>
            <p:extLst>
              <p:ext uri="{D42A27DB-BD31-4B8C-83A1-F6EECF244321}">
                <p14:modId xmlns:p14="http://schemas.microsoft.com/office/powerpoint/2010/main" val="2501685351"/>
              </p:ext>
            </p:extLst>
          </p:nvPr>
        </p:nvGraphicFramePr>
        <p:xfrm>
          <a:off x="6718982" y="1369786"/>
          <a:ext cx="5233532" cy="248375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3" name="Chart 2">
            <a:extLst>
              <a:ext uri="{FF2B5EF4-FFF2-40B4-BE49-F238E27FC236}">
                <a16:creationId xmlns:a16="http://schemas.microsoft.com/office/drawing/2014/main" id="{B856CD39-3371-7883-A335-5C6F2A6B044D}"/>
              </a:ext>
            </a:extLst>
          </p:cNvPr>
          <p:cNvGraphicFramePr>
            <a:graphicFrameLocks/>
          </p:cNvGraphicFramePr>
          <p:nvPr>
            <p:extLst>
              <p:ext uri="{D42A27DB-BD31-4B8C-83A1-F6EECF244321}">
                <p14:modId xmlns:p14="http://schemas.microsoft.com/office/powerpoint/2010/main" val="2397158752"/>
              </p:ext>
            </p:extLst>
          </p:nvPr>
        </p:nvGraphicFramePr>
        <p:xfrm>
          <a:off x="7249886" y="3997601"/>
          <a:ext cx="4702628" cy="2483757"/>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8074338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EF55A08-F697-3A45-E43B-FA6FC37B68CE}"/>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EHS Performance Overview</a:t>
            </a:r>
          </a:p>
          <a:p>
            <a:r>
              <a:rPr lang="en-US" sz="2400" b="0" dirty="0"/>
              <a:t>5. Performance Evaluation &amp; Continual Improvement - </a:t>
            </a:r>
            <a:r>
              <a:rPr lang="en-US" sz="2400" b="0" i="1" dirty="0"/>
              <a:t>Inspection</a:t>
            </a:r>
          </a:p>
        </p:txBody>
      </p:sp>
      <p:sp>
        <p:nvSpPr>
          <p:cNvPr id="10" name="Text Placeholder 3">
            <a:extLst>
              <a:ext uri="{FF2B5EF4-FFF2-40B4-BE49-F238E27FC236}">
                <a16:creationId xmlns:a16="http://schemas.microsoft.com/office/drawing/2014/main" id="{76DA7A01-CF93-C9A8-5ACE-6910AAFFCDBA}"/>
              </a:ext>
            </a:extLst>
          </p:cNvPr>
          <p:cNvSpPr>
            <a:spLocks noGrp="1"/>
          </p:cNvSpPr>
          <p:nvPr>
            <p:ph type="body" sz="quarter" idx="10"/>
          </p:nvPr>
        </p:nvSpPr>
        <p:spPr>
          <a:xfrm>
            <a:off x="659214" y="4915569"/>
            <a:ext cx="5860026" cy="1724717"/>
          </a:xfrm>
        </p:spPr>
        <p:txBody>
          <a:bodyPr>
            <a:normAutofit/>
          </a:bodyPr>
          <a:lstStyle/>
          <a:p>
            <a:r>
              <a:rPr lang="en-US" sz="1400" b="1" dirty="0"/>
              <a:t>Key Observations: </a:t>
            </a:r>
          </a:p>
          <a:p>
            <a:endParaRPr lang="en-US" sz="1100" dirty="0"/>
          </a:p>
        </p:txBody>
      </p:sp>
      <p:graphicFrame>
        <p:nvGraphicFramePr>
          <p:cNvPr id="3" name="Chart 2">
            <a:extLst>
              <a:ext uri="{FF2B5EF4-FFF2-40B4-BE49-F238E27FC236}">
                <a16:creationId xmlns:a16="http://schemas.microsoft.com/office/drawing/2014/main" id="{638812CA-F361-7F03-E502-514BC1BF5018}"/>
              </a:ext>
            </a:extLst>
          </p:cNvPr>
          <p:cNvGraphicFramePr>
            <a:graphicFrameLocks/>
          </p:cNvGraphicFramePr>
          <p:nvPr>
            <p:extLst>
              <p:ext uri="{D42A27DB-BD31-4B8C-83A1-F6EECF244321}">
                <p14:modId xmlns:p14="http://schemas.microsoft.com/office/powerpoint/2010/main" val="937845844"/>
              </p:ext>
            </p:extLst>
          </p:nvPr>
        </p:nvGraphicFramePr>
        <p:xfrm>
          <a:off x="659214" y="2078635"/>
          <a:ext cx="3749040" cy="25603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 name="Chart 4">
            <a:extLst>
              <a:ext uri="{FF2B5EF4-FFF2-40B4-BE49-F238E27FC236}">
                <a16:creationId xmlns:a16="http://schemas.microsoft.com/office/drawing/2014/main" id="{975FD57B-D02B-7FC1-95DD-6E33C12590E0}"/>
              </a:ext>
            </a:extLst>
          </p:cNvPr>
          <p:cNvGraphicFramePr>
            <a:graphicFrameLocks/>
          </p:cNvGraphicFramePr>
          <p:nvPr>
            <p:extLst>
              <p:ext uri="{D42A27DB-BD31-4B8C-83A1-F6EECF244321}">
                <p14:modId xmlns:p14="http://schemas.microsoft.com/office/powerpoint/2010/main" val="929877596"/>
              </p:ext>
            </p:extLst>
          </p:nvPr>
        </p:nvGraphicFramePr>
        <p:xfrm>
          <a:off x="4539916" y="2078635"/>
          <a:ext cx="3749040" cy="256032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7307969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B144D033-06C2-3F95-4417-5E6D9DD59579}"/>
              </a:ext>
            </a:extLst>
          </p:cNvPr>
          <p:cNvSpPr txBox="1">
            <a:spLocks/>
          </p:cNvSpPr>
          <p:nvPr/>
        </p:nvSpPr>
        <p:spPr>
          <a:xfrm>
            <a:off x="833385" y="472509"/>
            <a:ext cx="11358615" cy="986177"/>
          </a:xfrm>
          <a:prstGeom prst="rect">
            <a:avLst/>
          </a:prstGeom>
        </p:spPr>
        <p:txBody>
          <a:bodyPr vert="horz" lIns="91440" tIns="45720" rIns="91440" bIns="45720" rtlCol="0" anchor="ctr" anchorCtr="0">
            <a:normAutofit fontScale="92500"/>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EHS Performance Overview</a:t>
            </a:r>
          </a:p>
          <a:p>
            <a:r>
              <a:rPr lang="en-US" sz="2400" b="0" dirty="0"/>
              <a:t>5. Performance Evaluation &amp; Continual Improvement – </a:t>
            </a:r>
            <a:r>
              <a:rPr lang="en-US" sz="2400" b="0" i="1" dirty="0"/>
              <a:t>Incident Reporting &amp; Investigation</a:t>
            </a:r>
          </a:p>
        </p:txBody>
      </p:sp>
      <p:sp>
        <p:nvSpPr>
          <p:cNvPr id="13" name="Text Placeholder 3">
            <a:extLst>
              <a:ext uri="{FF2B5EF4-FFF2-40B4-BE49-F238E27FC236}">
                <a16:creationId xmlns:a16="http://schemas.microsoft.com/office/drawing/2014/main" id="{B44FB447-6FD5-9467-FC86-70A152BB085F}"/>
              </a:ext>
            </a:extLst>
          </p:cNvPr>
          <p:cNvSpPr>
            <a:spLocks noGrp="1"/>
          </p:cNvSpPr>
          <p:nvPr>
            <p:ph type="body" sz="quarter" idx="10"/>
          </p:nvPr>
        </p:nvSpPr>
        <p:spPr>
          <a:xfrm>
            <a:off x="659213" y="4915569"/>
            <a:ext cx="10823949" cy="1724717"/>
          </a:xfrm>
        </p:spPr>
        <p:txBody>
          <a:bodyPr>
            <a:normAutofit/>
          </a:bodyPr>
          <a:lstStyle/>
          <a:p>
            <a:r>
              <a:rPr lang="en-US" sz="1400" b="1" dirty="0"/>
              <a:t>Key Observations: </a:t>
            </a:r>
          </a:p>
          <a:p>
            <a:pPr marL="285750" indent="-285750">
              <a:buFont typeface="Arial" panose="020B0604020202020204" pitchFamily="34" charset="0"/>
              <a:buChar char="•"/>
            </a:pPr>
            <a:r>
              <a:rPr lang="en-US" sz="1200" u="sng" dirty="0"/>
              <a:t>Incident Notification.</a:t>
            </a:r>
            <a:r>
              <a:rPr lang="en-US" sz="1200" dirty="0"/>
              <a:t> Baniyas Campus A: 11 of 12 incidents notified within required timeframe. Baniyas Campus B 2 of 3 incidents notified within required timeframe.</a:t>
            </a:r>
          </a:p>
          <a:p>
            <a:pPr marL="285750" indent="-285750">
              <a:buFont typeface="Arial" panose="020B0604020202020204" pitchFamily="34" charset="0"/>
              <a:buChar char="•"/>
            </a:pPr>
            <a:r>
              <a:rPr lang="en-US" sz="1200" u="sng" dirty="0"/>
              <a:t>Investigations</a:t>
            </a:r>
            <a:r>
              <a:rPr lang="en-US" sz="1200" dirty="0"/>
              <a:t>. Baniyas Campus A: None of the incidents investigated within the required timeframe. Baniyas Campus B: 1 of 3 investigations completed within the required timeframe.</a:t>
            </a:r>
          </a:p>
          <a:p>
            <a:endParaRPr lang="en-US" sz="1400" dirty="0"/>
          </a:p>
        </p:txBody>
      </p:sp>
      <p:graphicFrame>
        <p:nvGraphicFramePr>
          <p:cNvPr id="4" name="Chart 3">
            <a:extLst>
              <a:ext uri="{FF2B5EF4-FFF2-40B4-BE49-F238E27FC236}">
                <a16:creationId xmlns:a16="http://schemas.microsoft.com/office/drawing/2014/main" id="{BCBAA7A2-2757-64C5-14B8-E927FA1174D8}"/>
              </a:ext>
            </a:extLst>
          </p:cNvPr>
          <p:cNvGraphicFramePr>
            <a:graphicFrameLocks/>
          </p:cNvGraphicFramePr>
          <p:nvPr>
            <p:extLst>
              <p:ext uri="{D42A27DB-BD31-4B8C-83A1-F6EECF244321}">
                <p14:modId xmlns:p14="http://schemas.microsoft.com/office/powerpoint/2010/main" val="3818810255"/>
              </p:ext>
            </p:extLst>
          </p:nvPr>
        </p:nvGraphicFramePr>
        <p:xfrm>
          <a:off x="738589" y="2081962"/>
          <a:ext cx="3749040" cy="246888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 name="Chart 4">
            <a:extLst>
              <a:ext uri="{FF2B5EF4-FFF2-40B4-BE49-F238E27FC236}">
                <a16:creationId xmlns:a16="http://schemas.microsoft.com/office/drawing/2014/main" id="{2AE19293-F3EC-B2D6-505A-33774D0FBA08}"/>
              </a:ext>
            </a:extLst>
          </p:cNvPr>
          <p:cNvGraphicFramePr>
            <a:graphicFrameLocks/>
          </p:cNvGraphicFramePr>
          <p:nvPr>
            <p:extLst>
              <p:ext uri="{D42A27DB-BD31-4B8C-83A1-F6EECF244321}">
                <p14:modId xmlns:p14="http://schemas.microsoft.com/office/powerpoint/2010/main" val="2550863309"/>
              </p:ext>
            </p:extLst>
          </p:nvPr>
        </p:nvGraphicFramePr>
        <p:xfrm>
          <a:off x="4744604" y="2081962"/>
          <a:ext cx="3749040" cy="246888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8299069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7F2AA09A-5D88-63B8-3A31-85CE9DC2CA91}"/>
              </a:ext>
            </a:extLst>
          </p:cNvPr>
          <p:cNvGraphicFramePr>
            <a:graphicFrameLocks noGrp="1"/>
          </p:cNvGraphicFramePr>
          <p:nvPr>
            <p:extLst>
              <p:ext uri="{D42A27DB-BD31-4B8C-83A1-F6EECF244321}">
                <p14:modId xmlns:p14="http://schemas.microsoft.com/office/powerpoint/2010/main" val="966407934"/>
              </p:ext>
            </p:extLst>
          </p:nvPr>
        </p:nvGraphicFramePr>
        <p:xfrm>
          <a:off x="681754" y="1493224"/>
          <a:ext cx="11064240" cy="5038986"/>
        </p:xfrm>
        <a:graphic>
          <a:graphicData uri="http://schemas.openxmlformats.org/drawingml/2006/table">
            <a:tbl>
              <a:tblPr firstRow="1" bandRow="1">
                <a:tableStyleId>{5C22544A-7EE6-4342-B048-85BDC9FD1C3A}</a:tableStyleId>
              </a:tblPr>
              <a:tblGrid>
                <a:gridCol w="446176">
                  <a:extLst>
                    <a:ext uri="{9D8B030D-6E8A-4147-A177-3AD203B41FA5}">
                      <a16:colId xmlns:a16="http://schemas.microsoft.com/office/drawing/2014/main" val="20000"/>
                    </a:ext>
                  </a:extLst>
                </a:gridCol>
                <a:gridCol w="3097646">
                  <a:extLst>
                    <a:ext uri="{9D8B030D-6E8A-4147-A177-3AD203B41FA5}">
                      <a16:colId xmlns:a16="http://schemas.microsoft.com/office/drawing/2014/main" val="20001"/>
                    </a:ext>
                  </a:extLst>
                </a:gridCol>
                <a:gridCol w="2760659">
                  <a:extLst>
                    <a:ext uri="{9D8B030D-6E8A-4147-A177-3AD203B41FA5}">
                      <a16:colId xmlns:a16="http://schemas.microsoft.com/office/drawing/2014/main" val="20002"/>
                    </a:ext>
                  </a:extLst>
                </a:gridCol>
                <a:gridCol w="1808708">
                  <a:extLst>
                    <a:ext uri="{9D8B030D-6E8A-4147-A177-3AD203B41FA5}">
                      <a16:colId xmlns:a16="http://schemas.microsoft.com/office/drawing/2014/main" val="20003"/>
                    </a:ext>
                  </a:extLst>
                </a:gridCol>
                <a:gridCol w="2094295">
                  <a:extLst>
                    <a:ext uri="{9D8B030D-6E8A-4147-A177-3AD203B41FA5}">
                      <a16:colId xmlns:a16="http://schemas.microsoft.com/office/drawing/2014/main" val="20004"/>
                    </a:ext>
                  </a:extLst>
                </a:gridCol>
                <a:gridCol w="856756">
                  <a:extLst>
                    <a:ext uri="{9D8B030D-6E8A-4147-A177-3AD203B41FA5}">
                      <a16:colId xmlns:a16="http://schemas.microsoft.com/office/drawing/2014/main" val="20005"/>
                    </a:ext>
                  </a:extLst>
                </a:gridCol>
              </a:tblGrid>
              <a:tr h="449119">
                <a:tc>
                  <a:txBody>
                    <a:bodyPr/>
                    <a:lstStyle/>
                    <a:p>
                      <a:pPr algn="ctr"/>
                      <a:r>
                        <a:rPr lang="en-AU" sz="1200" dirty="0">
                          <a:solidFill>
                            <a:schemeClr val="bg2"/>
                          </a:solidFill>
                          <a:latin typeface="Tahoma" panose="020B0604030504040204" pitchFamily="34" charset="0"/>
                          <a:ea typeface="Tahoma" panose="020B0604030504040204" pitchFamily="34" charset="0"/>
                          <a:cs typeface="Tahoma" panose="020B0604030504040204" pitchFamily="34" charset="0"/>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249C"/>
                    </a:solidFill>
                  </a:tcPr>
                </a:tc>
                <a:tc>
                  <a:txBody>
                    <a:bodyPr/>
                    <a:lstStyle/>
                    <a:p>
                      <a:pPr algn="ctr"/>
                      <a:r>
                        <a:rPr lang="en-AU" sz="1200" dirty="0">
                          <a:solidFill>
                            <a:schemeClr val="bg2"/>
                          </a:solidFill>
                          <a:latin typeface="Tahoma" panose="020B0604030504040204" pitchFamily="34" charset="0"/>
                          <a:ea typeface="Tahoma" panose="020B0604030504040204" pitchFamily="34" charset="0"/>
                          <a:cs typeface="Tahoma" panose="020B0604030504040204" pitchFamily="34" charset="0"/>
                        </a:rPr>
                        <a:t>Observation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249C"/>
                    </a:solidFill>
                  </a:tcPr>
                </a:tc>
                <a:tc>
                  <a:txBody>
                    <a:bodyPr/>
                    <a:lstStyle/>
                    <a:p>
                      <a:pPr algn="ctr"/>
                      <a:r>
                        <a:rPr lang="en-AU" sz="1200" dirty="0">
                          <a:solidFill>
                            <a:schemeClr val="bg2"/>
                          </a:solidFill>
                          <a:latin typeface="Tahoma" panose="020B0604030504040204" pitchFamily="34" charset="0"/>
                          <a:ea typeface="Tahoma" panose="020B0604030504040204" pitchFamily="34" charset="0"/>
                          <a:cs typeface="Tahoma" panose="020B0604030504040204" pitchFamily="34" charset="0"/>
                        </a:rPr>
                        <a:t>Dependency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249C"/>
                    </a:solidFill>
                  </a:tcPr>
                </a:tc>
                <a:tc>
                  <a:txBody>
                    <a:bodyPr/>
                    <a:lstStyle/>
                    <a:p>
                      <a:pPr algn="ctr"/>
                      <a:r>
                        <a:rPr lang="en-AU" sz="1200" dirty="0">
                          <a:solidFill>
                            <a:schemeClr val="bg2"/>
                          </a:solidFill>
                          <a:latin typeface="Tahoma" panose="020B0604030504040204" pitchFamily="34" charset="0"/>
                          <a:ea typeface="Tahoma" panose="020B0604030504040204" pitchFamily="34" charset="0"/>
                          <a:cs typeface="Tahoma" panose="020B0604030504040204" pitchFamily="34" charset="0"/>
                        </a:rPr>
                        <a:t>Measured Compliance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249C"/>
                    </a:solidFill>
                  </a:tcPr>
                </a:tc>
                <a:tc>
                  <a:txBody>
                    <a:bodyPr/>
                    <a:lstStyle/>
                    <a:p>
                      <a:pPr algn="ctr"/>
                      <a:r>
                        <a:rPr lang="en-AU" sz="1200" dirty="0">
                          <a:solidFill>
                            <a:schemeClr val="bg2"/>
                          </a:solidFill>
                          <a:latin typeface="Tahoma" panose="020B0604030504040204" pitchFamily="34" charset="0"/>
                          <a:ea typeface="Tahoma" panose="020B0604030504040204" pitchFamily="34" charset="0"/>
                          <a:cs typeface="Tahoma" panose="020B0604030504040204" pitchFamily="34" charset="0"/>
                        </a:rPr>
                        <a:t>Owner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249C"/>
                    </a:solidFill>
                  </a:tcPr>
                </a:tc>
                <a:tc>
                  <a:txBody>
                    <a:bodyPr/>
                    <a:lstStyle/>
                    <a:p>
                      <a:pPr algn="ctr"/>
                      <a:r>
                        <a:rPr lang="en-AU" sz="1200" dirty="0">
                          <a:solidFill>
                            <a:schemeClr val="bg2"/>
                          </a:solidFill>
                          <a:latin typeface="Tahoma" panose="020B0604030504040204" pitchFamily="34" charset="0"/>
                          <a:ea typeface="Tahoma" panose="020B0604030504040204" pitchFamily="34" charset="0"/>
                          <a:cs typeface="Tahoma" panose="020B0604030504040204" pitchFamily="34" charset="0"/>
                        </a:rPr>
                        <a:t>Status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249C"/>
                    </a:solidFill>
                  </a:tcPr>
                </a:tc>
                <a:extLst>
                  <a:ext uri="{0D108BD9-81ED-4DB2-BD59-A6C34878D82A}">
                    <a16:rowId xmlns:a16="http://schemas.microsoft.com/office/drawing/2014/main" val="10000"/>
                  </a:ext>
                </a:extLst>
              </a:tr>
              <a:tr h="503911">
                <a:tc>
                  <a:txBody>
                    <a:bodyPr/>
                    <a:lstStyle/>
                    <a:p>
                      <a:pPr algn="ctr"/>
                      <a:r>
                        <a:rPr lang="en-AU" sz="1200" i="0" dirty="0">
                          <a:latin typeface="Tahoma" panose="020B0604030504040204" pitchFamily="34" charset="0"/>
                          <a:ea typeface="Tahoma" panose="020B0604030504040204" pitchFamily="34" charset="0"/>
                          <a:cs typeface="Tahoma" panose="020B0604030504040204" pitchFamily="34" charset="0"/>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28600" indent="-228600" algn="ctr">
                        <a:buAutoNum type="alphaLcParenR"/>
                      </a:pPr>
                      <a:endParaRPr lang="en-AU" sz="1200" i="0" kern="1200" baseline="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indent="0" algn="ctr" defTabSz="685800" rtl="0" eaLnBrk="1" latinLnBrk="0" hangingPunct="1">
                        <a:buFontTx/>
                        <a:buNone/>
                      </a:pPr>
                      <a:endParaRPr lang="en-AU" sz="1200" i="0" kern="1200" baseline="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503911">
                <a:tc>
                  <a:txBody>
                    <a:bodyPr/>
                    <a:lstStyle/>
                    <a:p>
                      <a:pPr algn="ctr"/>
                      <a:r>
                        <a:rPr lang="en-AU" sz="1200" i="0" dirty="0">
                          <a:latin typeface="Tahoma" panose="020B0604030504040204" pitchFamily="34" charset="0"/>
                          <a:ea typeface="Tahoma" panose="020B0604030504040204" pitchFamily="34" charset="0"/>
                          <a:cs typeface="Tahoma" panose="020B0604030504040204" pitchFamily="34" charset="0"/>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28600" indent="-228600" algn="ctr">
                        <a:buAutoNum type="alphaLcParenR"/>
                      </a:pPr>
                      <a:endParaRPr lang="en-AU" sz="1200" i="0" kern="1200" baseline="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indent="0" algn="ctr" defTabSz="685800" rtl="0" eaLnBrk="1" latinLnBrk="0" hangingPunct="1">
                        <a:buFontTx/>
                        <a:buNone/>
                      </a:pPr>
                      <a:endParaRPr lang="en-AU" sz="1200" i="0" kern="1200" baseline="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701642089"/>
                  </a:ext>
                </a:extLst>
              </a:tr>
              <a:tr h="550498">
                <a:tc>
                  <a:txBody>
                    <a:bodyPr/>
                    <a:lstStyle/>
                    <a:p>
                      <a:pPr algn="ctr"/>
                      <a:r>
                        <a:rPr lang="en-AU" sz="1200" i="0" dirty="0">
                          <a:latin typeface="Tahoma" panose="020B0604030504040204" pitchFamily="34" charset="0"/>
                          <a:ea typeface="Tahoma" panose="020B0604030504040204" pitchFamily="34" charset="0"/>
                          <a:cs typeface="Tahoma" panose="020B0604030504040204" pitchFamily="34" charset="0"/>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28600" indent="-228600" algn="ctr">
                        <a:buAutoNum type="alphaLcParenR"/>
                      </a:pPr>
                      <a:endParaRPr lang="en-AU" sz="1200" i="0" baseline="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indent="0" algn="ctr" defTabSz="685800" rtl="0" eaLnBrk="1" latinLnBrk="0" hangingPunct="1">
                        <a:buFontTx/>
                        <a:buNone/>
                      </a:pPr>
                      <a:endParaRPr lang="en-AU" sz="1200" i="0" kern="1200" baseline="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503911">
                <a:tc>
                  <a:txBody>
                    <a:bodyPr/>
                    <a:lstStyle/>
                    <a:p>
                      <a:pPr algn="ctr"/>
                      <a:r>
                        <a:rPr lang="en-AU" sz="1200" i="0" dirty="0">
                          <a:latin typeface="Tahoma" panose="020B0604030504040204" pitchFamily="34" charset="0"/>
                          <a:ea typeface="Tahoma" panose="020B0604030504040204" pitchFamily="34" charset="0"/>
                          <a:cs typeface="Tahoma" panose="020B0604030504040204" pitchFamily="34" charset="0"/>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endParaRPr lang="en-US"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28600" indent="-228600" algn="ctr" defTabSz="685800" rtl="0" eaLnBrk="1" latinLnBrk="0" hangingPunct="1">
                        <a:buAutoNum type="alphaLcParenR"/>
                      </a:pPr>
                      <a:endParaRPr lang="en-AU" sz="1200" i="0" kern="1200" baseline="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28600" indent="-228600" algn="ctr" defTabSz="685800" rtl="0" eaLnBrk="1" latinLnBrk="0" hangingPunct="1">
                        <a:buAutoNum type="alphaLcParenR"/>
                      </a:pPr>
                      <a:endParaRPr lang="en-AU" sz="1200" i="0" kern="1200" baseline="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endPar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03911">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endPar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28600" indent="-228600" algn="ctr">
                        <a:buAutoNum type="alphaLcParenR"/>
                      </a:pPr>
                      <a:endParaRPr lang="en-AU" sz="1200" i="0" baseline="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28600" indent="-228600" algn="ctr" defTabSz="685800" rtl="0" eaLnBrk="1" latinLnBrk="0" hangingPunct="1">
                        <a:buFontTx/>
                        <a:buAutoNum type="alphaLcParenR"/>
                      </a:pPr>
                      <a:endParaRPr lang="en-AU" sz="1200" i="0" kern="1200" baseline="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503911">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endPar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28600" indent="-228600" algn="ctr">
                        <a:buAutoNum type="alphaLcParenR"/>
                      </a:pPr>
                      <a:endParaRPr lang="en-AU" sz="1200" i="0" baseline="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28600" indent="-228600" algn="ctr" defTabSz="685800" rtl="0" eaLnBrk="1" latinLnBrk="0" hangingPunct="1">
                        <a:buFontTx/>
                        <a:buAutoNum type="alphaLcParenR"/>
                      </a:pPr>
                      <a:endParaRPr lang="en-AU" sz="1200" i="0" kern="1200" baseline="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017612683"/>
                  </a:ext>
                </a:extLst>
              </a:tr>
              <a:tr h="503911">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rPr>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endPar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28600" indent="-228600" algn="ctr">
                        <a:buAutoNum type="alphaLcParenR"/>
                      </a:pPr>
                      <a:endParaRPr lang="en-AU" sz="1200" i="0" baseline="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28600" indent="-228600" algn="ctr" defTabSz="685800" rtl="0" eaLnBrk="1" latinLnBrk="0" hangingPunct="1">
                        <a:buFontTx/>
                        <a:buAutoNum type="alphaLcParenR"/>
                      </a:pPr>
                      <a:endParaRPr lang="en-AU" sz="1200" i="0" kern="1200" baseline="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645742358"/>
                  </a:ext>
                </a:extLst>
              </a:tr>
              <a:tr h="503911">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endPar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28600" indent="-228600" algn="ctr">
                        <a:buAutoNum type="alphaLcParenR"/>
                      </a:pPr>
                      <a:endParaRPr lang="en-AU" sz="1200" i="0" baseline="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28600" indent="-228600" algn="ctr" defTabSz="685800" rtl="0" eaLnBrk="1" latinLnBrk="0" hangingPunct="1">
                        <a:buFontTx/>
                        <a:buAutoNum type="alphaLcParenR"/>
                      </a:pPr>
                      <a:endParaRPr lang="en-AU" sz="1200" i="0" kern="1200" baseline="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339488017"/>
                  </a:ext>
                </a:extLst>
              </a:tr>
              <a:tr h="503911">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rPr>
                        <a:t>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endPar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28600" indent="-228600" algn="ctr">
                        <a:buAutoNum type="alphaLcParenR"/>
                      </a:pPr>
                      <a:endParaRPr lang="en-AU" sz="1200" i="0" baseline="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28600" indent="-228600" algn="ctr" defTabSz="685800" rtl="0" eaLnBrk="1" latinLnBrk="0" hangingPunct="1">
                        <a:buFontTx/>
                        <a:buAutoNum type="alphaLcParenR"/>
                      </a:pPr>
                      <a:endParaRPr lang="en-AU" sz="1200" i="0" kern="1200" baseline="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201633474"/>
                  </a:ext>
                </a:extLst>
              </a:tr>
            </a:tbl>
          </a:graphicData>
        </a:graphic>
      </p:graphicFrame>
      <p:sp>
        <p:nvSpPr>
          <p:cNvPr id="4" name="Title 1">
            <a:extLst>
              <a:ext uri="{FF2B5EF4-FFF2-40B4-BE49-F238E27FC236}">
                <a16:creationId xmlns:a16="http://schemas.microsoft.com/office/drawing/2014/main" id="{D8C182EB-ACBA-E746-28B0-D4C21B8FF75C}"/>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EHS KPI Escalations</a:t>
            </a:r>
            <a:endParaRPr lang="en-US" sz="2400" b="0" i="1" dirty="0"/>
          </a:p>
        </p:txBody>
      </p:sp>
    </p:spTree>
    <p:extLst>
      <p:ext uri="{BB962C8B-B14F-4D97-AF65-F5344CB8AC3E}">
        <p14:creationId xmlns:p14="http://schemas.microsoft.com/office/powerpoint/2010/main" val="22048150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337CF-1F1F-FA09-E63D-E4420F2DCB9E}"/>
            </a:ext>
          </a:extLst>
        </p:cNvPr>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3FC7EC49-E2FE-3D62-AEA3-DA3BA48C39FB}"/>
              </a:ext>
            </a:extLst>
          </p:cNvPr>
          <p:cNvGraphicFramePr>
            <a:graphicFrameLocks noGrp="1"/>
          </p:cNvGraphicFramePr>
          <p:nvPr>
            <p:extLst>
              <p:ext uri="{D42A27DB-BD31-4B8C-83A1-F6EECF244321}">
                <p14:modId xmlns:p14="http://schemas.microsoft.com/office/powerpoint/2010/main" val="3634565333"/>
              </p:ext>
            </p:extLst>
          </p:nvPr>
        </p:nvGraphicFramePr>
        <p:xfrm>
          <a:off x="681754" y="1493224"/>
          <a:ext cx="10950265" cy="5030905"/>
        </p:xfrm>
        <a:graphic>
          <a:graphicData uri="http://schemas.openxmlformats.org/drawingml/2006/table">
            <a:tbl>
              <a:tblPr firstRow="1" bandRow="1">
                <a:tableStyleId>{5C22544A-7EE6-4342-B048-85BDC9FD1C3A}</a:tableStyleId>
              </a:tblPr>
              <a:tblGrid>
                <a:gridCol w="731795">
                  <a:extLst>
                    <a:ext uri="{9D8B030D-6E8A-4147-A177-3AD203B41FA5}">
                      <a16:colId xmlns:a16="http://schemas.microsoft.com/office/drawing/2014/main" val="20000"/>
                    </a:ext>
                  </a:extLst>
                </a:gridCol>
                <a:gridCol w="5080598">
                  <a:extLst>
                    <a:ext uri="{9D8B030D-6E8A-4147-A177-3AD203B41FA5}">
                      <a16:colId xmlns:a16="http://schemas.microsoft.com/office/drawing/2014/main" val="20001"/>
                    </a:ext>
                  </a:extLst>
                </a:gridCol>
                <a:gridCol w="3434954">
                  <a:extLst>
                    <a:ext uri="{9D8B030D-6E8A-4147-A177-3AD203B41FA5}">
                      <a16:colId xmlns:a16="http://schemas.microsoft.com/office/drawing/2014/main" val="20004"/>
                    </a:ext>
                  </a:extLst>
                </a:gridCol>
                <a:gridCol w="1702918">
                  <a:extLst>
                    <a:ext uri="{9D8B030D-6E8A-4147-A177-3AD203B41FA5}">
                      <a16:colId xmlns:a16="http://schemas.microsoft.com/office/drawing/2014/main" val="20005"/>
                    </a:ext>
                  </a:extLst>
                </a:gridCol>
              </a:tblGrid>
              <a:tr h="449119">
                <a:tc>
                  <a:txBody>
                    <a:bodyPr/>
                    <a:lstStyle/>
                    <a:p>
                      <a:pPr algn="ctr"/>
                      <a:r>
                        <a:rPr lang="en-AU" sz="1200" dirty="0">
                          <a:solidFill>
                            <a:schemeClr val="bg2"/>
                          </a:solidFill>
                          <a:latin typeface="Tahoma" panose="020B0604030504040204" pitchFamily="34" charset="0"/>
                          <a:ea typeface="Tahoma" panose="020B0604030504040204" pitchFamily="34" charset="0"/>
                          <a:cs typeface="Tahoma" panose="020B0604030504040204" pitchFamily="34" charset="0"/>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249C"/>
                    </a:solidFill>
                  </a:tcPr>
                </a:tc>
                <a:tc>
                  <a:txBody>
                    <a:bodyPr/>
                    <a:lstStyle/>
                    <a:p>
                      <a:pPr algn="ctr"/>
                      <a:r>
                        <a:rPr lang="en-AU" sz="1200" dirty="0">
                          <a:solidFill>
                            <a:schemeClr val="bg2"/>
                          </a:solidFill>
                          <a:latin typeface="Tahoma" panose="020B0604030504040204" pitchFamily="34" charset="0"/>
                          <a:ea typeface="Tahoma" panose="020B0604030504040204" pitchFamily="34" charset="0"/>
                          <a:cs typeface="Tahoma" panose="020B0604030504040204" pitchFamily="34" charset="0"/>
                        </a:rPr>
                        <a:t>Objectives &amp; Targets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249C"/>
                    </a:solidFill>
                  </a:tcPr>
                </a:tc>
                <a:tc>
                  <a:txBody>
                    <a:bodyPr/>
                    <a:lstStyle/>
                    <a:p>
                      <a:pPr algn="ctr"/>
                      <a:r>
                        <a:rPr lang="en-AU" sz="1200" dirty="0">
                          <a:solidFill>
                            <a:schemeClr val="bg2"/>
                          </a:solidFill>
                          <a:latin typeface="Tahoma" panose="020B0604030504040204" pitchFamily="34" charset="0"/>
                          <a:ea typeface="Tahoma" panose="020B0604030504040204" pitchFamily="34" charset="0"/>
                          <a:cs typeface="Tahoma" panose="020B0604030504040204" pitchFamily="34" charset="0"/>
                        </a:rPr>
                        <a:t>Owner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249C"/>
                    </a:solidFill>
                  </a:tcPr>
                </a:tc>
                <a:tc>
                  <a:txBody>
                    <a:bodyPr/>
                    <a:lstStyle/>
                    <a:p>
                      <a:pPr algn="ctr"/>
                      <a:r>
                        <a:rPr lang="en-AU" sz="1200" dirty="0">
                          <a:solidFill>
                            <a:schemeClr val="bg2"/>
                          </a:solidFill>
                          <a:latin typeface="Tahoma" panose="020B0604030504040204" pitchFamily="34" charset="0"/>
                          <a:ea typeface="Tahoma" panose="020B0604030504040204" pitchFamily="34" charset="0"/>
                          <a:cs typeface="Tahoma" panose="020B0604030504040204" pitchFamily="34" charset="0"/>
                        </a:rPr>
                        <a:t>Status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249C"/>
                    </a:solidFill>
                  </a:tcPr>
                </a:tc>
                <a:extLst>
                  <a:ext uri="{0D108BD9-81ED-4DB2-BD59-A6C34878D82A}">
                    <a16:rowId xmlns:a16="http://schemas.microsoft.com/office/drawing/2014/main" val="10000"/>
                  </a:ext>
                </a:extLst>
              </a:tr>
              <a:tr h="503911">
                <a:tc>
                  <a:txBody>
                    <a:bodyPr/>
                    <a:lstStyle/>
                    <a:p>
                      <a:pPr algn="ctr"/>
                      <a:r>
                        <a:rPr lang="en-AU" sz="1200" i="0" dirty="0">
                          <a:latin typeface="Tahoma" panose="020B0604030504040204" pitchFamily="34" charset="0"/>
                          <a:ea typeface="Tahoma" panose="020B0604030504040204" pitchFamily="34" charset="0"/>
                          <a:cs typeface="Tahoma" panose="020B0604030504040204" pitchFamily="34" charset="0"/>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503911">
                <a:tc>
                  <a:txBody>
                    <a:bodyPr/>
                    <a:lstStyle/>
                    <a:p>
                      <a:pPr algn="ctr"/>
                      <a:r>
                        <a:rPr lang="en-AU" sz="1200" i="0" dirty="0">
                          <a:latin typeface="Tahoma" panose="020B0604030504040204" pitchFamily="34" charset="0"/>
                          <a:ea typeface="Tahoma" panose="020B0604030504040204" pitchFamily="34" charset="0"/>
                          <a:cs typeface="Tahoma" panose="020B0604030504040204" pitchFamily="34" charset="0"/>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701642089"/>
                  </a:ext>
                </a:extLst>
              </a:tr>
              <a:tr h="550498">
                <a:tc>
                  <a:txBody>
                    <a:bodyPr/>
                    <a:lstStyle/>
                    <a:p>
                      <a:pPr algn="ctr"/>
                      <a:r>
                        <a:rPr lang="en-AU" sz="1200" i="0" dirty="0">
                          <a:latin typeface="Tahoma" panose="020B0604030504040204" pitchFamily="34" charset="0"/>
                          <a:ea typeface="Tahoma" panose="020B0604030504040204" pitchFamily="34" charset="0"/>
                          <a:cs typeface="Tahoma" panose="020B0604030504040204" pitchFamily="34" charset="0"/>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503911">
                <a:tc>
                  <a:txBody>
                    <a:bodyPr/>
                    <a:lstStyle/>
                    <a:p>
                      <a:pPr algn="ctr"/>
                      <a:r>
                        <a:rPr lang="en-AU" sz="1200" i="0" dirty="0">
                          <a:latin typeface="Tahoma" panose="020B0604030504040204" pitchFamily="34" charset="0"/>
                          <a:ea typeface="Tahoma" panose="020B0604030504040204" pitchFamily="34" charset="0"/>
                          <a:cs typeface="Tahoma" panose="020B0604030504040204" pitchFamily="34" charset="0"/>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l" defTabSz="685800" rtl="0" eaLnBrk="1" fontAlgn="auto" latinLnBrk="0" hangingPunct="1">
                        <a:lnSpc>
                          <a:spcPct val="100000"/>
                        </a:lnSpc>
                        <a:spcBef>
                          <a:spcPts val="0"/>
                        </a:spcBef>
                        <a:spcAft>
                          <a:spcPts val="0"/>
                        </a:spcAft>
                        <a:buClrTx/>
                        <a:buSzTx/>
                        <a:buFontTx/>
                        <a:buNone/>
                        <a:tabLst/>
                        <a:defRPr/>
                      </a:pPr>
                      <a:endParaRPr lang="en-US"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l" defTabSz="685800" rtl="0" eaLnBrk="1" fontAlgn="auto" latinLnBrk="0" hangingPunct="1">
                        <a:lnSpc>
                          <a:spcPct val="100000"/>
                        </a:lnSpc>
                        <a:spcBef>
                          <a:spcPts val="0"/>
                        </a:spcBef>
                        <a:spcAft>
                          <a:spcPts val="0"/>
                        </a:spcAft>
                        <a:buClrTx/>
                        <a:buSzTx/>
                        <a:buFontTx/>
                        <a:buNone/>
                        <a:tabLst/>
                        <a:defRPr/>
                      </a:pPr>
                      <a:endPar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03911">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l" defTabSz="685800" rtl="0" eaLnBrk="1" fontAlgn="auto" latinLnBrk="0" hangingPunct="1">
                        <a:lnSpc>
                          <a:spcPct val="100000"/>
                        </a:lnSpc>
                        <a:spcBef>
                          <a:spcPts val="0"/>
                        </a:spcBef>
                        <a:spcAft>
                          <a:spcPts val="0"/>
                        </a:spcAft>
                        <a:buClrTx/>
                        <a:buSzTx/>
                        <a:buFontTx/>
                        <a:buNone/>
                        <a:tabLst/>
                        <a:defRPr/>
                      </a:pPr>
                      <a:endPar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503911">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l" defTabSz="685800" rtl="0" eaLnBrk="1" fontAlgn="auto" latinLnBrk="0" hangingPunct="1">
                        <a:lnSpc>
                          <a:spcPct val="100000"/>
                        </a:lnSpc>
                        <a:spcBef>
                          <a:spcPts val="0"/>
                        </a:spcBef>
                        <a:spcAft>
                          <a:spcPts val="0"/>
                        </a:spcAft>
                        <a:buClrTx/>
                        <a:buSzTx/>
                        <a:buFontTx/>
                        <a:buNone/>
                        <a:tabLst/>
                        <a:defRPr/>
                      </a:pPr>
                      <a:endPar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017612683"/>
                  </a:ext>
                </a:extLst>
              </a:tr>
              <a:tr h="503911">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rPr>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l" defTabSz="685800" rtl="0" eaLnBrk="1" fontAlgn="auto" latinLnBrk="0" hangingPunct="1">
                        <a:lnSpc>
                          <a:spcPct val="100000"/>
                        </a:lnSpc>
                        <a:spcBef>
                          <a:spcPts val="0"/>
                        </a:spcBef>
                        <a:spcAft>
                          <a:spcPts val="0"/>
                        </a:spcAft>
                        <a:buClrTx/>
                        <a:buSzTx/>
                        <a:buFontTx/>
                        <a:buNone/>
                        <a:tabLst/>
                        <a:defRPr/>
                      </a:pPr>
                      <a:endPar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645742358"/>
                  </a:ext>
                </a:extLst>
              </a:tr>
              <a:tr h="503911">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l" defTabSz="685800" rtl="0" eaLnBrk="1" fontAlgn="auto" latinLnBrk="0" hangingPunct="1">
                        <a:lnSpc>
                          <a:spcPct val="100000"/>
                        </a:lnSpc>
                        <a:spcBef>
                          <a:spcPts val="0"/>
                        </a:spcBef>
                        <a:spcAft>
                          <a:spcPts val="0"/>
                        </a:spcAft>
                        <a:buClrTx/>
                        <a:buSzTx/>
                        <a:buFontTx/>
                        <a:buNone/>
                        <a:tabLst/>
                        <a:defRPr/>
                      </a:pPr>
                      <a:endPar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339488017"/>
                  </a:ext>
                </a:extLst>
              </a:tr>
              <a:tr h="503911">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rPr>
                        <a:t>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l" defTabSz="685800" rtl="0" eaLnBrk="1" fontAlgn="auto" latinLnBrk="0" hangingPunct="1">
                        <a:lnSpc>
                          <a:spcPct val="100000"/>
                        </a:lnSpc>
                        <a:spcBef>
                          <a:spcPts val="0"/>
                        </a:spcBef>
                        <a:spcAft>
                          <a:spcPts val="0"/>
                        </a:spcAft>
                        <a:buClrTx/>
                        <a:buSzTx/>
                        <a:buFontTx/>
                        <a:buNone/>
                        <a:tabLst/>
                        <a:defRPr/>
                      </a:pPr>
                      <a:endParaRPr lang="en-AU" sz="1200" i="0" kern="1200" dirty="0">
                        <a:solidFill>
                          <a:schemeClr val="dk1"/>
                        </a:solidFill>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endParaRPr lang="en-AU" sz="1200" i="0" dirty="0">
                        <a:latin typeface="Tahoma" panose="020B0604030504040204" pitchFamily="34" charset="0"/>
                        <a:ea typeface="Tahoma" panose="020B0604030504040204" pitchFamily="34" charset="0"/>
                        <a:cs typeface="Tahoma" panose="020B060403050404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201633474"/>
                  </a:ext>
                </a:extLst>
              </a:tr>
            </a:tbl>
          </a:graphicData>
        </a:graphic>
      </p:graphicFrame>
      <p:sp>
        <p:nvSpPr>
          <p:cNvPr id="2" name="Title 1">
            <a:extLst>
              <a:ext uri="{FF2B5EF4-FFF2-40B4-BE49-F238E27FC236}">
                <a16:creationId xmlns:a16="http://schemas.microsoft.com/office/drawing/2014/main" id="{46E0A4FE-E241-6846-D43C-4D4A87A2119F}"/>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Objectives &amp; Targets</a:t>
            </a:r>
            <a:endParaRPr lang="en-US" sz="2400" b="0" dirty="0"/>
          </a:p>
        </p:txBody>
      </p:sp>
    </p:spTree>
    <p:extLst>
      <p:ext uri="{BB962C8B-B14F-4D97-AF65-F5344CB8AC3E}">
        <p14:creationId xmlns:p14="http://schemas.microsoft.com/office/powerpoint/2010/main" val="10092082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972FA0C5-68CA-1F7A-329F-25954BD4AA58}"/>
              </a:ext>
            </a:extLst>
          </p:cNvPr>
          <p:cNvGraphicFramePr>
            <a:graphicFrameLocks noGrp="1"/>
          </p:cNvGraphicFramePr>
          <p:nvPr>
            <p:extLst>
              <p:ext uri="{D42A27DB-BD31-4B8C-83A1-F6EECF244321}">
                <p14:modId xmlns:p14="http://schemas.microsoft.com/office/powerpoint/2010/main" val="3348409341"/>
              </p:ext>
            </p:extLst>
          </p:nvPr>
        </p:nvGraphicFramePr>
        <p:xfrm>
          <a:off x="982552" y="1775382"/>
          <a:ext cx="10588156" cy="1942788"/>
        </p:xfrm>
        <a:graphic>
          <a:graphicData uri="http://schemas.openxmlformats.org/drawingml/2006/table">
            <a:tbl>
              <a:tblPr firstRow="1" firstCol="1" bandRow="1">
                <a:tableStyleId>{5C22544A-7EE6-4342-B048-85BDC9FD1C3A}</a:tableStyleId>
              </a:tblPr>
              <a:tblGrid>
                <a:gridCol w="1614967">
                  <a:extLst>
                    <a:ext uri="{9D8B030D-6E8A-4147-A177-3AD203B41FA5}">
                      <a16:colId xmlns:a16="http://schemas.microsoft.com/office/drawing/2014/main" val="267126128"/>
                    </a:ext>
                  </a:extLst>
                </a:gridCol>
                <a:gridCol w="1304307">
                  <a:extLst>
                    <a:ext uri="{9D8B030D-6E8A-4147-A177-3AD203B41FA5}">
                      <a16:colId xmlns:a16="http://schemas.microsoft.com/office/drawing/2014/main" val="2312495194"/>
                    </a:ext>
                  </a:extLst>
                </a:gridCol>
                <a:gridCol w="514454">
                  <a:extLst>
                    <a:ext uri="{9D8B030D-6E8A-4147-A177-3AD203B41FA5}">
                      <a16:colId xmlns:a16="http://schemas.microsoft.com/office/drawing/2014/main" val="1909063678"/>
                    </a:ext>
                  </a:extLst>
                </a:gridCol>
                <a:gridCol w="598175">
                  <a:extLst>
                    <a:ext uri="{9D8B030D-6E8A-4147-A177-3AD203B41FA5}">
                      <a16:colId xmlns:a16="http://schemas.microsoft.com/office/drawing/2014/main" val="181318704"/>
                    </a:ext>
                  </a:extLst>
                </a:gridCol>
                <a:gridCol w="807117">
                  <a:extLst>
                    <a:ext uri="{9D8B030D-6E8A-4147-A177-3AD203B41FA5}">
                      <a16:colId xmlns:a16="http://schemas.microsoft.com/office/drawing/2014/main" val="2938590176"/>
                    </a:ext>
                  </a:extLst>
                </a:gridCol>
                <a:gridCol w="907915">
                  <a:extLst>
                    <a:ext uri="{9D8B030D-6E8A-4147-A177-3AD203B41FA5}">
                      <a16:colId xmlns:a16="http://schemas.microsoft.com/office/drawing/2014/main" val="4044964417"/>
                    </a:ext>
                  </a:extLst>
                </a:gridCol>
                <a:gridCol w="907915">
                  <a:extLst>
                    <a:ext uri="{9D8B030D-6E8A-4147-A177-3AD203B41FA5}">
                      <a16:colId xmlns:a16="http://schemas.microsoft.com/office/drawing/2014/main" val="2189517649"/>
                    </a:ext>
                  </a:extLst>
                </a:gridCol>
                <a:gridCol w="807117">
                  <a:extLst>
                    <a:ext uri="{9D8B030D-6E8A-4147-A177-3AD203B41FA5}">
                      <a16:colId xmlns:a16="http://schemas.microsoft.com/office/drawing/2014/main" val="3096307282"/>
                    </a:ext>
                  </a:extLst>
                </a:gridCol>
                <a:gridCol w="605520">
                  <a:extLst>
                    <a:ext uri="{9D8B030D-6E8A-4147-A177-3AD203B41FA5}">
                      <a16:colId xmlns:a16="http://schemas.microsoft.com/office/drawing/2014/main" val="3738023914"/>
                    </a:ext>
                  </a:extLst>
                </a:gridCol>
                <a:gridCol w="705581">
                  <a:extLst>
                    <a:ext uri="{9D8B030D-6E8A-4147-A177-3AD203B41FA5}">
                      <a16:colId xmlns:a16="http://schemas.microsoft.com/office/drawing/2014/main" val="1786499302"/>
                    </a:ext>
                  </a:extLst>
                </a:gridCol>
                <a:gridCol w="705581">
                  <a:extLst>
                    <a:ext uri="{9D8B030D-6E8A-4147-A177-3AD203B41FA5}">
                      <a16:colId xmlns:a16="http://schemas.microsoft.com/office/drawing/2014/main" val="4078665005"/>
                    </a:ext>
                  </a:extLst>
                </a:gridCol>
                <a:gridCol w="1109507">
                  <a:extLst>
                    <a:ext uri="{9D8B030D-6E8A-4147-A177-3AD203B41FA5}">
                      <a16:colId xmlns:a16="http://schemas.microsoft.com/office/drawing/2014/main" val="660868037"/>
                    </a:ext>
                  </a:extLst>
                </a:gridCol>
              </a:tblGrid>
              <a:tr h="331373">
                <a:tc rowSpan="2">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Campus</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rowSpan="2">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General Waste (KG)</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gridSpan="9">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Recyclable Waste (KG)</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rowSpan="2">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Hazardous / Medical Waste (KG)</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extLst>
                  <a:ext uri="{0D108BD9-81ED-4DB2-BD59-A6C34878D82A}">
                    <a16:rowId xmlns:a16="http://schemas.microsoft.com/office/drawing/2014/main" val="2003571986"/>
                  </a:ext>
                </a:extLst>
              </a:tr>
              <a:tr h="637295">
                <a:tc vMerge="1">
                  <a:txBody>
                    <a:bodyPr/>
                    <a:lstStyle/>
                    <a:p>
                      <a:endParaRPr lang="en-US"/>
                    </a:p>
                  </a:txBody>
                  <a:tcPr/>
                </a:tc>
                <a:tc vMerge="1">
                  <a:txBody>
                    <a:bodyPr/>
                    <a:lstStyle/>
                    <a:p>
                      <a:endParaRPr lang="en-US"/>
                    </a:p>
                  </a:txBody>
                  <a:tcPr/>
                </a:tc>
                <a:tc>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Food Waste</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Paper Waste</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Aluminum</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Pet Bottle</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Paper Cup/Carton</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Single Use Plastic</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Tissue</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Scrap Metal</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E-waste</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vMerge="1">
                  <a:txBody>
                    <a:bodyPr/>
                    <a:lstStyle/>
                    <a:p>
                      <a:endParaRPr lang="en-US"/>
                    </a:p>
                  </a:txBody>
                  <a:tcPr/>
                </a:tc>
                <a:extLst>
                  <a:ext uri="{0D108BD9-81ED-4DB2-BD59-A6C34878D82A}">
                    <a16:rowId xmlns:a16="http://schemas.microsoft.com/office/drawing/2014/main" val="1141240207"/>
                  </a:ext>
                </a:extLst>
              </a:tr>
              <a:tr h="487060">
                <a:tc>
                  <a:txBody>
                    <a:bodyPr/>
                    <a:lstStyle/>
                    <a:p>
                      <a:pPr marL="0" marR="0" algn="just">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Baniyas Campus A</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368.82</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496</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48</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2</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367798906"/>
                  </a:ext>
                </a:extLst>
              </a:tr>
              <a:tr h="487060">
                <a:tc>
                  <a:txBody>
                    <a:bodyPr/>
                    <a:lstStyle/>
                    <a:p>
                      <a:pPr marL="0" marR="0" algn="just">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Baniyas Campus B</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798.4</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2</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803327792"/>
                  </a:ext>
                </a:extLst>
              </a:tr>
            </a:tbl>
          </a:graphicData>
        </a:graphic>
      </p:graphicFrame>
      <p:sp>
        <p:nvSpPr>
          <p:cNvPr id="6" name="Shape 4">
            <a:extLst>
              <a:ext uri="{FF2B5EF4-FFF2-40B4-BE49-F238E27FC236}">
                <a16:creationId xmlns:a16="http://schemas.microsoft.com/office/drawing/2014/main" id="{AECC8FCF-8954-1C7D-BAE9-ECAE5B111B38}"/>
              </a:ext>
            </a:extLst>
          </p:cNvPr>
          <p:cNvSpPr/>
          <p:nvPr/>
        </p:nvSpPr>
        <p:spPr>
          <a:xfrm>
            <a:off x="982552" y="3951303"/>
            <a:ext cx="2103120" cy="960120"/>
          </a:xfrm>
          <a:prstGeom prst="roundRect">
            <a:avLst>
              <a:gd name="adj" fmla="val 7619"/>
            </a:avLst>
          </a:prstGeom>
          <a:solidFill>
            <a:srgbClr val="FFFFFF"/>
          </a:solidFill>
          <a:ln w="8890">
            <a:solidFill>
              <a:srgbClr val="DDE6F3"/>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7" name="Shape 5">
            <a:extLst>
              <a:ext uri="{FF2B5EF4-FFF2-40B4-BE49-F238E27FC236}">
                <a16:creationId xmlns:a16="http://schemas.microsoft.com/office/drawing/2014/main" id="{5272BDB8-4990-C17F-2598-6FD107AE9C0D}"/>
              </a:ext>
            </a:extLst>
          </p:cNvPr>
          <p:cNvSpPr/>
          <p:nvPr/>
        </p:nvSpPr>
        <p:spPr>
          <a:xfrm>
            <a:off x="982552" y="3951303"/>
            <a:ext cx="73152" cy="960120"/>
          </a:xfrm>
          <a:prstGeom prst="rect">
            <a:avLst/>
          </a:prstGeom>
          <a:solidFill>
            <a:srgbClr val="1E5AA8"/>
          </a:solidFill>
          <a:ln w="12700">
            <a:solidFill>
              <a:srgbClr val="1E5AA8"/>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8" name="Text 6">
            <a:extLst>
              <a:ext uri="{FF2B5EF4-FFF2-40B4-BE49-F238E27FC236}">
                <a16:creationId xmlns:a16="http://schemas.microsoft.com/office/drawing/2014/main" id="{A3490BA1-7F6C-3D99-7755-B156726C385F}"/>
              </a:ext>
            </a:extLst>
          </p:cNvPr>
          <p:cNvSpPr/>
          <p:nvPr/>
        </p:nvSpPr>
        <p:spPr>
          <a:xfrm>
            <a:off x="1183720" y="4097607"/>
            <a:ext cx="1783080" cy="201168"/>
          </a:xfrm>
          <a:prstGeom prst="rect">
            <a:avLst/>
          </a:prstGeom>
          <a:noFill/>
          <a:ln/>
        </p:spPr>
        <p:txBody>
          <a:bodyPr wrap="square" lIns="0" tIns="0" rIns="0" bIns="0" rtlCol="0" anchor="ctr">
            <a:normAutofit/>
          </a:bodyPr>
          <a:lstStyle/>
          <a:p>
            <a:pPr marL="0" indent="0">
              <a:buNone/>
            </a:pPr>
            <a:r>
              <a:rPr lang="en-US" sz="850" b="1" dirty="0">
                <a:solidFill>
                  <a:srgbClr val="6B7280"/>
                </a:solidFill>
                <a:latin typeface="Tahoma" panose="020B0604030504040204" pitchFamily="34" charset="0"/>
                <a:ea typeface="Tahoma" panose="020B0604030504040204" pitchFamily="34" charset="0"/>
                <a:cs typeface="Tahoma" panose="020B0604030504040204" pitchFamily="34" charset="0"/>
              </a:rPr>
              <a:t>Baniyas Campus A Total Waste</a:t>
            </a:r>
            <a:endParaRPr lang="en-US" sz="850" dirty="0">
              <a:latin typeface="Tahoma" panose="020B0604030504040204" pitchFamily="34" charset="0"/>
              <a:ea typeface="Tahoma" panose="020B0604030504040204" pitchFamily="34" charset="0"/>
              <a:cs typeface="Tahoma" panose="020B0604030504040204" pitchFamily="34" charset="0"/>
            </a:endParaRPr>
          </a:p>
        </p:txBody>
      </p:sp>
      <p:sp>
        <p:nvSpPr>
          <p:cNvPr id="9" name="Text 7">
            <a:extLst>
              <a:ext uri="{FF2B5EF4-FFF2-40B4-BE49-F238E27FC236}">
                <a16:creationId xmlns:a16="http://schemas.microsoft.com/office/drawing/2014/main" id="{DFDA3EFA-9F11-4D21-195C-BFCF6FB8609A}"/>
              </a:ext>
            </a:extLst>
          </p:cNvPr>
          <p:cNvSpPr/>
          <p:nvPr/>
        </p:nvSpPr>
        <p:spPr>
          <a:xfrm>
            <a:off x="1183720" y="4362783"/>
            <a:ext cx="1783080" cy="384048"/>
          </a:xfrm>
          <a:prstGeom prst="rect">
            <a:avLst/>
          </a:prstGeom>
          <a:noFill/>
          <a:ln/>
        </p:spPr>
        <p:txBody>
          <a:bodyPr wrap="square" lIns="0" tIns="0" rIns="0" bIns="0" rtlCol="0" anchor="ctr"/>
          <a:lstStyle/>
          <a:p>
            <a:pPr marL="0" indent="0">
              <a:buNone/>
            </a:pPr>
            <a:r>
              <a:rPr lang="en-US" sz="2400" b="1" dirty="0">
                <a:solidFill>
                  <a:srgbClr val="1E5AA8"/>
                </a:solidFill>
                <a:latin typeface="Tahoma" panose="020B0604030504040204" pitchFamily="34" charset="0"/>
                <a:ea typeface="Tahoma" panose="020B0604030504040204" pitchFamily="34" charset="0"/>
                <a:cs typeface="Tahoma" panose="020B0604030504040204" pitchFamily="34" charset="0"/>
              </a:rPr>
              <a:t>914.82 kg</a:t>
            </a:r>
            <a:endParaRPr lang="en-US" sz="2400" dirty="0">
              <a:latin typeface="Tahoma" panose="020B0604030504040204" pitchFamily="34" charset="0"/>
              <a:ea typeface="Tahoma" panose="020B0604030504040204" pitchFamily="34" charset="0"/>
              <a:cs typeface="Tahoma" panose="020B0604030504040204" pitchFamily="34" charset="0"/>
            </a:endParaRPr>
          </a:p>
        </p:txBody>
      </p:sp>
      <p:sp>
        <p:nvSpPr>
          <p:cNvPr id="10" name="Text 8">
            <a:extLst>
              <a:ext uri="{FF2B5EF4-FFF2-40B4-BE49-F238E27FC236}">
                <a16:creationId xmlns:a16="http://schemas.microsoft.com/office/drawing/2014/main" id="{D0B6CF27-2397-A9B0-3597-2CD3B247BD2F}"/>
              </a:ext>
            </a:extLst>
          </p:cNvPr>
          <p:cNvSpPr/>
          <p:nvPr/>
        </p:nvSpPr>
        <p:spPr>
          <a:xfrm>
            <a:off x="1183720" y="4704063"/>
            <a:ext cx="1783080" cy="228600"/>
          </a:xfrm>
          <a:prstGeom prst="rect">
            <a:avLst/>
          </a:prstGeom>
          <a:noFill/>
          <a:ln/>
        </p:spPr>
        <p:txBody>
          <a:bodyPr wrap="square" lIns="0" tIns="0" rIns="0" bIns="0" rtlCol="0" anchor="ctr">
            <a:normAutofit/>
          </a:bodyPr>
          <a:lstStyle/>
          <a:p>
            <a:pPr marL="0" indent="0">
              <a:buNone/>
            </a:pPr>
            <a:r>
              <a:rPr lang="en-US" sz="800" dirty="0">
                <a:solidFill>
                  <a:srgbClr val="6B7280"/>
                </a:solidFill>
                <a:latin typeface="Tahoma" panose="020B0604030504040204" pitchFamily="34" charset="0"/>
                <a:ea typeface="Tahoma" panose="020B0604030504040204" pitchFamily="34" charset="0"/>
                <a:cs typeface="Tahoma" panose="020B0604030504040204" pitchFamily="34" charset="0"/>
              </a:rPr>
              <a:t>Recyclable: 544 kg</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11" name="Shape 9">
            <a:extLst>
              <a:ext uri="{FF2B5EF4-FFF2-40B4-BE49-F238E27FC236}">
                <a16:creationId xmlns:a16="http://schemas.microsoft.com/office/drawing/2014/main" id="{A56B1FF3-0BFF-2D1B-24BF-354B5E868FCC}"/>
              </a:ext>
            </a:extLst>
          </p:cNvPr>
          <p:cNvSpPr/>
          <p:nvPr/>
        </p:nvSpPr>
        <p:spPr>
          <a:xfrm>
            <a:off x="3268552" y="3951303"/>
            <a:ext cx="2103120" cy="960120"/>
          </a:xfrm>
          <a:prstGeom prst="roundRect">
            <a:avLst>
              <a:gd name="adj" fmla="val 7619"/>
            </a:avLst>
          </a:prstGeom>
          <a:solidFill>
            <a:srgbClr val="FFFFFF"/>
          </a:solidFill>
          <a:ln w="8890">
            <a:solidFill>
              <a:srgbClr val="DDE6F3"/>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12" name="Shape 10">
            <a:extLst>
              <a:ext uri="{FF2B5EF4-FFF2-40B4-BE49-F238E27FC236}">
                <a16:creationId xmlns:a16="http://schemas.microsoft.com/office/drawing/2014/main" id="{8B642FC2-4092-2E76-FFD8-899DA8188FE5}"/>
              </a:ext>
            </a:extLst>
          </p:cNvPr>
          <p:cNvSpPr/>
          <p:nvPr/>
        </p:nvSpPr>
        <p:spPr>
          <a:xfrm>
            <a:off x="3268552" y="3951303"/>
            <a:ext cx="73152" cy="960120"/>
          </a:xfrm>
          <a:prstGeom prst="rect">
            <a:avLst/>
          </a:prstGeom>
          <a:solidFill>
            <a:srgbClr val="F6B900"/>
          </a:solidFill>
          <a:ln w="12700">
            <a:solidFill>
              <a:srgbClr val="F6B900"/>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13" name="Text 11">
            <a:extLst>
              <a:ext uri="{FF2B5EF4-FFF2-40B4-BE49-F238E27FC236}">
                <a16:creationId xmlns:a16="http://schemas.microsoft.com/office/drawing/2014/main" id="{36D9AE7B-5B4F-4577-C8FA-542A903811AA}"/>
              </a:ext>
            </a:extLst>
          </p:cNvPr>
          <p:cNvSpPr/>
          <p:nvPr/>
        </p:nvSpPr>
        <p:spPr>
          <a:xfrm>
            <a:off x="3469720" y="4097607"/>
            <a:ext cx="1783080" cy="201168"/>
          </a:xfrm>
          <a:prstGeom prst="rect">
            <a:avLst/>
          </a:prstGeom>
          <a:noFill/>
          <a:ln/>
        </p:spPr>
        <p:txBody>
          <a:bodyPr wrap="square" lIns="0" tIns="0" rIns="0" bIns="0" rtlCol="0" anchor="ctr">
            <a:normAutofit/>
          </a:bodyPr>
          <a:lstStyle/>
          <a:p>
            <a:pPr marL="0" indent="0">
              <a:buNone/>
            </a:pPr>
            <a:r>
              <a:rPr lang="en-US" sz="850" b="1" dirty="0">
                <a:solidFill>
                  <a:srgbClr val="6B7280"/>
                </a:solidFill>
                <a:latin typeface="Tahoma" panose="020B0604030504040204" pitchFamily="34" charset="0"/>
                <a:ea typeface="Tahoma" panose="020B0604030504040204" pitchFamily="34" charset="0"/>
                <a:cs typeface="Tahoma" panose="020B0604030504040204" pitchFamily="34" charset="0"/>
              </a:rPr>
              <a:t>Baniyas Campus A Recycling</a:t>
            </a:r>
            <a:endParaRPr lang="en-US" sz="850" dirty="0">
              <a:latin typeface="Tahoma" panose="020B0604030504040204" pitchFamily="34" charset="0"/>
              <a:ea typeface="Tahoma" panose="020B0604030504040204" pitchFamily="34" charset="0"/>
              <a:cs typeface="Tahoma" panose="020B0604030504040204" pitchFamily="34" charset="0"/>
            </a:endParaRPr>
          </a:p>
        </p:txBody>
      </p:sp>
      <p:sp>
        <p:nvSpPr>
          <p:cNvPr id="14" name="Text 12">
            <a:extLst>
              <a:ext uri="{FF2B5EF4-FFF2-40B4-BE49-F238E27FC236}">
                <a16:creationId xmlns:a16="http://schemas.microsoft.com/office/drawing/2014/main" id="{993BD8A7-0A6E-C2C1-26D4-B4313C999EA6}"/>
              </a:ext>
            </a:extLst>
          </p:cNvPr>
          <p:cNvSpPr/>
          <p:nvPr/>
        </p:nvSpPr>
        <p:spPr>
          <a:xfrm>
            <a:off x="3469720" y="4362783"/>
            <a:ext cx="1783080" cy="384048"/>
          </a:xfrm>
          <a:prstGeom prst="rect">
            <a:avLst/>
          </a:prstGeom>
          <a:noFill/>
          <a:ln/>
        </p:spPr>
        <p:txBody>
          <a:bodyPr wrap="square" lIns="0" tIns="0" rIns="0" bIns="0" rtlCol="0" anchor="ctr"/>
          <a:lstStyle/>
          <a:p>
            <a:pPr marL="0" indent="0">
              <a:buNone/>
            </a:pPr>
            <a:r>
              <a:rPr lang="en-US" sz="2400" b="1" dirty="0">
                <a:solidFill>
                  <a:srgbClr val="F6B900"/>
                </a:solidFill>
                <a:latin typeface="Tahoma" panose="020B0604030504040204" pitchFamily="34" charset="0"/>
                <a:ea typeface="Tahoma" panose="020B0604030504040204" pitchFamily="34" charset="0"/>
                <a:cs typeface="Tahoma" panose="020B0604030504040204" pitchFamily="34" charset="0"/>
              </a:rPr>
              <a:t>59.4%</a:t>
            </a:r>
            <a:endParaRPr lang="en-US" sz="2400" dirty="0">
              <a:latin typeface="Tahoma" panose="020B0604030504040204" pitchFamily="34" charset="0"/>
              <a:ea typeface="Tahoma" panose="020B0604030504040204" pitchFamily="34" charset="0"/>
              <a:cs typeface="Tahoma" panose="020B0604030504040204" pitchFamily="34" charset="0"/>
            </a:endParaRPr>
          </a:p>
        </p:txBody>
      </p:sp>
      <p:sp>
        <p:nvSpPr>
          <p:cNvPr id="16" name="Shape 14">
            <a:extLst>
              <a:ext uri="{FF2B5EF4-FFF2-40B4-BE49-F238E27FC236}">
                <a16:creationId xmlns:a16="http://schemas.microsoft.com/office/drawing/2014/main" id="{818C1B5B-185F-4C1C-515A-9448AD8C1B07}"/>
              </a:ext>
            </a:extLst>
          </p:cNvPr>
          <p:cNvSpPr/>
          <p:nvPr/>
        </p:nvSpPr>
        <p:spPr>
          <a:xfrm>
            <a:off x="982552" y="5289561"/>
            <a:ext cx="2103120" cy="960120"/>
          </a:xfrm>
          <a:prstGeom prst="roundRect">
            <a:avLst>
              <a:gd name="adj" fmla="val 7619"/>
            </a:avLst>
          </a:prstGeom>
          <a:solidFill>
            <a:srgbClr val="FFFFFF"/>
          </a:solidFill>
          <a:ln w="8890">
            <a:solidFill>
              <a:srgbClr val="DDE6F3"/>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17" name="Shape 15">
            <a:extLst>
              <a:ext uri="{FF2B5EF4-FFF2-40B4-BE49-F238E27FC236}">
                <a16:creationId xmlns:a16="http://schemas.microsoft.com/office/drawing/2014/main" id="{E19C2B99-3822-4E0C-B396-01558B768CFA}"/>
              </a:ext>
            </a:extLst>
          </p:cNvPr>
          <p:cNvSpPr/>
          <p:nvPr/>
        </p:nvSpPr>
        <p:spPr>
          <a:xfrm>
            <a:off x="982552" y="5289561"/>
            <a:ext cx="73152" cy="960120"/>
          </a:xfrm>
          <a:prstGeom prst="rect">
            <a:avLst/>
          </a:prstGeom>
          <a:solidFill>
            <a:srgbClr val="00249C"/>
          </a:solidFill>
          <a:ln w="12700">
            <a:solidFill>
              <a:srgbClr val="00249C"/>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18" name="Text 16">
            <a:extLst>
              <a:ext uri="{FF2B5EF4-FFF2-40B4-BE49-F238E27FC236}">
                <a16:creationId xmlns:a16="http://schemas.microsoft.com/office/drawing/2014/main" id="{85924719-DC83-C69F-A638-3B10F76FF835}"/>
              </a:ext>
            </a:extLst>
          </p:cNvPr>
          <p:cNvSpPr/>
          <p:nvPr/>
        </p:nvSpPr>
        <p:spPr>
          <a:xfrm>
            <a:off x="1183720" y="5435865"/>
            <a:ext cx="1783080" cy="201168"/>
          </a:xfrm>
          <a:prstGeom prst="rect">
            <a:avLst/>
          </a:prstGeom>
          <a:noFill/>
          <a:ln/>
        </p:spPr>
        <p:txBody>
          <a:bodyPr wrap="square" lIns="0" tIns="0" rIns="0" bIns="0" rtlCol="0" anchor="ctr">
            <a:normAutofit/>
          </a:bodyPr>
          <a:lstStyle/>
          <a:p>
            <a:pPr marL="0" indent="0">
              <a:buNone/>
            </a:pPr>
            <a:r>
              <a:rPr lang="en-US" sz="850" b="1" dirty="0">
                <a:solidFill>
                  <a:srgbClr val="6B7280"/>
                </a:solidFill>
                <a:latin typeface="Tahoma" panose="020B0604030504040204" pitchFamily="34" charset="0"/>
                <a:ea typeface="Tahoma" panose="020B0604030504040204" pitchFamily="34" charset="0"/>
                <a:cs typeface="Tahoma" panose="020B0604030504040204" pitchFamily="34" charset="0"/>
              </a:rPr>
              <a:t>Baniyas Campus B Total Waste</a:t>
            </a:r>
            <a:endParaRPr lang="en-US" sz="850" dirty="0">
              <a:latin typeface="Tahoma" panose="020B0604030504040204" pitchFamily="34" charset="0"/>
              <a:ea typeface="Tahoma" panose="020B0604030504040204" pitchFamily="34" charset="0"/>
              <a:cs typeface="Tahoma" panose="020B0604030504040204" pitchFamily="34" charset="0"/>
            </a:endParaRPr>
          </a:p>
        </p:txBody>
      </p:sp>
      <p:sp>
        <p:nvSpPr>
          <p:cNvPr id="19" name="Text 17">
            <a:extLst>
              <a:ext uri="{FF2B5EF4-FFF2-40B4-BE49-F238E27FC236}">
                <a16:creationId xmlns:a16="http://schemas.microsoft.com/office/drawing/2014/main" id="{7A4374A9-2FEA-1DC1-BC90-83F946A917DC}"/>
              </a:ext>
            </a:extLst>
          </p:cNvPr>
          <p:cNvSpPr/>
          <p:nvPr/>
        </p:nvSpPr>
        <p:spPr>
          <a:xfrm>
            <a:off x="1183720" y="5701041"/>
            <a:ext cx="1783080" cy="384048"/>
          </a:xfrm>
          <a:prstGeom prst="rect">
            <a:avLst/>
          </a:prstGeom>
          <a:noFill/>
          <a:ln>
            <a:noFill/>
          </a:ln>
        </p:spPr>
        <p:txBody>
          <a:bodyPr wrap="square" lIns="0" tIns="0" rIns="0" bIns="0" rtlCol="0" anchor="ctr"/>
          <a:lstStyle/>
          <a:p>
            <a:pPr marL="0" indent="0">
              <a:buNone/>
            </a:pPr>
            <a:r>
              <a:rPr lang="en-US" sz="2400" b="1" dirty="0">
                <a:solidFill>
                  <a:srgbClr val="00249C"/>
                </a:solidFill>
                <a:latin typeface="Tahoma" panose="020B0604030504040204" pitchFamily="34" charset="0"/>
                <a:ea typeface="Tahoma" panose="020B0604030504040204" pitchFamily="34" charset="0"/>
                <a:cs typeface="Tahoma" panose="020B0604030504040204" pitchFamily="34" charset="0"/>
              </a:rPr>
              <a:t>800.4 kg</a:t>
            </a:r>
            <a:endParaRPr lang="en-US" sz="2400" dirty="0">
              <a:solidFill>
                <a:srgbClr val="00249C"/>
              </a:solidFill>
              <a:latin typeface="Tahoma" panose="020B0604030504040204" pitchFamily="34" charset="0"/>
              <a:ea typeface="Tahoma" panose="020B0604030504040204" pitchFamily="34" charset="0"/>
              <a:cs typeface="Tahoma" panose="020B0604030504040204" pitchFamily="34" charset="0"/>
            </a:endParaRPr>
          </a:p>
        </p:txBody>
      </p:sp>
      <p:sp>
        <p:nvSpPr>
          <p:cNvPr id="20" name="Text 18">
            <a:extLst>
              <a:ext uri="{FF2B5EF4-FFF2-40B4-BE49-F238E27FC236}">
                <a16:creationId xmlns:a16="http://schemas.microsoft.com/office/drawing/2014/main" id="{4E1B2532-F35D-1BF6-5CAF-4D1461430CCA}"/>
              </a:ext>
            </a:extLst>
          </p:cNvPr>
          <p:cNvSpPr/>
          <p:nvPr/>
        </p:nvSpPr>
        <p:spPr>
          <a:xfrm>
            <a:off x="1183720" y="6071817"/>
            <a:ext cx="1783080" cy="228600"/>
          </a:xfrm>
          <a:prstGeom prst="rect">
            <a:avLst/>
          </a:prstGeom>
          <a:noFill/>
          <a:ln/>
        </p:spPr>
        <p:txBody>
          <a:bodyPr wrap="square" lIns="0" tIns="0" rIns="0" bIns="0" rtlCol="0" anchor="ctr">
            <a:normAutofit/>
          </a:bodyPr>
          <a:lstStyle/>
          <a:p>
            <a:pPr marL="0" indent="0">
              <a:buNone/>
            </a:pPr>
            <a:r>
              <a:rPr lang="en-US" sz="800" dirty="0">
                <a:solidFill>
                  <a:srgbClr val="6B7280"/>
                </a:solidFill>
                <a:latin typeface="Tahoma" panose="020B0604030504040204" pitchFamily="34" charset="0"/>
                <a:ea typeface="Tahoma" panose="020B0604030504040204" pitchFamily="34" charset="0"/>
                <a:cs typeface="Tahoma" panose="020B0604030504040204" pitchFamily="34" charset="0"/>
              </a:rPr>
              <a:t>Recyclable: 0 kg</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21" name="Shape 19">
            <a:extLst>
              <a:ext uri="{FF2B5EF4-FFF2-40B4-BE49-F238E27FC236}">
                <a16:creationId xmlns:a16="http://schemas.microsoft.com/office/drawing/2014/main" id="{232A0683-7157-C5F9-B690-12715072A8E0}"/>
              </a:ext>
            </a:extLst>
          </p:cNvPr>
          <p:cNvSpPr/>
          <p:nvPr/>
        </p:nvSpPr>
        <p:spPr>
          <a:xfrm>
            <a:off x="3268552" y="5289561"/>
            <a:ext cx="2103120" cy="960120"/>
          </a:xfrm>
          <a:prstGeom prst="roundRect">
            <a:avLst>
              <a:gd name="adj" fmla="val 7619"/>
            </a:avLst>
          </a:prstGeom>
          <a:solidFill>
            <a:srgbClr val="FFFFFF"/>
          </a:solidFill>
          <a:ln w="8890">
            <a:solidFill>
              <a:srgbClr val="DDE6F3"/>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22" name="Shape 20">
            <a:extLst>
              <a:ext uri="{FF2B5EF4-FFF2-40B4-BE49-F238E27FC236}">
                <a16:creationId xmlns:a16="http://schemas.microsoft.com/office/drawing/2014/main" id="{34A33CBF-EFE5-7752-5CDE-3CD3569B9A98}"/>
              </a:ext>
            </a:extLst>
          </p:cNvPr>
          <p:cNvSpPr/>
          <p:nvPr/>
        </p:nvSpPr>
        <p:spPr>
          <a:xfrm>
            <a:off x="3268552" y="5289561"/>
            <a:ext cx="73152" cy="960120"/>
          </a:xfrm>
          <a:prstGeom prst="rect">
            <a:avLst/>
          </a:prstGeom>
          <a:solidFill>
            <a:srgbClr val="D93025"/>
          </a:solidFill>
          <a:ln w="12700">
            <a:solidFill>
              <a:srgbClr val="D93025"/>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23" name="Text 21">
            <a:extLst>
              <a:ext uri="{FF2B5EF4-FFF2-40B4-BE49-F238E27FC236}">
                <a16:creationId xmlns:a16="http://schemas.microsoft.com/office/drawing/2014/main" id="{CC3EC7B8-5EDB-9A8F-6F83-040DD1F853AB}"/>
              </a:ext>
            </a:extLst>
          </p:cNvPr>
          <p:cNvSpPr/>
          <p:nvPr/>
        </p:nvSpPr>
        <p:spPr>
          <a:xfrm>
            <a:off x="3469720" y="5435865"/>
            <a:ext cx="1783080" cy="201168"/>
          </a:xfrm>
          <a:prstGeom prst="rect">
            <a:avLst/>
          </a:prstGeom>
          <a:noFill/>
          <a:ln/>
        </p:spPr>
        <p:txBody>
          <a:bodyPr wrap="square" lIns="0" tIns="0" rIns="0" bIns="0" rtlCol="0" anchor="ctr">
            <a:normAutofit/>
          </a:bodyPr>
          <a:lstStyle/>
          <a:p>
            <a:pPr marL="0" indent="0">
              <a:buNone/>
            </a:pPr>
            <a:r>
              <a:rPr lang="en-US" sz="850" b="1" dirty="0">
                <a:solidFill>
                  <a:srgbClr val="6B7280"/>
                </a:solidFill>
                <a:latin typeface="Tahoma" panose="020B0604030504040204" pitchFamily="34" charset="0"/>
                <a:ea typeface="Tahoma" panose="020B0604030504040204" pitchFamily="34" charset="0"/>
                <a:cs typeface="Tahoma" panose="020B0604030504040204" pitchFamily="34" charset="0"/>
              </a:rPr>
              <a:t>Baniyas Campus B Recycling</a:t>
            </a:r>
            <a:endParaRPr lang="en-US" sz="850" dirty="0">
              <a:latin typeface="Tahoma" panose="020B0604030504040204" pitchFamily="34" charset="0"/>
              <a:ea typeface="Tahoma" panose="020B0604030504040204" pitchFamily="34" charset="0"/>
              <a:cs typeface="Tahoma" panose="020B0604030504040204" pitchFamily="34" charset="0"/>
            </a:endParaRPr>
          </a:p>
        </p:txBody>
      </p:sp>
      <p:sp>
        <p:nvSpPr>
          <p:cNvPr id="24" name="Text 22">
            <a:extLst>
              <a:ext uri="{FF2B5EF4-FFF2-40B4-BE49-F238E27FC236}">
                <a16:creationId xmlns:a16="http://schemas.microsoft.com/office/drawing/2014/main" id="{290DB296-E3A8-D18F-D666-B263CEF6F4DE}"/>
              </a:ext>
            </a:extLst>
          </p:cNvPr>
          <p:cNvSpPr/>
          <p:nvPr/>
        </p:nvSpPr>
        <p:spPr>
          <a:xfrm>
            <a:off x="3469720" y="5701041"/>
            <a:ext cx="1783080" cy="384048"/>
          </a:xfrm>
          <a:prstGeom prst="rect">
            <a:avLst/>
          </a:prstGeom>
          <a:noFill/>
          <a:ln/>
        </p:spPr>
        <p:txBody>
          <a:bodyPr wrap="square" lIns="0" tIns="0" rIns="0" bIns="0" rtlCol="0" anchor="ctr"/>
          <a:lstStyle/>
          <a:p>
            <a:pPr marL="0" indent="0">
              <a:buNone/>
            </a:pPr>
            <a:r>
              <a:rPr lang="en-US" sz="2400" b="1" dirty="0">
                <a:solidFill>
                  <a:srgbClr val="D93025"/>
                </a:solidFill>
                <a:latin typeface="Tahoma" panose="020B0604030504040204" pitchFamily="34" charset="0"/>
                <a:ea typeface="Tahoma" panose="020B0604030504040204" pitchFamily="34" charset="0"/>
                <a:cs typeface="Tahoma" panose="020B0604030504040204" pitchFamily="34" charset="0"/>
              </a:rPr>
              <a:t>0%</a:t>
            </a:r>
            <a:endParaRPr lang="en-US" sz="2400" dirty="0">
              <a:latin typeface="Tahoma" panose="020B0604030504040204" pitchFamily="34" charset="0"/>
              <a:ea typeface="Tahoma" panose="020B0604030504040204" pitchFamily="34" charset="0"/>
              <a:cs typeface="Tahoma" panose="020B0604030504040204" pitchFamily="34" charset="0"/>
            </a:endParaRPr>
          </a:p>
        </p:txBody>
      </p:sp>
      <p:sp>
        <p:nvSpPr>
          <p:cNvPr id="25" name="Text 23">
            <a:extLst>
              <a:ext uri="{FF2B5EF4-FFF2-40B4-BE49-F238E27FC236}">
                <a16:creationId xmlns:a16="http://schemas.microsoft.com/office/drawing/2014/main" id="{92BEE130-9341-D18C-F8D7-0151B31574D2}"/>
              </a:ext>
            </a:extLst>
          </p:cNvPr>
          <p:cNvSpPr/>
          <p:nvPr/>
        </p:nvSpPr>
        <p:spPr>
          <a:xfrm>
            <a:off x="3469720" y="6071817"/>
            <a:ext cx="1783080" cy="228600"/>
          </a:xfrm>
          <a:prstGeom prst="rect">
            <a:avLst/>
          </a:prstGeom>
          <a:noFill/>
          <a:ln/>
        </p:spPr>
        <p:txBody>
          <a:bodyPr wrap="square" lIns="0" tIns="0" rIns="0" bIns="0" rtlCol="0" anchor="ctr">
            <a:normAutofit/>
          </a:bodyPr>
          <a:lstStyle/>
          <a:p>
            <a:pPr marL="0" indent="0">
              <a:buNone/>
            </a:pPr>
            <a:r>
              <a:rPr lang="en-US" sz="800" dirty="0">
                <a:solidFill>
                  <a:srgbClr val="6B7280"/>
                </a:solidFill>
                <a:latin typeface="Tahoma" panose="020B0604030504040204" pitchFamily="34" charset="0"/>
                <a:ea typeface="Tahoma" panose="020B0604030504040204" pitchFamily="34" charset="0"/>
                <a:cs typeface="Tahoma" panose="020B0604030504040204" pitchFamily="34" charset="0"/>
              </a:rPr>
              <a:t>Critical gap</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29" name="Title 1">
            <a:extLst>
              <a:ext uri="{FF2B5EF4-FFF2-40B4-BE49-F238E27FC236}">
                <a16:creationId xmlns:a16="http://schemas.microsoft.com/office/drawing/2014/main" id="{979D1581-480D-60F0-7557-CEFF3B1F5AC3}"/>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Waste Management &amp; Environmental Programs</a:t>
            </a:r>
            <a:endParaRPr lang="en-US" sz="2400" b="0" dirty="0"/>
          </a:p>
        </p:txBody>
      </p:sp>
    </p:spTree>
    <p:extLst>
      <p:ext uri="{BB962C8B-B14F-4D97-AF65-F5344CB8AC3E}">
        <p14:creationId xmlns:p14="http://schemas.microsoft.com/office/powerpoint/2010/main" val="10884306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7A37D90-CD08-5826-FC47-045CFE70F24E}"/>
              </a:ext>
            </a:extLst>
          </p:cNvPr>
          <p:cNvSpPr txBox="1"/>
          <p:nvPr/>
        </p:nvSpPr>
        <p:spPr>
          <a:xfrm>
            <a:off x="1025126" y="2274838"/>
            <a:ext cx="10485120" cy="1477328"/>
          </a:xfrm>
          <a:prstGeom prst="rect">
            <a:avLst/>
          </a:prstGeom>
          <a:noFill/>
        </p:spPr>
        <p:txBody>
          <a:bodyPr wrap="square" rtlCol="0">
            <a:spAutoFit/>
          </a:bodyPr>
          <a:lstStyle/>
          <a:p>
            <a:pPr marL="285750" indent="-285750">
              <a:buFont typeface="Arial" panose="020B0604020202020204" pitchFamily="34" charset="0"/>
              <a:buChar char="•"/>
            </a:pPr>
            <a:r>
              <a:rPr lang="en-US" dirty="0"/>
              <a:t>Initiatives</a:t>
            </a:r>
          </a:p>
          <a:p>
            <a:pPr marL="285750" indent="-285750">
              <a:buFont typeface="Arial" panose="020B0604020202020204" pitchFamily="34" charset="0"/>
              <a:buChar char="•"/>
            </a:pPr>
            <a:r>
              <a:rPr lang="en-US" dirty="0"/>
              <a:t>Campus Achievements</a:t>
            </a:r>
          </a:p>
          <a:p>
            <a:pPr marL="285750" indent="-285750">
              <a:buFont typeface="Arial" panose="020B0604020202020204" pitchFamily="34" charset="0"/>
              <a:buChar char="•"/>
            </a:pPr>
            <a:r>
              <a:rPr lang="en-US" dirty="0"/>
              <a:t>Safety Recognition</a:t>
            </a:r>
          </a:p>
          <a:p>
            <a:pPr marL="285750" indent="-285750">
              <a:buFont typeface="Arial" panose="020B0604020202020204" pitchFamily="34" charset="0"/>
              <a:buChar char="•"/>
            </a:pPr>
            <a:r>
              <a:rPr lang="en-US" dirty="0" err="1"/>
              <a:t>Etc</a:t>
            </a:r>
            <a:endParaRPr lang="en-US" dirty="0"/>
          </a:p>
          <a:p>
            <a:endParaRPr lang="en-US" dirty="0"/>
          </a:p>
        </p:txBody>
      </p:sp>
      <p:sp>
        <p:nvSpPr>
          <p:cNvPr id="4" name="Title 1">
            <a:extLst>
              <a:ext uri="{FF2B5EF4-FFF2-40B4-BE49-F238E27FC236}">
                <a16:creationId xmlns:a16="http://schemas.microsoft.com/office/drawing/2014/main" id="{31F0D0EA-95AA-EE1A-E0C1-414934A77FC8}"/>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Any Other Agenda Items</a:t>
            </a:r>
            <a:endParaRPr lang="en-US" sz="2400" b="0" dirty="0"/>
          </a:p>
        </p:txBody>
      </p:sp>
    </p:spTree>
    <p:extLst>
      <p:ext uri="{BB962C8B-B14F-4D97-AF65-F5344CB8AC3E}">
        <p14:creationId xmlns:p14="http://schemas.microsoft.com/office/powerpoint/2010/main" val="9299421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408CA-4C31-3EB2-A173-8878AAD3240C}"/>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C5C360A2-D971-CB41-D12B-368F24327C2B}"/>
              </a:ext>
            </a:extLst>
          </p:cNvPr>
          <p:cNvSpPr txBox="1">
            <a:spLocks/>
          </p:cNvSpPr>
          <p:nvPr/>
        </p:nvSpPr>
        <p:spPr>
          <a:xfrm>
            <a:off x="833385" y="472509"/>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EHS Committee Discussion</a:t>
            </a:r>
            <a:endParaRPr lang="en-US" sz="2400" dirty="0"/>
          </a:p>
        </p:txBody>
      </p:sp>
    </p:spTree>
    <p:extLst>
      <p:ext uri="{BB962C8B-B14F-4D97-AF65-F5344CB8AC3E}">
        <p14:creationId xmlns:p14="http://schemas.microsoft.com/office/powerpoint/2010/main" val="20989436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B3307-14BF-A044-8D72-44E597C0E7DA}"/>
              </a:ext>
            </a:extLst>
          </p:cNvPr>
          <p:cNvSpPr>
            <a:spLocks noGrp="1"/>
          </p:cNvSpPr>
          <p:nvPr>
            <p:ph type="ctrTitle"/>
          </p:nvPr>
        </p:nvSpPr>
        <p:spPr/>
        <p:txBody>
          <a:bodyPr/>
          <a:lstStyle/>
          <a:p>
            <a:r>
              <a:rPr lang="en-US" dirty="0"/>
              <a:t>Thank You</a:t>
            </a:r>
            <a:endParaRPr lang="en-AE" dirty="0"/>
          </a:p>
        </p:txBody>
      </p:sp>
    </p:spTree>
    <p:extLst>
      <p:ext uri="{BB962C8B-B14F-4D97-AF65-F5344CB8AC3E}">
        <p14:creationId xmlns:p14="http://schemas.microsoft.com/office/powerpoint/2010/main" val="3769315409"/>
      </p:ext>
    </p:extLst>
  </p:cSld>
  <p:clrMapOvr>
    <a:masterClrMapping/>
  </p:clrMapOvr>
</p:sld>
</file>

<file path=ppt/theme/theme1.xml><?xml version="1.0" encoding="utf-8"?>
<a:theme xmlns:a="http://schemas.openxmlformats.org/drawingml/2006/main" name="1_Office Theme">
  <a:themeElements>
    <a:clrScheme name="HCT COLORS">
      <a:dk1>
        <a:srgbClr val="00249C"/>
      </a:dk1>
      <a:lt1>
        <a:srgbClr val="46D6AB"/>
      </a:lt1>
      <a:dk2>
        <a:srgbClr val="00249C"/>
      </a:dk2>
      <a:lt2>
        <a:srgbClr val="FFFFFF"/>
      </a:lt2>
      <a:accent1>
        <a:srgbClr val="BA28BA"/>
      </a:accent1>
      <a:accent2>
        <a:srgbClr val="00A3E1"/>
      </a:accent2>
      <a:accent3>
        <a:srgbClr val="B1E4E2"/>
      </a:accent3>
      <a:accent4>
        <a:srgbClr val="C4E86C"/>
      </a:accent4>
      <a:accent5>
        <a:srgbClr val="F7E948"/>
      </a:accent5>
      <a:accent6>
        <a:srgbClr val="2C2825"/>
      </a:accent6>
      <a:hlink>
        <a:srgbClr val="46D6AB"/>
      </a:hlink>
      <a:folHlink>
        <a:srgbClr val="46D6AB"/>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CT-English-PPT" id="{66C1D627-B2B5-CC49-A3B4-7C85DDDC73E2}" vid="{1B779F52-C459-FE44-A2F4-9C273C3439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11707</TotalTime>
  <Words>983</Words>
  <Application>Microsoft Office PowerPoint</Application>
  <PresentationFormat>Widescreen</PresentationFormat>
  <Paragraphs>267</Paragraphs>
  <Slides>25</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Tahoma</vt:lpstr>
      <vt:lpstr>1_Office Theme</vt:lpstr>
      <vt:lpstr>EHS Committee Meeting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HCT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Bakri Hamameh</dc:creator>
  <cp:lastModifiedBy>Corporate OHS</cp:lastModifiedBy>
  <cp:revision>335</cp:revision>
  <dcterms:created xsi:type="dcterms:W3CDTF">2023-08-15T07:47:02Z</dcterms:created>
  <dcterms:modified xsi:type="dcterms:W3CDTF">2026-05-13T17:29:01Z</dcterms:modified>
</cp:coreProperties>
</file>