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heme/themeOverride2.xml" ContentType="application/vnd.openxmlformats-officedocument.themeOverride+xml"/>
  <Override PartName="/ppt/comments/modernComment_169_7D14A830.xml" ContentType="application/vnd.ms-powerpoint.comments+xml"/>
  <Override PartName="/ppt/charts/chart6.xml" ContentType="application/vnd.openxmlformats-officedocument.drawingml.chart+xml"/>
  <Override PartName="/ppt/comments/modernComment_153_C164AD62.xml" ContentType="application/vnd.ms-powerpoint.comments+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2.xml" ContentType="application/vnd.openxmlformats-officedocument.presentationml.notesSlide+xml"/>
  <Override PartName="/ppt/comments/modernComment_17F_A8ACF42D.xml" ContentType="application/vnd.ms-powerpoint.comments+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theme/themeOverride4.xml" ContentType="application/vnd.openxmlformats-officedocument.themeOverride+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3.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3"/>
  </p:notesMasterIdLst>
  <p:sldIdLst>
    <p:sldId id="340" r:id="rId2"/>
    <p:sldId id="404" r:id="rId3"/>
    <p:sldId id="392" r:id="rId4"/>
    <p:sldId id="360" r:id="rId5"/>
    <p:sldId id="395" r:id="rId6"/>
    <p:sldId id="338" r:id="rId7"/>
    <p:sldId id="361" r:id="rId8"/>
    <p:sldId id="339" r:id="rId9"/>
    <p:sldId id="352" r:id="rId10"/>
    <p:sldId id="335" r:id="rId11"/>
    <p:sldId id="383" r:id="rId12"/>
    <p:sldId id="405" r:id="rId13"/>
    <p:sldId id="406" r:id="rId14"/>
    <p:sldId id="407" r:id="rId15"/>
    <p:sldId id="408" r:id="rId16"/>
    <p:sldId id="409" r:id="rId17"/>
    <p:sldId id="410" r:id="rId18"/>
    <p:sldId id="411" r:id="rId19"/>
    <p:sldId id="412" r:id="rId20"/>
    <p:sldId id="413" r:id="rId21"/>
    <p:sldId id="41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F79E1A-B9DF-E92A-56B6-BF93512E2FD3}" name="Melwin Dsouza" initials="MD" userId="S::Melwin.Dsouza@corporateohs.com::149ac2db-be8b-40ff-b11b-d098f284dba8" providerId="AD"/>
  <p188:author id="{4D5F4B26-70C2-C458-CF70-89C76E1704D8}" name="Branco Dennenberg" initials="BD" userId="7b81a8bc22f2f239" providerId="Windows Live"/>
  <p188:author id="{5B26CF33-3F9E-64B6-8031-873F17783981}" name="Caroline Savage" initials="CS" userId="7108174042d12c3f" providerId="Windows Live"/>
  <p188:author id="{8D6D4444-3D9E-9EFB-8C07-AA5665A4A5C5}" name="Karthikeyan Viswanathan" initials="KV" userId="S::Karthikeyan.Viswanathan@corporateohs.com::ee677136-ef6c-4a16-817e-71289ad1cdb2" providerId="AD"/>
  <p188:author id="{CFC1D6F1-5CCD-23D0-AEA0-FE2283801C34}" name="caroline savage" initials="cs" userId="S::carolinesavage@corporateohs.com::91448213-4f62-4282-a05a-3f8111c1e7b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49C"/>
    <a:srgbClr val="A50034"/>
    <a:srgbClr val="F7C1C1"/>
    <a:srgbClr val="C0DD97"/>
    <a:srgbClr val="47D7AC"/>
    <a:srgbClr val="23ACDD"/>
    <a:srgbClr val="B5D4F4"/>
    <a:srgbClr val="000000"/>
    <a:srgbClr val="B1E4E3"/>
    <a:srgbClr val="00A3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6FB3E1-70CA-4986-91AB-59CF848ECB5C}" v="20" dt="2026-08-26T15:16:13.3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0719" autoAdjust="0"/>
  </p:normalViewPr>
  <p:slideViewPr>
    <p:cSldViewPr snapToGrid="0">
      <p:cViewPr varScale="1">
        <p:scale>
          <a:sx n="75" d="100"/>
          <a:sy n="75" d="100"/>
        </p:scale>
        <p:origin x="1205" y="91"/>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savage" userId="91448213-4f62-4282-a05a-3f8111c1e7bd" providerId="ADAL" clId="{12E5D5C5-97B3-48EB-B13D-D18563E280BB}"/>
    <pc:docChg chg="undo custSel modSld">
      <pc:chgData name="caroline savage" userId="91448213-4f62-4282-a05a-3f8111c1e7bd" providerId="ADAL" clId="{12E5D5C5-97B3-48EB-B13D-D18563E280BB}" dt="2026-08-26T15:36:42.987" v="664" actId="13926"/>
      <pc:docMkLst>
        <pc:docMk/>
      </pc:docMkLst>
      <pc:sldChg chg="modSp mod">
        <pc:chgData name="caroline savage" userId="91448213-4f62-4282-a05a-3f8111c1e7bd" providerId="ADAL" clId="{12E5D5C5-97B3-48EB-B13D-D18563E280BB}" dt="2026-08-26T15:10:52.311" v="477" actId="20577"/>
        <pc:sldMkLst>
          <pc:docMk/>
          <pc:sldMk cId="3730796922" sldId="335"/>
        </pc:sldMkLst>
        <pc:spChg chg="mod">
          <ac:chgData name="caroline savage" userId="91448213-4f62-4282-a05a-3f8111c1e7bd" providerId="ADAL" clId="{12E5D5C5-97B3-48EB-B13D-D18563E280BB}" dt="2026-08-26T15:10:52.311" v="477" actId="20577"/>
          <ac:spMkLst>
            <pc:docMk/>
            <pc:sldMk cId="3730796922" sldId="335"/>
            <ac:spMk id="7" creationId="{DB142415-AEBD-ACB9-5CC6-23CC159072AF}"/>
          </ac:spMkLst>
        </pc:spChg>
        <pc:spChg chg="mod">
          <ac:chgData name="caroline savage" userId="91448213-4f62-4282-a05a-3f8111c1e7bd" providerId="ADAL" clId="{12E5D5C5-97B3-48EB-B13D-D18563E280BB}" dt="2026-08-26T14:53:55.161" v="429" actId="20577"/>
          <ac:spMkLst>
            <pc:docMk/>
            <pc:sldMk cId="3730796922" sldId="335"/>
            <ac:spMk id="11" creationId="{47624A27-25FD-5515-F424-E7339FE37837}"/>
          </ac:spMkLst>
        </pc:spChg>
      </pc:sldChg>
      <pc:sldChg chg="modSp">
        <pc:chgData name="caroline savage" userId="91448213-4f62-4282-a05a-3f8111c1e7bd" providerId="ADAL" clId="{12E5D5C5-97B3-48EB-B13D-D18563E280BB}" dt="2026-08-26T14:35:35.912" v="321"/>
        <pc:sldMkLst>
          <pc:docMk/>
          <pc:sldMk cId="3101187471" sldId="338"/>
        </pc:sldMkLst>
        <pc:spChg chg="mod">
          <ac:chgData name="caroline savage" userId="91448213-4f62-4282-a05a-3f8111c1e7bd" providerId="ADAL" clId="{12E5D5C5-97B3-48EB-B13D-D18563E280BB}" dt="2026-08-26T14:35:35.912" v="321"/>
          <ac:spMkLst>
            <pc:docMk/>
            <pc:sldMk cId="3101187471" sldId="338"/>
            <ac:spMk id="5" creationId="{3797ABFA-DAB7-9613-394A-E9B024961208}"/>
          </ac:spMkLst>
        </pc:spChg>
      </pc:sldChg>
      <pc:sldChg chg="modSp mod">
        <pc:chgData name="caroline savage" userId="91448213-4f62-4282-a05a-3f8111c1e7bd" providerId="ADAL" clId="{12E5D5C5-97B3-48EB-B13D-D18563E280BB}" dt="2026-08-26T15:05:30.239" v="453" actId="20577"/>
        <pc:sldMkLst>
          <pc:docMk/>
          <pc:sldMk cId="3244600674" sldId="339"/>
        </pc:sldMkLst>
        <pc:spChg chg="mod">
          <ac:chgData name="caroline savage" userId="91448213-4f62-4282-a05a-3f8111c1e7bd" providerId="ADAL" clId="{12E5D5C5-97B3-48EB-B13D-D18563E280BB}" dt="2026-08-26T14:38:24.769" v="422" actId="6549"/>
          <ac:spMkLst>
            <pc:docMk/>
            <pc:sldMk cId="3244600674" sldId="339"/>
            <ac:spMk id="7" creationId="{61E0FAA5-4110-36C1-032B-80A2B304ACAF}"/>
          </ac:spMkLst>
        </pc:spChg>
        <pc:spChg chg="mod">
          <ac:chgData name="caroline savage" userId="91448213-4f62-4282-a05a-3f8111c1e7bd" providerId="ADAL" clId="{12E5D5C5-97B3-48EB-B13D-D18563E280BB}" dt="2026-08-26T15:05:30.239" v="453" actId="20577"/>
          <ac:spMkLst>
            <pc:docMk/>
            <pc:sldMk cId="3244600674" sldId="339"/>
            <ac:spMk id="10" creationId="{71BE7E4A-3952-AEC8-98C8-C7C8F037FB56}"/>
          </ac:spMkLst>
        </pc:spChg>
      </pc:sldChg>
      <pc:sldChg chg="modSp mod">
        <pc:chgData name="caroline savage" userId="91448213-4f62-4282-a05a-3f8111c1e7bd" providerId="ADAL" clId="{12E5D5C5-97B3-48EB-B13D-D18563E280BB}" dt="2026-08-26T14:53:02.364" v="427" actId="6549"/>
        <pc:sldMkLst>
          <pc:docMk/>
          <pc:sldMk cId="462679577" sldId="360"/>
        </pc:sldMkLst>
        <pc:spChg chg="mod">
          <ac:chgData name="caroline savage" userId="91448213-4f62-4282-a05a-3f8111c1e7bd" providerId="ADAL" clId="{12E5D5C5-97B3-48EB-B13D-D18563E280BB}" dt="2026-08-26T14:53:02.364" v="427" actId="6549"/>
          <ac:spMkLst>
            <pc:docMk/>
            <pc:sldMk cId="462679577" sldId="360"/>
            <ac:spMk id="3" creationId="{FCBC2F13-6120-B3B1-D8C6-492868C999A7}"/>
          </ac:spMkLst>
        </pc:spChg>
        <pc:spChg chg="mod">
          <ac:chgData name="caroline savage" userId="91448213-4f62-4282-a05a-3f8111c1e7bd" providerId="ADAL" clId="{12E5D5C5-97B3-48EB-B13D-D18563E280BB}" dt="2026-08-26T14:18:43.121" v="7" actId="20577"/>
          <ac:spMkLst>
            <pc:docMk/>
            <pc:sldMk cId="462679577" sldId="360"/>
            <ac:spMk id="14" creationId="{A2F59F78-05BF-562A-F3AD-53B8814417EE}"/>
          </ac:spMkLst>
        </pc:spChg>
      </pc:sldChg>
      <pc:sldChg chg="modSp mod">
        <pc:chgData name="caroline savage" userId="91448213-4f62-4282-a05a-3f8111c1e7bd" providerId="ADAL" clId="{12E5D5C5-97B3-48EB-B13D-D18563E280BB}" dt="2026-08-26T14:37:58.888" v="405" actId="20577"/>
        <pc:sldMkLst>
          <pc:docMk/>
          <pc:sldMk cId="2098505776" sldId="361"/>
        </pc:sldMkLst>
        <pc:spChg chg="mod">
          <ac:chgData name="caroline savage" userId="91448213-4f62-4282-a05a-3f8111c1e7bd" providerId="ADAL" clId="{12E5D5C5-97B3-48EB-B13D-D18563E280BB}" dt="2026-08-26T14:35:28.799" v="320" actId="5793"/>
          <ac:spMkLst>
            <pc:docMk/>
            <pc:sldMk cId="2098505776" sldId="361"/>
            <ac:spMk id="2" creationId="{0C088CA5-25ED-25B8-0604-F703B959ED40}"/>
          </ac:spMkLst>
        </pc:spChg>
        <pc:spChg chg="mod">
          <ac:chgData name="caroline savage" userId="91448213-4f62-4282-a05a-3f8111c1e7bd" providerId="ADAL" clId="{12E5D5C5-97B3-48EB-B13D-D18563E280BB}" dt="2026-08-26T14:37:58.888" v="405" actId="20577"/>
          <ac:spMkLst>
            <pc:docMk/>
            <pc:sldMk cId="2098505776" sldId="361"/>
            <ac:spMk id="14" creationId="{AE1E9F70-1DF9-3AB6-E680-665F46853200}"/>
          </ac:spMkLst>
        </pc:spChg>
      </pc:sldChg>
      <pc:sldChg chg="modSp mod modCm">
        <pc:chgData name="caroline savage" userId="91448213-4f62-4282-a05a-3f8111c1e7bd" providerId="ADAL" clId="{12E5D5C5-97B3-48EB-B13D-D18563E280BB}" dt="2026-08-26T15:16:13.374" v="639"/>
        <pc:sldMkLst>
          <pc:docMk/>
          <pc:sldMk cId="2829906989" sldId="383"/>
        </pc:sldMkLst>
        <pc:spChg chg="mod">
          <ac:chgData name="caroline savage" userId="91448213-4f62-4282-a05a-3f8111c1e7bd" providerId="ADAL" clId="{12E5D5C5-97B3-48EB-B13D-D18563E280BB}" dt="2026-08-26T15:14:24.957" v="614" actId="255"/>
          <ac:spMkLst>
            <pc:docMk/>
            <pc:sldMk cId="2829906989" sldId="383"/>
            <ac:spMk id="7" creationId="{C0A5B954-9F93-630F-5A0A-A2C175F09AFE}"/>
          </ac:spMkLst>
        </pc:spChg>
        <pc:spChg chg="mod">
          <ac:chgData name="caroline savage" userId="91448213-4f62-4282-a05a-3f8111c1e7bd" providerId="ADAL" clId="{12E5D5C5-97B3-48EB-B13D-D18563E280BB}" dt="2026-08-26T15:16:13.374" v="639"/>
          <ac:spMkLst>
            <pc:docMk/>
            <pc:sldMk cId="2829906989" sldId="383"/>
            <ac:spMk id="9" creationId="{6D2E4116-70D4-1F1A-EC07-063521CE77FD}"/>
          </ac:spMkLst>
        </pc:spChg>
        <pc:graphicFrameChg chg="mod">
          <ac:chgData name="caroline savage" userId="91448213-4f62-4282-a05a-3f8111c1e7bd" providerId="ADAL" clId="{12E5D5C5-97B3-48EB-B13D-D18563E280BB}" dt="2026-08-26T15:13:11.390" v="543" actId="20577"/>
          <ac:graphicFrameMkLst>
            <pc:docMk/>
            <pc:sldMk cId="2829906989" sldId="383"/>
            <ac:graphicFrameMk id="3" creationId="{4E07165A-AF93-1A17-D5D1-6E06E9317A93}"/>
          </ac:graphicFrameMkLst>
        </pc:graphicFrameChg>
        <pc:graphicFrameChg chg="mod">
          <ac:chgData name="caroline savage" userId="91448213-4f62-4282-a05a-3f8111c1e7bd" providerId="ADAL" clId="{12E5D5C5-97B3-48EB-B13D-D18563E280BB}" dt="2026-08-26T15:15:29.760" v="638" actId="20577"/>
          <ac:graphicFrameMkLst>
            <pc:docMk/>
            <pc:sldMk cId="2829906989" sldId="383"/>
            <ac:graphicFrameMk id="5" creationId="{691AD59B-9452-2B67-D87D-86759B46F6B8}"/>
          </ac:graphicFrameMkLst>
        </pc:graphicFrameChg>
        <pc:extLst>
          <p:ext xmlns:p="http://schemas.openxmlformats.org/presentationml/2006/main" uri="{D6D511B9-2390-475A-947B-AFAB55BFBCF1}">
            <pc226:cmChg xmlns:pc226="http://schemas.microsoft.com/office/powerpoint/2022/06/main/command" chg="mod">
              <pc226:chgData name="caroline savage" userId="91448213-4f62-4282-a05a-3f8111c1e7bd" providerId="ADAL" clId="{12E5D5C5-97B3-48EB-B13D-D18563E280BB}" dt="2026-08-26T15:14:15.004" v="613" actId="20577"/>
              <pc2:cmMkLst xmlns:pc2="http://schemas.microsoft.com/office/powerpoint/2019/9/main/command">
                <pc:docMk/>
                <pc:sldMk cId="2829906989" sldId="383"/>
                <pc2:cmMk id="{93FB2ED1-B513-44E4-9C5A-9E297877D5E4}"/>
              </pc2:cmMkLst>
            </pc226:cmChg>
          </p:ext>
        </pc:extLst>
      </pc:sldChg>
      <pc:sldChg chg="modSp mod">
        <pc:chgData name="caroline savage" userId="91448213-4f62-4282-a05a-3f8111c1e7bd" providerId="ADAL" clId="{12E5D5C5-97B3-48EB-B13D-D18563E280BB}" dt="2026-08-26T14:17:20.431" v="0" actId="207"/>
        <pc:sldMkLst>
          <pc:docMk/>
          <pc:sldMk cId="773780304" sldId="392"/>
        </pc:sldMkLst>
        <pc:spChg chg="mod">
          <ac:chgData name="caroline savage" userId="91448213-4f62-4282-a05a-3f8111c1e7bd" providerId="ADAL" clId="{12E5D5C5-97B3-48EB-B13D-D18563E280BB}" dt="2026-08-26T14:17:20.431" v="0" actId="207"/>
          <ac:spMkLst>
            <pc:docMk/>
            <pc:sldMk cId="773780304" sldId="392"/>
            <ac:spMk id="13" creationId="{AB5F7F04-7F88-D15D-9522-74A54C148186}"/>
          </ac:spMkLst>
        </pc:spChg>
      </pc:sldChg>
      <pc:sldChg chg="modSp mod">
        <pc:chgData name="caroline savage" userId="91448213-4f62-4282-a05a-3f8111c1e7bd" providerId="ADAL" clId="{12E5D5C5-97B3-48EB-B13D-D18563E280BB}" dt="2026-08-26T14:33:52.360" v="308" actId="20577"/>
        <pc:sldMkLst>
          <pc:docMk/>
          <pc:sldMk cId="3671072281" sldId="395"/>
        </pc:sldMkLst>
        <pc:spChg chg="mod">
          <ac:chgData name="caroline savage" userId="91448213-4f62-4282-a05a-3f8111c1e7bd" providerId="ADAL" clId="{12E5D5C5-97B3-48EB-B13D-D18563E280BB}" dt="2026-08-26T14:33:52.360" v="308" actId="20577"/>
          <ac:spMkLst>
            <pc:docMk/>
            <pc:sldMk cId="3671072281" sldId="395"/>
            <ac:spMk id="7" creationId="{BC09824E-8341-A33E-01D7-A2B445D78DEB}"/>
          </ac:spMkLst>
        </pc:spChg>
      </pc:sldChg>
      <pc:sldChg chg="modSp mod">
        <pc:chgData name="caroline savage" userId="91448213-4f62-4282-a05a-3f8111c1e7bd" providerId="ADAL" clId="{12E5D5C5-97B3-48EB-B13D-D18563E280BB}" dt="2026-08-26T14:47:41.165" v="425" actId="207"/>
        <pc:sldMkLst>
          <pc:docMk/>
          <pc:sldMk cId="773780304" sldId="406"/>
        </pc:sldMkLst>
        <pc:spChg chg="mod">
          <ac:chgData name="caroline savage" userId="91448213-4f62-4282-a05a-3f8111c1e7bd" providerId="ADAL" clId="{12E5D5C5-97B3-48EB-B13D-D18563E280BB}" dt="2026-08-26T14:47:41.165" v="425" actId="207"/>
          <ac:spMkLst>
            <pc:docMk/>
            <pc:sldMk cId="773780304" sldId="406"/>
            <ac:spMk id="8" creationId="{23838B55-691B-071B-E85E-A6B74C8CCFBF}"/>
          </ac:spMkLst>
        </pc:spChg>
        <pc:spChg chg="mod">
          <ac:chgData name="caroline savage" userId="91448213-4f62-4282-a05a-3f8111c1e7bd" providerId="ADAL" clId="{12E5D5C5-97B3-48EB-B13D-D18563E280BB}" dt="2026-08-26T14:47:37.792" v="424" actId="207"/>
          <ac:spMkLst>
            <pc:docMk/>
            <pc:sldMk cId="773780304" sldId="406"/>
            <ac:spMk id="13" creationId="{AB5F7F04-7F88-D15D-9522-74A54C148186}"/>
          </ac:spMkLst>
        </pc:spChg>
      </pc:sldChg>
      <pc:sldChg chg="modSp mod">
        <pc:chgData name="caroline savage" userId="91448213-4f62-4282-a05a-3f8111c1e7bd" providerId="ADAL" clId="{12E5D5C5-97B3-48EB-B13D-D18563E280BB}" dt="2026-08-26T15:36:23.530" v="660" actId="13926"/>
        <pc:sldMkLst>
          <pc:docMk/>
          <pc:sldMk cId="462679577" sldId="407"/>
        </pc:sldMkLst>
        <pc:spChg chg="mod">
          <ac:chgData name="caroline savage" userId="91448213-4f62-4282-a05a-3f8111c1e7bd" providerId="ADAL" clId="{12E5D5C5-97B3-48EB-B13D-D18563E280BB}" dt="2026-08-26T15:36:23.530" v="660" actId="13926"/>
          <ac:spMkLst>
            <pc:docMk/>
            <pc:sldMk cId="462679577" sldId="407"/>
            <ac:spMk id="18" creationId="{82EF3A42-6B64-8B2E-25D1-F07C31127113}"/>
          </ac:spMkLst>
        </pc:spChg>
      </pc:sldChg>
      <pc:sldChg chg="modSp mod">
        <pc:chgData name="caroline savage" userId="91448213-4f62-4282-a05a-3f8111c1e7bd" providerId="ADAL" clId="{12E5D5C5-97B3-48EB-B13D-D18563E280BB}" dt="2026-08-26T15:36:28.682" v="661" actId="13926"/>
        <pc:sldMkLst>
          <pc:docMk/>
          <pc:sldMk cId="3671072281" sldId="408"/>
        </pc:sldMkLst>
        <pc:spChg chg="mod">
          <ac:chgData name="caroline savage" userId="91448213-4f62-4282-a05a-3f8111c1e7bd" providerId="ADAL" clId="{12E5D5C5-97B3-48EB-B13D-D18563E280BB}" dt="2026-08-26T15:36:28.682" v="661" actId="13926"/>
          <ac:spMkLst>
            <pc:docMk/>
            <pc:sldMk cId="3671072281" sldId="408"/>
            <ac:spMk id="10" creationId="{31D2A2A3-B757-517D-0EEB-CFF8BCE083EC}"/>
          </ac:spMkLst>
        </pc:spChg>
      </pc:sldChg>
      <pc:sldChg chg="modSp mod">
        <pc:chgData name="caroline savage" userId="91448213-4f62-4282-a05a-3f8111c1e7bd" providerId="ADAL" clId="{12E5D5C5-97B3-48EB-B13D-D18563E280BB}" dt="2026-08-26T15:36:34.403" v="662" actId="13926"/>
        <pc:sldMkLst>
          <pc:docMk/>
          <pc:sldMk cId="2098505776" sldId="410"/>
        </pc:sldMkLst>
        <pc:spChg chg="mod">
          <ac:chgData name="caroline savage" userId="91448213-4f62-4282-a05a-3f8111c1e7bd" providerId="ADAL" clId="{12E5D5C5-97B3-48EB-B13D-D18563E280BB}" dt="2026-08-26T15:36:34.403" v="662" actId="13926"/>
          <ac:spMkLst>
            <pc:docMk/>
            <pc:sldMk cId="2098505776" sldId="410"/>
            <ac:spMk id="9" creationId="{A4FB1130-BCFB-3C1C-9337-1C32B50E7053}"/>
          </ac:spMkLst>
        </pc:spChg>
      </pc:sldChg>
      <pc:sldChg chg="modSp mod">
        <pc:chgData name="caroline savage" userId="91448213-4f62-4282-a05a-3f8111c1e7bd" providerId="ADAL" clId="{12E5D5C5-97B3-48EB-B13D-D18563E280BB}" dt="2026-08-26T15:31:46.541" v="657" actId="113"/>
        <pc:sldMkLst>
          <pc:docMk/>
          <pc:sldMk cId="3730796922" sldId="413"/>
        </pc:sldMkLst>
        <pc:spChg chg="mod">
          <ac:chgData name="caroline savage" userId="91448213-4f62-4282-a05a-3f8111c1e7bd" providerId="ADAL" clId="{12E5D5C5-97B3-48EB-B13D-D18563E280BB}" dt="2026-08-26T15:31:46.541" v="657" actId="113"/>
          <ac:spMkLst>
            <pc:docMk/>
            <pc:sldMk cId="3730796922" sldId="413"/>
            <ac:spMk id="11" creationId="{801E2EBE-426A-43AC-9728-CAF8E8CF34CF}"/>
          </ac:spMkLst>
        </pc:spChg>
      </pc:sldChg>
      <pc:sldChg chg="modSp mod">
        <pc:chgData name="caroline savage" userId="91448213-4f62-4282-a05a-3f8111c1e7bd" providerId="ADAL" clId="{12E5D5C5-97B3-48EB-B13D-D18563E280BB}" dt="2026-08-26T15:36:42.987" v="664" actId="13926"/>
        <pc:sldMkLst>
          <pc:docMk/>
          <pc:sldMk cId="2829906989" sldId="414"/>
        </pc:sldMkLst>
        <pc:spChg chg="mod">
          <ac:chgData name="caroline savage" userId="91448213-4f62-4282-a05a-3f8111c1e7bd" providerId="ADAL" clId="{12E5D5C5-97B3-48EB-B13D-D18563E280BB}" dt="2026-08-26T15:36:39.806" v="663" actId="13926"/>
          <ac:spMkLst>
            <pc:docMk/>
            <pc:sldMk cId="2829906989" sldId="414"/>
            <ac:spMk id="7" creationId="{97032C23-8064-17B5-953E-5E68D3816649}"/>
          </ac:spMkLst>
        </pc:spChg>
        <pc:spChg chg="mod">
          <ac:chgData name="caroline savage" userId="91448213-4f62-4282-a05a-3f8111c1e7bd" providerId="ADAL" clId="{12E5D5C5-97B3-48EB-B13D-D18563E280BB}" dt="2026-08-26T15:36:42.987" v="664" actId="13926"/>
          <ac:spMkLst>
            <pc:docMk/>
            <pc:sldMk cId="2829906989" sldId="414"/>
            <ac:spMk id="9" creationId="{ABEE9D57-5A77-1445-C27D-92B520405E9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02588310969851"/>
          <c:y val="5.6500479633733573E-4"/>
          <c:w val="0.65320343035115047"/>
          <c:h val="0.9869297326427352"/>
        </c:manualLayout>
      </c:layout>
      <c:pieChart>
        <c:varyColors val="1"/>
        <c:ser>
          <c:idx val="0"/>
          <c:order val="0"/>
          <c:spPr>
            <a:solidFill>
              <a:srgbClr val="00249C"/>
            </a:solidFill>
          </c:spPr>
          <c:dPt>
            <c:idx val="0"/>
            <c:bubble3D val="0"/>
            <c:spPr>
              <a:solidFill>
                <a:srgbClr val="00249C"/>
              </a:solidFill>
              <a:ln w="19050">
                <a:solidFill>
                  <a:schemeClr val="lt1"/>
                </a:solidFill>
              </a:ln>
              <a:effectLst/>
            </c:spPr>
            <c:extLst>
              <c:ext xmlns:c16="http://schemas.microsoft.com/office/drawing/2014/chart" uri="{C3380CC4-5D6E-409C-BE32-E72D297353CC}">
                <c16:uniqueId val="{00000001-BA65-4EE1-8706-5F9AF75E9B6F}"/>
              </c:ext>
            </c:extLst>
          </c:dPt>
          <c:dPt>
            <c:idx val="1"/>
            <c:bubble3D val="0"/>
            <c:spPr>
              <a:solidFill>
                <a:srgbClr val="00249C"/>
              </a:solidFill>
              <a:ln w="19050">
                <a:solidFill>
                  <a:schemeClr val="lt1"/>
                </a:solidFill>
              </a:ln>
              <a:effectLst/>
            </c:spPr>
            <c:extLst>
              <c:ext xmlns:c16="http://schemas.microsoft.com/office/drawing/2014/chart" uri="{C3380CC4-5D6E-409C-BE32-E72D297353CC}">
                <c16:uniqueId val="{00000003-BA65-4EE1-8706-5F9AF75E9B6F}"/>
              </c:ext>
            </c:extLst>
          </c:dPt>
          <c:dPt>
            <c:idx val="2"/>
            <c:bubble3D val="0"/>
            <c:spPr>
              <a:solidFill>
                <a:srgbClr val="00249C"/>
              </a:solidFill>
              <a:ln w="19050">
                <a:solidFill>
                  <a:schemeClr val="lt1"/>
                </a:solidFill>
              </a:ln>
              <a:effectLst/>
            </c:spPr>
            <c:extLst>
              <c:ext xmlns:c16="http://schemas.microsoft.com/office/drawing/2014/chart" uri="{C3380CC4-5D6E-409C-BE32-E72D297353CC}">
                <c16:uniqueId val="{00000005-BA65-4EE1-8706-5F9AF75E9B6F}"/>
              </c:ext>
            </c:extLst>
          </c:dPt>
          <c:dPt>
            <c:idx val="3"/>
            <c:bubble3D val="0"/>
            <c:spPr>
              <a:solidFill>
                <a:srgbClr val="00249C"/>
              </a:solidFill>
              <a:ln w="19050">
                <a:solidFill>
                  <a:schemeClr val="lt1"/>
                </a:solidFill>
              </a:ln>
              <a:effectLst/>
            </c:spPr>
            <c:extLst>
              <c:ext xmlns:c16="http://schemas.microsoft.com/office/drawing/2014/chart" uri="{C3380CC4-5D6E-409C-BE32-E72D297353CC}">
                <c16:uniqueId val="{00000007-BA65-4EE1-8706-5F9AF75E9B6F}"/>
              </c:ext>
            </c:extLst>
          </c:dPt>
          <c:dPt>
            <c:idx val="4"/>
            <c:bubble3D val="0"/>
            <c:spPr>
              <a:solidFill>
                <a:srgbClr val="00249C"/>
              </a:solidFill>
              <a:ln w="19050">
                <a:solidFill>
                  <a:schemeClr val="lt1"/>
                </a:solidFill>
              </a:ln>
              <a:effectLst/>
            </c:spPr>
            <c:extLst>
              <c:ext xmlns:c16="http://schemas.microsoft.com/office/drawing/2014/chart" uri="{C3380CC4-5D6E-409C-BE32-E72D297353CC}">
                <c16:uniqueId val="{00000009-BA65-4EE1-8706-5F9AF75E9B6F}"/>
              </c:ext>
            </c:extLst>
          </c:dPt>
          <c:dLbls>
            <c:dLbl>
              <c:idx val="0"/>
              <c:layout>
                <c:manualLayout>
                  <c:x val="-0.16487988540823936"/>
                  <c:y val="0.2104383897619319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A65-4EE1-8706-5F9AF75E9B6F}"/>
                </c:ext>
              </c:extLst>
            </c:dLbl>
            <c:dLbl>
              <c:idx val="1"/>
              <c:layout>
                <c:manualLayout>
                  <c:x val="-0.23891016132627421"/>
                  <c:y val="-0.12164657640375343"/>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65-4EE1-8706-5F9AF75E9B6F}"/>
                </c:ext>
              </c:extLst>
            </c:dLbl>
            <c:dLbl>
              <c:idx val="2"/>
              <c:layout>
                <c:manualLayout>
                  <c:x val="-9.4551292259325348E-2"/>
                  <c:y val="-9.1621826068713233E-2"/>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10964754195876607"/>
                      <c:h val="0.1950950570342205"/>
                    </c:manualLayout>
                  </c15:layout>
                </c:ext>
                <c:ext xmlns:c16="http://schemas.microsoft.com/office/drawing/2014/chart" uri="{C3380CC4-5D6E-409C-BE32-E72D297353CC}">
                  <c16:uniqueId val="{00000005-BA65-4EE1-8706-5F9AF75E9B6F}"/>
                </c:ext>
              </c:extLst>
            </c:dLbl>
            <c:dLbl>
              <c:idx val="3"/>
              <c:layout>
                <c:manualLayout>
                  <c:x val="0.17089371763214278"/>
                  <c:y val="-0.2634515550235702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A65-4EE1-8706-5F9AF75E9B6F}"/>
                </c:ext>
              </c:extLst>
            </c:dLbl>
            <c:dLbl>
              <c:idx val="4"/>
              <c:layout>
                <c:manualLayout>
                  <c:x val="0.17808724396757206"/>
                  <c:y val="0.22657342216650292"/>
                </c:manualLayout>
              </c:layout>
              <c:tx>
                <c:rich>
                  <a:bodyPr/>
                  <a:lstStyle/>
                  <a:p>
                    <a:fld id="{54EFDA80-51B9-4B77-AD05-126701107E30}" type="CATEGORYNAME">
                      <a:rPr lang="en-US" b="0"/>
                      <a:pPr/>
                      <a:t>[CATEGORY NAME]</a:t>
                    </a:fld>
                    <a:endParaRPr lang="en-US"/>
                  </a:p>
                </c:rich>
              </c:tx>
              <c:showLegendKey val="0"/>
              <c:showVal val="0"/>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BA65-4EE1-8706-5F9AF75E9B6F}"/>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Sheet1!$B$3:$B$7</c:f>
              <c:strCache>
                <c:ptCount val="5"/>
                <c:pt idx="0">
                  <c:v>1. Leadership, Accountability &amp; Engagement (20%)</c:v>
                </c:pt>
                <c:pt idx="1">
                  <c:v>2. Risk Management &amp; Planning (20%)</c:v>
                </c:pt>
                <c:pt idx="2">
                  <c:v>3. Training &amp; Awareness (10%)</c:v>
                </c:pt>
                <c:pt idx="3">
                  <c:v>4. Operational Control &amp; Emergency Preparedness (25%)</c:v>
                </c:pt>
                <c:pt idx="4">
                  <c:v>5. Performance Evaluation &amp; Continual Improvement (25%)</c:v>
                </c:pt>
              </c:strCache>
            </c:strRef>
          </c:cat>
          <c:val>
            <c:numRef>
              <c:f>Sheet1!$C$3:$C$7</c:f>
              <c:numCache>
                <c:formatCode>General</c:formatCode>
                <c:ptCount val="5"/>
                <c:pt idx="0">
                  <c:v>20</c:v>
                </c:pt>
                <c:pt idx="1">
                  <c:v>20</c:v>
                </c:pt>
                <c:pt idx="2">
                  <c:v>10</c:v>
                </c:pt>
                <c:pt idx="3">
                  <c:v>25</c:v>
                </c:pt>
                <c:pt idx="4">
                  <c:v>25</c:v>
                </c:pt>
              </c:numCache>
            </c:numRef>
          </c:val>
          <c:extLst>
            <c:ext xmlns:c16="http://schemas.microsoft.com/office/drawing/2014/chart" uri="{C3380CC4-5D6E-409C-BE32-E72D297353CC}">
              <c16:uniqueId val="{0000000A-BA65-4EE1-8706-5F9AF75E9B6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sz="1200" b="1" dirty="0"/>
              <a:t>KPI 3 -</a:t>
            </a:r>
            <a:r>
              <a:rPr lang="en-US" sz="1200" b="1" dirty="0">
                <a:solidFill>
                  <a:srgbClr val="00249C"/>
                </a:solidFill>
              </a:rPr>
              <a:t> Authority Compliance Rate (%)</a:t>
            </a:r>
            <a:endParaRPr lang="en-US" sz="1200" b="1" dirty="0"/>
          </a:p>
        </c:rich>
      </c:tx>
      <c:layout>
        <c:manualLayout>
          <c:xMode val="edge"/>
          <c:yMode val="edge"/>
          <c:x val="0.12890324142473533"/>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26D1-4870-831B-A4A7B63134FD}"/>
              </c:ext>
            </c:extLst>
          </c:dPt>
          <c:dPt>
            <c:idx val="1"/>
            <c:invertIfNegative val="0"/>
            <c:bubble3D val="0"/>
            <c:extLst>
              <c:ext xmlns:c16="http://schemas.microsoft.com/office/drawing/2014/chart" uri="{C3380CC4-5D6E-409C-BE32-E72D297353CC}">
                <c16:uniqueId val="{00000001-26D1-4870-831B-A4A7B63134FD}"/>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0.61111111111111116</c:v>
                </c:pt>
                <c:pt idx="1">
                  <c:v>0.76190476190476186</c:v>
                </c:pt>
              </c:numCache>
            </c:numRef>
          </c:val>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034155346098312"/>
                  <c:y val="-2.89115638515302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689-472A-BC5F-61E0DCA1A91F}"/>
                </c:ext>
              </c:extLst>
            </c:dLbl>
            <c:dLbl>
              <c:idx val="1"/>
              <c:delete val="1"/>
              <c:extLst>
                <c:ext xmlns:c15="http://schemas.microsoft.com/office/drawing/2012/chart" uri="{CE6537A1-D6FC-4f65-9D91-7224C49458BB}"/>
                <c:ext xmlns:c16="http://schemas.microsoft.com/office/drawing/2014/chart" uri="{C3380CC4-5D6E-409C-BE32-E72D297353CC}">
                  <c16:uniqueId val="{00000006-8689-472A-BC5F-61E0DCA1A91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0.74</c:v>
                </c:pt>
                <c:pt idx="1">
                  <c:v>0.74</c:v>
                </c:pt>
              </c:numCache>
            </c:numRef>
          </c:val>
          <c:smooth val="0"/>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933319006553132"/>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b="1" dirty="0">
                <a:solidFill>
                  <a:srgbClr val="00249C"/>
                </a:solidFill>
              </a:rPr>
              <a:t>KPI 4 - % of EHS Committee Meetings Conducted as per TORs</a:t>
            </a:r>
          </a:p>
        </c:rich>
      </c:tx>
      <c:layout>
        <c:manualLayout>
          <c:xMode val="edge"/>
          <c:yMode val="edge"/>
          <c:x val="0.11658407689025348"/>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1"/>
            <c:bubble3D val="0"/>
            <c:spPr>
              <a:solidFill>
                <a:srgbClr val="00249C"/>
              </a:solidFill>
            </c:spPr>
            <c:extLst>
              <c:ext xmlns:c16="http://schemas.microsoft.com/office/drawing/2014/chart" uri="{C3380CC4-5D6E-409C-BE32-E72D297353CC}">
                <c16:uniqueId val="{00000001-ABDE-4EA8-8FF6-525476CEC6D4}"/>
              </c:ext>
            </c:extLst>
          </c:dPt>
          <c:dPt>
            <c:idx val="1"/>
            <c:invertIfNegative val="1"/>
            <c:bubble3D val="0"/>
            <c:spPr>
              <a:solidFill>
                <a:srgbClr val="00249C"/>
              </a:solidFill>
            </c:spPr>
            <c:extLst>
              <c:ext xmlns:c16="http://schemas.microsoft.com/office/drawing/2014/chart" uri="{C3380CC4-5D6E-409C-BE32-E72D297353CC}">
                <c16:uniqueId val="{00000003-ABDE-4EA8-8FF6-525476CEC6D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0.66666666666666663</c:v>
                </c:pt>
                <c:pt idx="1">
                  <c:v>0.66666666666666663</c:v>
                </c:pt>
              </c:numCache>
            </c:numRef>
          </c:val>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2754783430060757"/>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E09-46F3-846C-563A8AA1EC2D}"/>
                </c:ext>
              </c:extLst>
            </c:dLbl>
            <c:dLbl>
              <c:idx val="1"/>
              <c:delete val="1"/>
              <c:extLst>
                <c:ext xmlns:c15="http://schemas.microsoft.com/office/drawing/2012/chart" uri="{CE6537A1-D6FC-4f65-9D91-7224C49458BB}"/>
                <c:ext xmlns:c16="http://schemas.microsoft.com/office/drawing/2014/chart" uri="{C3380CC4-5D6E-409C-BE32-E72D297353CC}">
                  <c16:uniqueId val="{00000006-4E09-46F3-846C-563A8AA1EC2D}"/>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0.71</c:v>
                </c:pt>
                <c:pt idx="1">
                  <c:v>0.71</c:v>
                </c:pt>
              </c:numCache>
            </c:numRef>
          </c:val>
          <c:smooth val="0"/>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2343048308259396"/>
              <c:y val="0.42249885000409404"/>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5 - % of Committee Meetings &amp; Management Review &amp; Committee Meeting Actions Closed</a:t>
            </a:r>
          </a:p>
        </c:rich>
      </c:tx>
      <c:layout>
        <c:manualLayout>
          <c:xMode val="edge"/>
          <c:yMode val="edge"/>
          <c:x val="9.0244213549963093E-2"/>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0"/>
            <c:bubble3D val="0"/>
            <c:spPr>
              <a:solidFill>
                <a:srgbClr val="00249C"/>
              </a:solidFill>
            </c:spPr>
            <c:extLst>
              <c:ext xmlns:c16="http://schemas.microsoft.com/office/drawing/2014/chart" uri="{C3380CC4-5D6E-409C-BE32-E72D297353CC}">
                <c16:uniqueId val="{00000000-3284-4EA8-841A-A274FBB17FC9}"/>
              </c:ext>
            </c:extLst>
          </c:dPt>
          <c:dPt>
            <c:idx val="1"/>
            <c:invertIfNegative val="0"/>
            <c:bubble3D val="0"/>
            <c:spPr>
              <a:solidFill>
                <a:srgbClr val="00249C"/>
              </a:solidFill>
            </c:spPr>
            <c:extLst>
              <c:ext xmlns:c16="http://schemas.microsoft.com/office/drawing/2014/chart" uri="{C3380CC4-5D6E-409C-BE32-E72D297353CC}">
                <c16:uniqueId val="{00000001-3284-4EA8-841A-A274FBB17FC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4320041174816542"/>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EEA-4987-B2D1-83DC6A1B67DA}"/>
                </c:ext>
              </c:extLst>
            </c:dLbl>
            <c:dLbl>
              <c:idx val="1"/>
              <c:delete val="1"/>
              <c:extLst>
                <c:ext xmlns:c15="http://schemas.microsoft.com/office/drawing/2012/chart" uri="{CE6537A1-D6FC-4f65-9D91-7224C49458BB}"/>
                <c:ext xmlns:c16="http://schemas.microsoft.com/office/drawing/2014/chart" uri="{C3380CC4-5D6E-409C-BE32-E72D297353CC}">
                  <c16:uniqueId val="{00000008-8EEA-4987-B2D1-83DC6A1B67DA}"/>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3057023409367839"/>
              <c:y val="0.32449733496754929"/>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6 - </a:t>
            </a:r>
            <a:r>
              <a:rPr lang="en-US" sz="12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of Implemented Control Measures</a:t>
            </a:r>
            <a:endPar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endParaRP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B144-443F-8F2B-9C378D9AF99F}"/>
              </c:ext>
            </c:extLst>
          </c:dPt>
          <c:dPt>
            <c:idx val="1"/>
            <c:invertIfNegative val="0"/>
            <c:bubble3D val="0"/>
            <c:extLst>
              <c:ext xmlns:c16="http://schemas.microsoft.com/office/drawing/2014/chart" uri="{C3380CC4-5D6E-409C-BE32-E72D297353CC}">
                <c16:uniqueId val="{00000003-B144-443F-8F2B-9C378D9AF99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0.82222222222222219</c:v>
                </c:pt>
                <c:pt idx="1">
                  <c:v>0.93333333333333335</c:v>
                </c:pt>
              </c:numCache>
            </c:numRef>
          </c:val>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52-49B5-8CBD-0834DD513762}"/>
                </c:ext>
              </c:extLst>
            </c:dLbl>
            <c:dLbl>
              <c:idx val="1"/>
              <c:delete val="1"/>
              <c:extLst>
                <c:ext xmlns:c15="http://schemas.microsoft.com/office/drawing/2012/chart" uri="{CE6537A1-D6FC-4f65-9D91-7224C49458BB}"/>
                <c:ext xmlns:c16="http://schemas.microsoft.com/office/drawing/2014/chart" uri="{C3380CC4-5D6E-409C-BE32-E72D297353CC}">
                  <c16:uniqueId val="{00000006-7752-49B5-8CBD-0834DD51376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0.87</c:v>
                </c:pt>
                <c:pt idx="1">
                  <c:v>0.87</c:v>
                </c:pt>
              </c:numCache>
            </c:numRef>
          </c:val>
          <c:smooth val="0"/>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9 - Training Session Planned Vs Conducted</a:t>
            </a:r>
          </a:p>
        </c:rich>
      </c:tx>
      <c:layout>
        <c:manualLayout>
          <c:xMode val="edge"/>
          <c:yMode val="edge"/>
          <c:x val="0.13437016298997154"/>
          <c:y val="3.4693876621836289E-2"/>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FD35-4859-9360-BD15DE2B4867}"/>
              </c:ext>
            </c:extLst>
          </c:dPt>
          <c:dPt>
            <c:idx val="1"/>
            <c:invertIfNegative val="0"/>
            <c:bubble3D val="0"/>
            <c:spPr>
              <a:solidFill>
                <a:srgbClr val="BFBFBF"/>
              </a:solidFill>
              <a:ln>
                <a:noFill/>
              </a:ln>
              <a:effectLst/>
            </c:spPr>
            <c:extLst>
              <c:ext xmlns:c16="http://schemas.microsoft.com/office/drawing/2014/chart" uri="{C3380CC4-5D6E-409C-BE32-E72D297353CC}">
                <c16:uniqueId val="{00000003-FD35-4859-9360-BD15DE2B4867}"/>
              </c:ext>
            </c:extLst>
          </c:dPt>
          <c:dLbls>
            <c:dLbl>
              <c:idx val="0"/>
              <c:tx>
                <c:rich>
                  <a:bodyPr/>
                  <a:lstStyle/>
                  <a:p>
                    <a:r>
                      <a:rPr lang="en-US" dirty="0"/>
                      <a:t>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D35-4859-9360-BD15DE2B4867}"/>
                </c:ext>
              </c:extLst>
            </c:dLbl>
            <c:dLbl>
              <c:idx val="1"/>
              <c:tx>
                <c:rich>
                  <a:bodyPr/>
                  <a:lstStyle/>
                  <a:p>
                    <a:r>
                      <a:rPr lang="en-US"/>
                      <a:t>N/A</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D35-4859-9360-BD15DE2B4867}"/>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6-FD35-4859-9360-BD15DE2B4867}"/>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013282463267957"/>
                  <c:y val="-4.04761893921423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92E-4473-9012-1C5A11EDC8A9}"/>
                </c:ext>
              </c:extLst>
            </c:dLbl>
            <c:dLbl>
              <c:idx val="1"/>
              <c:delete val="1"/>
              <c:extLst>
                <c:ext xmlns:c15="http://schemas.microsoft.com/office/drawing/2012/chart" uri="{CE6537A1-D6FC-4f65-9D91-7224C49458BB}"/>
                <c:ext xmlns:c16="http://schemas.microsoft.com/office/drawing/2014/chart" uri="{C3380CC4-5D6E-409C-BE32-E72D297353CC}">
                  <c16:uniqueId val="{00000006-F92E-4473-9012-1C5A11EDC8A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0.26</c:v>
                </c:pt>
                <c:pt idx="1">
                  <c:v>0.26</c:v>
                </c:pt>
              </c:numCache>
            </c:numRef>
          </c:val>
          <c:smooth val="0"/>
          <c:extLst>
            <c:ext xmlns:c16="http://schemas.microsoft.com/office/drawing/2014/chart" uri="{C3380CC4-5D6E-409C-BE32-E72D297353CC}">
              <c16:uniqueId val="{00000006-FD35-4859-9360-BD15DE2B4867}"/>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61531957749960953"/>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11 - Safe Work Procedures - implemented vs total number controls</a:t>
            </a:r>
          </a:p>
        </c:rich>
      </c:tx>
      <c:layout>
        <c:manualLayout>
          <c:xMode val="edge"/>
          <c:yMode val="edge"/>
          <c:x val="0.11499963636092629"/>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D3E2-40B1-A782-19892A84049E}"/>
              </c:ext>
            </c:extLst>
          </c:dPt>
          <c:dPt>
            <c:idx val="1"/>
            <c:invertIfNegative val="0"/>
            <c:bubble3D val="0"/>
            <c:extLst>
              <c:ext xmlns:c16="http://schemas.microsoft.com/office/drawing/2014/chart" uri="{C3380CC4-5D6E-409C-BE32-E72D297353CC}">
                <c16:uniqueId val="{00000003-D3E2-40B1-A782-19892A84049E}"/>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0.7</c:v>
                </c:pt>
                <c:pt idx="1">
                  <c:v>0.8666666666666667</c:v>
                </c:pt>
              </c:numCache>
            </c:numRef>
          </c:val>
          <c:extLst>
            <c:ext xmlns:c16="http://schemas.microsoft.com/office/drawing/2014/chart" uri="{C3380CC4-5D6E-409C-BE32-E72D297353CC}">
              <c16:uniqueId val="{00000006-D3E2-40B1-A782-19892A84049E}"/>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3707779640375084"/>
                  <c:y val="-4.6258502162448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4F9-49EF-8359-F4B087CC39F5}"/>
                </c:ext>
              </c:extLst>
            </c:dLbl>
            <c:dLbl>
              <c:idx val="1"/>
              <c:delete val="1"/>
              <c:extLst>
                <c:ext xmlns:c15="http://schemas.microsoft.com/office/drawing/2012/chart" uri="{CE6537A1-D6FC-4f65-9D91-7224C49458BB}"/>
                <c:ext xmlns:c16="http://schemas.microsoft.com/office/drawing/2014/chart" uri="{C3380CC4-5D6E-409C-BE32-E72D297353CC}">
                  <c16:uniqueId val="{00000006-E4F9-49EF-8359-F4B087CC39F5}"/>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0.83</c:v>
                </c:pt>
                <c:pt idx="1">
                  <c:v>0.83</c:v>
                </c:pt>
              </c:numCache>
            </c:numRef>
          </c:val>
          <c:smooth val="0"/>
          <c:extLst>
            <c:ext xmlns:c16="http://schemas.microsoft.com/office/drawing/2014/chart" uri="{C3380CC4-5D6E-409C-BE32-E72D297353CC}">
              <c16:uniqueId val="{00000006-D3E2-40B1-A782-19892A84049E}"/>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3030746879030829"/>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12 - Emergency Drills Conducted on Schedule (%)</a:t>
            </a:r>
          </a:p>
        </c:rich>
      </c:tx>
      <c:layout>
        <c:manualLayout>
          <c:xMode val="edge"/>
          <c:yMode val="edge"/>
          <c:x val="0.1247909075326228"/>
          <c:y val="0"/>
        </c:manualLayout>
      </c:layout>
      <c:overlay val="0"/>
      <c:spPr>
        <a:noFill/>
        <a:ln>
          <a:noFill/>
        </a:ln>
        <a:effectLst/>
      </c:spPr>
    </c:title>
    <c:autoTitleDeleted val="0"/>
    <c:plotArea>
      <c:layout>
        <c:manualLayout>
          <c:layoutTarget val="inner"/>
          <c:xMode val="edge"/>
          <c:yMode val="edge"/>
          <c:x val="0.1208080959678209"/>
          <c:y val="0.25938795561839489"/>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B7F5-43C8-985D-5A03B9A0F529}"/>
              </c:ext>
            </c:extLst>
          </c:dPt>
          <c:dPt>
            <c:idx val="1"/>
            <c:invertIfNegative val="0"/>
            <c:bubble3D val="0"/>
            <c:extLst>
              <c:ext xmlns:c16="http://schemas.microsoft.com/office/drawing/2014/chart" uri="{C3380CC4-5D6E-409C-BE32-E72D297353CC}">
                <c16:uniqueId val="{00000001-B7F5-43C8-985D-5A03B9A0F52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c:v>
                </c:pt>
                <c:pt idx="1">
                  <c:v>1</c:v>
                </c:pt>
              </c:numCache>
            </c:numRef>
          </c:val>
          <c:extLst>
            <c:ext xmlns:c16="http://schemas.microsoft.com/office/drawing/2014/chart" uri="{C3380CC4-5D6E-409C-BE32-E72D297353CC}">
              <c16:uniqueId val="{00000002-B7F5-43C8-985D-5A03B9A0F529}"/>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3707779640375084"/>
                  <c:y val="-4.6258502162448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7F5-43C8-985D-5A03B9A0F529}"/>
                </c:ext>
              </c:extLst>
            </c:dLbl>
            <c:dLbl>
              <c:idx val="1"/>
              <c:delete val="1"/>
              <c:extLst>
                <c:ext xmlns:c15="http://schemas.microsoft.com/office/drawing/2012/chart" uri="{CE6537A1-D6FC-4f65-9D91-7224C49458BB}"/>
                <c:ext xmlns:c16="http://schemas.microsoft.com/office/drawing/2014/chart" uri="{C3380CC4-5D6E-409C-BE32-E72D297353CC}">
                  <c16:uniqueId val="{00000004-B7F5-43C8-985D-5A03B9A0F52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5-B7F5-43C8-985D-5A03B9A0F529}"/>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3030746879030829"/>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13 - % Compliance to PTW (Permit-to-Work) </a:t>
            </a:r>
          </a:p>
        </c:rich>
      </c:tx>
      <c:layout>
        <c:manualLayout>
          <c:xMode val="edge"/>
          <c:yMode val="edge"/>
          <c:x val="0.1841260108331035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5823-41F5-B8BC-C84EEAE529E0}"/>
              </c:ext>
            </c:extLst>
          </c:dPt>
          <c:dPt>
            <c:idx val="1"/>
            <c:invertIfNegative val="0"/>
            <c:bubble3D val="0"/>
            <c:spPr>
              <a:solidFill>
                <a:srgbClr val="00249C"/>
              </a:solidFill>
              <a:ln>
                <a:noFill/>
              </a:ln>
              <a:effectLst/>
            </c:spPr>
            <c:extLst>
              <c:ext xmlns:c16="http://schemas.microsoft.com/office/drawing/2014/chart" uri="{C3380CC4-5D6E-409C-BE32-E72D297353CC}">
                <c16:uniqueId val="{00000003-5823-41F5-B8BC-C84EEAE529E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0.98809523809523814</c:v>
                </c:pt>
              </c:numCache>
            </c:numRef>
          </c:val>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3.24946022042963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0DC-48EF-8A2E-ED135A1863AC}"/>
                </c:ext>
              </c:extLst>
            </c:dLbl>
            <c:dLbl>
              <c:idx val="1"/>
              <c:delete val="1"/>
              <c:extLst>
                <c:ext xmlns:c15="http://schemas.microsoft.com/office/drawing/2012/chart" uri="{CE6537A1-D6FC-4f65-9D91-7224C49458BB}"/>
                <c:ext xmlns:c16="http://schemas.microsoft.com/office/drawing/2014/chart" uri="{C3380CC4-5D6E-409C-BE32-E72D297353CC}">
                  <c16:uniqueId val="{00000006-E0DC-48EF-8A2E-ED135A1863AC}"/>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0.98</c:v>
                </c:pt>
                <c:pt idx="1">
                  <c:v>0.98</c:v>
                </c:pt>
              </c:numCache>
            </c:numRef>
          </c:val>
          <c:smooth val="0"/>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2166260514598995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a:t>
            </a:r>
            <a:r>
              <a:rPr lang="en-US" b="1" baseline="0" dirty="0">
                <a:solidFill>
                  <a:schemeClr val="tx1"/>
                </a:solidFill>
              </a:rPr>
              <a:t> 14 - </a:t>
            </a:r>
            <a:r>
              <a:rPr lang="en-US" b="1" dirty="0">
                <a:solidFill>
                  <a:schemeClr val="tx1"/>
                </a:solidFill>
              </a:rPr>
              <a:t>% Compliance to Onsite Safety Induction</a:t>
            </a:r>
          </a:p>
        </c:rich>
      </c:tx>
      <c:layout>
        <c:manualLayout>
          <c:xMode val="edge"/>
          <c:yMode val="edge"/>
          <c:x val="0.1770110204483374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8078-459C-87A1-80B8C52926CF}"/>
              </c:ext>
            </c:extLst>
          </c:dPt>
          <c:dPt>
            <c:idx val="1"/>
            <c:invertIfNegative val="0"/>
            <c:bubble3D val="0"/>
            <c:spPr>
              <a:solidFill>
                <a:srgbClr val="00249C"/>
              </a:solidFill>
              <a:ln>
                <a:noFill/>
              </a:ln>
              <a:effectLst/>
            </c:spPr>
            <c:extLst>
              <c:ext xmlns:c16="http://schemas.microsoft.com/office/drawing/2014/chart" uri="{C3380CC4-5D6E-409C-BE32-E72D297353CC}">
                <c16:uniqueId val="{00000003-8078-459C-87A1-80B8C52926C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3.71366882334815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16-4A86-8722-396C53191CA6}"/>
                </c:ext>
              </c:extLst>
            </c:dLbl>
            <c:dLbl>
              <c:idx val="1"/>
              <c:delete val="1"/>
              <c:extLst>
                <c:ext xmlns:c15="http://schemas.microsoft.com/office/drawing/2012/chart" uri="{CE6537A1-D6FC-4f65-9D91-7224C49458BB}"/>
                <c:ext xmlns:c16="http://schemas.microsoft.com/office/drawing/2014/chart" uri="{C3380CC4-5D6E-409C-BE32-E72D297353CC}">
                  <c16:uniqueId val="{00000006-C116-4A86-8722-396C53191CA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0.99</c:v>
                </c:pt>
                <c:pt idx="1">
                  <c:v>0.99</c:v>
                </c:pt>
              </c:numCache>
            </c:numRef>
          </c:val>
          <c:smooth val="0"/>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2166260514598995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15 - % of  Inspections Completed </a:t>
            </a:r>
          </a:p>
        </c:rich>
      </c:tx>
      <c:layout>
        <c:manualLayout>
          <c:xMode val="edge"/>
          <c:yMode val="edge"/>
          <c:x val="0.15196155653970822"/>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C836-4C38-B3AF-DB14259D9935}"/>
              </c:ext>
            </c:extLst>
          </c:dPt>
          <c:dPt>
            <c:idx val="1"/>
            <c:invertIfNegative val="0"/>
            <c:bubble3D val="0"/>
            <c:spPr>
              <a:solidFill>
                <a:srgbClr val="00249C"/>
              </a:solidFill>
              <a:ln>
                <a:noFill/>
              </a:ln>
              <a:effectLst/>
            </c:spPr>
            <c:extLst>
              <c:ext xmlns:c16="http://schemas.microsoft.com/office/drawing/2014/chart" uri="{C3380CC4-5D6E-409C-BE32-E72D297353CC}">
                <c16:uniqueId val="{00000003-C836-4C38-B3AF-DB14259D9935}"/>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0.83333333333333337</c:v>
                </c:pt>
              </c:numCache>
            </c:numRef>
          </c:val>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686906757544746"/>
                  <c:y val="-4.04761893921423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B3B-4B64-8B9D-12433493ED04}"/>
                </c:ext>
              </c:extLst>
            </c:dLbl>
            <c:dLbl>
              <c:idx val="1"/>
              <c:delete val="1"/>
              <c:extLst>
                <c:ext xmlns:c15="http://schemas.microsoft.com/office/drawing/2012/chart" uri="{CE6537A1-D6FC-4f65-9D91-7224C49458BB}"/>
                <c:ext xmlns:c16="http://schemas.microsoft.com/office/drawing/2014/chart" uri="{C3380CC4-5D6E-409C-BE32-E72D297353CC}">
                  <c16:uniqueId val="{00000006-1B3B-4B64-8B9D-12433493ED04}"/>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0.75</c:v>
                </c:pt>
                <c:pt idx="1">
                  <c:v>0.75</c:v>
                </c:pt>
              </c:numCache>
            </c:numRef>
          </c:val>
          <c:smooth val="0"/>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262039389843071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16 - % of Findings Closed On Time</a:t>
            </a:r>
          </a:p>
        </c:rich>
      </c:tx>
      <c:layout>
        <c:manualLayout>
          <c:xMode val="edge"/>
          <c:yMode val="edge"/>
          <c:x val="0.1344354381311161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72E4-4828-BBFD-3DFE83236654}"/>
              </c:ext>
            </c:extLst>
          </c:dPt>
          <c:dPt>
            <c:idx val="1"/>
            <c:invertIfNegative val="0"/>
            <c:bubble3D val="0"/>
            <c:spPr>
              <a:solidFill>
                <a:srgbClr val="00249C"/>
              </a:solidFill>
              <a:ln>
                <a:noFill/>
              </a:ln>
              <a:effectLst/>
            </c:spPr>
            <c:extLst>
              <c:ext xmlns:c16="http://schemas.microsoft.com/office/drawing/2014/chart" uri="{C3380CC4-5D6E-409C-BE32-E72D297353CC}">
                <c16:uniqueId val="{00000003-72E4-4828-BBFD-3DFE8323665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0.61194029850746268</c:v>
                </c:pt>
                <c:pt idx="1">
                  <c:v>0.59047619047619049</c:v>
                </c:pt>
              </c:numCache>
            </c:numRef>
          </c:val>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013282463267957"/>
                  <c:y val="-4.62585021624483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529-433B-85C6-F1DB317FA4D6}"/>
                </c:ext>
              </c:extLst>
            </c:dLbl>
            <c:dLbl>
              <c:idx val="1"/>
              <c:delete val="1"/>
              <c:extLst>
                <c:ext xmlns:c15="http://schemas.microsoft.com/office/drawing/2012/chart" uri="{CE6537A1-D6FC-4f65-9D91-7224C49458BB}"/>
                <c:ext xmlns:c16="http://schemas.microsoft.com/office/drawing/2014/chart" uri="{C3380CC4-5D6E-409C-BE32-E72D297353CC}">
                  <c16:uniqueId val="{00000006-5529-433B-85C6-F1DB317FA4D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0.53</c:v>
                </c:pt>
                <c:pt idx="1">
                  <c:v>0.53</c:v>
                </c:pt>
              </c:numCache>
            </c:numRef>
          </c:val>
          <c:smooth val="0"/>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4591971327013462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a:t>
            </a:r>
            <a:r>
              <a:rPr lang="en-US" b="1" baseline="0" dirty="0">
                <a:solidFill>
                  <a:schemeClr val="tx1"/>
                </a:solidFill>
              </a:rPr>
              <a:t> 17 - </a:t>
            </a:r>
            <a:r>
              <a:rPr lang="en-US" b="1" dirty="0">
                <a:solidFill>
                  <a:schemeClr val="tx1"/>
                </a:solidFill>
              </a:rPr>
              <a:t>Incident Notifications On Time</a:t>
            </a:r>
          </a:p>
        </c:rich>
      </c:tx>
      <c:layout>
        <c:manualLayout>
          <c:xMode val="edge"/>
          <c:yMode val="edge"/>
          <c:x val="0.1166153245986285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62C-40CF-B7B7-262DD162B280}"/>
              </c:ext>
            </c:extLst>
          </c:dPt>
          <c:dPt>
            <c:idx val="1"/>
            <c:invertIfNegative val="0"/>
            <c:bubble3D val="0"/>
            <c:spPr>
              <a:solidFill>
                <a:srgbClr val="FFC000"/>
              </a:solidFill>
              <a:ln>
                <a:noFill/>
              </a:ln>
              <a:effectLst/>
            </c:spPr>
            <c:extLst>
              <c:ext xmlns:c16="http://schemas.microsoft.com/office/drawing/2014/chart" uri="{C3380CC4-5D6E-409C-BE32-E72D297353CC}">
                <c16:uniqueId val="{00000003-362C-40CF-B7B7-262DD162B280}"/>
              </c:ext>
            </c:extLst>
          </c:dPt>
          <c:dLbls>
            <c:dLbl>
              <c:idx val="0"/>
              <c:tx>
                <c:rich>
                  <a:bodyPr/>
                  <a:lstStyle/>
                  <a:p>
                    <a:r>
                      <a:rPr lang="en-US" dirty="0"/>
                      <a:t>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62C-40CF-B7B7-262DD162B280}"/>
                </c:ext>
              </c:extLst>
            </c:dLbl>
            <c:dLbl>
              <c:idx val="1"/>
              <c:tx>
                <c:rich>
                  <a:bodyPr/>
                  <a:lstStyle/>
                  <a:p>
                    <a:r>
                      <a:rPr lang="en-US" dirty="0"/>
                      <a:t>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62C-40CF-B7B7-262DD162B280}"/>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992409580437605"/>
                  <c:y val="-3.46938766218363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40A-4066-B838-7DCA475252F2}"/>
                </c:ext>
              </c:extLst>
            </c:dLbl>
            <c:dLbl>
              <c:idx val="1"/>
              <c:delete val="1"/>
              <c:extLst>
                <c:ext xmlns:c15="http://schemas.microsoft.com/office/drawing/2012/chart" uri="{CE6537A1-D6FC-4f65-9D91-7224C49458BB}"/>
                <c:ext xmlns:c16="http://schemas.microsoft.com/office/drawing/2014/chart" uri="{C3380CC4-5D6E-409C-BE32-E72D297353CC}">
                  <c16:uniqueId val="{00000006-E40A-4066-B838-7DCA475252F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0.31</c:v>
                </c:pt>
                <c:pt idx="1">
                  <c:v>0.31</c:v>
                </c:pt>
              </c:numCache>
            </c:numRef>
          </c:val>
          <c:smooth val="0"/>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59219032641838543"/>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18 - Investigation Completed On Time</a:t>
            </a:r>
          </a:p>
        </c:rich>
      </c:tx>
      <c:layout>
        <c:manualLayout>
          <c:xMode val="edge"/>
          <c:yMode val="edge"/>
          <c:x val="0.1539092742355163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629-480D-8E60-04C4FB5D9ABF}"/>
              </c:ext>
            </c:extLst>
          </c:dPt>
          <c:dPt>
            <c:idx val="1"/>
            <c:invertIfNegative val="0"/>
            <c:bubble3D val="0"/>
            <c:spPr>
              <a:solidFill>
                <a:srgbClr val="FFC000"/>
              </a:solidFill>
              <a:ln>
                <a:noFill/>
              </a:ln>
              <a:effectLst/>
            </c:spPr>
            <c:extLst>
              <c:ext xmlns:c16="http://schemas.microsoft.com/office/drawing/2014/chart" uri="{C3380CC4-5D6E-409C-BE32-E72D297353CC}">
                <c16:uniqueId val="{00000003-3629-480D-8E60-04C4FB5D9ABF}"/>
              </c:ext>
            </c:extLst>
          </c:dPt>
          <c:dLbls>
            <c:dLbl>
              <c:idx val="0"/>
              <c:tx>
                <c:rich>
                  <a:bodyPr/>
                  <a:lstStyle/>
                  <a:p>
                    <a:r>
                      <a:rPr lang="en-US" dirty="0"/>
                      <a:t>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629-480D-8E60-04C4FB5D9ABF}"/>
                </c:ext>
              </c:extLst>
            </c:dLbl>
            <c:dLbl>
              <c:idx val="1"/>
              <c:tx>
                <c:rich>
                  <a:bodyPr/>
                  <a:lstStyle/>
                  <a:p>
                    <a:r>
                      <a:rPr lang="en-US" dirty="0"/>
                      <a:t>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629-480D-8E60-04C4FB5D9AB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6318785286160822"/>
                  <c:y val="-5.20408149327544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47E-4568-8D59-6D5E6867F709}"/>
                </c:ext>
              </c:extLst>
            </c:dLbl>
            <c:dLbl>
              <c:idx val="1"/>
              <c:delete val="1"/>
              <c:extLst>
                <c:ext xmlns:c15="http://schemas.microsoft.com/office/drawing/2012/chart" uri="{CE6537A1-D6FC-4f65-9D91-7224C49458BB}"/>
                <c:ext xmlns:c16="http://schemas.microsoft.com/office/drawing/2014/chart" uri="{C3380CC4-5D6E-409C-BE32-E72D297353CC}">
                  <c16:uniqueId val="{00000006-647E-4568-8D59-6D5E6867F70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0.62</c:v>
                </c:pt>
                <c:pt idx="1">
                  <c:v>0.62</c:v>
                </c:pt>
              </c:numCache>
            </c:numRef>
          </c:val>
          <c:smooth val="0"/>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3021689079083403"/>
              <c:y val="0.4129386305388978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02588310969851"/>
          <c:y val="5.6500479633733573E-4"/>
          <c:w val="0.65320343035115047"/>
          <c:h val="0.9869297326427352"/>
        </c:manualLayout>
      </c:layout>
      <c:pieChart>
        <c:varyColors val="1"/>
        <c:ser>
          <c:idx val="0"/>
          <c:order val="0"/>
          <c:spPr>
            <a:solidFill>
              <a:srgbClr val="00249C"/>
            </a:solidFill>
          </c:spPr>
          <c:dPt>
            <c:idx val="0"/>
            <c:bubble3D val="0"/>
            <c:spPr>
              <a:solidFill>
                <a:srgbClr val="00249C"/>
              </a:solidFill>
              <a:ln w="19050">
                <a:solidFill>
                  <a:schemeClr val="lt1"/>
                </a:solidFill>
              </a:ln>
              <a:effectLst/>
            </c:spPr>
            <c:extLst>
              <c:ext xmlns:c16="http://schemas.microsoft.com/office/drawing/2014/chart" uri="{C3380CC4-5D6E-409C-BE32-E72D297353CC}">
                <c16:uniqueId val="{00000001-BA65-4EE1-8706-5F9AF75E9B6F}"/>
              </c:ext>
            </c:extLst>
          </c:dPt>
          <c:dPt>
            <c:idx val="1"/>
            <c:bubble3D val="0"/>
            <c:spPr>
              <a:solidFill>
                <a:srgbClr val="00249C"/>
              </a:solidFill>
              <a:ln w="19050">
                <a:solidFill>
                  <a:schemeClr val="lt1"/>
                </a:solidFill>
              </a:ln>
              <a:effectLst/>
            </c:spPr>
            <c:extLst>
              <c:ext xmlns:c16="http://schemas.microsoft.com/office/drawing/2014/chart" uri="{C3380CC4-5D6E-409C-BE32-E72D297353CC}">
                <c16:uniqueId val="{00000003-BA65-4EE1-8706-5F9AF75E9B6F}"/>
              </c:ext>
            </c:extLst>
          </c:dPt>
          <c:dPt>
            <c:idx val="2"/>
            <c:bubble3D val="0"/>
            <c:spPr>
              <a:solidFill>
                <a:srgbClr val="00249C"/>
              </a:solidFill>
              <a:ln w="19050">
                <a:solidFill>
                  <a:schemeClr val="lt1"/>
                </a:solidFill>
              </a:ln>
              <a:effectLst/>
            </c:spPr>
            <c:extLst>
              <c:ext xmlns:c16="http://schemas.microsoft.com/office/drawing/2014/chart" uri="{C3380CC4-5D6E-409C-BE32-E72D297353CC}">
                <c16:uniqueId val="{00000005-BA65-4EE1-8706-5F9AF75E9B6F}"/>
              </c:ext>
            </c:extLst>
          </c:dPt>
          <c:dPt>
            <c:idx val="3"/>
            <c:bubble3D val="0"/>
            <c:spPr>
              <a:solidFill>
                <a:srgbClr val="00249C"/>
              </a:solidFill>
              <a:ln w="19050">
                <a:solidFill>
                  <a:schemeClr val="lt1"/>
                </a:solidFill>
              </a:ln>
              <a:effectLst/>
            </c:spPr>
            <c:extLst>
              <c:ext xmlns:c16="http://schemas.microsoft.com/office/drawing/2014/chart" uri="{C3380CC4-5D6E-409C-BE32-E72D297353CC}">
                <c16:uniqueId val="{00000007-BA65-4EE1-8706-5F9AF75E9B6F}"/>
              </c:ext>
            </c:extLst>
          </c:dPt>
          <c:dPt>
            <c:idx val="4"/>
            <c:bubble3D val="0"/>
            <c:spPr>
              <a:solidFill>
                <a:srgbClr val="00249C"/>
              </a:solidFill>
              <a:ln w="19050">
                <a:solidFill>
                  <a:schemeClr val="lt1"/>
                </a:solidFill>
              </a:ln>
              <a:effectLst/>
            </c:spPr>
            <c:extLst>
              <c:ext xmlns:c16="http://schemas.microsoft.com/office/drawing/2014/chart" uri="{C3380CC4-5D6E-409C-BE32-E72D297353CC}">
                <c16:uniqueId val="{00000009-BA65-4EE1-8706-5F9AF75E9B6F}"/>
              </c:ext>
            </c:extLst>
          </c:dPt>
          <c:dLbls>
            <c:dLbl>
              <c:idx val="0"/>
              <c:layout>
                <c:manualLayout>
                  <c:x val="-0.16487988540823936"/>
                  <c:y val="0.2104383897619319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A65-4EE1-8706-5F9AF75E9B6F}"/>
                </c:ext>
              </c:extLst>
            </c:dLbl>
            <c:dLbl>
              <c:idx val="1"/>
              <c:layout>
                <c:manualLayout>
                  <c:x val="-0.23891016132627421"/>
                  <c:y val="-0.12164657640375343"/>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65-4EE1-8706-5F9AF75E9B6F}"/>
                </c:ext>
              </c:extLst>
            </c:dLbl>
            <c:dLbl>
              <c:idx val="2"/>
              <c:layout>
                <c:manualLayout>
                  <c:x val="-9.4551292259325348E-2"/>
                  <c:y val="-9.1621826068713233E-2"/>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10964754195876607"/>
                      <c:h val="0.1950950570342205"/>
                    </c:manualLayout>
                  </c15:layout>
                </c:ext>
                <c:ext xmlns:c16="http://schemas.microsoft.com/office/drawing/2014/chart" uri="{C3380CC4-5D6E-409C-BE32-E72D297353CC}">
                  <c16:uniqueId val="{00000005-BA65-4EE1-8706-5F9AF75E9B6F}"/>
                </c:ext>
              </c:extLst>
            </c:dLbl>
            <c:dLbl>
              <c:idx val="3"/>
              <c:layout>
                <c:manualLayout>
                  <c:x val="0.17089371763214278"/>
                  <c:y val="-0.2634515550235702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A65-4EE1-8706-5F9AF75E9B6F}"/>
                </c:ext>
              </c:extLst>
            </c:dLbl>
            <c:dLbl>
              <c:idx val="4"/>
              <c:layout>
                <c:manualLayout>
                  <c:x val="0.17808724396757206"/>
                  <c:y val="0.22657342216650292"/>
                </c:manualLayout>
              </c:layout>
              <c:tx>
                <c:rich>
                  <a:bodyPr/>
                  <a:lstStyle/>
                  <a:p>
                    <a:fld id="{54EFDA80-51B9-4B77-AD05-126701107E30}" type="CATEGORYNAME">
                      <a:rPr lang="en-US" b="0"/>
                      <a:pPr/>
                      <a:t>[CATEGORY NAME]</a:t>
                    </a:fld>
                    <a:endParaRPr lang="en-US"/>
                  </a:p>
                </c:rich>
              </c:tx>
              <c:showLegendKey val="0"/>
              <c:showVal val="0"/>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BA65-4EE1-8706-5F9AF75E9B6F}"/>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Sheet1!$B$3:$B$7</c:f>
              <c:strCache>
                <c:ptCount val="5"/>
                <c:pt idx="0">
                  <c:v>1. Leadership, Accountability &amp; Engagement (20%)</c:v>
                </c:pt>
                <c:pt idx="1">
                  <c:v>2. Risk Management &amp; Planning (20%)</c:v>
                </c:pt>
                <c:pt idx="2">
                  <c:v>3. Training &amp; Awareness (10%)</c:v>
                </c:pt>
                <c:pt idx="3">
                  <c:v>4. Operational Control &amp; Emergency Preparedness (25%)</c:v>
                </c:pt>
                <c:pt idx="4">
                  <c:v>5. Performance Evaluation &amp; Continual Improvement (25%)</c:v>
                </c:pt>
              </c:strCache>
            </c:strRef>
          </c:cat>
          <c:val>
            <c:numRef>
              <c:f>Sheet1!$C$3:$C$7</c:f>
              <c:numCache>
                <c:formatCode>General</c:formatCode>
                <c:ptCount val="5"/>
                <c:pt idx="0">
                  <c:v>20</c:v>
                </c:pt>
                <c:pt idx="1">
                  <c:v>20</c:v>
                </c:pt>
                <c:pt idx="2">
                  <c:v>10</c:v>
                </c:pt>
                <c:pt idx="3">
                  <c:v>25</c:v>
                </c:pt>
                <c:pt idx="4">
                  <c:v>25</c:v>
                </c:pt>
              </c:numCache>
            </c:numRef>
          </c:val>
          <c:extLst>
            <c:ext xmlns:c16="http://schemas.microsoft.com/office/drawing/2014/chart" uri="{C3380CC4-5D6E-409C-BE32-E72D297353CC}">
              <c16:uniqueId val="{0000000A-BA65-4EE1-8706-5F9AF75E9B6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rPr>
              <a:t>KPI 3 - Authority Compliance Rate (%)</a:t>
            </a:r>
          </a:p>
        </c:rich>
      </c:tx>
      <c:layout>
        <c:manualLayout>
          <c:xMode val="edge"/>
          <c:yMode val="edge"/>
          <c:x val="0.1125844561385745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26D1-4870-831B-A4A7B63134FD}"/>
              </c:ext>
            </c:extLst>
          </c:dPt>
          <c:dPt>
            <c:idx val="1"/>
            <c:invertIfNegative val="0"/>
            <c:bubble3D val="0"/>
            <c:extLst>
              <c:ext xmlns:c16="http://schemas.microsoft.com/office/drawing/2014/chart" uri="{C3380CC4-5D6E-409C-BE32-E72D297353CC}">
                <c16:uniqueId val="{00000001-26D1-4870-831B-A4A7B63134FD}"/>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0.83333333333333337</c:v>
                </c:pt>
                <c:pt idx="1">
                  <c:v>0.61904761904761907</c:v>
                </c:pt>
              </c:numCache>
            </c:numRef>
          </c:val>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4.6258502162448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602-4E0D-8A22-8F937B316097}"/>
                </c:ext>
              </c:extLst>
            </c:dLbl>
            <c:dLbl>
              <c:idx val="1"/>
              <c:delete val="1"/>
              <c:extLst>
                <c:ext xmlns:c15="http://schemas.microsoft.com/office/drawing/2012/chart" uri="{CE6537A1-D6FC-4f65-9D91-7224C49458BB}"/>
                <c:ext xmlns:c16="http://schemas.microsoft.com/office/drawing/2014/chart" uri="{C3380CC4-5D6E-409C-BE32-E72D297353CC}">
                  <c16:uniqueId val="{00000007-D602-4E0D-8A22-8F937B316097}"/>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0.8</c:v>
                </c:pt>
                <c:pt idx="1">
                  <c:v>0.8</c:v>
                </c:pt>
              </c:numCache>
            </c:numRef>
          </c:val>
          <c:smooth val="0"/>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3021689079083403"/>
              <c:y val="0.3088570006733889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b="1" dirty="0">
                <a:solidFill>
                  <a:srgbClr val="00249C"/>
                </a:solidFill>
              </a:rPr>
              <a:t>KPI 4 - % of EHS Committee Meetings Conducted as per TORs</a:t>
            </a:r>
          </a:p>
        </c:rich>
      </c:tx>
      <c:layout>
        <c:manualLayout>
          <c:xMode val="edge"/>
          <c:yMode val="edge"/>
          <c:x val="0.11331361960049434"/>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1"/>
            <c:bubble3D val="0"/>
            <c:spPr>
              <a:solidFill>
                <a:srgbClr val="00249C"/>
              </a:solidFill>
            </c:spPr>
            <c:extLst>
              <c:ext xmlns:c16="http://schemas.microsoft.com/office/drawing/2014/chart" uri="{C3380CC4-5D6E-409C-BE32-E72D297353CC}">
                <c16:uniqueId val="{00000001-ABDE-4EA8-8FF6-525476CEC6D4}"/>
              </c:ext>
            </c:extLst>
          </c:dPt>
          <c:dPt>
            <c:idx val="1"/>
            <c:invertIfNegative val="1"/>
            <c:bubble3D val="0"/>
            <c:spPr>
              <a:solidFill>
                <a:srgbClr val="00249C"/>
              </a:solidFill>
            </c:spPr>
            <c:extLst>
              <c:ext xmlns:c16="http://schemas.microsoft.com/office/drawing/2014/chart" uri="{C3380CC4-5D6E-409C-BE32-E72D297353CC}">
                <c16:uniqueId val="{00000003-ABDE-4EA8-8FF6-525476CEC6D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5044103532892172"/>
                  <c:y val="-3.266717167884831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211-42BB-AACD-035ECE776AB3}"/>
                </c:ext>
              </c:extLst>
            </c:dLbl>
            <c:dLbl>
              <c:idx val="1"/>
              <c:delete val="1"/>
              <c:extLst>
                <c:ext xmlns:c15="http://schemas.microsoft.com/office/drawing/2012/chart" uri="{CE6537A1-D6FC-4f65-9D91-7224C49458BB}"/>
                <c:ext xmlns:c16="http://schemas.microsoft.com/office/drawing/2014/chart" uri="{C3380CC4-5D6E-409C-BE32-E72D297353CC}">
                  <c16:uniqueId val="{00000006-5211-42BB-AACD-035ECE776AB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0.95</c:v>
                </c:pt>
                <c:pt idx="1">
                  <c:v>0.95</c:v>
                </c:pt>
              </c:numCache>
            </c:numRef>
          </c:val>
          <c:smooth val="0"/>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2343048308259396"/>
              <c:y val="0.29727469190184241"/>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5 - % of Committee Meetings &amp; Management Review &amp; Committee Meeting Actions Closed</a:t>
            </a:r>
          </a:p>
        </c:rich>
      </c:tx>
      <c:layout>
        <c:manualLayout>
          <c:xMode val="edge"/>
          <c:yMode val="edge"/>
          <c:x val="0.11709429075274413"/>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0"/>
            <c:bubble3D val="0"/>
            <c:spPr>
              <a:solidFill>
                <a:srgbClr val="00249C"/>
              </a:solidFill>
            </c:spPr>
            <c:extLst>
              <c:ext xmlns:c16="http://schemas.microsoft.com/office/drawing/2014/chart" uri="{C3380CC4-5D6E-409C-BE32-E72D297353CC}">
                <c16:uniqueId val="{00000000-3284-4EA8-841A-A274FBB17FC9}"/>
              </c:ext>
            </c:extLst>
          </c:dPt>
          <c:dPt>
            <c:idx val="1"/>
            <c:invertIfNegative val="0"/>
            <c:bubble3D val="0"/>
            <c:spPr>
              <a:solidFill>
                <a:srgbClr val="00249C"/>
              </a:solidFill>
            </c:spPr>
            <c:extLst>
              <c:ext xmlns:c16="http://schemas.microsoft.com/office/drawing/2014/chart" uri="{C3380CC4-5D6E-409C-BE32-E72D297353CC}">
                <c16:uniqueId val="{00000001-3284-4EA8-841A-A274FBB17FC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0.23076923076923081</c:v>
                </c:pt>
                <c:pt idx="1">
                  <c:v>0.23076923076923081</c:v>
                </c:pt>
              </c:numCache>
            </c:numRef>
          </c:val>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7-F535-4194-A739-C7C7E9D6FC81}"/>
                </c:ext>
              </c:extLst>
            </c:dLbl>
            <c:dLbl>
              <c:idx val="1"/>
              <c:layout>
                <c:manualLayout>
                  <c:x val="-0.23568401100218911"/>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535-4194-A739-C7C7E9D6FC81}"/>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0.84</c:v>
                </c:pt>
                <c:pt idx="1">
                  <c:v>0.84</c:v>
                </c:pt>
              </c:numCache>
            </c:numRef>
          </c:val>
          <c:smooth val="0"/>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3355357600509853"/>
              <c:y val="0.40616526416466991"/>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6 - </a:t>
            </a:r>
            <a:r>
              <a:rPr lang="en-US" sz="1200" b="1" dirty="0">
                <a:solidFill>
                  <a:schemeClr val="tx1"/>
                </a:solidFill>
                <a:effectLst/>
                <a:latin typeface="Tahoma" panose="020B0604030504040204" pitchFamily="34" charset="0"/>
                <a:ea typeface="Tahoma" panose="020B0604030504040204" pitchFamily="34" charset="0"/>
                <a:cs typeface="Tahoma" panose="020B0604030504040204" pitchFamily="34" charset="0"/>
              </a:rPr>
              <a:t>% of Implemented Control Measures</a:t>
            </a:r>
            <a:endPar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endParaRP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B144-443F-8F2B-9C378D9AF99F}"/>
              </c:ext>
            </c:extLst>
          </c:dPt>
          <c:dPt>
            <c:idx val="1"/>
            <c:invertIfNegative val="0"/>
            <c:bubble3D val="0"/>
            <c:extLst>
              <c:ext xmlns:c16="http://schemas.microsoft.com/office/drawing/2014/chart" uri="{C3380CC4-5D6E-409C-BE32-E72D297353CC}">
                <c16:uniqueId val="{00000003-B144-443F-8F2B-9C378D9AF99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0.9375</c:v>
                </c:pt>
                <c:pt idx="1">
                  <c:v>0.97752808988764039</c:v>
                </c:pt>
              </c:numCache>
            </c:numRef>
          </c:val>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013282463267957"/>
                  <c:y val="-2.078166893165044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B4D-4BDE-8DFF-86EF4E483ED4}"/>
                </c:ext>
              </c:extLst>
            </c:dLbl>
            <c:dLbl>
              <c:idx val="1"/>
              <c:delete val="1"/>
              <c:extLst>
                <c:ext xmlns:c15="http://schemas.microsoft.com/office/drawing/2012/chart" uri="{CE6537A1-D6FC-4f65-9D91-7224C49458BB}"/>
                <c:ext xmlns:c16="http://schemas.microsoft.com/office/drawing/2014/chart" uri="{C3380CC4-5D6E-409C-BE32-E72D297353CC}">
                  <c16:uniqueId val="{00000006-DB4D-4BDE-8DFF-86EF4E483ED4}"/>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0.96</c:v>
                </c:pt>
                <c:pt idx="1">
                  <c:v>0.96</c:v>
                </c:pt>
              </c:numCache>
            </c:numRef>
          </c:val>
          <c:smooth val="0"/>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30781088026731446"/>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9 - Training Session Planned Vs Conducted</a:t>
            </a:r>
          </a:p>
        </c:rich>
      </c:tx>
      <c:layout>
        <c:manualLayout>
          <c:xMode val="edge"/>
          <c:yMode val="edge"/>
          <c:x val="0.13437016298997154"/>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FD35-4859-9360-BD15DE2B4867}"/>
              </c:ext>
            </c:extLst>
          </c:dPt>
          <c:dPt>
            <c:idx val="1"/>
            <c:invertIfNegative val="0"/>
            <c:bubble3D val="0"/>
            <c:extLst>
              <c:ext xmlns:c16="http://schemas.microsoft.com/office/drawing/2014/chart" uri="{C3380CC4-5D6E-409C-BE32-E72D297353CC}">
                <c16:uniqueId val="{00000003-FD35-4859-9360-BD15DE2B4867}"/>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0.5</c:v>
                </c:pt>
              </c:numCache>
            </c:numRef>
          </c:val>
          <c:extLst>
            <c:ext xmlns:c16="http://schemas.microsoft.com/office/drawing/2014/chart" uri="{C3380CC4-5D6E-409C-BE32-E72D297353CC}">
              <c16:uniqueId val="{00000006-FD35-4859-9360-BD15DE2B4867}"/>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6318785286160822"/>
                  <c:y val="-3.46938766218362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41B-4E09-94DC-F55169A4B184}"/>
                </c:ext>
              </c:extLst>
            </c:dLbl>
            <c:dLbl>
              <c:idx val="1"/>
              <c:delete val="1"/>
              <c:extLst>
                <c:ext xmlns:c15="http://schemas.microsoft.com/office/drawing/2012/chart" uri="{CE6537A1-D6FC-4f65-9D91-7224C49458BB}"/>
                <c:ext xmlns:c16="http://schemas.microsoft.com/office/drawing/2014/chart" uri="{C3380CC4-5D6E-409C-BE32-E72D297353CC}">
                  <c16:uniqueId val="{00000006-641B-4E09-94DC-F55169A4B184}"/>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0.89</c:v>
                </c:pt>
                <c:pt idx="1">
                  <c:v>0.89</c:v>
                </c:pt>
              </c:numCache>
            </c:numRef>
          </c:val>
          <c:smooth val="0"/>
          <c:extLst>
            <c:ext xmlns:c16="http://schemas.microsoft.com/office/drawing/2014/chart" uri="{C3380CC4-5D6E-409C-BE32-E72D297353CC}">
              <c16:uniqueId val="{00000006-FD35-4859-9360-BD15DE2B4867}"/>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3674440490529837"/>
              <c:y val="0.26259849851094058"/>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11 - % of compliance to activities as per set Health &amp; Safety procedures</a:t>
            </a:r>
          </a:p>
        </c:rich>
      </c:tx>
      <c:layout>
        <c:manualLayout>
          <c:xMode val="edge"/>
          <c:yMode val="edge"/>
          <c:x val="0.11632132947473299"/>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D3E2-40B1-A782-19892A84049E}"/>
              </c:ext>
            </c:extLst>
          </c:dPt>
          <c:dPt>
            <c:idx val="1"/>
            <c:invertIfNegative val="0"/>
            <c:bubble3D val="0"/>
            <c:spPr>
              <a:solidFill>
                <a:srgbClr val="00249C"/>
              </a:solidFill>
              <a:ln>
                <a:noFill/>
              </a:ln>
              <a:effectLst/>
            </c:spPr>
            <c:extLst>
              <c:ext xmlns:c16="http://schemas.microsoft.com/office/drawing/2014/chart" uri="{C3380CC4-5D6E-409C-BE32-E72D297353CC}">
                <c16:uniqueId val="{00000003-D3E2-40B1-A782-19892A84049E}"/>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0.98333333333333328</c:v>
                </c:pt>
                <c:pt idx="1">
                  <c:v>0.98333333333333328</c:v>
                </c:pt>
              </c:numCache>
            </c:numRef>
          </c:val>
          <c:extLst>
            <c:ext xmlns:c16="http://schemas.microsoft.com/office/drawing/2014/chart" uri="{C3380CC4-5D6E-409C-BE32-E72D297353CC}">
              <c16:uniqueId val="{00000006-D3E2-40B1-A782-19892A84049E}"/>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2.318066462433449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CF2-458A-8565-843C9783EFF1}"/>
                </c:ext>
              </c:extLst>
            </c:dLbl>
            <c:dLbl>
              <c:idx val="1"/>
              <c:delete val="1"/>
              <c:extLst>
                <c:ext xmlns:c15="http://schemas.microsoft.com/office/drawing/2012/chart" uri="{CE6537A1-D6FC-4f65-9D91-7224C49458BB}"/>
                <c:ext xmlns:c16="http://schemas.microsoft.com/office/drawing/2014/chart" uri="{C3380CC4-5D6E-409C-BE32-E72D297353CC}">
                  <c16:uniqueId val="{00000006-1CF2-458A-8565-843C9783EFF1}"/>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0.96</c:v>
                </c:pt>
                <c:pt idx="1">
                  <c:v>0.96</c:v>
                </c:pt>
              </c:numCache>
            </c:numRef>
          </c:val>
          <c:smooth val="0"/>
          <c:extLst>
            <c:ext xmlns:c16="http://schemas.microsoft.com/office/drawing/2014/chart" uri="{C3380CC4-5D6E-409C-BE32-E72D297353CC}">
              <c16:uniqueId val="{00000006-D3E2-40B1-A782-19892A84049E}"/>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2312302325513479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12 - % of Emergency Drills Conducted on Schedule</a:t>
            </a:r>
          </a:p>
        </c:rich>
      </c:tx>
      <c:layout>
        <c:manualLayout>
          <c:xMode val="edge"/>
          <c:yMode val="edge"/>
          <c:x val="0.18388110055943879"/>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0CB5-4EC6-A65B-AADA7FEC6D90}"/>
              </c:ext>
            </c:extLst>
          </c:dPt>
          <c:dPt>
            <c:idx val="1"/>
            <c:invertIfNegative val="0"/>
            <c:bubble3D val="0"/>
            <c:spPr>
              <a:solidFill>
                <a:srgbClr val="00249C"/>
              </a:solidFill>
              <a:ln>
                <a:noFill/>
              </a:ln>
              <a:effectLst/>
            </c:spPr>
            <c:extLst>
              <c:ext xmlns:c16="http://schemas.microsoft.com/office/drawing/2014/chart" uri="{C3380CC4-5D6E-409C-BE32-E72D297353CC}">
                <c16:uniqueId val="{00000003-0CB5-4EC6-A65B-AADA7FEC6D9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0CB5-4EC6-A65B-AADA7FEC6D9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686906757544746"/>
                  <c:y val="-4.97069354517905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7A6-4156-8476-19824A2F9014}"/>
                </c:ext>
              </c:extLst>
            </c:dLbl>
            <c:dLbl>
              <c:idx val="1"/>
              <c:delete val="1"/>
              <c:extLst>
                <c:ext xmlns:c15="http://schemas.microsoft.com/office/drawing/2012/chart" uri="{CE6537A1-D6FC-4f65-9D91-7224C49458BB}"/>
                <c:ext xmlns:c16="http://schemas.microsoft.com/office/drawing/2014/chart" uri="{C3380CC4-5D6E-409C-BE32-E72D297353CC}">
                  <c16:uniqueId val="{00000006-27A6-4156-8476-19824A2F9014}"/>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0CB5-4EC6-A65B-AADA7FEC6D9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1858470086707824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13 - % Compliance to PTW (Permit-to-Work) </a:t>
            </a:r>
          </a:p>
        </c:rich>
      </c:tx>
      <c:layout>
        <c:manualLayout>
          <c:xMode val="edge"/>
          <c:yMode val="edge"/>
          <c:x val="0.18086225377587137"/>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ln w="28575" cap="rnd">
              <a:solidFill>
                <a:schemeClr val="accent2"/>
              </a:solidFill>
              <a:round/>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5823-41F5-B8BC-C84EEAE529E0}"/>
              </c:ext>
            </c:extLst>
          </c:dPt>
          <c:dPt>
            <c:idx val="1"/>
            <c:invertIfNegative val="0"/>
            <c:bubble3D val="0"/>
            <c:spPr>
              <a:solidFill>
                <a:srgbClr val="00249C"/>
              </a:solidFill>
              <a:ln>
                <a:noFill/>
              </a:ln>
              <a:effectLst/>
            </c:spPr>
            <c:extLst>
              <c:ext xmlns:c16="http://schemas.microsoft.com/office/drawing/2014/chart" uri="{C3380CC4-5D6E-409C-BE32-E72D297353CC}">
                <c16:uniqueId val="{00000003-5823-41F5-B8BC-C84EEAE529E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2.93202516858320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C1C-4DB0-A905-E71F8C3395C3}"/>
                </c:ext>
              </c:extLst>
            </c:dLbl>
            <c:dLbl>
              <c:idx val="1"/>
              <c:delete val="1"/>
              <c:extLst>
                <c:ext xmlns:c15="http://schemas.microsoft.com/office/drawing/2012/chart" uri="{CE6537A1-D6FC-4f65-9D91-7224C49458BB}"/>
                <c:ext xmlns:c16="http://schemas.microsoft.com/office/drawing/2014/chart" uri="{C3380CC4-5D6E-409C-BE32-E72D297353CC}">
                  <c16:uniqueId val="{00000007-1C1C-4DB0-A905-E71F8C3395C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0.97</c:v>
                </c:pt>
                <c:pt idx="1">
                  <c:v>0.97</c:v>
                </c:pt>
              </c:numCache>
            </c:numRef>
          </c:val>
          <c:smooth val="0"/>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2235575194737262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a:t>
            </a:r>
            <a:r>
              <a:rPr lang="en-US" b="1" baseline="0" dirty="0">
                <a:solidFill>
                  <a:schemeClr val="tx1"/>
                </a:solidFill>
              </a:rPr>
              <a:t> 14 - </a:t>
            </a:r>
            <a:r>
              <a:rPr lang="en-US" b="1" dirty="0">
                <a:solidFill>
                  <a:schemeClr val="tx1"/>
                </a:solidFill>
              </a:rPr>
              <a:t>% Compliance to Onsite Safety Induction</a:t>
            </a:r>
          </a:p>
        </c:rich>
      </c:tx>
      <c:layout>
        <c:manualLayout>
          <c:xMode val="edge"/>
          <c:yMode val="edge"/>
          <c:x val="0.18353853456280175"/>
          <c:y val="5.7823127703060485E-3"/>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8078-459C-87A1-80B8C52926CF}"/>
              </c:ext>
            </c:extLst>
          </c:dPt>
          <c:dPt>
            <c:idx val="1"/>
            <c:invertIfNegative val="0"/>
            <c:bubble3D val="0"/>
            <c:extLst>
              <c:ext xmlns:c16="http://schemas.microsoft.com/office/drawing/2014/chart" uri="{C3380CC4-5D6E-409C-BE32-E72D297353CC}">
                <c16:uniqueId val="{00000003-8078-459C-87A1-80B8C52926C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3055028228928658"/>
                  <c:y val="-3.287520526779864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8D0-472D-A6C4-43BBE5A93386}"/>
                </c:ext>
              </c:extLst>
            </c:dLbl>
            <c:dLbl>
              <c:idx val="1"/>
              <c:delete val="1"/>
              <c:extLst>
                <c:ext xmlns:c15="http://schemas.microsoft.com/office/drawing/2012/chart" uri="{CE6537A1-D6FC-4f65-9D91-7224C49458BB}"/>
                <c:ext xmlns:c16="http://schemas.microsoft.com/office/drawing/2014/chart" uri="{C3380CC4-5D6E-409C-BE32-E72D297353CC}">
                  <c16:uniqueId val="{00000006-38D0-472D-A6C4-43BBE5A9338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0.96</c:v>
                </c:pt>
                <c:pt idx="1">
                  <c:v>0.96</c:v>
                </c:pt>
              </c:numCache>
            </c:numRef>
          </c:val>
          <c:smooth val="0"/>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a:t>
                </a:r>
                <a:r>
                  <a:rPr lang="en-US" baseline="0" dirty="0"/>
                  <a:t> Avg.</a:t>
                </a:r>
                <a:endParaRPr lang="en-US" dirty="0"/>
              </a:p>
            </c:rich>
          </c:tx>
          <c:layout>
            <c:manualLayout>
              <c:xMode val="edge"/>
              <c:yMode val="edge"/>
              <c:x val="0.42368937667636969"/>
              <c:y val="0.22546825326203898"/>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15 - % of  Inspections Completed </a:t>
            </a:r>
          </a:p>
        </c:rich>
      </c:tx>
      <c:layout>
        <c:manualLayout>
          <c:xMode val="edge"/>
          <c:yMode val="edge"/>
          <c:x val="0.11606022891015444"/>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C836-4C38-B3AF-DB14259D9935}"/>
              </c:ext>
            </c:extLst>
          </c:dPt>
          <c:dPt>
            <c:idx val="1"/>
            <c:invertIfNegative val="0"/>
            <c:bubble3D val="0"/>
            <c:spPr>
              <a:solidFill>
                <a:srgbClr val="00249C"/>
              </a:solidFill>
              <a:ln>
                <a:noFill/>
              </a:ln>
              <a:effectLst/>
            </c:spPr>
            <c:extLst>
              <c:ext xmlns:c16="http://schemas.microsoft.com/office/drawing/2014/chart" uri="{C3380CC4-5D6E-409C-BE32-E72D297353CC}">
                <c16:uniqueId val="{00000003-C836-4C38-B3AF-DB14259D9935}"/>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339658168991172"/>
                  <c:y val="-4.047618939214236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2B59-4DA6-AA84-D931ED406D11}"/>
                </c:ext>
              </c:extLst>
            </c:dLbl>
            <c:dLbl>
              <c:idx val="1"/>
              <c:delete val="1"/>
              <c:extLst>
                <c:ext xmlns:c15="http://schemas.microsoft.com/office/drawing/2012/chart" uri="{CE6537A1-D6FC-4f65-9D91-7224C49458BB}"/>
                <c:ext xmlns:c16="http://schemas.microsoft.com/office/drawing/2014/chart" uri="{C3380CC4-5D6E-409C-BE32-E72D297353CC}">
                  <c16:uniqueId val="{00000006-2B59-4DA6-AA84-D931ED406D11}"/>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0.96</c:v>
                </c:pt>
                <c:pt idx="1">
                  <c:v>0.96</c:v>
                </c:pt>
              </c:numCache>
            </c:numRef>
          </c:val>
          <c:smooth val="0"/>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21633999634849219"/>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16 - % of Findings Closed On Time</a:t>
            </a:r>
          </a:p>
        </c:rich>
      </c:tx>
      <c:layout>
        <c:manualLayout>
          <c:xMode val="edge"/>
          <c:yMode val="edge"/>
          <c:x val="0.11485289578772317"/>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72E4-4828-BBFD-3DFE83236654}"/>
              </c:ext>
            </c:extLst>
          </c:dPt>
          <c:dPt>
            <c:idx val="1"/>
            <c:invertIfNegative val="0"/>
            <c:bubble3D val="0"/>
            <c:spPr>
              <a:solidFill>
                <a:srgbClr val="00249C"/>
              </a:solidFill>
              <a:ln>
                <a:noFill/>
              </a:ln>
              <a:effectLst/>
            </c:spPr>
            <c:extLst>
              <c:ext xmlns:c16="http://schemas.microsoft.com/office/drawing/2014/chart" uri="{C3380CC4-5D6E-409C-BE32-E72D297353CC}">
                <c16:uniqueId val="{00000003-72E4-4828-BBFD-3DFE8323665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0.92307692307692313</c:v>
                </c:pt>
                <c:pt idx="1">
                  <c:v>0.74285714285714288</c:v>
                </c:pt>
              </c:numCache>
            </c:numRef>
          </c:val>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3.46938766218362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928-4C13-883F-B017BB826973}"/>
                </c:ext>
              </c:extLst>
            </c:dLbl>
            <c:dLbl>
              <c:idx val="1"/>
              <c:delete val="1"/>
              <c:extLst>
                <c:ext xmlns:c15="http://schemas.microsoft.com/office/drawing/2012/chart" uri="{CE6537A1-D6FC-4f65-9D91-7224C49458BB}"/>
                <c:ext xmlns:c16="http://schemas.microsoft.com/office/drawing/2014/chart" uri="{C3380CC4-5D6E-409C-BE32-E72D297353CC}">
                  <c16:uniqueId val="{00000006-9928-4C13-883F-B017BB82697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0.68</c:v>
                </c:pt>
                <c:pt idx="1">
                  <c:v>0.68</c:v>
                </c:pt>
              </c:numCache>
            </c:numRef>
          </c:val>
          <c:smooth val="0"/>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36668012837644948"/>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a:t>
            </a:r>
            <a:r>
              <a:rPr lang="en-US" b="1" baseline="0" dirty="0">
                <a:solidFill>
                  <a:schemeClr val="tx1"/>
                </a:solidFill>
              </a:rPr>
              <a:t> 17 - </a:t>
            </a:r>
            <a:r>
              <a:rPr lang="en-US" b="1" dirty="0">
                <a:solidFill>
                  <a:schemeClr val="tx1"/>
                </a:solidFill>
              </a:rPr>
              <a:t>% of Incident Notifications Reported On Time</a:t>
            </a:r>
          </a:p>
        </c:rich>
      </c:tx>
      <c:layout>
        <c:manualLayout>
          <c:xMode val="edge"/>
          <c:yMode val="edge"/>
          <c:x val="0.1539092742355163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362C-40CF-B7B7-262DD162B280}"/>
              </c:ext>
            </c:extLst>
          </c:dPt>
          <c:dPt>
            <c:idx val="1"/>
            <c:invertIfNegative val="0"/>
            <c:bubble3D val="0"/>
            <c:extLst>
              <c:ext xmlns:c16="http://schemas.microsoft.com/office/drawing/2014/chart" uri="{C3380CC4-5D6E-409C-BE32-E72D297353CC}">
                <c16:uniqueId val="{00000003-362C-40CF-B7B7-262DD162B28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0.84210526315789469</c:v>
                </c:pt>
                <c:pt idx="1">
                  <c:v>0.7142857142857143</c:v>
                </c:pt>
              </c:numCache>
            </c:numRef>
          </c:val>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686906757544746"/>
                  <c:y val="-4.04761893921423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B4D-497E-96A8-CB9B6FC9F24F}"/>
                </c:ext>
              </c:extLst>
            </c:dLbl>
            <c:dLbl>
              <c:idx val="1"/>
              <c:delete val="1"/>
              <c:extLst>
                <c:ext xmlns:c15="http://schemas.microsoft.com/office/drawing/2012/chart" uri="{CE6537A1-D6FC-4f65-9D91-7224C49458BB}"/>
                <c:ext xmlns:c16="http://schemas.microsoft.com/office/drawing/2014/chart" uri="{C3380CC4-5D6E-409C-BE32-E72D297353CC}">
                  <c16:uniqueId val="{00000006-0B4D-497E-96A8-CB9B6FC9F24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0.82</c:v>
                </c:pt>
                <c:pt idx="1">
                  <c:v>0.82</c:v>
                </c:pt>
              </c:numCache>
            </c:numRef>
          </c:val>
          <c:smooth val="0"/>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3348064784806623"/>
              <c:y val="0.2799454368218587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18 - % of Investigations Completed On Time</a:t>
            </a:r>
          </a:p>
        </c:rich>
      </c:tx>
      <c:layout>
        <c:manualLayout>
          <c:xMode val="edge"/>
          <c:yMode val="edge"/>
          <c:x val="0.2257119294946239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3629-480D-8E60-04C4FB5D9ABF}"/>
              </c:ext>
            </c:extLst>
          </c:dPt>
          <c:dPt>
            <c:idx val="1"/>
            <c:invertIfNegative val="0"/>
            <c:bubble3D val="0"/>
            <c:extLst>
              <c:ext xmlns:c16="http://schemas.microsoft.com/office/drawing/2014/chart" uri="{C3380CC4-5D6E-409C-BE32-E72D297353CC}">
                <c16:uniqueId val="{00000003-3629-480D-8E60-04C4FB5D9AB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DMC</c:v>
                </c:pt>
                <c:pt idx="1">
                  <c:v>DBN</c:v>
                </c:pt>
              </c:strCache>
            </c:strRef>
          </c:cat>
          <c:val>
            <c:numRef>
              <c:f>Sheet1!$B$2:$B$3</c:f>
              <c:numCache>
                <c:formatCode>0%</c:formatCode>
                <c:ptCount val="2"/>
                <c:pt idx="0">
                  <c:v>0.57894736842105265</c:v>
                </c:pt>
                <c:pt idx="1">
                  <c:v>0.5714285714285714</c:v>
                </c:pt>
              </c:numCache>
            </c:numRef>
          </c:val>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2.8911563851530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B31-4D0B-8F47-54DDF30ECC03}"/>
                </c:ext>
              </c:extLst>
            </c:dLbl>
            <c:dLbl>
              <c:idx val="1"/>
              <c:delete val="1"/>
              <c:extLst>
                <c:ext xmlns:c15="http://schemas.microsoft.com/office/drawing/2012/chart" uri="{CE6537A1-D6FC-4f65-9D91-7224C49458BB}"/>
                <c:ext xmlns:c16="http://schemas.microsoft.com/office/drawing/2014/chart" uri="{C3380CC4-5D6E-409C-BE32-E72D297353CC}">
                  <c16:uniqueId val="{00000006-4B31-4D0B-8F47-54DDF30ECC0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DMC</c:v>
                </c:pt>
                <c:pt idx="1">
                  <c:v>DBN</c:v>
                </c:pt>
              </c:strCache>
            </c:strRef>
          </c:cat>
          <c:val>
            <c:numRef>
              <c:f>Sheet1!$C$2:$C$3</c:f>
              <c:numCache>
                <c:formatCode>0%</c:formatCode>
                <c:ptCount val="2"/>
                <c:pt idx="0">
                  <c:v>0.72</c:v>
                </c:pt>
                <c:pt idx="1">
                  <c:v>0.72</c:v>
                </c:pt>
              </c:numCache>
            </c:numRef>
          </c:val>
          <c:smooth val="0"/>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6668012837644948"/>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7F_A8ACF42D.xml><?xml version="1.0" encoding="utf-8"?>
<p188:cmLst xmlns:a="http://schemas.openxmlformats.org/drawingml/2006/main" xmlns:r="http://schemas.openxmlformats.org/officeDocument/2006/relationships" xmlns:p188="http://schemas.microsoft.com/office/powerpoint/2018/8/main">
  <p188:cm id="{93FB2ED1-B513-44E4-9C5A-9E297877D5E4}" authorId="{CFC1D6F1-5CCD-23D0-AEA0-FE2283801C34}" created="2026-08-26T15:12:45.611">
    <ac:txMkLst xmlns:ac="http://schemas.microsoft.com/office/drawing/2013/main/command">
      <pc:docMk xmlns:pc="http://schemas.microsoft.com/office/powerpoint/2013/main/command"/>
      <pc:sldMk xmlns:pc="http://schemas.microsoft.com/office/powerpoint/2013/main/command" cId="2829906989" sldId="383"/>
      <ac:spMk id="7" creationId="{C0A5B954-9F93-630F-5A0A-A2C175F09AFE}"/>
      <ac:txMk cp="74" len="208">
        <ac:context len="418" hash="2839970260"/>
      </ac:txMk>
    </ac:txMkLst>
    <p188:pos x="3651736" y="802442"/>
    <p188:replyLst>
      <p188:reply id="{42793E08-6A31-4952-88EB-E3BD8DA4315D}" authorId="{50F79E1A-B9DF-E92A-56B6-BF93512E2FD3}" created="2026-08-27T00:40:02.707">
        <p188:txBody>
          <a:bodyPr/>
          <a:lstStyle/>
          <a:p>
            <a:r>
              <a:rPr lang="en-US"/>
              <a:t>It shows 0% here.</a:t>
            </a:r>
          </a:p>
        </p188:txBody>
      </p188:reply>
    </p188:replyLst>
    <p188:txBody>
      <a:bodyPr/>
      <a:lstStyle/>
      <a:p>
        <a:r>
          <a:rPr lang="en-US"/>
          <a:t>N/A in graph doesn’t match scoring which is 0 for each</a:t>
        </a:r>
      </a:p>
    </p188:txBody>
  </p188:cm>
</p188:cmLst>
</file>

<file path=ppt/comments/modernComment_153_C164AD62.xml><?xml version="1.0" encoding="utf-8"?>
<p188:cmLst xmlns:a="http://schemas.openxmlformats.org/drawingml/2006/main" xmlns:r="http://schemas.openxmlformats.org/officeDocument/2006/relationships" xmlns:p188="http://schemas.microsoft.com/office/powerpoint/2018/8/main">
  <p188:cm id="{B93E9DE9-428F-4ED1-A8B9-47BB0AF671DD}" authorId="{CFC1D6F1-5CCD-23D0-AEA0-FE2283801C34}" created="2026-08-26T15:05:56.877">
    <ac:txMkLst xmlns:ac="http://schemas.microsoft.com/office/drawing/2013/main/command">
      <pc:docMk xmlns:pc="http://schemas.microsoft.com/office/powerpoint/2013/main/command"/>
      <pc:sldMk xmlns:pc="http://schemas.microsoft.com/office/powerpoint/2013/main/command" cId="3244600674" sldId="339"/>
      <ac:spMk id="10" creationId="{71BE7E4A-3952-AEC8-98C8-C7C8F037FB56}"/>
      <ac:txMk cp="98" len="195">
        <ac:context len="369" hash="1532222621"/>
      </ac:txMk>
    </ac:txMkLst>
    <p188:pos x="3885088" y="832408"/>
    <p188:replyLst>
      <p188:reply id="{C7E631C7-BDEA-4EFA-AEE9-43B8E3827BB3}" authorId="{50F79E1A-B9DF-E92A-56B6-BF93512E2FD3}" created="2026-08-27T00:36:18.378">
        <p188:txBody>
          <a:bodyPr/>
          <a:lstStyle/>
          <a:p>
            <a:r>
              <a:rPr lang="en-US"/>
              <a:t>Corrected</a:t>
            </a:r>
          </a:p>
        </p188:txBody>
      </p188:reply>
    </p188:replyLst>
    <p188:txBody>
      <a:bodyPr/>
      <a:lstStyle/>
      <a:p>
        <a:r>
          <a:rPr lang="en-US"/>
          <a:t>This is what your scoring says also, doesn't match graph</a:t>
        </a:r>
      </a:p>
    </p188:txBody>
  </p188:cm>
</p188:cmLst>
</file>

<file path=ppt/comments/modernComment_169_7D14A830.xml><?xml version="1.0" encoding="utf-8"?>
<p188:cmLst xmlns:a="http://schemas.openxmlformats.org/drawingml/2006/main" xmlns:r="http://schemas.openxmlformats.org/officeDocument/2006/relationships" xmlns:p188="http://schemas.microsoft.com/office/powerpoint/2018/8/main">
  <p188:cm id="{D234E67B-C7A3-4947-B1E4-33CF70AEE7C2}" authorId="{CFC1D6F1-5CCD-23D0-AEA0-FE2283801C34}" created="2026-08-26T15:35:03.381">
    <ac:txMkLst xmlns:ac="http://schemas.microsoft.com/office/drawing/2013/main/command">
      <pc:docMk xmlns:pc="http://schemas.microsoft.com/office/powerpoint/2013/main/command"/>
      <pc:sldMk xmlns:pc="http://schemas.microsoft.com/office/powerpoint/2013/main/command" cId="2098505776" sldId="361"/>
      <ac:spMk id="14" creationId="{AE1E9F70-1DF9-3AB6-E680-665F46853200}"/>
      <ac:txMk cp="172" len="189">
        <ac:context len="458" hash="3595038352"/>
      </ac:txMk>
    </ac:txMkLst>
    <p188:pos x="3884970" y="1226153"/>
    <p188:replyLst>
      <p188:reply id="{F3B6432A-049B-4637-813B-091D062F5C7C}" authorId="{50F79E1A-B9DF-E92A-56B6-BF93512E2FD3}" created="2026-08-27T00:31:44.282">
        <p188:txBody>
          <a:bodyPr/>
          <a:lstStyle/>
          <a:p>
            <a:r>
              <a:rPr lang="en-US"/>
              <a:t>Done</a:t>
            </a:r>
          </a:p>
        </p188:txBody>
      </p188:reply>
    </p188:replyLst>
    <p188:txBody>
      <a:bodyPr/>
      <a:lstStyle/>
      <a:p>
        <a:r>
          <a:rPr lang="en-US"/>
          <a:t>Please look at this melwin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84398-E3D8-47CD-89AD-77C86836705F}" type="datetimeFigureOut">
              <a:rPr lang="en-US" smtClean="0"/>
              <a:t>27-Aug-26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65F12B-7EB0-406D-84EF-D640CC7DFF5A}" type="slidenum">
              <a:rPr lang="en-US" smtClean="0"/>
              <a:t>‹#›</a:t>
            </a:fld>
            <a:endParaRPr lang="en-US"/>
          </a:p>
        </p:txBody>
      </p:sp>
    </p:spTree>
    <p:extLst>
      <p:ext uri="{BB962C8B-B14F-4D97-AF65-F5344CB8AC3E}">
        <p14:creationId xmlns:p14="http://schemas.microsoft.com/office/powerpoint/2010/main" val="3557848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D515-7305-BB6F-A3A1-2164EC2B1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0415E-026B-9B08-EBD2-AEFA29D6C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8FCAD-AAE8-BAC7-7E35-6B1F5D18D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B3E538-4674-2218-9B8F-6880F3680875}"/>
              </a:ext>
            </a:extLst>
          </p:cNvPr>
          <p:cNvSpPr>
            <a:spLocks noGrp="1"/>
          </p:cNvSpPr>
          <p:nvPr>
            <p:ph type="sldNum" sz="quarter" idx="5"/>
          </p:nvPr>
        </p:nvSpPr>
        <p:spPr/>
        <p:txBody>
          <a:bodyPr/>
          <a:lstStyle/>
          <a:p>
            <a:fld id="{A665F12B-7EB0-406D-84EF-D640CC7DFF5A}" type="slidenum">
              <a:rPr lang="en-US" smtClean="0"/>
              <a:t>3</a:t>
            </a:fld>
            <a:endParaRPr lang="en-US"/>
          </a:p>
        </p:txBody>
      </p:sp>
    </p:spTree>
    <p:extLst>
      <p:ext uri="{BB962C8B-B14F-4D97-AF65-F5344CB8AC3E}">
        <p14:creationId xmlns:p14="http://schemas.microsoft.com/office/powerpoint/2010/main" val="3626578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5F12B-7EB0-406D-84EF-D640CC7DFF5A}" type="slidenum">
              <a:rPr lang="en-US" smtClean="0"/>
              <a:t>11</a:t>
            </a:fld>
            <a:endParaRPr lang="en-US"/>
          </a:p>
        </p:txBody>
      </p:sp>
    </p:spTree>
    <p:extLst>
      <p:ext uri="{BB962C8B-B14F-4D97-AF65-F5344CB8AC3E}">
        <p14:creationId xmlns:p14="http://schemas.microsoft.com/office/powerpoint/2010/main" val="2229889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5F12B-7EB0-406D-84EF-D640CC7DFF5A}" type="slidenum">
              <a:rPr lang="en-US" smtClean="0"/>
              <a:t>20</a:t>
            </a:fld>
            <a:endParaRPr lang="en-US"/>
          </a:p>
        </p:txBody>
      </p:sp>
    </p:spTree>
    <p:extLst>
      <p:ext uri="{BB962C8B-B14F-4D97-AF65-F5344CB8AC3E}">
        <p14:creationId xmlns:p14="http://schemas.microsoft.com/office/powerpoint/2010/main" val="40071871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vider Slides for Sess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70734C94-E5A8-F84D-A000-4D877B9CC8C2}"/>
              </a:ext>
            </a:extLst>
          </p:cNvPr>
          <p:cNvSpPr>
            <a:spLocks noGrp="1"/>
          </p:cNvSpPr>
          <p:nvPr>
            <p:ph type="ctrTitle" hasCustomPrompt="1"/>
          </p:nvPr>
        </p:nvSpPr>
        <p:spPr>
          <a:xfrm>
            <a:off x="957273" y="3713060"/>
            <a:ext cx="9143999" cy="1006475"/>
          </a:xfrm>
          <a:prstGeom prst="rect">
            <a:avLst/>
          </a:prstGeom>
        </p:spPr>
        <p:txBody>
          <a:bodyPr anchor="t" anchorCtr="0"/>
          <a:lstStyle>
            <a:lvl1pPr algn="l">
              <a:defRPr sz="4500" b="1">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Session title style</a:t>
            </a:r>
          </a:p>
        </p:txBody>
      </p:sp>
      <p:pic>
        <p:nvPicPr>
          <p:cNvPr id="25" name="Graphic 24">
            <a:extLst>
              <a:ext uri="{FF2B5EF4-FFF2-40B4-BE49-F238E27FC236}">
                <a16:creationId xmlns:a16="http://schemas.microsoft.com/office/drawing/2014/main" id="{4E4DC168-AD7A-524E-9D94-2B3F22C5AB1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26" name="Graphic 25">
            <a:extLst>
              <a:ext uri="{FF2B5EF4-FFF2-40B4-BE49-F238E27FC236}">
                <a16:creationId xmlns:a16="http://schemas.microsoft.com/office/drawing/2014/main" id="{8421EEAF-DF6B-B045-AEFE-F3CF6D659E5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28" name="Text Placeholder 27">
            <a:extLst>
              <a:ext uri="{FF2B5EF4-FFF2-40B4-BE49-F238E27FC236}">
                <a16:creationId xmlns:a16="http://schemas.microsoft.com/office/drawing/2014/main" id="{65C43E3D-0D26-234A-9592-5DAA63D12695}"/>
              </a:ext>
            </a:extLst>
          </p:cNvPr>
          <p:cNvSpPr>
            <a:spLocks noGrp="1"/>
          </p:cNvSpPr>
          <p:nvPr>
            <p:ph type="body" sz="quarter" idx="10" hasCustomPrompt="1"/>
          </p:nvPr>
        </p:nvSpPr>
        <p:spPr>
          <a:xfrm>
            <a:off x="957263" y="2962275"/>
            <a:ext cx="8056562" cy="39528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500">
                <a:solidFill>
                  <a:schemeClr val="accent6"/>
                </a:solidFill>
              </a:defRPr>
            </a:lvl1pPr>
          </a:lstStyle>
          <a:p>
            <a:pPr lvl="0"/>
            <a:r>
              <a:rPr lang="en-US"/>
              <a:t>Click to edit Session Details</a:t>
            </a:r>
          </a:p>
          <a:p>
            <a:pPr lvl="0"/>
            <a:endParaRPr lang="en-AE"/>
          </a:p>
        </p:txBody>
      </p:sp>
    </p:spTree>
    <p:extLst>
      <p:ext uri="{BB962C8B-B14F-4D97-AF65-F5344CB8AC3E}">
        <p14:creationId xmlns:p14="http://schemas.microsoft.com/office/powerpoint/2010/main" val="316717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5675" y="5981617"/>
            <a:ext cx="3138522" cy="365125"/>
          </a:xfrm>
        </p:spPr>
        <p:txBody>
          <a:bodyPr/>
          <a:lstStyle>
            <a:lvl1pPr>
              <a:defRPr sz="1500">
                <a:solidFill>
                  <a:schemeClr val="bg2"/>
                </a:solidFill>
              </a:defRPr>
            </a:lvl1pPr>
          </a:lstStyle>
          <a:p>
            <a:fld id="{9FB76777-9218-4188-BD26-CF1E318BE795}" type="datetime2">
              <a:rPr lang="en-US" smtClean="0"/>
              <a:pPr/>
              <a:t>Thursday, August 27, 2026</a:t>
            </a:fld>
            <a:endParaRPr lang="en-AE"/>
          </a:p>
        </p:txBody>
      </p:sp>
      <p:pic>
        <p:nvPicPr>
          <p:cNvPr id="7" name="Graphic 6">
            <a:extLst>
              <a:ext uri="{FF2B5EF4-FFF2-40B4-BE49-F238E27FC236}">
                <a16:creationId xmlns:a16="http://schemas.microsoft.com/office/drawing/2014/main" id="{E0A69106-6879-3A4D-A621-50E8110948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4844" y="351663"/>
            <a:ext cx="3713566" cy="634596"/>
          </a:xfrm>
          <a:prstGeom prst="rect">
            <a:avLst/>
          </a:prstGeom>
        </p:spPr>
      </p:pic>
      <p:sp>
        <p:nvSpPr>
          <p:cNvPr id="8" name="Subtitle 2">
            <a:extLst>
              <a:ext uri="{FF2B5EF4-FFF2-40B4-BE49-F238E27FC236}">
                <a16:creationId xmlns:a16="http://schemas.microsoft.com/office/drawing/2014/main" id="{D8643B33-FF74-2B49-B6EB-01409F1D0D7F}"/>
              </a:ext>
            </a:extLst>
          </p:cNvPr>
          <p:cNvSpPr>
            <a:spLocks noGrp="1"/>
          </p:cNvSpPr>
          <p:nvPr>
            <p:ph type="subTitle" idx="1"/>
          </p:nvPr>
        </p:nvSpPr>
        <p:spPr>
          <a:xfrm>
            <a:off x="955675" y="3945603"/>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F5330E-32F1-7B42-BB39-B2FFE8F8788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Title 3">
            <a:extLst>
              <a:ext uri="{FF2B5EF4-FFF2-40B4-BE49-F238E27FC236}">
                <a16:creationId xmlns:a16="http://schemas.microsoft.com/office/drawing/2014/main" id="{591BC0ED-3260-F844-B525-B5B4D2CC78D0}"/>
              </a:ext>
            </a:extLst>
          </p:cNvPr>
          <p:cNvSpPr>
            <a:spLocks noGrp="1"/>
          </p:cNvSpPr>
          <p:nvPr>
            <p:ph type="title" hasCustomPrompt="1"/>
          </p:nvPr>
        </p:nvSpPr>
        <p:spPr>
          <a:xfrm>
            <a:off x="955675" y="3126852"/>
            <a:ext cx="9144000" cy="818751"/>
          </a:xfrm>
        </p:spPr>
        <p:txBody>
          <a:bodyPr anchor="t" anchorCtr="0"/>
          <a:lstStyle>
            <a:lvl1pPr algn="l">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191754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8490" y="1061074"/>
            <a:ext cx="3362305" cy="773864"/>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Thursday, August 27, 2026</a:t>
            </a:fld>
            <a:endParaRPr lang="en-AE"/>
          </a:p>
        </p:txBody>
      </p:sp>
    </p:spTree>
    <p:extLst>
      <p:ext uri="{BB962C8B-B14F-4D97-AF65-F5344CB8AC3E}">
        <p14:creationId xmlns:p14="http://schemas.microsoft.com/office/powerpoint/2010/main" val="2768439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6140" y="6029515"/>
            <a:ext cx="3138522" cy="365125"/>
          </a:xfrm>
        </p:spPr>
        <p:txBody>
          <a:bodyPr/>
          <a:lstStyle>
            <a:lvl1pPr>
              <a:defRPr sz="1500">
                <a:solidFill>
                  <a:schemeClr val="bg2"/>
                </a:solidFill>
              </a:defRPr>
            </a:lvl1pPr>
          </a:lstStyle>
          <a:p>
            <a:fld id="{9FB76777-9218-4188-BD26-CF1E318BE795}" type="datetime2">
              <a:rPr lang="en-US" smtClean="0"/>
              <a:pPr/>
              <a:t>Thursday, August 27, 2026</a:t>
            </a:fld>
            <a:endParaRPr lang="en-AE"/>
          </a:p>
        </p:txBody>
      </p:sp>
      <p:pic>
        <p:nvPicPr>
          <p:cNvPr id="7" name="Graphic 6">
            <a:extLst>
              <a:ext uri="{FF2B5EF4-FFF2-40B4-BE49-F238E27FC236}">
                <a16:creationId xmlns:a16="http://schemas.microsoft.com/office/drawing/2014/main" id="{194BA4BA-37FC-574C-900D-E42453AEA5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7263" y="2371959"/>
            <a:ext cx="4078511" cy="938705"/>
          </a:xfrm>
          <a:prstGeom prst="rect">
            <a:avLst/>
          </a:prstGeom>
        </p:spPr>
      </p:pic>
      <p:sp>
        <p:nvSpPr>
          <p:cNvPr id="8" name="Title 1">
            <a:extLst>
              <a:ext uri="{FF2B5EF4-FFF2-40B4-BE49-F238E27FC236}">
                <a16:creationId xmlns:a16="http://schemas.microsoft.com/office/drawing/2014/main" id="{81495BEB-EE01-9F40-B42D-981879D2A4C3}"/>
              </a:ext>
            </a:extLst>
          </p:cNvPr>
          <p:cNvSpPr>
            <a:spLocks noGrp="1"/>
          </p:cNvSpPr>
          <p:nvPr>
            <p:ph type="ctrTitle"/>
          </p:nvPr>
        </p:nvSpPr>
        <p:spPr>
          <a:xfrm>
            <a:off x="957273" y="3853125"/>
            <a:ext cx="9143999" cy="660171"/>
          </a:xfrm>
          <a:prstGeom prst="rect">
            <a:avLst/>
          </a:prstGeom>
        </p:spPr>
        <p:txBody>
          <a:bodyPr anchor="t" anchorCtr="0"/>
          <a:lstStyle>
            <a:lvl1pPr algn="l">
              <a:defRPr sz="45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pic>
        <p:nvPicPr>
          <p:cNvPr id="13" name="Graphic 12">
            <a:extLst>
              <a:ext uri="{FF2B5EF4-FFF2-40B4-BE49-F238E27FC236}">
                <a16:creationId xmlns:a16="http://schemas.microsoft.com/office/drawing/2014/main" id="{A0FB12DA-53D5-A041-A382-0D8BFE86F8C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Subtitle 2">
            <a:extLst>
              <a:ext uri="{FF2B5EF4-FFF2-40B4-BE49-F238E27FC236}">
                <a16:creationId xmlns:a16="http://schemas.microsoft.com/office/drawing/2014/main" id="{33EBC9D1-1DA5-1B44-9266-C53077B3DFFA}"/>
              </a:ext>
            </a:extLst>
          </p:cNvPr>
          <p:cNvSpPr>
            <a:spLocks noGrp="1"/>
          </p:cNvSpPr>
          <p:nvPr>
            <p:ph type="subTitle" idx="1"/>
          </p:nvPr>
        </p:nvSpPr>
        <p:spPr>
          <a:xfrm>
            <a:off x="956140" y="4519428"/>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3244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Option#1 with Imag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edit title style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p:nvPr>
        </p:nvSpPr>
        <p:spPr>
          <a:xfrm>
            <a:off x="833439" y="1878013"/>
            <a:ext cx="5745388" cy="3754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14" name="Picture Placeholder 13">
            <a:extLst>
              <a:ext uri="{FF2B5EF4-FFF2-40B4-BE49-F238E27FC236}">
                <a16:creationId xmlns:a16="http://schemas.microsoft.com/office/drawing/2014/main" id="{83E722FE-E668-314D-A8DF-BAA81BA98D5B}"/>
              </a:ext>
            </a:extLst>
          </p:cNvPr>
          <p:cNvSpPr>
            <a:spLocks noGrp="1"/>
          </p:cNvSpPr>
          <p:nvPr>
            <p:ph type="pic" sz="quarter" idx="11"/>
          </p:nvPr>
        </p:nvSpPr>
        <p:spPr>
          <a:xfrm>
            <a:off x="6758486" y="1206500"/>
            <a:ext cx="4619127" cy="4445000"/>
          </a:xfrm>
        </p:spPr>
        <p:txBody>
          <a:bodyPr/>
          <a:lstStyle>
            <a:lvl1pPr marL="0" indent="0">
              <a:buNone/>
              <a:defRPr/>
            </a:lvl1pPr>
          </a:lstStyle>
          <a:p>
            <a:r>
              <a:rPr lang="en-US"/>
              <a:t>Click icon to add picture</a:t>
            </a:r>
            <a:endParaRPr lang="en-AE"/>
          </a:p>
        </p:txBody>
      </p:sp>
    </p:spTree>
    <p:extLst>
      <p:ext uri="{BB962C8B-B14F-4D97-AF65-F5344CB8AC3E}">
        <p14:creationId xmlns:p14="http://schemas.microsoft.com/office/powerpoint/2010/main" val="284389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Slide  Option#2 with Graph /Data">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Add Graph/Data</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7473" y="1878013"/>
            <a:ext cx="4054150" cy="3754437"/>
          </a:xfrm>
        </p:spPr>
        <p:txBody>
          <a:bodyPr>
            <a:normAutofit/>
          </a:bodyPr>
          <a:lstStyle>
            <a:lvl1pPr marL="0" indent="0" algn="l">
              <a:lnSpc>
                <a:spcPct val="95000"/>
              </a:lnSpc>
              <a:buFontTx/>
              <a:buNone/>
              <a:defRPr sz="2000"/>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AE"/>
              <a:t>Add your </a:t>
            </a:r>
            <a:r>
              <a:rPr lang="en-US"/>
              <a:t>An analytical paragraph,  is a form of descriptive writing which is written on the basis of a given chart, graph, data, outline, clues, table etc.</a:t>
            </a:r>
            <a:endParaRPr lang="en-AE"/>
          </a:p>
        </p:txBody>
      </p:sp>
      <p:sp>
        <p:nvSpPr>
          <p:cNvPr id="4" name="Chart Placeholder 3">
            <a:extLst>
              <a:ext uri="{FF2B5EF4-FFF2-40B4-BE49-F238E27FC236}">
                <a16:creationId xmlns:a16="http://schemas.microsoft.com/office/drawing/2014/main" id="{62D93862-01E6-C24F-A335-F79089BEC504}"/>
              </a:ext>
            </a:extLst>
          </p:cNvPr>
          <p:cNvSpPr>
            <a:spLocks noGrp="1"/>
          </p:cNvSpPr>
          <p:nvPr>
            <p:ph type="chart" sz="quarter" idx="11"/>
          </p:nvPr>
        </p:nvSpPr>
        <p:spPr>
          <a:xfrm>
            <a:off x="5138738" y="1878013"/>
            <a:ext cx="6053137" cy="3754437"/>
          </a:xfrm>
        </p:spPr>
        <p:txBody>
          <a:bodyPr/>
          <a:lstStyle/>
          <a:p>
            <a:r>
              <a:rPr lang="en-US"/>
              <a:t>Click icon to add chart</a:t>
            </a:r>
            <a:endParaRPr lang="en-AE"/>
          </a:p>
        </p:txBody>
      </p:sp>
    </p:spTree>
    <p:extLst>
      <p:ext uri="{BB962C8B-B14F-4D97-AF65-F5344CB8AC3E}">
        <p14:creationId xmlns:p14="http://schemas.microsoft.com/office/powerpoint/2010/main" val="289576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t Slide  Option#3 with Tabl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Table Title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4800" y="1878013"/>
            <a:ext cx="4054150" cy="3754437"/>
          </a:xfrm>
        </p:spPr>
        <p:txBody>
          <a:bodyPr>
            <a:noAutofit/>
          </a:bodyPr>
          <a:lstStyle>
            <a:lvl1pPr marL="0" indent="0" algn="l">
              <a:lnSpc>
                <a:spcPct val="95000"/>
              </a:lnSpc>
              <a:buFontTx/>
              <a:buNone/>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US"/>
              <a:t>A Table refers to any data which is presented in orderly rows across and/or down the page, often enclosed within borders. A Figure refers to any other form of presentation such as a bar or pie chart, a graph, a diagram, a map, a photograph, a line drawing or a sample of material.</a:t>
            </a:r>
            <a:endParaRPr lang="en-AE"/>
          </a:p>
        </p:txBody>
      </p:sp>
      <p:sp>
        <p:nvSpPr>
          <p:cNvPr id="8" name="Table Placeholder 7">
            <a:extLst>
              <a:ext uri="{FF2B5EF4-FFF2-40B4-BE49-F238E27FC236}">
                <a16:creationId xmlns:a16="http://schemas.microsoft.com/office/drawing/2014/main" id="{78A247DE-41CC-5245-986E-449D869DC74D}"/>
              </a:ext>
            </a:extLst>
          </p:cNvPr>
          <p:cNvSpPr>
            <a:spLocks noGrp="1"/>
          </p:cNvSpPr>
          <p:nvPr>
            <p:ph type="tbl" sz="quarter" idx="11"/>
          </p:nvPr>
        </p:nvSpPr>
        <p:spPr>
          <a:xfrm>
            <a:off x="5154613" y="1878013"/>
            <a:ext cx="6356350" cy="3754437"/>
          </a:xfrm>
        </p:spPr>
        <p:txBody>
          <a:bodyPr/>
          <a:lstStyle/>
          <a:p>
            <a:r>
              <a:rPr lang="en-US"/>
              <a:t>Click icon to add table</a:t>
            </a:r>
            <a:endParaRPr lang="en-AE"/>
          </a:p>
        </p:txBody>
      </p:sp>
    </p:spTree>
    <p:extLst>
      <p:ext uri="{BB962C8B-B14F-4D97-AF65-F5344CB8AC3E}">
        <p14:creationId xmlns:p14="http://schemas.microsoft.com/office/powerpoint/2010/main" val="50089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Option#4 with Infographic">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C46900-ACA7-B546-8A78-DFF39C7FE4BE}"/>
              </a:ext>
            </a:extLst>
          </p:cNvPr>
          <p:cNvSpPr>
            <a:spLocks noGrp="1"/>
          </p:cNvSpPr>
          <p:nvPr>
            <p:ph type="title" hasCustomPrompt="1"/>
          </p:nvPr>
        </p:nvSpPr>
        <p:spPr>
          <a:xfrm>
            <a:off x="704800" y="1207004"/>
            <a:ext cx="9770717" cy="597928"/>
          </a:xfrm>
        </p:spPr>
        <p:txBody>
          <a:bodyPr anchor="t">
            <a:normAutofit/>
          </a:bodyPr>
          <a:lstStyle>
            <a:lvl1pPr>
              <a:defRPr sz="3000">
                <a:solidFill>
                  <a:schemeClr val="tx1"/>
                </a:solidFill>
              </a:defRPr>
            </a:lvl1pPr>
          </a:lstStyle>
          <a:p>
            <a:r>
              <a:rPr lang="en-US"/>
              <a:t>Click to Add Icons/Infographics Title</a:t>
            </a:r>
          </a:p>
        </p:txBody>
      </p:sp>
      <p:pic>
        <p:nvPicPr>
          <p:cNvPr id="10" name="Graphic 9">
            <a:extLst>
              <a:ext uri="{FF2B5EF4-FFF2-40B4-BE49-F238E27FC236}">
                <a16:creationId xmlns:a16="http://schemas.microsoft.com/office/drawing/2014/main" id="{C71104D3-4DE6-8346-AD98-5A101FEAB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flipH="1">
            <a:off x="11501786" y="73025"/>
            <a:ext cx="406400" cy="260350"/>
          </a:xfrm>
          <a:prstGeom prst="rect">
            <a:avLst/>
          </a:prstGeom>
        </p:spPr>
      </p:pic>
      <p:sp>
        <p:nvSpPr>
          <p:cNvPr id="11" name="Slide Number Placeholder 6">
            <a:extLst>
              <a:ext uri="{FF2B5EF4-FFF2-40B4-BE49-F238E27FC236}">
                <a16:creationId xmlns:a16="http://schemas.microsoft.com/office/drawing/2014/main" id="{7957831C-872D-CF44-8DFE-BC74ADA53052}"/>
              </a:ext>
            </a:extLst>
          </p:cNvPr>
          <p:cNvSpPr>
            <a:spLocks noGrp="1"/>
          </p:cNvSpPr>
          <p:nvPr>
            <p:ph type="sldNum" sz="quarter" idx="12"/>
          </p:nvPr>
        </p:nvSpPr>
        <p:spPr>
          <a:xfrm>
            <a:off x="11297792" y="406400"/>
            <a:ext cx="814388" cy="365125"/>
          </a:xfrm>
          <a:noFill/>
        </p:spPr>
        <p:txBody>
          <a:bodyPr/>
          <a:lstStyle>
            <a:lvl1pPr algn="ctr">
              <a:defRPr sz="1600">
                <a:solidFill>
                  <a:schemeClr val="bg1"/>
                </a:solidFill>
              </a:defRPr>
            </a:lvl1pPr>
          </a:lstStyle>
          <a:p>
            <a:fld id="{A91C39B3-71BA-C04A-8F90-02179B3D98C0}" type="slidenum">
              <a:rPr lang="en-US" smtClean="0"/>
              <a:pPr/>
              <a:t>‹#›</a:t>
            </a:fld>
            <a:endParaRPr lang="en-US"/>
          </a:p>
        </p:txBody>
      </p:sp>
      <p:pic>
        <p:nvPicPr>
          <p:cNvPr id="12" name="Picture 5">
            <a:extLst>
              <a:ext uri="{FF2B5EF4-FFF2-40B4-BE49-F238E27FC236}">
                <a16:creationId xmlns:a16="http://schemas.microsoft.com/office/drawing/2014/main" id="{810453EF-472B-6940-A88C-A88100363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982275" y="5759451"/>
            <a:ext cx="2209725" cy="1098549"/>
          </a:xfrm>
          <a:prstGeom prst="rect">
            <a:avLst/>
          </a:prstGeom>
        </p:spPr>
      </p:pic>
      <p:pic>
        <p:nvPicPr>
          <p:cNvPr id="13" name="Graphic 12">
            <a:extLst>
              <a:ext uri="{FF2B5EF4-FFF2-40B4-BE49-F238E27FC236}">
                <a16:creationId xmlns:a16="http://schemas.microsoft.com/office/drawing/2014/main" id="{7051FCF3-192E-C34F-AAE3-E07D038D817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10248" y="6030989"/>
            <a:ext cx="529126" cy="555472"/>
          </a:xfrm>
          <a:prstGeom prst="rect">
            <a:avLst/>
          </a:prstGeom>
        </p:spPr>
      </p:pic>
      <p:sp>
        <p:nvSpPr>
          <p:cNvPr id="8" name="Text Placeholder 2">
            <a:extLst>
              <a:ext uri="{FF2B5EF4-FFF2-40B4-BE49-F238E27FC236}">
                <a16:creationId xmlns:a16="http://schemas.microsoft.com/office/drawing/2014/main" id="{9F5D8C5A-4EF8-D744-8722-B704B694B773}"/>
              </a:ext>
            </a:extLst>
          </p:cNvPr>
          <p:cNvSpPr>
            <a:spLocks noGrp="1"/>
          </p:cNvSpPr>
          <p:nvPr>
            <p:ph type="body" sz="quarter" idx="10" hasCustomPrompt="1"/>
          </p:nvPr>
        </p:nvSpPr>
        <p:spPr>
          <a:xfrm>
            <a:off x="704800" y="1804931"/>
            <a:ext cx="4441187" cy="4423024"/>
          </a:xfrm>
        </p:spPr>
        <p:txBody>
          <a:bodyPr>
            <a:normAutofit/>
          </a:bodyPr>
          <a:lstStyle>
            <a:lvl1pPr marL="0" marR="0" indent="0" algn="l" defTabSz="914400" rtl="0" eaLnBrk="1" fontAlgn="auto" latinLnBrk="0" hangingPunct="1">
              <a:lnSpc>
                <a:spcPct val="95000"/>
              </a:lnSpc>
              <a:spcBef>
                <a:spcPts val="1000"/>
              </a:spcBef>
              <a:spcAft>
                <a:spcPts val="0"/>
              </a:spcAft>
              <a:buClrTx/>
              <a:buSzTx/>
              <a:buFontTx/>
              <a:buNone/>
              <a:tabLst/>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AE"/>
              <a:t>Add your </a:t>
            </a:r>
            <a:r>
              <a:rPr lang="en-US"/>
              <a:t>standard icons or infographics. Which are graphic visual representations of information, data, or knowledge intended to present information quickly and clearly. They can improve cognition by utilizing graphics to enhance the human visual system's ability to see patterns and trends.</a:t>
            </a:r>
            <a:endParaRPr lang="en-AE"/>
          </a:p>
        </p:txBody>
      </p:sp>
    </p:spTree>
    <p:extLst>
      <p:ext uri="{BB962C8B-B14F-4D97-AF65-F5344CB8AC3E}">
        <p14:creationId xmlns:p14="http://schemas.microsoft.com/office/powerpoint/2010/main" val="2271974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0C30162-B6ED-7641-A0EB-BA573B76DA6D}"/>
              </a:ext>
            </a:extLst>
          </p:cNvPr>
          <p:cNvSpPr>
            <a:spLocks noGrp="1"/>
          </p:cNvSpPr>
          <p:nvPr>
            <p:ph type="ctrTitle" hasCustomPrompt="1"/>
          </p:nvPr>
        </p:nvSpPr>
        <p:spPr>
          <a:xfrm>
            <a:off x="0" y="3258981"/>
            <a:ext cx="12192000" cy="1006475"/>
          </a:xfrm>
          <a:prstGeom prst="rect">
            <a:avLst/>
          </a:prstGeom>
        </p:spPr>
        <p:txBody>
          <a:bodyPr anchor="ctr" anchorCtr="0">
            <a:noAutofit/>
          </a:bodyPr>
          <a:lstStyle>
            <a:lvl1pPr algn="ctr">
              <a:defRPr sz="72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Thank You</a:t>
            </a:r>
          </a:p>
        </p:txBody>
      </p:sp>
      <p:pic>
        <p:nvPicPr>
          <p:cNvPr id="14" name="Graphic 13">
            <a:extLst>
              <a:ext uri="{FF2B5EF4-FFF2-40B4-BE49-F238E27FC236}">
                <a16:creationId xmlns:a16="http://schemas.microsoft.com/office/drawing/2014/main" id="{C698337F-7DD8-7B42-AE9F-1C15A834B6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2578" y="1380677"/>
            <a:ext cx="4126844" cy="949829"/>
          </a:xfrm>
          <a:prstGeom prst="rect">
            <a:avLst/>
          </a:prstGeom>
        </p:spPr>
      </p:pic>
      <p:grpSp>
        <p:nvGrpSpPr>
          <p:cNvPr id="3" name="Group 2">
            <a:extLst>
              <a:ext uri="{FF2B5EF4-FFF2-40B4-BE49-F238E27FC236}">
                <a16:creationId xmlns:a16="http://schemas.microsoft.com/office/drawing/2014/main" id="{A15B8D55-1D7F-D740-8AB9-DB23116BE410}"/>
              </a:ext>
            </a:extLst>
          </p:cNvPr>
          <p:cNvGrpSpPr/>
          <p:nvPr userDrawn="1"/>
        </p:nvGrpSpPr>
        <p:grpSpPr>
          <a:xfrm>
            <a:off x="1963849" y="5952904"/>
            <a:ext cx="8456037" cy="400326"/>
            <a:chOff x="1896939" y="5952904"/>
            <a:chExt cx="8456037" cy="400326"/>
          </a:xfrm>
        </p:grpSpPr>
        <p:sp>
          <p:nvSpPr>
            <p:cNvPr id="10" name="TextBox 9">
              <a:extLst>
                <a:ext uri="{FF2B5EF4-FFF2-40B4-BE49-F238E27FC236}">
                  <a16:creationId xmlns:a16="http://schemas.microsoft.com/office/drawing/2014/main" id="{7B799641-4B53-2B4F-86DB-18C35E61614E}"/>
                </a:ext>
              </a:extLst>
            </p:cNvPr>
            <p:cNvSpPr txBox="1"/>
            <p:nvPr userDrawn="1"/>
          </p:nvSpPr>
          <p:spPr>
            <a:xfrm>
              <a:off x="2188374" y="5964056"/>
              <a:ext cx="2659052" cy="353045"/>
            </a:xfrm>
            <a:prstGeom prst="rect">
              <a:avLst/>
            </a:prstGeom>
            <a:noFill/>
          </p:spPr>
          <p:txBody>
            <a:bodyPr wrap="square" rtlCol="0">
              <a:spAutoFit/>
            </a:bodyPr>
            <a:lstStyle/>
            <a:p>
              <a:pPr lvl="0">
                <a:lnSpc>
                  <a:spcPts val="2300"/>
                </a:lnSpc>
              </a:pP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800 </a:t>
              </a: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MyHCT</a:t>
              </a: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 (800 69428)</a:t>
              </a:r>
            </a:p>
          </p:txBody>
        </p:sp>
        <p:pic>
          <p:nvPicPr>
            <p:cNvPr id="11" name="Graphic 10">
              <a:extLst>
                <a:ext uri="{FF2B5EF4-FFF2-40B4-BE49-F238E27FC236}">
                  <a16:creationId xmlns:a16="http://schemas.microsoft.com/office/drawing/2014/main" id="{2334549F-B791-094D-904B-02DFE9589D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002299" y="6003908"/>
              <a:ext cx="273124" cy="273124"/>
            </a:xfrm>
            <a:prstGeom prst="rect">
              <a:avLst/>
            </a:prstGeom>
          </p:spPr>
        </p:pic>
        <p:pic>
          <p:nvPicPr>
            <p:cNvPr id="16" name="Graphic 15">
              <a:extLst>
                <a:ext uri="{FF2B5EF4-FFF2-40B4-BE49-F238E27FC236}">
                  <a16:creationId xmlns:a16="http://schemas.microsoft.com/office/drawing/2014/main" id="{B95E0A5D-6B5A-574A-952B-5CCC36F424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896939" y="6065869"/>
              <a:ext cx="276096" cy="184064"/>
            </a:xfrm>
            <a:prstGeom prst="rect">
              <a:avLst/>
            </a:prstGeom>
          </p:spPr>
        </p:pic>
        <p:sp>
          <p:nvSpPr>
            <p:cNvPr id="17" name="TextBox 16">
              <a:extLst>
                <a:ext uri="{FF2B5EF4-FFF2-40B4-BE49-F238E27FC236}">
                  <a16:creationId xmlns:a16="http://schemas.microsoft.com/office/drawing/2014/main" id="{B2A00D36-E1AC-D74E-998F-CC798B2ACD8B}"/>
                </a:ext>
              </a:extLst>
            </p:cNvPr>
            <p:cNvSpPr txBox="1"/>
            <p:nvPr userDrawn="1"/>
          </p:nvSpPr>
          <p:spPr>
            <a:xfrm>
              <a:off x="5293734" y="5952904"/>
              <a:ext cx="2659052" cy="353045"/>
            </a:xfrm>
            <a:prstGeom prst="rect">
              <a:avLst/>
            </a:prstGeom>
            <a:noFill/>
          </p:spPr>
          <p:txBody>
            <a:bodyPr wrap="square" rtlCol="0">
              <a:spAutoFit/>
            </a:bodyPr>
            <a:lstStyle/>
            <a:p>
              <a:pPr lvl="0">
                <a:lnSpc>
                  <a:spcPts val="2300"/>
                </a:lnSpc>
              </a:pP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www.hct.ac.ae</a:t>
              </a:r>
              <a:endParaRPr lang="en-US" sz="1500" b="1">
                <a:solidFill>
                  <a:schemeClr val="bg2"/>
                </a:solidFill>
                <a:latin typeface="Tahoma" panose="020B0604030504040204" pitchFamily="34" charset="0"/>
                <a:ea typeface="Tahoma" panose="020B0604030504040204" pitchFamily="34" charset="0"/>
                <a:cs typeface="Tahoma" panose="020B0604030504040204" pitchFamily="34" charset="0"/>
              </a:endParaRPr>
            </a:p>
          </p:txBody>
        </p:sp>
        <p:pic>
          <p:nvPicPr>
            <p:cNvPr id="13" name="Graphic 12">
              <a:extLst>
                <a:ext uri="{FF2B5EF4-FFF2-40B4-BE49-F238E27FC236}">
                  <a16:creationId xmlns:a16="http://schemas.microsoft.com/office/drawing/2014/main" id="{BCEE45B5-14AA-FB49-B39F-4EEAEEE0834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1430" y="5976856"/>
              <a:ext cx="3161546" cy="376374"/>
            </a:xfrm>
            <a:prstGeom prst="rect">
              <a:avLst/>
            </a:prstGeom>
          </p:spPr>
        </p:pic>
      </p:grpSp>
    </p:spTree>
    <p:extLst>
      <p:ext uri="{BB962C8B-B14F-4D97-AF65-F5344CB8AC3E}">
        <p14:creationId xmlns:p14="http://schemas.microsoft.com/office/powerpoint/2010/main" val="94880861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52A1A-53F2-9E44-9217-EF55FD212434}"/>
              </a:ext>
            </a:extLst>
          </p:cNvPr>
          <p:cNvSpPr>
            <a:spLocks noGrp="1"/>
          </p:cNvSpPr>
          <p:nvPr>
            <p:ph type="title"/>
          </p:nvPr>
        </p:nvSpPr>
        <p:spPr>
          <a:xfrm>
            <a:off x="356840" y="365125"/>
            <a:ext cx="11471616" cy="11906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EEBABE-8E1F-FD45-BACB-85DFCD7888BA}"/>
              </a:ext>
            </a:extLst>
          </p:cNvPr>
          <p:cNvSpPr>
            <a:spLocks noGrp="1"/>
          </p:cNvSpPr>
          <p:nvPr>
            <p:ph type="body" idx="1"/>
          </p:nvPr>
        </p:nvSpPr>
        <p:spPr>
          <a:xfrm>
            <a:off x="356839" y="1825625"/>
            <a:ext cx="114716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2EEEB-82E9-5B41-A455-E99055A3997A}"/>
              </a:ext>
            </a:extLst>
          </p:cNvPr>
          <p:cNvSpPr>
            <a:spLocks noGrp="1"/>
          </p:cNvSpPr>
          <p:nvPr>
            <p:ph type="dt" sz="half" idx="2"/>
          </p:nvPr>
        </p:nvSpPr>
        <p:spPr>
          <a:xfrm>
            <a:off x="1430790" y="6356350"/>
            <a:ext cx="163353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4FFDA522-F4CE-F942-9609-C40C1E1F3554}" type="datetime1">
              <a:rPr lang="en-US" smtClean="0"/>
              <a:t>27-Aug-26</a:t>
            </a:fld>
            <a:endParaRPr lang="en-US"/>
          </a:p>
        </p:txBody>
      </p:sp>
      <p:sp>
        <p:nvSpPr>
          <p:cNvPr id="5" name="Footer Placeholder 4">
            <a:extLst>
              <a:ext uri="{FF2B5EF4-FFF2-40B4-BE49-F238E27FC236}">
                <a16:creationId xmlns:a16="http://schemas.microsoft.com/office/drawing/2014/main" id="{CEF76DFF-6753-9D4F-95EE-BAA691F44C16}"/>
              </a:ext>
            </a:extLst>
          </p:cNvPr>
          <p:cNvSpPr>
            <a:spLocks noGrp="1"/>
          </p:cNvSpPr>
          <p:nvPr>
            <p:ph type="ftr" sz="quarter" idx="3"/>
          </p:nvPr>
        </p:nvSpPr>
        <p:spPr>
          <a:xfrm>
            <a:off x="3319119" y="6356350"/>
            <a:ext cx="5148000"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Footer goes here</a:t>
            </a:r>
          </a:p>
        </p:txBody>
      </p:sp>
      <p:sp>
        <p:nvSpPr>
          <p:cNvPr id="6" name="Slide Number Placeholder 5">
            <a:extLst>
              <a:ext uri="{FF2B5EF4-FFF2-40B4-BE49-F238E27FC236}">
                <a16:creationId xmlns:a16="http://schemas.microsoft.com/office/drawing/2014/main" id="{86E950D9-1D75-D24F-9D65-E9F8AAA0ADE9}"/>
              </a:ext>
            </a:extLst>
          </p:cNvPr>
          <p:cNvSpPr>
            <a:spLocks noGrp="1"/>
          </p:cNvSpPr>
          <p:nvPr>
            <p:ph type="sldNum" sz="quarter" idx="4"/>
          </p:nvPr>
        </p:nvSpPr>
        <p:spPr>
          <a:xfrm>
            <a:off x="356839" y="6356350"/>
            <a:ext cx="81438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A91C39B3-71BA-C04A-8F90-02179B3D98C0}" type="slidenum">
              <a:rPr lang="en-US" smtClean="0"/>
              <a:pPr/>
              <a:t>‹#›</a:t>
            </a:fld>
            <a:endParaRPr lang="en-US"/>
          </a:p>
        </p:txBody>
      </p:sp>
      <p:pic>
        <p:nvPicPr>
          <p:cNvPr id="8" name="Picture 7">
            <a:extLst>
              <a:ext uri="{FF2B5EF4-FFF2-40B4-BE49-F238E27FC236}">
                <a16:creationId xmlns:a16="http://schemas.microsoft.com/office/drawing/2014/main" id="{7FAA968D-3E7E-6787-F0E5-FD50B7DD0955}"/>
              </a:ext>
            </a:extLst>
          </p:cNvPr>
          <p:cNvPicPr>
            <a:picLocks noChangeAspect="1"/>
          </p:cNvPicPr>
          <p:nvPr userDrawn="1"/>
        </p:nvPicPr>
        <p:blipFill>
          <a:blip r:embed="rId11"/>
          <a:stretch>
            <a:fillRect/>
          </a:stretch>
        </p:blipFill>
        <p:spPr>
          <a:xfrm>
            <a:off x="-1884218" y="-104461"/>
            <a:ext cx="1810327" cy="3036593"/>
          </a:xfrm>
          <a:prstGeom prst="rect">
            <a:avLst/>
          </a:prstGeom>
        </p:spPr>
      </p:pic>
    </p:spTree>
    <p:extLst>
      <p:ext uri="{BB962C8B-B14F-4D97-AF65-F5344CB8AC3E}">
        <p14:creationId xmlns:p14="http://schemas.microsoft.com/office/powerpoint/2010/main" val="246717443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hf hdr="0"/>
  <p:txStyles>
    <p:titleStyle>
      <a:lvl1pPr algn="l" defTabSz="914400" rtl="0" eaLnBrk="1" latinLnBrk="0" hangingPunct="1">
        <a:lnSpc>
          <a:spcPct val="90000"/>
        </a:lnSpc>
        <a:spcBef>
          <a:spcPct val="0"/>
        </a:spcBef>
        <a:buNone/>
        <a:defRPr sz="44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69_7D14A830.xml"/><Relationship Id="rId2" Type="http://schemas.openxmlformats.org/officeDocument/2006/relationships/slideLayout" Target="../slideLayouts/slideLayout6.xml"/><Relationship Id="rId1" Type="http://schemas.openxmlformats.org/officeDocument/2006/relationships/themeOverride" Target="../theme/themeOverride2.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microsoft.com/office/2018/10/relationships/comments" Target="../comments/modernComment_153_C164AD62.xml"/><Relationship Id="rId1" Type="http://schemas.openxmlformats.org/officeDocument/2006/relationships/slideLayout" Target="../slideLayouts/slideLayout6.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7F_A8ACF42D.xml"/><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chart" Target="../charts/chart14.xml"/><Relationship Id="rId4" Type="http://schemas.openxmlformats.org/officeDocument/2006/relationships/chart" Target="../charts/chart13.xml"/></Relationships>
</file>

<file path=ppt/slides/_rels/slide12.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slideLayout" Target="../slideLayouts/slideLayout6.xml"/><Relationship Id="rId1" Type="http://schemas.openxmlformats.org/officeDocument/2006/relationships/themeOverride" Target="../theme/themeOverride4.xml"/></Relationships>
</file>

<file path=ppt/slides/_rels/slide18.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chart" Target="../charts/chart26.xml"/></Relationships>
</file>

<file path=ppt/slides/_rels/slide21.xml.rels><?xml version="1.0" encoding="UTF-8" standalone="yes"?>
<Relationships xmlns="http://schemas.openxmlformats.org/package/2006/relationships"><Relationship Id="rId3" Type="http://schemas.openxmlformats.org/officeDocument/2006/relationships/chart" Target="../charts/chart28.xml"/><Relationship Id="rId2" Type="http://schemas.openxmlformats.org/officeDocument/2006/relationships/chart" Target="../charts/chart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D85ED-066A-F1BC-38E5-F4C8C64E1178}"/>
              </a:ext>
            </a:extLst>
          </p:cNvPr>
          <p:cNvSpPr>
            <a:spLocks noGrp="1"/>
          </p:cNvSpPr>
          <p:nvPr>
            <p:ph type="dt" sz="half" idx="10"/>
          </p:nvPr>
        </p:nvSpPr>
        <p:spPr/>
        <p:txBody>
          <a:bodyPr/>
          <a:lstStyle/>
          <a:p>
            <a:r>
              <a:rPr lang="en-US" dirty="0"/>
              <a:t>Date: 26-08-2026</a:t>
            </a:r>
            <a:endParaRPr lang="en-AE" dirty="0"/>
          </a:p>
        </p:txBody>
      </p:sp>
      <p:sp>
        <p:nvSpPr>
          <p:cNvPr id="3" name="Subtitle 2">
            <a:extLst>
              <a:ext uri="{FF2B5EF4-FFF2-40B4-BE49-F238E27FC236}">
                <a16:creationId xmlns:a16="http://schemas.microsoft.com/office/drawing/2014/main" id="{03E5333C-65B7-CE2E-504F-859AF9D7ED07}"/>
              </a:ext>
            </a:extLst>
          </p:cNvPr>
          <p:cNvSpPr>
            <a:spLocks noGrp="1"/>
          </p:cNvSpPr>
          <p:nvPr>
            <p:ph type="subTitle" idx="1"/>
          </p:nvPr>
        </p:nvSpPr>
        <p:spPr/>
        <p:txBody>
          <a:bodyPr/>
          <a:lstStyle/>
          <a:p>
            <a:r>
              <a:rPr lang="en-US" dirty="0"/>
              <a:t>Dubai Academic City and Dubai Al Nahda</a:t>
            </a:r>
          </a:p>
        </p:txBody>
      </p:sp>
      <p:sp>
        <p:nvSpPr>
          <p:cNvPr id="4" name="Title 3">
            <a:extLst>
              <a:ext uri="{FF2B5EF4-FFF2-40B4-BE49-F238E27FC236}">
                <a16:creationId xmlns:a16="http://schemas.microsoft.com/office/drawing/2014/main" id="{9AC55BC0-EFDB-4FAE-63AF-800DC4706298}"/>
              </a:ext>
            </a:extLst>
          </p:cNvPr>
          <p:cNvSpPr>
            <a:spLocks noGrp="1"/>
          </p:cNvSpPr>
          <p:nvPr>
            <p:ph type="title"/>
          </p:nvPr>
        </p:nvSpPr>
        <p:spPr>
          <a:xfrm>
            <a:off x="955674" y="2786385"/>
            <a:ext cx="9915525" cy="818751"/>
          </a:xfrm>
        </p:spPr>
        <p:txBody>
          <a:bodyPr>
            <a:normAutofit/>
          </a:bodyPr>
          <a:lstStyle/>
          <a:p>
            <a:r>
              <a:rPr lang="en-US" dirty="0"/>
              <a:t>KPI PERFORMANCE Q1 &amp; Q2</a:t>
            </a:r>
          </a:p>
        </p:txBody>
      </p:sp>
    </p:spTree>
    <p:extLst>
      <p:ext uri="{BB962C8B-B14F-4D97-AF65-F5344CB8AC3E}">
        <p14:creationId xmlns:p14="http://schemas.microsoft.com/office/powerpoint/2010/main" val="2574132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7DCC-5E00-0635-43F5-6B252E57332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37879D8-A518-75F7-338E-597F2C4C7D25}"/>
              </a:ext>
            </a:extLst>
          </p:cNvPr>
          <p:cNvSpPr txBox="1">
            <a:spLocks/>
          </p:cNvSpPr>
          <p:nvPr/>
        </p:nvSpPr>
        <p:spPr>
          <a:xfrm>
            <a:off x="731785" y="223762"/>
            <a:ext cx="10150301" cy="986177"/>
          </a:xfrm>
          <a:prstGeom prst="rect">
            <a:avLst/>
          </a:prstGeom>
        </p:spPr>
        <p:txBody>
          <a:bodyPr vert="horz" lIns="91440" tIns="45720" rIns="91440" bIns="45720" rtlCol="0" anchor="ctr" anchorCtr="0">
            <a:normAutofit fontScale="92500" lnSpcReduction="200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a:t>
            </a:r>
            <a:r>
              <a:rPr lang="en-US" sz="3200" dirty="0"/>
              <a:t>EHS KPI Dashboard</a:t>
            </a:r>
          </a:p>
          <a:p>
            <a:endParaRPr lang="en-US" sz="3000" dirty="0"/>
          </a:p>
          <a:p>
            <a:r>
              <a:rPr lang="en-US" sz="2400" b="0" dirty="0"/>
              <a:t>Campus KPI Scoring Breakdown</a:t>
            </a:r>
          </a:p>
        </p:txBody>
      </p:sp>
      <p:graphicFrame>
        <p:nvGraphicFramePr>
          <p:cNvPr id="13" name="Chart 12">
            <a:extLst>
              <a:ext uri="{FF2B5EF4-FFF2-40B4-BE49-F238E27FC236}">
                <a16:creationId xmlns:a16="http://schemas.microsoft.com/office/drawing/2014/main" id="{270BB58F-3E87-E938-A921-3DDE6303E9EA}"/>
              </a:ext>
            </a:extLst>
          </p:cNvPr>
          <p:cNvGraphicFramePr>
            <a:graphicFrameLocks/>
          </p:cNvGraphicFramePr>
          <p:nvPr/>
        </p:nvGraphicFramePr>
        <p:xfrm>
          <a:off x="1852646" y="1209939"/>
          <a:ext cx="8486707" cy="55363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780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2324-451F-D0B8-57F6-026148947624}"/>
            </a:ext>
          </a:extLst>
        </p:cNvPr>
        <p:cNvGrpSpPr/>
        <p:nvPr/>
      </p:nvGrpSpPr>
      <p:grpSpPr>
        <a:xfrm>
          <a:off x="0" y="0"/>
          <a:ext cx="0" cy="0"/>
          <a:chOff x="0" y="0"/>
          <a:chExt cx="0" cy="0"/>
        </a:xfrm>
      </p:grpSpPr>
      <p:sp>
        <p:nvSpPr>
          <p:cNvPr id="5" name="Text 11">
            <a:extLst>
              <a:ext uri="{FF2B5EF4-FFF2-40B4-BE49-F238E27FC236}">
                <a16:creationId xmlns:a16="http://schemas.microsoft.com/office/drawing/2014/main" id="{3F55F258-627E-C342-6D0B-0A85728E5409}"/>
              </a:ext>
            </a:extLst>
          </p:cNvPr>
          <p:cNvSpPr/>
          <p:nvPr/>
        </p:nvSpPr>
        <p:spPr>
          <a:xfrm>
            <a:off x="998202" y="202035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marL="0" indent="0" algn="ctr">
              <a:buNone/>
            </a:pP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1. Leadership, Accountability &amp; Engagement (20%)</a:t>
            </a:r>
          </a:p>
        </p:txBody>
      </p:sp>
      <p:sp>
        <p:nvSpPr>
          <p:cNvPr id="6" name="Shape 12">
            <a:extLst>
              <a:ext uri="{FF2B5EF4-FFF2-40B4-BE49-F238E27FC236}">
                <a16:creationId xmlns:a16="http://schemas.microsoft.com/office/drawing/2014/main" id="{C06D5E10-AB68-9754-5AF4-A9ECBEB80A1A}"/>
              </a:ext>
            </a:extLst>
          </p:cNvPr>
          <p:cNvSpPr/>
          <p:nvPr/>
        </p:nvSpPr>
        <p:spPr>
          <a:xfrm>
            <a:off x="4409537" y="2236239"/>
            <a:ext cx="1463040" cy="201168"/>
          </a:xfrm>
          <a:prstGeom prst="rect">
            <a:avLst/>
          </a:prstGeom>
          <a:solidFill>
            <a:schemeClr val="bg2"/>
          </a:solidFill>
          <a:ln w="12700">
            <a:solidFill>
              <a:srgbClr val="1E3A4A"/>
            </a:solidFill>
            <a:prstDash val="solid"/>
          </a:ln>
        </p:spPr>
        <p:txBody>
          <a:bodyPr/>
          <a:lstStyle/>
          <a:p>
            <a:endParaRPr lang="en-US" dirty="0"/>
          </a:p>
        </p:txBody>
      </p:sp>
      <p:sp>
        <p:nvSpPr>
          <p:cNvPr id="7" name="Shape 13">
            <a:extLst>
              <a:ext uri="{FF2B5EF4-FFF2-40B4-BE49-F238E27FC236}">
                <a16:creationId xmlns:a16="http://schemas.microsoft.com/office/drawing/2014/main" id="{7C5B943F-16FF-C711-37D4-7D6F94F64EC2}"/>
              </a:ext>
            </a:extLst>
          </p:cNvPr>
          <p:cNvSpPr/>
          <p:nvPr/>
        </p:nvSpPr>
        <p:spPr>
          <a:xfrm>
            <a:off x="4409537" y="2236239"/>
            <a:ext cx="1056640" cy="201168"/>
          </a:xfrm>
          <a:prstGeom prst="rect">
            <a:avLst/>
          </a:prstGeom>
          <a:solidFill>
            <a:srgbClr val="FFC000"/>
          </a:solidFill>
          <a:ln w="12700">
            <a:solidFill>
              <a:srgbClr val="C0DD97"/>
            </a:solidFill>
            <a:prstDash val="solid"/>
          </a:ln>
        </p:spPr>
        <p:txBody>
          <a:bodyPr/>
          <a:lstStyle/>
          <a:p>
            <a:endParaRPr lang="en-US" dirty="0"/>
          </a:p>
        </p:txBody>
      </p:sp>
      <p:sp>
        <p:nvSpPr>
          <p:cNvPr id="16" name="Text 14">
            <a:extLst>
              <a:ext uri="{FF2B5EF4-FFF2-40B4-BE49-F238E27FC236}">
                <a16:creationId xmlns:a16="http://schemas.microsoft.com/office/drawing/2014/main" id="{752B5F82-3B5D-4CED-B410-8BF3D74D3644}"/>
              </a:ext>
            </a:extLst>
          </p:cNvPr>
          <p:cNvSpPr/>
          <p:nvPr/>
        </p:nvSpPr>
        <p:spPr>
          <a:xfrm>
            <a:off x="4409537" y="2035071"/>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72%</a:t>
            </a:r>
            <a:endParaRPr lang="en-US" sz="1400" dirty="0">
              <a:solidFill>
                <a:schemeClr val="tx1">
                  <a:lumMod val="75000"/>
                </a:schemeClr>
              </a:solidFill>
            </a:endParaRPr>
          </a:p>
        </p:txBody>
      </p:sp>
      <p:sp>
        <p:nvSpPr>
          <p:cNvPr id="24" name="Shape 15">
            <a:extLst>
              <a:ext uri="{FF2B5EF4-FFF2-40B4-BE49-F238E27FC236}">
                <a16:creationId xmlns:a16="http://schemas.microsoft.com/office/drawing/2014/main" id="{AEE15EB6-F47F-6F38-F0EA-91CDF1FFFC84}"/>
              </a:ext>
            </a:extLst>
          </p:cNvPr>
          <p:cNvSpPr/>
          <p:nvPr/>
        </p:nvSpPr>
        <p:spPr>
          <a:xfrm>
            <a:off x="6564959" y="2236239"/>
            <a:ext cx="1316736" cy="201168"/>
          </a:xfrm>
          <a:prstGeom prst="rect">
            <a:avLst/>
          </a:prstGeom>
          <a:solidFill>
            <a:schemeClr val="bg2"/>
          </a:solidFill>
          <a:ln w="12700">
            <a:solidFill>
              <a:srgbClr val="2A1A0A"/>
            </a:solidFill>
            <a:prstDash val="solid"/>
          </a:ln>
        </p:spPr>
        <p:txBody>
          <a:bodyPr/>
          <a:lstStyle/>
          <a:p>
            <a:endParaRPr lang="en-US"/>
          </a:p>
        </p:txBody>
      </p:sp>
      <p:sp>
        <p:nvSpPr>
          <p:cNvPr id="32" name="Shape 16">
            <a:extLst>
              <a:ext uri="{FF2B5EF4-FFF2-40B4-BE49-F238E27FC236}">
                <a16:creationId xmlns:a16="http://schemas.microsoft.com/office/drawing/2014/main" id="{B6650983-EAA8-9A33-9361-7A7E630E5B61}"/>
              </a:ext>
            </a:extLst>
          </p:cNvPr>
          <p:cNvSpPr/>
          <p:nvPr/>
        </p:nvSpPr>
        <p:spPr>
          <a:xfrm>
            <a:off x="6564959" y="2236239"/>
            <a:ext cx="1050254" cy="201168"/>
          </a:xfrm>
          <a:prstGeom prst="rect">
            <a:avLst/>
          </a:prstGeom>
          <a:solidFill>
            <a:srgbClr val="FFC000"/>
          </a:solidFill>
          <a:ln w="12700">
            <a:solidFill>
              <a:srgbClr val="C0DD97"/>
            </a:solidFill>
            <a:prstDash val="solid"/>
          </a:ln>
        </p:spPr>
        <p:txBody>
          <a:bodyPr/>
          <a:lstStyle/>
          <a:p>
            <a:endParaRPr lang="en-US"/>
          </a:p>
        </p:txBody>
      </p:sp>
      <p:sp>
        <p:nvSpPr>
          <p:cNvPr id="40" name="Text 17">
            <a:extLst>
              <a:ext uri="{FF2B5EF4-FFF2-40B4-BE49-F238E27FC236}">
                <a16:creationId xmlns:a16="http://schemas.microsoft.com/office/drawing/2014/main" id="{ACD0D2E3-CD3A-D539-C9D0-47D2352CFAA2}"/>
              </a:ext>
            </a:extLst>
          </p:cNvPr>
          <p:cNvSpPr/>
          <p:nvPr/>
        </p:nvSpPr>
        <p:spPr>
          <a:xfrm>
            <a:off x="6564959" y="2035071"/>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80%</a:t>
            </a:r>
            <a:endParaRPr lang="en-US" sz="1400" dirty="0">
              <a:solidFill>
                <a:schemeClr val="tx1">
                  <a:lumMod val="75000"/>
                </a:schemeClr>
              </a:solidFill>
            </a:endParaRPr>
          </a:p>
        </p:txBody>
      </p:sp>
      <p:sp>
        <p:nvSpPr>
          <p:cNvPr id="57" name="Text 18">
            <a:extLst>
              <a:ext uri="{FF2B5EF4-FFF2-40B4-BE49-F238E27FC236}">
                <a16:creationId xmlns:a16="http://schemas.microsoft.com/office/drawing/2014/main" id="{A3C7168E-F4F7-4A66-D258-D673834E9AA6}"/>
              </a:ext>
            </a:extLst>
          </p:cNvPr>
          <p:cNvSpPr/>
          <p:nvPr/>
        </p:nvSpPr>
        <p:spPr>
          <a:xfrm>
            <a:off x="9076660" y="2160300"/>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80%</a:t>
            </a:r>
            <a:endParaRPr lang="en-US" sz="1400" dirty="0">
              <a:solidFill>
                <a:schemeClr val="tx1">
                  <a:lumMod val="75000"/>
                </a:schemeClr>
              </a:solidFill>
            </a:endParaRPr>
          </a:p>
        </p:txBody>
      </p:sp>
      <p:sp>
        <p:nvSpPr>
          <p:cNvPr id="58" name="Shape 23">
            <a:extLst>
              <a:ext uri="{FF2B5EF4-FFF2-40B4-BE49-F238E27FC236}">
                <a16:creationId xmlns:a16="http://schemas.microsoft.com/office/drawing/2014/main" id="{97ADCB36-D4B7-4612-6078-1953767AA242}"/>
              </a:ext>
            </a:extLst>
          </p:cNvPr>
          <p:cNvSpPr/>
          <p:nvPr/>
        </p:nvSpPr>
        <p:spPr>
          <a:xfrm>
            <a:off x="4409537" y="2998292"/>
            <a:ext cx="1463040" cy="201168"/>
          </a:xfrm>
          <a:prstGeom prst="rect">
            <a:avLst/>
          </a:prstGeom>
          <a:solidFill>
            <a:srgbClr val="FFFFFF"/>
          </a:solidFill>
          <a:ln w="12700">
            <a:solidFill>
              <a:srgbClr val="1E3A4A"/>
            </a:solidFill>
            <a:prstDash val="solid"/>
          </a:ln>
        </p:spPr>
        <p:txBody>
          <a:bodyPr/>
          <a:lstStyle/>
          <a:p>
            <a:endParaRPr lang="en-US"/>
          </a:p>
        </p:txBody>
      </p:sp>
      <p:sp>
        <p:nvSpPr>
          <p:cNvPr id="60" name="Shape 24">
            <a:extLst>
              <a:ext uri="{FF2B5EF4-FFF2-40B4-BE49-F238E27FC236}">
                <a16:creationId xmlns:a16="http://schemas.microsoft.com/office/drawing/2014/main" id="{E229C519-03FB-884B-C2A8-1A83E96A514D}"/>
              </a:ext>
            </a:extLst>
          </p:cNvPr>
          <p:cNvSpPr/>
          <p:nvPr/>
        </p:nvSpPr>
        <p:spPr>
          <a:xfrm>
            <a:off x="4409537" y="2998292"/>
            <a:ext cx="360883" cy="230807"/>
          </a:xfrm>
          <a:prstGeom prst="rect">
            <a:avLst/>
          </a:prstGeom>
          <a:solidFill>
            <a:srgbClr val="FFC000"/>
          </a:solidFill>
          <a:ln w="12700">
            <a:solidFill>
              <a:srgbClr val="C0DD97"/>
            </a:solidFill>
            <a:prstDash val="solid"/>
          </a:ln>
        </p:spPr>
        <p:txBody>
          <a:bodyPr/>
          <a:lstStyle/>
          <a:p>
            <a:endParaRPr lang="en-US" dirty="0"/>
          </a:p>
        </p:txBody>
      </p:sp>
      <p:sp>
        <p:nvSpPr>
          <p:cNvPr id="61" name="Text 25">
            <a:extLst>
              <a:ext uri="{FF2B5EF4-FFF2-40B4-BE49-F238E27FC236}">
                <a16:creationId xmlns:a16="http://schemas.microsoft.com/office/drawing/2014/main" id="{7D3E2696-1C7D-E887-C8A6-7B5E664FC0B9}"/>
              </a:ext>
            </a:extLst>
          </p:cNvPr>
          <p:cNvSpPr/>
          <p:nvPr/>
        </p:nvSpPr>
        <p:spPr>
          <a:xfrm>
            <a:off x="4409537" y="2797124"/>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25%</a:t>
            </a:r>
            <a:endParaRPr lang="en-US" sz="1400" dirty="0">
              <a:solidFill>
                <a:schemeClr val="tx1">
                  <a:lumMod val="75000"/>
                </a:schemeClr>
              </a:solidFill>
            </a:endParaRPr>
          </a:p>
        </p:txBody>
      </p:sp>
      <p:sp>
        <p:nvSpPr>
          <p:cNvPr id="62" name="Shape 26">
            <a:extLst>
              <a:ext uri="{FF2B5EF4-FFF2-40B4-BE49-F238E27FC236}">
                <a16:creationId xmlns:a16="http://schemas.microsoft.com/office/drawing/2014/main" id="{477B2D49-C06E-3204-0FD8-897075906B95}"/>
              </a:ext>
            </a:extLst>
          </p:cNvPr>
          <p:cNvSpPr/>
          <p:nvPr/>
        </p:nvSpPr>
        <p:spPr>
          <a:xfrm>
            <a:off x="6564959" y="2998292"/>
            <a:ext cx="1316736" cy="201168"/>
          </a:xfrm>
          <a:prstGeom prst="rect">
            <a:avLst/>
          </a:prstGeom>
          <a:solidFill>
            <a:schemeClr val="bg2"/>
          </a:solidFill>
          <a:ln w="12700">
            <a:solidFill>
              <a:srgbClr val="2A1A0A"/>
            </a:solidFill>
            <a:prstDash val="solid"/>
          </a:ln>
        </p:spPr>
        <p:txBody>
          <a:bodyPr/>
          <a:lstStyle/>
          <a:p>
            <a:endParaRPr lang="en-US"/>
          </a:p>
        </p:txBody>
      </p:sp>
      <p:sp>
        <p:nvSpPr>
          <p:cNvPr id="63" name="Shape 27">
            <a:extLst>
              <a:ext uri="{FF2B5EF4-FFF2-40B4-BE49-F238E27FC236}">
                <a16:creationId xmlns:a16="http://schemas.microsoft.com/office/drawing/2014/main" id="{6C635BCA-F263-5450-502D-CE63C0214550}"/>
              </a:ext>
            </a:extLst>
          </p:cNvPr>
          <p:cNvSpPr/>
          <p:nvPr/>
        </p:nvSpPr>
        <p:spPr>
          <a:xfrm>
            <a:off x="6564959" y="2998292"/>
            <a:ext cx="368686" cy="201168"/>
          </a:xfrm>
          <a:prstGeom prst="rect">
            <a:avLst/>
          </a:prstGeom>
          <a:solidFill>
            <a:srgbClr val="00249C"/>
          </a:solidFill>
          <a:ln w="12700">
            <a:solidFill>
              <a:srgbClr val="C0DD97"/>
            </a:solidFill>
            <a:prstDash val="solid"/>
          </a:ln>
        </p:spPr>
        <p:txBody>
          <a:bodyPr/>
          <a:lstStyle/>
          <a:p>
            <a:endParaRPr lang="en-US" dirty="0"/>
          </a:p>
        </p:txBody>
      </p:sp>
      <p:sp>
        <p:nvSpPr>
          <p:cNvPr id="64" name="Text 28">
            <a:extLst>
              <a:ext uri="{FF2B5EF4-FFF2-40B4-BE49-F238E27FC236}">
                <a16:creationId xmlns:a16="http://schemas.microsoft.com/office/drawing/2014/main" id="{5F7C0F9F-D9CD-DD83-5F75-017B43BCB500}"/>
              </a:ext>
            </a:extLst>
          </p:cNvPr>
          <p:cNvSpPr/>
          <p:nvPr/>
        </p:nvSpPr>
        <p:spPr>
          <a:xfrm>
            <a:off x="6564959" y="2797124"/>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28%</a:t>
            </a:r>
            <a:endParaRPr lang="en-US" sz="1400" dirty="0">
              <a:solidFill>
                <a:schemeClr val="tx1">
                  <a:lumMod val="75000"/>
                </a:schemeClr>
              </a:solidFill>
            </a:endParaRPr>
          </a:p>
        </p:txBody>
      </p:sp>
      <p:sp>
        <p:nvSpPr>
          <p:cNvPr id="65" name="Text 29">
            <a:extLst>
              <a:ext uri="{FF2B5EF4-FFF2-40B4-BE49-F238E27FC236}">
                <a16:creationId xmlns:a16="http://schemas.microsoft.com/office/drawing/2014/main" id="{FC4FA658-F281-1852-ABCB-2B9E53858B4B}"/>
              </a:ext>
            </a:extLst>
          </p:cNvPr>
          <p:cNvSpPr/>
          <p:nvPr/>
        </p:nvSpPr>
        <p:spPr>
          <a:xfrm>
            <a:off x="9076660" y="2911059"/>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26%</a:t>
            </a:r>
            <a:endParaRPr lang="en-US" sz="1400" dirty="0">
              <a:solidFill>
                <a:schemeClr val="tx1">
                  <a:lumMod val="75000"/>
                </a:schemeClr>
              </a:solidFill>
            </a:endParaRPr>
          </a:p>
        </p:txBody>
      </p:sp>
      <p:sp>
        <p:nvSpPr>
          <p:cNvPr id="66" name="Shape 34">
            <a:extLst>
              <a:ext uri="{FF2B5EF4-FFF2-40B4-BE49-F238E27FC236}">
                <a16:creationId xmlns:a16="http://schemas.microsoft.com/office/drawing/2014/main" id="{61F34F27-6FAD-DA29-8AE4-E43586B41147}"/>
              </a:ext>
            </a:extLst>
          </p:cNvPr>
          <p:cNvSpPr/>
          <p:nvPr/>
        </p:nvSpPr>
        <p:spPr>
          <a:xfrm>
            <a:off x="4409537" y="3719086"/>
            <a:ext cx="1463040" cy="201168"/>
          </a:xfrm>
          <a:prstGeom prst="rect">
            <a:avLst/>
          </a:prstGeom>
          <a:solidFill>
            <a:schemeClr val="bg2"/>
          </a:solidFill>
          <a:ln w="12700">
            <a:solidFill>
              <a:srgbClr val="1E3A4A"/>
            </a:solidFill>
            <a:prstDash val="solid"/>
          </a:ln>
        </p:spPr>
        <p:txBody>
          <a:bodyPr/>
          <a:lstStyle/>
          <a:p>
            <a:endParaRPr lang="en-US"/>
          </a:p>
        </p:txBody>
      </p:sp>
      <p:sp>
        <p:nvSpPr>
          <p:cNvPr id="67" name="Shape 35">
            <a:extLst>
              <a:ext uri="{FF2B5EF4-FFF2-40B4-BE49-F238E27FC236}">
                <a16:creationId xmlns:a16="http://schemas.microsoft.com/office/drawing/2014/main" id="{D08D1D90-1BCB-ED87-C828-968E7B8CF13F}"/>
              </a:ext>
            </a:extLst>
          </p:cNvPr>
          <p:cNvSpPr/>
          <p:nvPr/>
        </p:nvSpPr>
        <p:spPr>
          <a:xfrm>
            <a:off x="4409537" y="3719086"/>
            <a:ext cx="0" cy="201168"/>
          </a:xfrm>
          <a:prstGeom prst="rect">
            <a:avLst/>
          </a:prstGeom>
          <a:solidFill>
            <a:srgbClr val="FFC000"/>
          </a:solidFill>
          <a:ln w="12700">
            <a:solidFill>
              <a:srgbClr val="F7C1C1"/>
            </a:solidFill>
            <a:prstDash val="solid"/>
          </a:ln>
        </p:spPr>
        <p:txBody>
          <a:bodyPr/>
          <a:lstStyle/>
          <a:p>
            <a:endParaRPr lang="en-US"/>
          </a:p>
        </p:txBody>
      </p:sp>
      <p:sp>
        <p:nvSpPr>
          <p:cNvPr id="68" name="Text 36">
            <a:extLst>
              <a:ext uri="{FF2B5EF4-FFF2-40B4-BE49-F238E27FC236}">
                <a16:creationId xmlns:a16="http://schemas.microsoft.com/office/drawing/2014/main" id="{30C476F7-DAE0-A2F9-356C-0D443B75B487}"/>
              </a:ext>
            </a:extLst>
          </p:cNvPr>
          <p:cNvSpPr/>
          <p:nvPr/>
        </p:nvSpPr>
        <p:spPr>
          <a:xfrm>
            <a:off x="4409537" y="351791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0%</a:t>
            </a:r>
            <a:endParaRPr lang="en-US" sz="1400" dirty="0">
              <a:solidFill>
                <a:schemeClr val="tx1">
                  <a:lumMod val="75000"/>
                </a:schemeClr>
              </a:solidFill>
            </a:endParaRPr>
          </a:p>
        </p:txBody>
      </p:sp>
      <p:sp>
        <p:nvSpPr>
          <p:cNvPr id="69" name="Shape 37">
            <a:extLst>
              <a:ext uri="{FF2B5EF4-FFF2-40B4-BE49-F238E27FC236}">
                <a16:creationId xmlns:a16="http://schemas.microsoft.com/office/drawing/2014/main" id="{26365B79-35D5-0C07-B7F7-E345FBDA90C3}"/>
              </a:ext>
            </a:extLst>
          </p:cNvPr>
          <p:cNvSpPr/>
          <p:nvPr/>
        </p:nvSpPr>
        <p:spPr>
          <a:xfrm>
            <a:off x="6564959" y="3719086"/>
            <a:ext cx="1316736" cy="201168"/>
          </a:xfrm>
          <a:prstGeom prst="rect">
            <a:avLst/>
          </a:prstGeom>
          <a:solidFill>
            <a:schemeClr val="bg2"/>
          </a:solidFill>
          <a:ln w="12700">
            <a:solidFill>
              <a:srgbClr val="2A1A0A"/>
            </a:solidFill>
            <a:prstDash val="solid"/>
          </a:ln>
        </p:spPr>
        <p:txBody>
          <a:bodyPr/>
          <a:lstStyle/>
          <a:p>
            <a:endParaRPr lang="en-US"/>
          </a:p>
        </p:txBody>
      </p:sp>
      <p:sp>
        <p:nvSpPr>
          <p:cNvPr id="70" name="Shape 38">
            <a:extLst>
              <a:ext uri="{FF2B5EF4-FFF2-40B4-BE49-F238E27FC236}">
                <a16:creationId xmlns:a16="http://schemas.microsoft.com/office/drawing/2014/main" id="{79E2A930-C51E-B5CD-72F7-12AF9147F652}"/>
              </a:ext>
            </a:extLst>
          </p:cNvPr>
          <p:cNvSpPr/>
          <p:nvPr/>
        </p:nvSpPr>
        <p:spPr>
          <a:xfrm>
            <a:off x="6564959" y="3719086"/>
            <a:ext cx="0" cy="201168"/>
          </a:xfrm>
          <a:prstGeom prst="rect">
            <a:avLst/>
          </a:prstGeom>
          <a:solidFill>
            <a:srgbClr val="00249C"/>
          </a:solidFill>
          <a:ln w="12700">
            <a:solidFill>
              <a:srgbClr val="F7C1C1"/>
            </a:solidFill>
            <a:prstDash val="solid"/>
          </a:ln>
        </p:spPr>
        <p:txBody>
          <a:bodyPr/>
          <a:lstStyle/>
          <a:p>
            <a:endParaRPr lang="en-US"/>
          </a:p>
        </p:txBody>
      </p:sp>
      <p:sp>
        <p:nvSpPr>
          <p:cNvPr id="71" name="Text 39">
            <a:extLst>
              <a:ext uri="{FF2B5EF4-FFF2-40B4-BE49-F238E27FC236}">
                <a16:creationId xmlns:a16="http://schemas.microsoft.com/office/drawing/2014/main" id="{469FCAB6-937E-6D60-4424-9C8141132417}"/>
              </a:ext>
            </a:extLst>
          </p:cNvPr>
          <p:cNvSpPr/>
          <p:nvPr/>
        </p:nvSpPr>
        <p:spPr>
          <a:xfrm>
            <a:off x="6615326" y="3508177"/>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N/A</a:t>
            </a:r>
            <a:endParaRPr lang="en-US" sz="1400" dirty="0">
              <a:solidFill>
                <a:schemeClr val="tx1">
                  <a:lumMod val="75000"/>
                </a:schemeClr>
              </a:solidFill>
            </a:endParaRPr>
          </a:p>
        </p:txBody>
      </p:sp>
      <p:sp>
        <p:nvSpPr>
          <p:cNvPr id="72" name="Text 40">
            <a:extLst>
              <a:ext uri="{FF2B5EF4-FFF2-40B4-BE49-F238E27FC236}">
                <a16:creationId xmlns:a16="http://schemas.microsoft.com/office/drawing/2014/main" id="{4A2C479A-2749-80D7-F7B8-CB82A41E95E7}"/>
              </a:ext>
            </a:extLst>
          </p:cNvPr>
          <p:cNvSpPr/>
          <p:nvPr/>
        </p:nvSpPr>
        <p:spPr>
          <a:xfrm>
            <a:off x="9076660" y="361410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26%</a:t>
            </a:r>
            <a:endParaRPr lang="en-US" sz="1400" dirty="0">
              <a:solidFill>
                <a:schemeClr val="tx1">
                  <a:lumMod val="75000"/>
                </a:schemeClr>
              </a:solidFill>
            </a:endParaRPr>
          </a:p>
        </p:txBody>
      </p:sp>
      <p:sp>
        <p:nvSpPr>
          <p:cNvPr id="73" name="Shape 45">
            <a:extLst>
              <a:ext uri="{FF2B5EF4-FFF2-40B4-BE49-F238E27FC236}">
                <a16:creationId xmlns:a16="http://schemas.microsoft.com/office/drawing/2014/main" id="{69B39C9B-0F8B-78DA-355A-C9709C587F93}"/>
              </a:ext>
            </a:extLst>
          </p:cNvPr>
          <p:cNvSpPr/>
          <p:nvPr/>
        </p:nvSpPr>
        <p:spPr>
          <a:xfrm>
            <a:off x="4409537" y="4410241"/>
            <a:ext cx="1463040" cy="201168"/>
          </a:xfrm>
          <a:prstGeom prst="rect">
            <a:avLst/>
          </a:prstGeom>
          <a:solidFill>
            <a:schemeClr val="bg2"/>
          </a:solidFill>
          <a:ln w="12700">
            <a:solidFill>
              <a:srgbClr val="1E3A4A"/>
            </a:solidFill>
            <a:prstDash val="solid"/>
          </a:ln>
        </p:spPr>
        <p:txBody>
          <a:bodyPr/>
          <a:lstStyle/>
          <a:p>
            <a:endParaRPr lang="en-US"/>
          </a:p>
        </p:txBody>
      </p:sp>
      <p:sp>
        <p:nvSpPr>
          <p:cNvPr id="74" name="Shape 46">
            <a:extLst>
              <a:ext uri="{FF2B5EF4-FFF2-40B4-BE49-F238E27FC236}">
                <a16:creationId xmlns:a16="http://schemas.microsoft.com/office/drawing/2014/main" id="{41E4B394-1A07-1E7D-D80C-08A58E1835F4}"/>
              </a:ext>
            </a:extLst>
          </p:cNvPr>
          <p:cNvSpPr/>
          <p:nvPr/>
        </p:nvSpPr>
        <p:spPr>
          <a:xfrm>
            <a:off x="4409536" y="4410241"/>
            <a:ext cx="1170432" cy="201168"/>
          </a:xfrm>
          <a:prstGeom prst="rect">
            <a:avLst/>
          </a:prstGeom>
          <a:solidFill>
            <a:srgbClr val="FFC000"/>
          </a:solidFill>
          <a:ln w="12700">
            <a:solidFill>
              <a:srgbClr val="C0DD97"/>
            </a:solidFill>
            <a:prstDash val="solid"/>
          </a:ln>
        </p:spPr>
        <p:txBody>
          <a:bodyPr/>
          <a:lstStyle/>
          <a:p>
            <a:endParaRPr lang="en-US"/>
          </a:p>
        </p:txBody>
      </p:sp>
      <p:sp>
        <p:nvSpPr>
          <p:cNvPr id="75" name="Text 47">
            <a:extLst>
              <a:ext uri="{FF2B5EF4-FFF2-40B4-BE49-F238E27FC236}">
                <a16:creationId xmlns:a16="http://schemas.microsoft.com/office/drawing/2014/main" id="{50B1D3C1-444C-2099-C9E4-B27A564B7059}"/>
              </a:ext>
            </a:extLst>
          </p:cNvPr>
          <p:cNvSpPr/>
          <p:nvPr/>
        </p:nvSpPr>
        <p:spPr>
          <a:xfrm>
            <a:off x="4409537" y="4209073"/>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80%</a:t>
            </a:r>
            <a:endParaRPr lang="en-US" sz="1400" dirty="0">
              <a:solidFill>
                <a:schemeClr val="tx1">
                  <a:lumMod val="75000"/>
                </a:schemeClr>
              </a:solidFill>
            </a:endParaRPr>
          </a:p>
        </p:txBody>
      </p:sp>
      <p:sp>
        <p:nvSpPr>
          <p:cNvPr id="76" name="Shape 48">
            <a:extLst>
              <a:ext uri="{FF2B5EF4-FFF2-40B4-BE49-F238E27FC236}">
                <a16:creationId xmlns:a16="http://schemas.microsoft.com/office/drawing/2014/main" id="{68CE2CAD-EC87-780D-125D-7EAC58DBB473}"/>
              </a:ext>
            </a:extLst>
          </p:cNvPr>
          <p:cNvSpPr/>
          <p:nvPr/>
        </p:nvSpPr>
        <p:spPr>
          <a:xfrm>
            <a:off x="6564959" y="4410241"/>
            <a:ext cx="1316736" cy="201168"/>
          </a:xfrm>
          <a:prstGeom prst="rect">
            <a:avLst/>
          </a:prstGeom>
          <a:solidFill>
            <a:schemeClr val="bg2"/>
          </a:solidFill>
          <a:ln w="12700">
            <a:solidFill>
              <a:srgbClr val="2A1A0A"/>
            </a:solidFill>
            <a:prstDash val="solid"/>
          </a:ln>
        </p:spPr>
        <p:txBody>
          <a:bodyPr/>
          <a:lstStyle/>
          <a:p>
            <a:endParaRPr lang="en-US"/>
          </a:p>
        </p:txBody>
      </p:sp>
      <p:sp>
        <p:nvSpPr>
          <p:cNvPr id="77" name="Shape 49">
            <a:extLst>
              <a:ext uri="{FF2B5EF4-FFF2-40B4-BE49-F238E27FC236}">
                <a16:creationId xmlns:a16="http://schemas.microsoft.com/office/drawing/2014/main" id="{F799BC8F-C149-BFFE-939C-686F6532FFE1}"/>
              </a:ext>
            </a:extLst>
          </p:cNvPr>
          <p:cNvSpPr/>
          <p:nvPr/>
        </p:nvSpPr>
        <p:spPr>
          <a:xfrm>
            <a:off x="6564959" y="4410241"/>
            <a:ext cx="1244943" cy="201168"/>
          </a:xfrm>
          <a:prstGeom prst="rect">
            <a:avLst/>
          </a:prstGeom>
          <a:solidFill>
            <a:srgbClr val="00249C"/>
          </a:solidFill>
          <a:ln w="12700">
            <a:solidFill>
              <a:srgbClr val="C0DD97"/>
            </a:solidFill>
            <a:prstDash val="solid"/>
          </a:ln>
        </p:spPr>
        <p:txBody>
          <a:bodyPr/>
          <a:lstStyle/>
          <a:p>
            <a:endParaRPr lang="en-US"/>
          </a:p>
        </p:txBody>
      </p:sp>
      <p:sp>
        <p:nvSpPr>
          <p:cNvPr id="78" name="Text 50">
            <a:extLst>
              <a:ext uri="{FF2B5EF4-FFF2-40B4-BE49-F238E27FC236}">
                <a16:creationId xmlns:a16="http://schemas.microsoft.com/office/drawing/2014/main" id="{CC3F8160-8295-4FD1-5C99-5896053FACBF}"/>
              </a:ext>
            </a:extLst>
          </p:cNvPr>
          <p:cNvSpPr/>
          <p:nvPr/>
        </p:nvSpPr>
        <p:spPr>
          <a:xfrm>
            <a:off x="6564959" y="4209073"/>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95%</a:t>
            </a:r>
            <a:endParaRPr lang="en-US" sz="1400" dirty="0">
              <a:solidFill>
                <a:schemeClr val="tx1">
                  <a:lumMod val="75000"/>
                </a:schemeClr>
              </a:solidFill>
            </a:endParaRPr>
          </a:p>
        </p:txBody>
      </p:sp>
      <p:sp>
        <p:nvSpPr>
          <p:cNvPr id="79" name="Text 51">
            <a:extLst>
              <a:ext uri="{FF2B5EF4-FFF2-40B4-BE49-F238E27FC236}">
                <a16:creationId xmlns:a16="http://schemas.microsoft.com/office/drawing/2014/main" id="{4A4F5897-6C14-39EE-3703-A1235A3C886B}"/>
              </a:ext>
            </a:extLst>
          </p:cNvPr>
          <p:cNvSpPr/>
          <p:nvPr/>
        </p:nvSpPr>
        <p:spPr>
          <a:xfrm>
            <a:off x="9076660" y="430663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92%</a:t>
            </a:r>
            <a:endParaRPr lang="en-US" sz="1400" dirty="0">
              <a:solidFill>
                <a:schemeClr val="tx1">
                  <a:lumMod val="75000"/>
                </a:schemeClr>
              </a:solidFill>
            </a:endParaRPr>
          </a:p>
        </p:txBody>
      </p:sp>
      <p:sp>
        <p:nvSpPr>
          <p:cNvPr id="80" name="Shape 56">
            <a:extLst>
              <a:ext uri="{FF2B5EF4-FFF2-40B4-BE49-F238E27FC236}">
                <a16:creationId xmlns:a16="http://schemas.microsoft.com/office/drawing/2014/main" id="{A8989166-20AE-A56B-BB14-6B4BA81E880D}"/>
              </a:ext>
            </a:extLst>
          </p:cNvPr>
          <p:cNvSpPr/>
          <p:nvPr/>
        </p:nvSpPr>
        <p:spPr>
          <a:xfrm>
            <a:off x="4409538" y="5151026"/>
            <a:ext cx="1463040" cy="201168"/>
          </a:xfrm>
          <a:prstGeom prst="rect">
            <a:avLst/>
          </a:prstGeom>
          <a:solidFill>
            <a:schemeClr val="bg2"/>
          </a:solidFill>
          <a:ln w="12700">
            <a:solidFill>
              <a:srgbClr val="1E3A4A"/>
            </a:solidFill>
            <a:prstDash val="solid"/>
          </a:ln>
        </p:spPr>
        <p:txBody>
          <a:bodyPr/>
          <a:lstStyle/>
          <a:p>
            <a:endParaRPr lang="en-US"/>
          </a:p>
        </p:txBody>
      </p:sp>
      <p:sp>
        <p:nvSpPr>
          <p:cNvPr id="81" name="Shape 57">
            <a:extLst>
              <a:ext uri="{FF2B5EF4-FFF2-40B4-BE49-F238E27FC236}">
                <a16:creationId xmlns:a16="http://schemas.microsoft.com/office/drawing/2014/main" id="{0B06808D-3535-90C9-D5A5-1EE0021CD71D}"/>
              </a:ext>
            </a:extLst>
          </p:cNvPr>
          <p:cNvSpPr/>
          <p:nvPr/>
        </p:nvSpPr>
        <p:spPr>
          <a:xfrm>
            <a:off x="4409538" y="5151026"/>
            <a:ext cx="707500" cy="201168"/>
          </a:xfrm>
          <a:prstGeom prst="rect">
            <a:avLst/>
          </a:prstGeom>
          <a:solidFill>
            <a:srgbClr val="FFC000"/>
          </a:solidFill>
          <a:ln w="12700">
            <a:solidFill>
              <a:srgbClr val="F7C1C1"/>
            </a:solidFill>
            <a:prstDash val="solid"/>
          </a:ln>
        </p:spPr>
        <p:txBody>
          <a:bodyPr/>
          <a:lstStyle/>
          <a:p>
            <a:endParaRPr lang="en-US"/>
          </a:p>
        </p:txBody>
      </p:sp>
      <p:sp>
        <p:nvSpPr>
          <p:cNvPr id="82" name="Text 58">
            <a:extLst>
              <a:ext uri="{FF2B5EF4-FFF2-40B4-BE49-F238E27FC236}">
                <a16:creationId xmlns:a16="http://schemas.microsoft.com/office/drawing/2014/main" id="{1FEACE66-747E-3DA6-B004-A02E95301C59}"/>
              </a:ext>
            </a:extLst>
          </p:cNvPr>
          <p:cNvSpPr/>
          <p:nvPr/>
        </p:nvSpPr>
        <p:spPr>
          <a:xfrm>
            <a:off x="4409538" y="494985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48%</a:t>
            </a:r>
            <a:endParaRPr lang="en-US" sz="1400" dirty="0">
              <a:solidFill>
                <a:schemeClr val="tx1">
                  <a:lumMod val="75000"/>
                </a:schemeClr>
              </a:solidFill>
            </a:endParaRPr>
          </a:p>
        </p:txBody>
      </p:sp>
      <p:sp>
        <p:nvSpPr>
          <p:cNvPr id="83" name="Shape 59">
            <a:extLst>
              <a:ext uri="{FF2B5EF4-FFF2-40B4-BE49-F238E27FC236}">
                <a16:creationId xmlns:a16="http://schemas.microsoft.com/office/drawing/2014/main" id="{7BFCC5D1-D0CB-047D-A133-3F217E5F89B1}"/>
              </a:ext>
            </a:extLst>
          </p:cNvPr>
          <p:cNvSpPr/>
          <p:nvPr/>
        </p:nvSpPr>
        <p:spPr>
          <a:xfrm>
            <a:off x="6564960" y="5151026"/>
            <a:ext cx="1316736" cy="201168"/>
          </a:xfrm>
          <a:prstGeom prst="rect">
            <a:avLst/>
          </a:prstGeom>
          <a:solidFill>
            <a:schemeClr val="bg2"/>
          </a:solidFill>
          <a:ln w="12700">
            <a:solidFill>
              <a:srgbClr val="2A1A0A"/>
            </a:solidFill>
            <a:prstDash val="solid"/>
          </a:ln>
        </p:spPr>
        <p:txBody>
          <a:bodyPr/>
          <a:lstStyle/>
          <a:p>
            <a:endParaRPr lang="en-US"/>
          </a:p>
        </p:txBody>
      </p:sp>
      <p:sp>
        <p:nvSpPr>
          <p:cNvPr id="84" name="Shape 60">
            <a:extLst>
              <a:ext uri="{FF2B5EF4-FFF2-40B4-BE49-F238E27FC236}">
                <a16:creationId xmlns:a16="http://schemas.microsoft.com/office/drawing/2014/main" id="{ABD24DCA-17EA-C8D1-2B67-308309075D0C}"/>
              </a:ext>
            </a:extLst>
          </p:cNvPr>
          <p:cNvSpPr/>
          <p:nvPr/>
        </p:nvSpPr>
        <p:spPr>
          <a:xfrm>
            <a:off x="6564960" y="5151026"/>
            <a:ext cx="562434" cy="201168"/>
          </a:xfrm>
          <a:prstGeom prst="rect">
            <a:avLst/>
          </a:prstGeom>
          <a:solidFill>
            <a:srgbClr val="FFC000"/>
          </a:solidFill>
          <a:ln w="12700">
            <a:solidFill>
              <a:srgbClr val="F7C1C1"/>
            </a:solidFill>
            <a:prstDash val="solid"/>
          </a:ln>
        </p:spPr>
        <p:txBody>
          <a:bodyPr/>
          <a:lstStyle/>
          <a:p>
            <a:endParaRPr lang="en-US"/>
          </a:p>
        </p:txBody>
      </p:sp>
      <p:sp>
        <p:nvSpPr>
          <p:cNvPr id="85" name="Text 61">
            <a:extLst>
              <a:ext uri="{FF2B5EF4-FFF2-40B4-BE49-F238E27FC236}">
                <a16:creationId xmlns:a16="http://schemas.microsoft.com/office/drawing/2014/main" id="{EB6684DE-5CE5-E2C2-94F5-7397A99093DA}"/>
              </a:ext>
            </a:extLst>
          </p:cNvPr>
          <p:cNvSpPr/>
          <p:nvPr/>
        </p:nvSpPr>
        <p:spPr>
          <a:xfrm>
            <a:off x="6564960" y="4949858"/>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43%</a:t>
            </a:r>
            <a:endParaRPr lang="en-US" sz="1400" dirty="0">
              <a:solidFill>
                <a:schemeClr val="tx1">
                  <a:lumMod val="75000"/>
                </a:schemeClr>
              </a:solidFill>
            </a:endParaRPr>
          </a:p>
        </p:txBody>
      </p:sp>
      <p:sp>
        <p:nvSpPr>
          <p:cNvPr id="86" name="Text 62">
            <a:extLst>
              <a:ext uri="{FF2B5EF4-FFF2-40B4-BE49-F238E27FC236}">
                <a16:creationId xmlns:a16="http://schemas.microsoft.com/office/drawing/2014/main" id="{C844CE18-33A1-23A6-4FF9-2B2099AA500C}"/>
              </a:ext>
            </a:extLst>
          </p:cNvPr>
          <p:cNvSpPr/>
          <p:nvPr/>
        </p:nvSpPr>
        <p:spPr>
          <a:xfrm>
            <a:off x="9076661" y="5057253"/>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57%</a:t>
            </a:r>
            <a:endParaRPr lang="en-US" sz="1400" dirty="0">
              <a:solidFill>
                <a:schemeClr val="tx1">
                  <a:lumMod val="75000"/>
                </a:schemeClr>
              </a:solidFill>
            </a:endParaRPr>
          </a:p>
        </p:txBody>
      </p:sp>
      <p:sp>
        <p:nvSpPr>
          <p:cNvPr id="87" name="Text 11">
            <a:extLst>
              <a:ext uri="{FF2B5EF4-FFF2-40B4-BE49-F238E27FC236}">
                <a16:creationId xmlns:a16="http://schemas.microsoft.com/office/drawing/2014/main" id="{917D5CD2-EEF6-C0AE-3008-6D3CAC039BF5}"/>
              </a:ext>
            </a:extLst>
          </p:cNvPr>
          <p:cNvSpPr/>
          <p:nvPr/>
        </p:nvSpPr>
        <p:spPr>
          <a:xfrm>
            <a:off x="998202" y="2745183"/>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2. Risk Management &amp; Planning (20%)</a:t>
            </a:r>
          </a:p>
        </p:txBody>
      </p:sp>
      <p:sp>
        <p:nvSpPr>
          <p:cNvPr id="88" name="Text 11">
            <a:extLst>
              <a:ext uri="{FF2B5EF4-FFF2-40B4-BE49-F238E27FC236}">
                <a16:creationId xmlns:a16="http://schemas.microsoft.com/office/drawing/2014/main" id="{7F86E6F3-81BB-01AF-2D9F-6A1991D63281}"/>
              </a:ext>
            </a:extLst>
          </p:cNvPr>
          <p:cNvSpPr/>
          <p:nvPr/>
        </p:nvSpPr>
        <p:spPr>
          <a:xfrm>
            <a:off x="998202" y="347943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3. Training &amp; Awareness (10%)</a:t>
            </a:r>
          </a:p>
        </p:txBody>
      </p:sp>
      <p:sp>
        <p:nvSpPr>
          <p:cNvPr id="89" name="Text 11">
            <a:extLst>
              <a:ext uri="{FF2B5EF4-FFF2-40B4-BE49-F238E27FC236}">
                <a16:creationId xmlns:a16="http://schemas.microsoft.com/office/drawing/2014/main" id="{FBBB0DA6-AC6E-CF5B-16A3-16D32590C3AA}"/>
              </a:ext>
            </a:extLst>
          </p:cNvPr>
          <p:cNvSpPr/>
          <p:nvPr/>
        </p:nvSpPr>
        <p:spPr>
          <a:xfrm>
            <a:off x="998202" y="420782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4. Operational Control &amp; Emergency Preparedness (25%)</a:t>
            </a:r>
          </a:p>
        </p:txBody>
      </p:sp>
      <p:sp>
        <p:nvSpPr>
          <p:cNvPr id="90" name="Text 11">
            <a:extLst>
              <a:ext uri="{FF2B5EF4-FFF2-40B4-BE49-F238E27FC236}">
                <a16:creationId xmlns:a16="http://schemas.microsoft.com/office/drawing/2014/main" id="{24DE36AD-FE9C-9906-C01C-1D9E5DC42CDD}"/>
              </a:ext>
            </a:extLst>
          </p:cNvPr>
          <p:cNvSpPr/>
          <p:nvPr/>
        </p:nvSpPr>
        <p:spPr>
          <a:xfrm>
            <a:off x="998202" y="493985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5. Performance Evaluation &amp; Continuous Improvement (25%)</a:t>
            </a:r>
          </a:p>
        </p:txBody>
      </p:sp>
      <p:sp>
        <p:nvSpPr>
          <p:cNvPr id="91" name="Text 3">
            <a:extLst>
              <a:ext uri="{FF2B5EF4-FFF2-40B4-BE49-F238E27FC236}">
                <a16:creationId xmlns:a16="http://schemas.microsoft.com/office/drawing/2014/main" id="{4F70E5BA-29BD-30FB-2776-2823F9A26413}"/>
              </a:ext>
            </a:extLst>
          </p:cNvPr>
          <p:cNvSpPr/>
          <p:nvPr/>
        </p:nvSpPr>
        <p:spPr>
          <a:xfrm>
            <a:off x="998201" y="1577237"/>
            <a:ext cx="2938863" cy="29624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Pillar</a:t>
            </a:r>
            <a:endParaRPr lang="en-US" sz="1600" dirty="0">
              <a:solidFill>
                <a:srgbClr val="00249C"/>
              </a:solidFill>
            </a:endParaRPr>
          </a:p>
        </p:txBody>
      </p:sp>
      <p:sp>
        <p:nvSpPr>
          <p:cNvPr id="92" name="Text 4">
            <a:extLst>
              <a:ext uri="{FF2B5EF4-FFF2-40B4-BE49-F238E27FC236}">
                <a16:creationId xmlns:a16="http://schemas.microsoft.com/office/drawing/2014/main" id="{D7A36F8B-6D54-086E-C3F8-C1347A7D3E6C}"/>
              </a:ext>
            </a:extLst>
          </p:cNvPr>
          <p:cNvSpPr/>
          <p:nvPr/>
        </p:nvSpPr>
        <p:spPr>
          <a:xfrm>
            <a:off x="4164458" y="1571795"/>
            <a:ext cx="1831378" cy="248846"/>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DMC</a:t>
            </a:r>
            <a:endParaRPr lang="en-US" sz="1600" dirty="0">
              <a:solidFill>
                <a:srgbClr val="00249C"/>
              </a:solidFill>
            </a:endParaRPr>
          </a:p>
        </p:txBody>
      </p:sp>
      <p:sp>
        <p:nvSpPr>
          <p:cNvPr id="93" name="Text 5">
            <a:extLst>
              <a:ext uri="{FF2B5EF4-FFF2-40B4-BE49-F238E27FC236}">
                <a16:creationId xmlns:a16="http://schemas.microsoft.com/office/drawing/2014/main" id="{F852F043-5104-652E-EADA-52E6968D0F19}"/>
              </a:ext>
            </a:extLst>
          </p:cNvPr>
          <p:cNvSpPr/>
          <p:nvPr/>
        </p:nvSpPr>
        <p:spPr>
          <a:xfrm>
            <a:off x="6336148" y="1592923"/>
            <a:ext cx="1774358" cy="251945"/>
          </a:xfrm>
          <a:prstGeom prst="rect">
            <a:avLst/>
          </a:prstGeom>
          <a:noFill/>
          <a:ln/>
        </p:spPr>
        <p:txBody>
          <a:bodyPr wrap="square" lIns="0" tIns="0" rIns="0" bIns="0" rtlCol="0" anchor="ctr"/>
          <a:lstStyle/>
          <a:p>
            <a:pPr algn="ctr"/>
            <a:r>
              <a:rPr lang="en-US" sz="1600" dirty="0">
                <a:solidFill>
                  <a:srgbClr val="00249C"/>
                </a:solidFill>
                <a:latin typeface="Calibri" pitchFamily="34" charset="0"/>
                <a:ea typeface="Calibri" pitchFamily="34" charset="-122"/>
                <a:cs typeface="Calibri" pitchFamily="34" charset="-120"/>
              </a:rPr>
              <a:t>DBN</a:t>
            </a:r>
            <a:endParaRPr lang="en-US" sz="1600" dirty="0">
              <a:solidFill>
                <a:srgbClr val="00249C"/>
              </a:solidFill>
            </a:endParaRPr>
          </a:p>
        </p:txBody>
      </p:sp>
      <p:sp>
        <p:nvSpPr>
          <p:cNvPr id="94" name="Text 6">
            <a:extLst>
              <a:ext uri="{FF2B5EF4-FFF2-40B4-BE49-F238E27FC236}">
                <a16:creationId xmlns:a16="http://schemas.microsoft.com/office/drawing/2014/main" id="{1E43C59F-9345-7D15-5069-F608DAE42EE6}"/>
              </a:ext>
            </a:extLst>
          </p:cNvPr>
          <p:cNvSpPr/>
          <p:nvPr/>
        </p:nvSpPr>
        <p:spPr>
          <a:xfrm>
            <a:off x="8450818" y="1595450"/>
            <a:ext cx="2124260" cy="24688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Avg Across Campuses </a:t>
            </a:r>
            <a:endParaRPr lang="en-US" sz="1600" dirty="0">
              <a:solidFill>
                <a:srgbClr val="00249C"/>
              </a:solidFill>
            </a:endParaRPr>
          </a:p>
        </p:txBody>
      </p:sp>
      <p:cxnSp>
        <p:nvCxnSpPr>
          <p:cNvPr id="95" name="Straight Connector 94">
            <a:extLst>
              <a:ext uri="{FF2B5EF4-FFF2-40B4-BE49-F238E27FC236}">
                <a16:creationId xmlns:a16="http://schemas.microsoft.com/office/drawing/2014/main" id="{42D10289-80BB-B0EA-E1D3-66ED48D5518F}"/>
              </a:ext>
            </a:extLst>
          </p:cNvPr>
          <p:cNvCxnSpPr/>
          <p:nvPr/>
        </p:nvCxnSpPr>
        <p:spPr>
          <a:xfrm>
            <a:off x="998202" y="1932032"/>
            <a:ext cx="9604942" cy="0"/>
          </a:xfrm>
          <a:prstGeom prst="line">
            <a:avLst/>
          </a:prstGeom>
          <a:ln>
            <a:solidFill>
              <a:srgbClr val="00249C"/>
            </a:solidFill>
          </a:ln>
        </p:spPr>
        <p:style>
          <a:lnRef idx="1">
            <a:schemeClr val="accent1"/>
          </a:lnRef>
          <a:fillRef idx="0">
            <a:schemeClr val="accent1"/>
          </a:fillRef>
          <a:effectRef idx="0">
            <a:schemeClr val="accent1"/>
          </a:effectRef>
          <a:fontRef idx="minor">
            <a:schemeClr val="tx1"/>
          </a:fontRef>
        </p:style>
      </p:cxnSp>
      <p:sp>
        <p:nvSpPr>
          <p:cNvPr id="2" name="Shape 3">
            <a:extLst>
              <a:ext uri="{FF2B5EF4-FFF2-40B4-BE49-F238E27FC236}">
                <a16:creationId xmlns:a16="http://schemas.microsoft.com/office/drawing/2014/main" id="{20B80BA5-F304-C2A3-8802-DC97E50A4ED0}"/>
              </a:ext>
            </a:extLst>
          </p:cNvPr>
          <p:cNvSpPr/>
          <p:nvPr/>
        </p:nvSpPr>
        <p:spPr>
          <a:xfrm>
            <a:off x="4405066"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 name="Shape 4">
            <a:extLst>
              <a:ext uri="{FF2B5EF4-FFF2-40B4-BE49-F238E27FC236}">
                <a16:creationId xmlns:a16="http://schemas.microsoft.com/office/drawing/2014/main" id="{A29C7D7B-77B4-22D1-782D-3E48EA43A63E}"/>
              </a:ext>
            </a:extLst>
          </p:cNvPr>
          <p:cNvSpPr/>
          <p:nvPr/>
        </p:nvSpPr>
        <p:spPr>
          <a:xfrm>
            <a:off x="4412015"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 name="Text 5">
            <a:extLst>
              <a:ext uri="{FF2B5EF4-FFF2-40B4-BE49-F238E27FC236}">
                <a16:creationId xmlns:a16="http://schemas.microsoft.com/office/drawing/2014/main" id="{CC5A3054-ECB2-4DC3-FFBD-C7D890E4F142}"/>
              </a:ext>
            </a:extLst>
          </p:cNvPr>
          <p:cNvSpPr/>
          <p:nvPr/>
        </p:nvSpPr>
        <p:spPr>
          <a:xfrm>
            <a:off x="4606234"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DMC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8" name="Text 6">
            <a:extLst>
              <a:ext uri="{FF2B5EF4-FFF2-40B4-BE49-F238E27FC236}">
                <a16:creationId xmlns:a16="http://schemas.microsoft.com/office/drawing/2014/main" id="{23838B55-691B-071B-E85E-A6B74C8CCFBF}"/>
              </a:ext>
            </a:extLst>
          </p:cNvPr>
          <p:cNvSpPr/>
          <p:nvPr/>
        </p:nvSpPr>
        <p:spPr>
          <a:xfrm>
            <a:off x="4606234" y="6068253"/>
            <a:ext cx="1691640" cy="384048"/>
          </a:xfrm>
          <a:prstGeom prst="rect">
            <a:avLst/>
          </a:prstGeom>
          <a:noFill/>
          <a:ln/>
        </p:spPr>
        <p:txBody>
          <a:bodyPr wrap="square" lIns="0" tIns="0" rIns="0" bIns="0" rtlCol="0" anchor="ctr"/>
          <a:lstStyle/>
          <a:p>
            <a:pPr marL="0" indent="0">
              <a:buNone/>
            </a:pPr>
            <a:r>
              <a:rPr lang="en-US" sz="2400" b="1" dirty="0">
                <a:solidFill>
                  <a:srgbClr val="4F9D3D"/>
                </a:solidFill>
                <a:latin typeface="Tahoma" panose="020B0604030504040204" pitchFamily="34" charset="0"/>
                <a:ea typeface="Tahoma" panose="020B0604030504040204" pitchFamily="34" charset="0"/>
                <a:cs typeface="Tahoma" panose="020B0604030504040204" pitchFamily="34" charset="0"/>
              </a:rPr>
              <a:t>51%</a:t>
            </a:r>
            <a:endParaRPr lang="en-US" sz="2400" dirty="0">
              <a:solidFill>
                <a:srgbClr val="C0DD97"/>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 7">
            <a:extLst>
              <a:ext uri="{FF2B5EF4-FFF2-40B4-BE49-F238E27FC236}">
                <a16:creationId xmlns:a16="http://schemas.microsoft.com/office/drawing/2014/main" id="{8F485DFD-C27F-DE27-6A11-1CBB09C4CED7}"/>
              </a:ext>
            </a:extLst>
          </p:cNvPr>
          <p:cNvSpPr/>
          <p:nvPr/>
        </p:nvSpPr>
        <p:spPr>
          <a:xfrm>
            <a:off x="4606234"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0" name="Shape 8">
            <a:extLst>
              <a:ext uri="{FF2B5EF4-FFF2-40B4-BE49-F238E27FC236}">
                <a16:creationId xmlns:a16="http://schemas.microsoft.com/office/drawing/2014/main" id="{D490E1E8-506F-A5B9-A4CC-784E98FE5337}"/>
              </a:ext>
            </a:extLst>
          </p:cNvPr>
          <p:cNvSpPr/>
          <p:nvPr/>
        </p:nvSpPr>
        <p:spPr>
          <a:xfrm>
            <a:off x="6558010"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a:extLst>
              <a:ext uri="{FF2B5EF4-FFF2-40B4-BE49-F238E27FC236}">
                <a16:creationId xmlns:a16="http://schemas.microsoft.com/office/drawing/2014/main" id="{DE9DDCEF-95FE-FC55-11BB-730BFF4CE7E0}"/>
              </a:ext>
            </a:extLst>
          </p:cNvPr>
          <p:cNvSpPr/>
          <p:nvPr/>
        </p:nvSpPr>
        <p:spPr>
          <a:xfrm>
            <a:off x="6564959"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a:extLst>
              <a:ext uri="{FF2B5EF4-FFF2-40B4-BE49-F238E27FC236}">
                <a16:creationId xmlns:a16="http://schemas.microsoft.com/office/drawing/2014/main" id="{F94524AF-AAB9-6972-CCEF-22D6F85BB006}"/>
              </a:ext>
            </a:extLst>
          </p:cNvPr>
          <p:cNvSpPr/>
          <p:nvPr/>
        </p:nvSpPr>
        <p:spPr>
          <a:xfrm>
            <a:off x="6759178"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DBN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 11">
            <a:extLst>
              <a:ext uri="{FF2B5EF4-FFF2-40B4-BE49-F238E27FC236}">
                <a16:creationId xmlns:a16="http://schemas.microsoft.com/office/drawing/2014/main" id="{AB5F7F04-7F88-D15D-9522-74A54C148186}"/>
              </a:ext>
            </a:extLst>
          </p:cNvPr>
          <p:cNvSpPr/>
          <p:nvPr/>
        </p:nvSpPr>
        <p:spPr>
          <a:xfrm>
            <a:off x="6759178" y="6068253"/>
            <a:ext cx="1691640" cy="384048"/>
          </a:xfrm>
          <a:prstGeom prst="rect">
            <a:avLst/>
          </a:prstGeom>
          <a:noFill/>
          <a:ln/>
        </p:spPr>
        <p:txBody>
          <a:bodyPr wrap="square" lIns="0" tIns="0" rIns="0" bIns="0" rtlCol="0" anchor="ctr"/>
          <a:lstStyle/>
          <a:p>
            <a:pPr marL="0" indent="0">
              <a:buNone/>
            </a:pPr>
            <a:r>
              <a:rPr lang="en-US" sz="2400" b="1" dirty="0">
                <a:solidFill>
                  <a:srgbClr val="00B050"/>
                </a:solidFill>
                <a:latin typeface="Tahoma" panose="020B0604030504040204" pitchFamily="34" charset="0"/>
                <a:ea typeface="Tahoma" panose="020B0604030504040204" pitchFamily="34" charset="0"/>
                <a:cs typeface="Tahoma" panose="020B0604030504040204" pitchFamily="34" charset="0"/>
              </a:rPr>
              <a:t>62%</a:t>
            </a:r>
            <a:endPar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 12">
            <a:extLst>
              <a:ext uri="{FF2B5EF4-FFF2-40B4-BE49-F238E27FC236}">
                <a16:creationId xmlns:a16="http://schemas.microsoft.com/office/drawing/2014/main" id="{C38DF26B-7C62-9920-49B6-52D3654044D0}"/>
              </a:ext>
            </a:extLst>
          </p:cNvPr>
          <p:cNvSpPr/>
          <p:nvPr/>
        </p:nvSpPr>
        <p:spPr>
          <a:xfrm>
            <a:off x="6759178"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5" name="Shape 13">
            <a:extLst>
              <a:ext uri="{FF2B5EF4-FFF2-40B4-BE49-F238E27FC236}">
                <a16:creationId xmlns:a16="http://schemas.microsoft.com/office/drawing/2014/main" id="{85582E47-FDA5-7BD3-9993-ACA0D7136A1C}"/>
              </a:ext>
            </a:extLst>
          </p:cNvPr>
          <p:cNvSpPr/>
          <p:nvPr/>
        </p:nvSpPr>
        <p:spPr>
          <a:xfrm>
            <a:off x="8710954" y="5663225"/>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4">
            <a:extLst>
              <a:ext uri="{FF2B5EF4-FFF2-40B4-BE49-F238E27FC236}">
                <a16:creationId xmlns:a16="http://schemas.microsoft.com/office/drawing/2014/main" id="{360916A7-3E42-58AE-F5C2-8C3004CBCB12}"/>
              </a:ext>
            </a:extLst>
          </p:cNvPr>
          <p:cNvSpPr/>
          <p:nvPr/>
        </p:nvSpPr>
        <p:spPr>
          <a:xfrm>
            <a:off x="8710954" y="5663225"/>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5">
            <a:extLst>
              <a:ext uri="{FF2B5EF4-FFF2-40B4-BE49-F238E27FC236}">
                <a16:creationId xmlns:a16="http://schemas.microsoft.com/office/drawing/2014/main" id="{4B09F206-B6DA-38C5-5B9A-AE66D7E02895}"/>
              </a:ext>
            </a:extLst>
          </p:cNvPr>
          <p:cNvSpPr/>
          <p:nvPr/>
        </p:nvSpPr>
        <p:spPr>
          <a:xfrm>
            <a:off x="8912122" y="5809529"/>
            <a:ext cx="1691640" cy="201168"/>
          </a:xfrm>
          <a:prstGeom prst="rect">
            <a:avLst/>
          </a:prstGeom>
          <a:noFill/>
          <a:ln/>
        </p:spPr>
        <p:txBody>
          <a:bodyPr wrap="square" lIns="0" tIns="0" rIns="0" bIns="0" rtlCol="0" anchor="ctr">
            <a:normAutofit/>
          </a:bodyPr>
          <a:lstStyle/>
          <a:p>
            <a:pPr marL="0" indent="0">
              <a:buNone/>
            </a:pPr>
            <a:r>
              <a:rPr lang="en-US" sz="850" b="1" dirty="0">
                <a:solidFill>
                  <a:srgbClr val="00249C"/>
                </a:solidFill>
                <a:latin typeface="Tahoma" panose="020B0604030504040204" pitchFamily="34" charset="0"/>
                <a:ea typeface="Tahoma" panose="020B0604030504040204" pitchFamily="34" charset="0"/>
                <a:cs typeface="Tahoma" panose="020B0604030504040204" pitchFamily="34" charset="0"/>
              </a:rPr>
              <a:t>Avg Across Campuses</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 16">
            <a:extLst>
              <a:ext uri="{FF2B5EF4-FFF2-40B4-BE49-F238E27FC236}">
                <a16:creationId xmlns:a16="http://schemas.microsoft.com/office/drawing/2014/main" id="{36836A9C-BE22-08D0-60CB-84A1FDB6FE39}"/>
              </a:ext>
            </a:extLst>
          </p:cNvPr>
          <p:cNvSpPr/>
          <p:nvPr/>
        </p:nvSpPr>
        <p:spPr>
          <a:xfrm>
            <a:off x="8912122" y="6074705"/>
            <a:ext cx="1691640" cy="384048"/>
          </a:xfrm>
          <a:prstGeom prst="rect">
            <a:avLst/>
          </a:prstGeom>
          <a:noFill/>
          <a:ln/>
        </p:spPr>
        <p:txBody>
          <a:bodyPr wrap="square" lIns="0" tIns="0" rIns="0" bIns="0" rtlCol="0" anchor="ctr"/>
          <a:lstStyle/>
          <a:p>
            <a:pPr marL="0" indent="0">
              <a:buNone/>
            </a:pPr>
            <a:r>
              <a:rPr lang="en-US" sz="2400" b="1" dirty="0">
                <a:solidFill>
                  <a:srgbClr val="2F6FB0"/>
                </a:solidFill>
                <a:latin typeface="Tahoma" panose="020B0604030504040204" pitchFamily="34" charset="0"/>
                <a:ea typeface="Tahoma" panose="020B0604030504040204" pitchFamily="34" charset="0"/>
                <a:cs typeface="Tahoma" panose="020B0604030504040204" pitchFamily="34" charset="0"/>
              </a:rPr>
              <a:t>61%</a:t>
            </a:r>
            <a:endParaRPr lang="en-US" sz="2400" dirty="0">
              <a:solidFill>
                <a:srgbClr val="B5D4F4"/>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 17">
            <a:extLst>
              <a:ext uri="{FF2B5EF4-FFF2-40B4-BE49-F238E27FC236}">
                <a16:creationId xmlns:a16="http://schemas.microsoft.com/office/drawing/2014/main" id="{7624AC58-4425-0C3E-F731-43A967488991}"/>
              </a:ext>
            </a:extLst>
          </p:cNvPr>
          <p:cNvSpPr/>
          <p:nvPr/>
        </p:nvSpPr>
        <p:spPr>
          <a:xfrm>
            <a:off x="8912122" y="6504473"/>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Benchmark comparison</a:t>
            </a:r>
          </a:p>
        </p:txBody>
      </p:sp>
      <p:sp>
        <p:nvSpPr>
          <p:cNvPr id="22" name="Title 1">
            <a:extLst>
              <a:ext uri="{FF2B5EF4-FFF2-40B4-BE49-F238E27FC236}">
                <a16:creationId xmlns:a16="http://schemas.microsoft.com/office/drawing/2014/main" id="{CD5AC918-06A5-5101-85FB-F4BB67E22D83}"/>
              </a:ext>
            </a:extLst>
          </p:cNvPr>
          <p:cNvSpPr txBox="1">
            <a:spLocks/>
          </p:cNvSpPr>
          <p:nvPr/>
        </p:nvSpPr>
        <p:spPr>
          <a:xfrm>
            <a:off x="572333" y="9968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Q1	</a:t>
            </a:r>
          </a:p>
        </p:txBody>
      </p:sp>
    </p:spTree>
    <p:extLst>
      <p:ext uri="{BB962C8B-B14F-4D97-AF65-F5344CB8AC3E}">
        <p14:creationId xmlns:p14="http://schemas.microsoft.com/office/powerpoint/2010/main" val="773780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99B9-3820-B971-B1D7-620DEE0071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0CA8B27-2052-82D9-14D5-4BBDD783CF5D}"/>
              </a:ext>
            </a:extLst>
          </p:cNvPr>
          <p:cNvSpPr txBox="1">
            <a:spLocks/>
          </p:cNvSpPr>
          <p:nvPr/>
        </p:nvSpPr>
        <p:spPr>
          <a:xfrm>
            <a:off x="659213" y="144976"/>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4. EHS KPI Dashboard</a:t>
            </a:r>
          </a:p>
          <a:p>
            <a:r>
              <a:rPr lang="en-US" sz="2400" b="0" dirty="0"/>
              <a:t>1. Leadership, Accountability &amp; Engagement - </a:t>
            </a:r>
            <a:r>
              <a:rPr lang="en-US" sz="2400" b="0" i="1" dirty="0"/>
              <a:t>Accountability</a:t>
            </a:r>
          </a:p>
        </p:txBody>
      </p:sp>
      <p:graphicFrame>
        <p:nvGraphicFramePr>
          <p:cNvPr id="12" name="Chart 11">
            <a:extLst>
              <a:ext uri="{FF2B5EF4-FFF2-40B4-BE49-F238E27FC236}">
                <a16:creationId xmlns:a16="http://schemas.microsoft.com/office/drawing/2014/main" id="{5FF326FB-2CC1-18F7-D4A2-2E078F7AC456}"/>
              </a:ext>
            </a:extLst>
          </p:cNvPr>
          <p:cNvGraphicFramePr/>
          <p:nvPr>
            <p:extLst>
              <p:ext uri="{D42A27DB-BD31-4B8C-83A1-F6EECF244321}">
                <p14:modId xmlns:p14="http://schemas.microsoft.com/office/powerpoint/2010/main" val="224693456"/>
              </p:ext>
            </p:extLst>
          </p:nvPr>
        </p:nvGraphicFramePr>
        <p:xfrm>
          <a:off x="7879851" y="1332825"/>
          <a:ext cx="3891221" cy="2196353"/>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FCBC2F13-6120-B3B1-D8C6-492868C999A7}"/>
              </a:ext>
            </a:extLst>
          </p:cNvPr>
          <p:cNvSpPr/>
          <p:nvPr/>
        </p:nvSpPr>
        <p:spPr>
          <a:xfrm>
            <a:off x="4295554" y="133443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2 – External Audit Findings Closed (%)</a:t>
            </a:r>
            <a:br>
              <a:rPr lang="en-US" sz="1100" b="1" dirty="0">
                <a:solidFill>
                  <a:srgbClr val="00249C"/>
                </a:solidFill>
                <a:latin typeface="Tahoma" panose="020B0604030504040204" pitchFamily="34" charset="0"/>
                <a:ea typeface="Tahoma" panose="020B0604030504040204" pitchFamily="34" charset="0"/>
                <a:cs typeface="Tahoma" panose="020B0604030504040204" pitchFamily="34" charset="0"/>
              </a:rPr>
            </a:br>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7" name="Rectangle 6">
            <a:extLst>
              <a:ext uri="{FF2B5EF4-FFF2-40B4-BE49-F238E27FC236}">
                <a16:creationId xmlns:a16="http://schemas.microsoft.com/office/drawing/2014/main" id="{5B5A5FD2-6ECA-AACF-4679-872C97F3E7DF}"/>
              </a:ext>
            </a:extLst>
          </p:cNvPr>
          <p:cNvSpPr/>
          <p:nvPr/>
        </p:nvSpPr>
        <p:spPr>
          <a:xfrm>
            <a:off x="857443" y="133282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1 - </a:t>
            </a:r>
            <a:r>
              <a:rPr lang="en-US" sz="1200" b="1" dirty="0">
                <a:solidFill>
                  <a:srgbClr val="00249C"/>
                </a:solidFill>
              </a:rPr>
              <a:t>Health and Safety Quarterly KPI Reports Submitted &amp; Presented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14" name="Text Placeholder 3">
            <a:extLst>
              <a:ext uri="{FF2B5EF4-FFF2-40B4-BE49-F238E27FC236}">
                <a16:creationId xmlns:a16="http://schemas.microsoft.com/office/drawing/2014/main" id="{A2F59F78-05BF-562A-F3AD-53B8814417EE}"/>
              </a:ext>
            </a:extLst>
          </p:cNvPr>
          <p:cNvSpPr txBox="1">
            <a:spLocks/>
          </p:cNvSpPr>
          <p:nvPr/>
        </p:nvSpPr>
        <p:spPr>
          <a:xfrm>
            <a:off x="7696632" y="3422471"/>
            <a:ext cx="3891221" cy="2616836"/>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3 – (Legal requirements complied with ÷ Total compliance requirement ) × 100</a:t>
            </a:r>
          </a:p>
          <a:p>
            <a:pPr marL="171450" indent="-171450" algn="just">
              <a:spcBef>
                <a:spcPts val="0"/>
              </a:spcBef>
              <a:buFont typeface="Arial" panose="020B0604020202020204" pitchFamily="34" charset="0"/>
              <a:buChar char="•"/>
            </a:pPr>
            <a:endParaRPr lang="en-US" sz="1100" b="1" dirty="0">
              <a:solidFill>
                <a:schemeClr val="accent6"/>
              </a:solidFill>
            </a:endParaRPr>
          </a:p>
          <a:p>
            <a:r>
              <a:rPr lang="en-US" sz="1100" b="1" dirty="0">
                <a:solidFill>
                  <a:schemeClr val="accent6"/>
                </a:solidFill>
              </a:rPr>
              <a:t>Key Observations: </a:t>
            </a:r>
            <a:r>
              <a:rPr lang="en-GB" sz="1100" dirty="0"/>
              <a:t>Although DXB Academic City (DMC) largely complied with applicable requirements, further evidence was required to demonstrate full compliance with applicable legal requirements particularly supporting documents for hazardous chemical status and health cards/fitness certificates for food handlers. Additionally, DXB Al Nahda (DBN) had an expired FANR certificate (13-Feb-2026) and reported expired chemicals that required proper disposal.</a:t>
            </a: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US" sz="1100" dirty="0"/>
              <a:t>A centralized compliance tracker was developed for use in Q2 onwards.</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6" name="Text Placeholder 3">
            <a:extLst>
              <a:ext uri="{FF2B5EF4-FFF2-40B4-BE49-F238E27FC236}">
                <a16:creationId xmlns:a16="http://schemas.microsoft.com/office/drawing/2014/main" id="{52FC6D5C-5990-0DB2-56C2-B41BF104643A}"/>
              </a:ext>
            </a:extLst>
          </p:cNvPr>
          <p:cNvSpPr txBox="1">
            <a:spLocks/>
          </p:cNvSpPr>
          <p:nvPr/>
        </p:nvSpPr>
        <p:spPr>
          <a:xfrm>
            <a:off x="1039494" y="3467885"/>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 – (Reports presented on time ÷ planned submission)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r>
              <a:rPr lang="en-US" sz="1100" b="1" dirty="0">
                <a:solidFill>
                  <a:schemeClr val="tx2"/>
                </a:solidFill>
              </a:rPr>
              <a:t> </a:t>
            </a:r>
            <a:r>
              <a:rPr lang="en-US" sz="1100" dirty="0">
                <a:solidFill>
                  <a:schemeClr val="tx2"/>
                </a:solidFill>
              </a:rPr>
              <a:t>Both</a:t>
            </a:r>
            <a:r>
              <a:rPr lang="en-US" sz="1100" dirty="0"/>
              <a:t> campuses submitted their KPI figures on time every month during Q1; however, the KPI was later strengthened to change from this requirement to submission and presentation to the EHS Committee of quarterly KPI results </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a:t>
            </a:r>
            <a:r>
              <a:rPr lang="en-US" sz="1100" b="1" dirty="0"/>
              <a:t> </a:t>
            </a:r>
            <a:r>
              <a:rPr lang="en-US" sz="1100" dirty="0"/>
              <a:t>Campuses to be made aware of changed requirements</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8" name="Text Placeholder 3">
            <a:extLst>
              <a:ext uri="{FF2B5EF4-FFF2-40B4-BE49-F238E27FC236}">
                <a16:creationId xmlns:a16="http://schemas.microsoft.com/office/drawing/2014/main" id="{DD47DD7A-5DF6-F20D-E383-9370AB6C6291}"/>
              </a:ext>
            </a:extLst>
          </p:cNvPr>
          <p:cNvSpPr txBox="1">
            <a:spLocks/>
          </p:cNvSpPr>
          <p:nvPr/>
        </p:nvSpPr>
        <p:spPr>
          <a:xfrm>
            <a:off x="4333331" y="3467885"/>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2 – (Audit findings closed ÷ Total findings identified)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r>
              <a:rPr lang="en-US" sz="1100" b="1" dirty="0">
                <a:solidFill>
                  <a:schemeClr val="tx2"/>
                </a:solidFill>
              </a:rPr>
              <a:t>: </a:t>
            </a:r>
            <a:r>
              <a:rPr lang="en-US" sz="1100" dirty="0"/>
              <a:t>No external audit took place in Q1 for any campus</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 </a:t>
            </a:r>
            <a:r>
              <a:rPr lang="en-US" sz="1100" dirty="0"/>
              <a:t>No requirement</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462679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AA4CD-1E57-C9A4-DB22-BF3E48579D7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E015FF-C9AB-9D7B-9D92-48500A7C48B7}"/>
              </a:ext>
            </a:extLst>
          </p:cNvPr>
          <p:cNvSpPr txBox="1">
            <a:spLocks/>
          </p:cNvSpPr>
          <p:nvPr/>
        </p:nvSpPr>
        <p:spPr>
          <a:xfrm>
            <a:off x="721625" y="19279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1. Leadership, Accountability &amp; Engagement – </a:t>
            </a:r>
            <a:r>
              <a:rPr lang="en-US" sz="2400" b="0" i="1" dirty="0"/>
              <a:t>Leadership Engagement</a:t>
            </a:r>
          </a:p>
        </p:txBody>
      </p:sp>
      <p:graphicFrame>
        <p:nvGraphicFramePr>
          <p:cNvPr id="9" name="Chart 8">
            <a:extLst>
              <a:ext uri="{FF2B5EF4-FFF2-40B4-BE49-F238E27FC236}">
                <a16:creationId xmlns:a16="http://schemas.microsoft.com/office/drawing/2014/main" id="{B7768753-BF2A-DA9D-47FD-667D71695908}"/>
              </a:ext>
            </a:extLst>
          </p:cNvPr>
          <p:cNvGraphicFramePr/>
          <p:nvPr>
            <p:extLst>
              <p:ext uri="{D42A27DB-BD31-4B8C-83A1-F6EECF244321}">
                <p14:modId xmlns:p14="http://schemas.microsoft.com/office/powerpoint/2010/main" val="1657225847"/>
              </p:ext>
            </p:extLst>
          </p:nvPr>
        </p:nvGraphicFramePr>
        <p:xfrm>
          <a:off x="1793673" y="1281390"/>
          <a:ext cx="3883249" cy="26403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E9591459-A4B3-4D98-B316-4579A05903C4}"/>
              </a:ext>
            </a:extLst>
          </p:cNvPr>
          <p:cNvGraphicFramePr/>
          <p:nvPr>
            <p:extLst>
              <p:ext uri="{D42A27DB-BD31-4B8C-83A1-F6EECF244321}">
                <p14:modId xmlns:p14="http://schemas.microsoft.com/office/powerpoint/2010/main" val="444120397"/>
              </p:ext>
            </p:extLst>
          </p:nvPr>
        </p:nvGraphicFramePr>
        <p:xfrm>
          <a:off x="6515079" y="1281391"/>
          <a:ext cx="4256971" cy="264037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BC09824E-8341-A33E-01D7-A2B445D78DEB}"/>
              </a:ext>
            </a:extLst>
          </p:cNvPr>
          <p:cNvSpPr txBox="1">
            <a:spLocks/>
          </p:cNvSpPr>
          <p:nvPr/>
        </p:nvSpPr>
        <p:spPr>
          <a:xfrm>
            <a:off x="1905554" y="3946165"/>
            <a:ext cx="3891221"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4 – (Meeting conducted ÷ meetings Planned) </a:t>
            </a:r>
            <a:br>
              <a:rPr lang="en-US" sz="1200" b="1" dirty="0"/>
            </a:br>
            <a:r>
              <a:rPr lang="en-US" sz="1200" b="1" dirty="0"/>
              <a:t>× 100</a:t>
            </a:r>
          </a:p>
          <a:p>
            <a:pPr marL="171450" indent="-171450">
              <a:buFont typeface="Arial" panose="020B0604020202020204" pitchFamily="34" charset="0"/>
              <a:buChar char="•"/>
            </a:pPr>
            <a:r>
              <a:rPr lang="en-US" sz="1100" b="1" dirty="0">
                <a:solidFill>
                  <a:schemeClr val="accent6"/>
                </a:solidFill>
              </a:rPr>
              <a:t>Key Observations: </a:t>
            </a:r>
            <a:r>
              <a:rPr lang="en-GB" sz="1100" dirty="0">
                <a:solidFill>
                  <a:srgbClr val="00249C"/>
                </a:solidFill>
              </a:rPr>
              <a:t>In Q1 there was a change in requirement from</a:t>
            </a:r>
            <a:r>
              <a:rPr lang="en-GB" sz="1100" b="1" dirty="0">
                <a:solidFill>
                  <a:srgbClr val="00249C"/>
                </a:solidFill>
              </a:rPr>
              <a:t> </a:t>
            </a:r>
            <a:r>
              <a:rPr lang="en-GB" sz="1100" dirty="0"/>
              <a:t>quarterly to monthly EHS Committee meetings, which accounts for the discrepancy between 67% and 100% compliance.</a:t>
            </a:r>
          </a:p>
          <a:p>
            <a:endParaRPr lang="en-US" sz="11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US" sz="1200" dirty="0"/>
              <a:t>No requirement, 100% compliance achieved from Q2 onwards.</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0" name="Text Placeholder 3">
            <a:extLst>
              <a:ext uri="{FF2B5EF4-FFF2-40B4-BE49-F238E27FC236}">
                <a16:creationId xmlns:a16="http://schemas.microsoft.com/office/drawing/2014/main" id="{D7B28436-2801-FD84-30A0-BD209BE84897}"/>
              </a:ext>
            </a:extLst>
          </p:cNvPr>
          <p:cNvSpPr txBox="1">
            <a:spLocks/>
          </p:cNvSpPr>
          <p:nvPr/>
        </p:nvSpPr>
        <p:spPr>
          <a:xfrm>
            <a:off x="6680824" y="3946165"/>
            <a:ext cx="4191102"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5 – (Action closed  ÷ Total actions raised)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GB" sz="1100" dirty="0">
                <a:solidFill>
                  <a:srgbClr val="00249C"/>
                </a:solidFill>
              </a:rPr>
              <a:t>Committee actions closed achieved 100% compliance, with both campuses closing all committee actions within the required timeframe. This reflects strong follow‑through discipline and effective accountability for action items raised during meeting</a:t>
            </a:r>
            <a:endParaRPr lang="en-US" sz="1100" dirty="0">
              <a:solidFill>
                <a:srgbClr val="00249C"/>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US" sz="1200" dirty="0"/>
              <a:t>No requirement</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p:txBody>
      </p:sp>
    </p:spTree>
    <p:extLst>
      <p:ext uri="{BB962C8B-B14F-4D97-AF65-F5344CB8AC3E}">
        <p14:creationId xmlns:p14="http://schemas.microsoft.com/office/powerpoint/2010/main" val="3671072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797ABFA-DAB7-9613-394A-E9B024961208}"/>
              </a:ext>
            </a:extLst>
          </p:cNvPr>
          <p:cNvSpPr txBox="1">
            <a:spLocks/>
          </p:cNvSpPr>
          <p:nvPr/>
        </p:nvSpPr>
        <p:spPr>
          <a:xfrm>
            <a:off x="620025"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 – Q1</a:t>
            </a:r>
          </a:p>
          <a:p>
            <a:r>
              <a:rPr lang="en-US" sz="2400" b="0" dirty="0"/>
              <a:t>2. Risk Management &amp; Planning</a:t>
            </a:r>
            <a:endParaRPr lang="en-US" sz="2400" b="0" i="1" dirty="0"/>
          </a:p>
        </p:txBody>
      </p:sp>
      <p:graphicFrame>
        <p:nvGraphicFramePr>
          <p:cNvPr id="7" name="Chart 6">
            <a:extLst>
              <a:ext uri="{FF2B5EF4-FFF2-40B4-BE49-F238E27FC236}">
                <a16:creationId xmlns:a16="http://schemas.microsoft.com/office/drawing/2014/main" id="{9068B047-347B-7049-D055-BC230F63ADFD}"/>
              </a:ext>
            </a:extLst>
          </p:cNvPr>
          <p:cNvGraphicFramePr/>
          <p:nvPr>
            <p:extLst>
              <p:ext uri="{D42A27DB-BD31-4B8C-83A1-F6EECF244321}">
                <p14:modId xmlns:p14="http://schemas.microsoft.com/office/powerpoint/2010/main" val="144219539"/>
              </p:ext>
            </p:extLst>
          </p:nvPr>
        </p:nvGraphicFramePr>
        <p:xfrm>
          <a:off x="897225" y="1149364"/>
          <a:ext cx="3891221" cy="2444462"/>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2FEB19D3-34FE-6141-8A2F-4B2F00EAD15A}"/>
              </a:ext>
            </a:extLst>
          </p:cNvPr>
          <p:cNvSpPr/>
          <p:nvPr/>
        </p:nvSpPr>
        <p:spPr>
          <a:xfrm>
            <a:off x="4600773" y="1149364"/>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7 - </a:t>
            </a:r>
            <a:r>
              <a:rPr lang="en-US" sz="1200" b="1" dirty="0">
                <a:solidFill>
                  <a:srgbClr val="00249C"/>
                </a:solidFill>
                <a:latin typeface="Tahoma" panose="020B0604030504040204" pitchFamily="34" charset="0"/>
              </a:rPr>
              <a:t>Risk Assessments Closed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8" name="Rectangle 7">
            <a:extLst>
              <a:ext uri="{FF2B5EF4-FFF2-40B4-BE49-F238E27FC236}">
                <a16:creationId xmlns:a16="http://schemas.microsoft.com/office/drawing/2014/main" id="{2F639488-5E1D-46B4-4C6D-5CE6438D852B}"/>
              </a:ext>
            </a:extLst>
          </p:cNvPr>
          <p:cNvSpPr/>
          <p:nvPr/>
        </p:nvSpPr>
        <p:spPr>
          <a:xfrm>
            <a:off x="8223348" y="1149364"/>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249C"/>
                </a:solidFill>
                <a:latin typeface="Tahoma" panose="020B0604030504040204" pitchFamily="34" charset="0"/>
                <a:ea typeface="Tahoma" panose="020B0604030504040204" pitchFamily="34" charset="0"/>
                <a:cs typeface="Tahoma" panose="020B0604030504040204" pitchFamily="34" charset="0"/>
              </a:rPr>
              <a:t>KPI 8 - Risk Assessments and Validation (%)</a:t>
            </a:r>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12" name="Text Placeholder 3">
            <a:extLst>
              <a:ext uri="{FF2B5EF4-FFF2-40B4-BE49-F238E27FC236}">
                <a16:creationId xmlns:a16="http://schemas.microsoft.com/office/drawing/2014/main" id="{84D6A2F6-CA7C-E708-367F-25B46CD1C6B5}"/>
              </a:ext>
            </a:extLst>
          </p:cNvPr>
          <p:cNvSpPr txBox="1">
            <a:spLocks/>
          </p:cNvSpPr>
          <p:nvPr/>
        </p:nvSpPr>
        <p:spPr>
          <a:xfrm>
            <a:off x="826047" y="352480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6 – (Implemented Controls ÷ Total Controls Identified) × 100</a:t>
            </a: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 </a:t>
            </a:r>
          </a:p>
          <a:p>
            <a:pPr marL="171450" indent="-171450" algn="just">
              <a:buFont typeface="Arial" panose="020B0604020202020204" pitchFamily="34" charset="0"/>
              <a:buChar char="•"/>
            </a:pPr>
            <a:r>
              <a:rPr lang="en-US" sz="1100" b="1" dirty="0">
                <a:solidFill>
                  <a:schemeClr val="accent6"/>
                </a:solidFill>
              </a:rPr>
              <a:t>Key Observations: </a:t>
            </a:r>
            <a:r>
              <a:rPr lang="en-US" sz="1100" dirty="0"/>
              <a:t>Control measures within Risk Assessments sampled and cross campus validated (30 control measures) </a:t>
            </a:r>
          </a:p>
          <a:p>
            <a:pPr marL="171450" indent="-171450" algn="just">
              <a:buFont typeface="Arial" panose="020B0604020202020204" pitchFamily="34" charset="0"/>
              <a:buChar char="•"/>
            </a:pPr>
            <a:endParaRPr lang="en-US" sz="1100" dirty="0"/>
          </a:p>
          <a:p>
            <a:pPr marL="171450" indent="-171450" algn="just">
              <a:buFont typeface="Arial" panose="020B0604020202020204" pitchFamily="34" charset="0"/>
              <a:buChar char="•"/>
            </a:pPr>
            <a:r>
              <a:rPr lang="en-US" sz="1100" b="1" dirty="0">
                <a:solidFill>
                  <a:schemeClr val="accent6"/>
                </a:solidFill>
              </a:rPr>
              <a:t>Rectifications:</a:t>
            </a:r>
            <a:r>
              <a:rPr lang="en-US" sz="1100" b="1" dirty="0"/>
              <a:t> </a:t>
            </a:r>
            <a:r>
              <a:rPr lang="en-US" sz="1100" dirty="0"/>
              <a:t>For Q3 onwards, the requirement has strengthened. The requirement now mandates centralized assignment of x3 Risk Assessments and evidence of all control measures implemented within the control measure must be submitted</a:t>
            </a:r>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4" name="Text Placeholder 3">
            <a:extLst>
              <a:ext uri="{FF2B5EF4-FFF2-40B4-BE49-F238E27FC236}">
                <a16:creationId xmlns:a16="http://schemas.microsoft.com/office/drawing/2014/main" id="{C3AF51FD-FE6C-D826-46DF-13F69C41023C}"/>
              </a:ext>
            </a:extLst>
          </p:cNvPr>
          <p:cNvSpPr txBox="1">
            <a:spLocks/>
          </p:cNvSpPr>
          <p:nvPr/>
        </p:nvSpPr>
        <p:spPr>
          <a:xfrm>
            <a:off x="4717269" y="3524801"/>
            <a:ext cx="3685052"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7 – (Risk Assessment closed ÷ Total Risk Assessments registered)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US" sz="1100" dirty="0">
                <a:solidFill>
                  <a:schemeClr val="tx2"/>
                </a:solidFill>
              </a:rPr>
              <a:t>All Risk Assessments undertaken must be reviewed against the Risk Register, this was not conducted by any campus in Q1</a:t>
            </a:r>
            <a:r>
              <a:rPr lang="en-US" sz="1100" dirty="0"/>
              <a:t> </a:t>
            </a:r>
            <a:br>
              <a:rPr lang="en-US" sz="1100" dirty="0"/>
            </a:br>
            <a:endParaRPr lang="en-US" sz="1100" dirty="0"/>
          </a:p>
          <a:p>
            <a:pPr marL="171450" indent="-171450" algn="just">
              <a:lnSpc>
                <a:spcPct val="100000"/>
              </a:lnSpc>
              <a:spcBef>
                <a:spcPts val="0"/>
              </a:spcBef>
              <a:buFont typeface="Arial" panose="020B0604020202020204" pitchFamily="34" charset="0"/>
              <a:buChar char="•"/>
            </a:pPr>
            <a:endParaRPr lang="en-US" sz="1100" b="1" dirty="0"/>
          </a:p>
          <a:p>
            <a:pPr marL="171450" indent="-171450" algn="just">
              <a:lnSpc>
                <a:spcPct val="100000"/>
              </a:lnSpc>
              <a:spcBef>
                <a:spcPts val="0"/>
              </a:spcBef>
              <a:buFont typeface="Arial" panose="020B0604020202020204" pitchFamily="34" charset="0"/>
              <a:buChar char="•"/>
            </a:pPr>
            <a:r>
              <a:rPr lang="en-US" sz="1100" b="1" dirty="0">
                <a:solidFill>
                  <a:srgbClr val="000000"/>
                </a:solidFill>
              </a:rPr>
              <a:t>Rectifications:</a:t>
            </a:r>
            <a:r>
              <a:rPr lang="en-US" sz="1100" b="1" dirty="0"/>
              <a:t> </a:t>
            </a:r>
            <a:r>
              <a:rPr lang="en-US" sz="1100" dirty="0"/>
              <a:t>Once KPI 6 sampling is completed, Risk Register to be reviewed and updated, if necessary, against the sampling. Any new risk assessments undertaken in month</a:t>
            </a:r>
            <a:r>
              <a:rPr lang="en-US" sz="1100" b="1" dirty="0"/>
              <a:t> </a:t>
            </a:r>
            <a:r>
              <a:rPr lang="en-US" sz="1100" dirty="0"/>
              <a:t>(KPI 8) should also be in Risk Register</a:t>
            </a:r>
            <a:endParaRPr lang="en-US" sz="1100" b="1" dirty="0"/>
          </a:p>
          <a:p>
            <a:pPr marL="171450" indent="-171450" algn="just">
              <a:lnSpc>
                <a:spcPct val="100000"/>
              </a:lnSpc>
              <a:spcBef>
                <a:spcPts val="0"/>
              </a:spcBef>
              <a:buFont typeface="Arial" panose="020B0604020202020204" pitchFamily="34" charset="0"/>
              <a:buChar char="•"/>
            </a:pPr>
            <a:endParaRPr lang="en-US" sz="1100" dirty="0"/>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6" name="Text Placeholder 3">
            <a:extLst>
              <a:ext uri="{FF2B5EF4-FFF2-40B4-BE49-F238E27FC236}">
                <a16:creationId xmlns:a16="http://schemas.microsoft.com/office/drawing/2014/main" id="{B9053555-6616-E9AC-C434-FE73A8A01B5B}"/>
              </a:ext>
            </a:extLst>
          </p:cNvPr>
          <p:cNvSpPr txBox="1">
            <a:spLocks/>
          </p:cNvSpPr>
          <p:nvPr/>
        </p:nvSpPr>
        <p:spPr>
          <a:xfrm>
            <a:off x="8402321" y="3524801"/>
            <a:ext cx="3454707" cy="272310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8 – (Monthly Risk Assessment validated and signed off  ÷ Total assessments register)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a:t>
            </a:r>
            <a:r>
              <a:rPr lang="en-US" sz="1100" b="1" dirty="0">
                <a:solidFill>
                  <a:srgbClr val="000000"/>
                </a:solidFill>
              </a:rPr>
              <a:t>s: </a:t>
            </a:r>
            <a:r>
              <a:rPr lang="en-GB" sz="1100" dirty="0">
                <a:solidFill>
                  <a:srgbClr val="00249C"/>
                </a:solidFill>
              </a:rPr>
              <a:t>No new processes or activities were identified or validated for risk assessment</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200" b="1" dirty="0">
              <a:solidFill>
                <a:srgbClr val="00249C"/>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Rectifications:</a:t>
            </a:r>
            <a:r>
              <a:rPr lang="en-US" sz="1100" b="1" dirty="0">
                <a:solidFill>
                  <a:schemeClr val="accent6"/>
                </a:solidFill>
              </a:rPr>
              <a:t> </a:t>
            </a:r>
            <a:r>
              <a:rPr lang="en-US" sz="1100" dirty="0">
                <a:solidFill>
                  <a:srgbClr val="00249C"/>
                </a:solidFill>
              </a:rPr>
              <a:t>Any requirement for new risk assessments in month to be undertaken (MOC, new machinery, annual update etc.)</a:t>
            </a: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310118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181E45-EE28-8639-6952-C4C9C7E4C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88CA5-25ED-25B8-0604-F703B959ED40}"/>
              </a:ext>
            </a:extLst>
          </p:cNvPr>
          <p:cNvSpPr txBox="1">
            <a:spLocks/>
          </p:cNvSpPr>
          <p:nvPr/>
        </p:nvSpPr>
        <p:spPr>
          <a:xfrm>
            <a:off x="659214" y="111461"/>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 – Q1</a:t>
            </a:r>
          </a:p>
          <a:p>
            <a:r>
              <a:rPr lang="en-US" sz="2400" b="0" dirty="0"/>
              <a:t>3. Training &amp; Awareness</a:t>
            </a:r>
            <a:endParaRPr lang="en-US" sz="2400" b="0" i="1" dirty="0"/>
          </a:p>
        </p:txBody>
      </p:sp>
      <p:graphicFrame>
        <p:nvGraphicFramePr>
          <p:cNvPr id="4" name="Chart 3">
            <a:extLst>
              <a:ext uri="{FF2B5EF4-FFF2-40B4-BE49-F238E27FC236}">
                <a16:creationId xmlns:a16="http://schemas.microsoft.com/office/drawing/2014/main" id="{E5A3284C-36A1-FA6C-74C4-F4993A4A20F5}"/>
              </a:ext>
            </a:extLst>
          </p:cNvPr>
          <p:cNvGraphicFramePr/>
          <p:nvPr>
            <p:extLst>
              <p:ext uri="{D42A27DB-BD31-4B8C-83A1-F6EECF244321}">
                <p14:modId xmlns:p14="http://schemas.microsoft.com/office/powerpoint/2010/main" val="2165155901"/>
              </p:ext>
            </p:extLst>
          </p:nvPr>
        </p:nvGraphicFramePr>
        <p:xfrm>
          <a:off x="2062716" y="1097638"/>
          <a:ext cx="3891221" cy="2196353"/>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46B0E9A4-CCA6-0150-2EF8-970CFF445AD2}"/>
              </a:ext>
            </a:extLst>
          </p:cNvPr>
          <p:cNvSpPr/>
          <p:nvPr/>
        </p:nvSpPr>
        <p:spPr>
          <a:xfrm>
            <a:off x="6969217" y="1175478"/>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10 - H&amp;S Awareness Campaigns Conducted (%)</a:t>
            </a:r>
          </a:p>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9" name="Text Placeholder 3">
            <a:extLst>
              <a:ext uri="{FF2B5EF4-FFF2-40B4-BE49-F238E27FC236}">
                <a16:creationId xmlns:a16="http://schemas.microsoft.com/office/drawing/2014/main" id="{146605B0-AC26-DCDA-2F99-FC44618DAEAC}"/>
              </a:ext>
            </a:extLst>
          </p:cNvPr>
          <p:cNvSpPr txBox="1">
            <a:spLocks/>
          </p:cNvSpPr>
          <p:nvPr/>
        </p:nvSpPr>
        <p:spPr>
          <a:xfrm>
            <a:off x="6918294" y="346280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10 – (Number of Campaigns conducted ÷ Total Planned Campaigns) × 100</a:t>
            </a:r>
          </a:p>
          <a:p>
            <a:pPr marL="171450" indent="-171450" algn="just">
              <a:buFont typeface="Arial" panose="020B0604020202020204" pitchFamily="34" charset="0"/>
              <a:buChar char="•"/>
            </a:pPr>
            <a:r>
              <a:rPr lang="en-US" sz="1100" b="1" dirty="0">
                <a:solidFill>
                  <a:srgbClr val="000000"/>
                </a:solidFill>
              </a:rPr>
              <a:t>Key Observations: </a:t>
            </a:r>
            <a:r>
              <a:rPr lang="en-US" sz="1100" dirty="0">
                <a:solidFill>
                  <a:schemeClr val="tx2"/>
                </a:solidFill>
              </a:rPr>
              <a:t>N</a:t>
            </a:r>
            <a:r>
              <a:rPr lang="en-GB" sz="1100" dirty="0"/>
              <a:t>o awareness campaigns were planned for Q1</a:t>
            </a:r>
            <a:endParaRPr lang="en-US" sz="1100" dirty="0">
              <a:solidFill>
                <a:schemeClr val="tx2"/>
              </a:solidFill>
            </a:endParaRPr>
          </a:p>
          <a:p>
            <a:pPr marL="171450" indent="-171450" algn="just">
              <a:buFont typeface="Arial" panose="020B0604020202020204" pitchFamily="34" charset="0"/>
              <a:buChar char="•"/>
            </a:pPr>
            <a:endParaRPr lang="en-US" sz="1100" b="1" dirty="0"/>
          </a:p>
          <a:p>
            <a:pPr marL="171450" indent="-171450" algn="just">
              <a:buFont typeface="Arial" panose="020B0604020202020204" pitchFamily="34" charset="0"/>
              <a:buChar char="•"/>
            </a:pPr>
            <a:r>
              <a:rPr lang="en-US" sz="1100" b="1" dirty="0">
                <a:solidFill>
                  <a:srgbClr val="000000"/>
                </a:solidFill>
              </a:rPr>
              <a:t>Rectification: </a:t>
            </a:r>
            <a:r>
              <a:rPr lang="en-US" sz="1100" dirty="0"/>
              <a:t>No requirement</a:t>
            </a:r>
            <a:endParaRPr lang="en-US" sz="1100" b="1" dirty="0"/>
          </a:p>
          <a:p>
            <a:pPr algn="just"/>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4" name="Text Placeholder 3">
            <a:extLst>
              <a:ext uri="{FF2B5EF4-FFF2-40B4-BE49-F238E27FC236}">
                <a16:creationId xmlns:a16="http://schemas.microsoft.com/office/drawing/2014/main" id="{AE1E9F70-1DF9-3AB6-E680-665F46853200}"/>
              </a:ext>
            </a:extLst>
          </p:cNvPr>
          <p:cNvSpPr txBox="1">
            <a:spLocks/>
          </p:cNvSpPr>
          <p:nvPr/>
        </p:nvSpPr>
        <p:spPr>
          <a:xfrm>
            <a:off x="1962937" y="346280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9 – (Actual Training Hours ÷ Planned Training Hours) × 100</a:t>
            </a:r>
          </a:p>
          <a:p>
            <a:pPr marL="171450" indent="-171450" algn="just">
              <a:buFont typeface="Arial" panose="020B0604020202020204" pitchFamily="34" charset="0"/>
              <a:buChar char="•"/>
            </a:pPr>
            <a:r>
              <a:rPr lang="en-US" sz="1100" b="1" dirty="0">
                <a:solidFill>
                  <a:srgbClr val="000000"/>
                </a:solidFill>
              </a:rPr>
              <a:t>Key Observations: </a:t>
            </a:r>
            <a:r>
              <a:rPr lang="en-GB" sz="1100" dirty="0"/>
              <a:t>No training was planned for Q1 for Dubai Al Nahda campus; hence, this is indicated as N/A</a:t>
            </a:r>
            <a:r>
              <a:rPr lang="en-GB" dirty="0"/>
              <a:t>. </a:t>
            </a:r>
            <a:r>
              <a:rPr lang="en-GB" sz="1100" dirty="0"/>
              <a:t>Dubai Academic City had a Driving Safely session scheduled for March 2026 but was not conducted, resulting in a score of 0. This was likely due to the regional situation and campus closure.</a:t>
            </a:r>
            <a:endParaRPr lang="en-US" sz="1100" dirty="0"/>
          </a:p>
          <a:p>
            <a:pPr marL="171450" indent="-171450" algn="just">
              <a:buFont typeface="Arial" panose="020B0604020202020204" pitchFamily="34" charset="0"/>
              <a:buChar char="•"/>
            </a:pPr>
            <a:r>
              <a:rPr lang="en-US" sz="1100" b="1" dirty="0">
                <a:solidFill>
                  <a:srgbClr val="000000"/>
                </a:solidFill>
              </a:rPr>
              <a:t>Rectification: </a:t>
            </a:r>
            <a:r>
              <a:rPr lang="en-GB" sz="1100" dirty="0"/>
              <a:t>Training plans to be re‑baselined for Q2–Q4 to compensate for missed sessions</a:t>
            </a:r>
          </a:p>
          <a:p>
            <a:pPr marL="171450" indent="-171450" algn="just">
              <a:buFont typeface="Arial" panose="020B0604020202020204" pitchFamily="34" charset="0"/>
              <a:buChar char="•"/>
            </a:pPr>
            <a:endParaRPr lang="en-US" sz="1100" b="1" dirty="0"/>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2098505776"/>
      </p:ext>
    </p:extLst>
  </p:cSld>
  <p:clrMapOvr>
    <a:overrideClrMapping bg1="lt1" tx1="dk1" bg2="lt2" tx2="dk2" accent1="accent1" accent2="accent2" accent3="accent3" accent4="accent4" accent5="accent5" accent6="accent6" hlink="hlink" folHlink="folHlink"/>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2C9E53-0198-9672-5698-D316A6CC6F60}"/>
              </a:ext>
            </a:extLst>
          </p:cNvPr>
          <p:cNvSpPr txBox="1">
            <a:spLocks/>
          </p:cNvSpPr>
          <p:nvPr/>
        </p:nvSpPr>
        <p:spPr>
          <a:xfrm>
            <a:off x="647879" y="7132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4. EHS KPI Dashboard</a:t>
            </a:r>
          </a:p>
          <a:p>
            <a:r>
              <a:rPr lang="en-US" sz="2400" b="0" dirty="0"/>
              <a:t>4. Operational Control &amp; Emergency Preparedness</a:t>
            </a:r>
          </a:p>
        </p:txBody>
      </p:sp>
      <p:graphicFrame>
        <p:nvGraphicFramePr>
          <p:cNvPr id="3" name="Chart 2">
            <a:extLst>
              <a:ext uri="{FF2B5EF4-FFF2-40B4-BE49-F238E27FC236}">
                <a16:creationId xmlns:a16="http://schemas.microsoft.com/office/drawing/2014/main" id="{9D2C5744-11B0-4155-A41D-5385BBA67BCD}"/>
              </a:ext>
            </a:extLst>
          </p:cNvPr>
          <p:cNvGraphicFramePr/>
          <p:nvPr>
            <p:extLst>
              <p:ext uri="{D42A27DB-BD31-4B8C-83A1-F6EECF244321}">
                <p14:modId xmlns:p14="http://schemas.microsoft.com/office/powerpoint/2010/main" val="1174784673"/>
              </p:ext>
            </p:extLst>
          </p:nvPr>
        </p:nvGraphicFramePr>
        <p:xfrm>
          <a:off x="1606789" y="1215311"/>
          <a:ext cx="3891221" cy="219635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61E0FAA5-4110-36C1-032B-80A2B304ACAF}"/>
              </a:ext>
            </a:extLst>
          </p:cNvPr>
          <p:cNvSpPr txBox="1">
            <a:spLocks/>
          </p:cNvSpPr>
          <p:nvPr/>
        </p:nvSpPr>
        <p:spPr>
          <a:xfrm>
            <a:off x="1606789" y="356947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11 – (Number of activities in compliance ÷ Total Activities Checked)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GB" sz="1100" dirty="0">
                <a:solidFill>
                  <a:srgbClr val="00249C"/>
                </a:solidFill>
              </a:rPr>
              <a:t>Strong performance at both Dubai Al </a:t>
            </a:r>
            <a:r>
              <a:rPr lang="en-GB" sz="1100" dirty="0" err="1">
                <a:solidFill>
                  <a:srgbClr val="00249C"/>
                </a:solidFill>
              </a:rPr>
              <a:t>Nadha</a:t>
            </a:r>
            <a:r>
              <a:rPr lang="en-GB" sz="1100" dirty="0">
                <a:solidFill>
                  <a:srgbClr val="00249C"/>
                </a:solidFill>
              </a:rPr>
              <a:t> campuses, reflecting consistent procedural compliance and effective implementation of operational controls. </a:t>
            </a:r>
            <a:endParaRPr lang="en-US" sz="1100" dirty="0">
              <a:solidFill>
                <a:schemeClr val="accent6"/>
              </a:solidFill>
            </a:endParaRPr>
          </a:p>
          <a:p>
            <a:pPr marL="171450" indent="-171450" algn="just">
              <a:buFont typeface="Arial" panose="020B0604020202020204" pitchFamily="34" charset="0"/>
              <a:buChar char="•"/>
            </a:pPr>
            <a:r>
              <a:rPr lang="en-US" sz="1100" b="1" dirty="0">
                <a:solidFill>
                  <a:schemeClr val="accent6"/>
                </a:solidFill>
              </a:rPr>
              <a:t>Rectification: </a:t>
            </a:r>
            <a:r>
              <a:rPr lang="en-US" sz="1100" dirty="0">
                <a:solidFill>
                  <a:srgbClr val="00249C"/>
                </a:solidFill>
              </a:rPr>
              <a:t>Strengthening t</a:t>
            </a:r>
            <a:r>
              <a:rPr lang="en-US" sz="1100" dirty="0"/>
              <a:t>he sampling and review requirement by centralized assignment of 2 procedures and evidence of all requirements implemented to be submitted.</a:t>
            </a:r>
            <a:endParaRPr lang="en-US" sz="1100" b="1" dirty="0">
              <a:solidFill>
                <a:schemeClr val="accent6"/>
              </a:solidFill>
            </a:endParaRPr>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0" name="Text Placeholder 3">
            <a:extLst>
              <a:ext uri="{FF2B5EF4-FFF2-40B4-BE49-F238E27FC236}">
                <a16:creationId xmlns:a16="http://schemas.microsoft.com/office/drawing/2014/main" id="{71BE7E4A-3952-AEC8-98C8-C7C8F037FB56}"/>
              </a:ext>
            </a:extLst>
          </p:cNvPr>
          <p:cNvSpPr txBox="1">
            <a:spLocks/>
          </p:cNvSpPr>
          <p:nvPr/>
        </p:nvSpPr>
        <p:spPr>
          <a:xfrm>
            <a:off x="6906959" y="3569471"/>
            <a:ext cx="3891221" cy="292450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12 – (Number of activities in compliance ÷ Total Activities Checked) × 100</a:t>
            </a:r>
          </a:p>
          <a:p>
            <a:pPr marL="171450" indent="-171450" algn="just">
              <a:lnSpc>
                <a:spcPct val="100000"/>
              </a:lnSpc>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Key Observations: </a:t>
            </a:r>
            <a:r>
              <a:rPr lang="en-GB" sz="1100" dirty="0"/>
              <a:t>Dubai Academic City did not have a planned drill for Q1; hence, this is scored as N/A. Dubai Al Nahda conducted 1 fire/evac chair scheduled drill in February 2026 to meet the required compliance.</a:t>
            </a:r>
            <a:endParaRPr lang="en-US" sz="1100" dirty="0"/>
          </a:p>
          <a:p>
            <a:pPr marL="171450" indent="-171450" algn="just">
              <a:spcBef>
                <a:spcPts val="0"/>
              </a:spcBef>
              <a:buFont typeface="Arial" panose="020B0604020202020204" pitchFamily="34" charset="0"/>
              <a:buChar char="•"/>
            </a:pPr>
            <a:endParaRPr lang="en-US" sz="1100" dirty="0">
              <a:highlight>
                <a:srgbClr val="FFFF00"/>
              </a:highlight>
            </a:endParaRPr>
          </a:p>
          <a:p>
            <a:pPr marL="171450" indent="-171450" algn="just">
              <a:lnSpc>
                <a:spcPct val="100000"/>
              </a:lnSpc>
              <a:spcBef>
                <a:spcPts val="0"/>
              </a:spcBef>
              <a:buFont typeface="Arial" panose="020B0604020202020204" pitchFamily="34" charset="0"/>
              <a:buChar char="•"/>
            </a:pPr>
            <a:r>
              <a:rPr lang="en-US" sz="1100" b="1" dirty="0">
                <a:solidFill>
                  <a:srgbClr val="000000"/>
                </a:solidFill>
              </a:rPr>
              <a:t>Rectification: </a:t>
            </a:r>
            <a:r>
              <a:rPr lang="en-US" sz="1100" dirty="0">
                <a:solidFill>
                  <a:srgbClr val="00249C"/>
                </a:solidFill>
              </a:rPr>
              <a:t>Annual drill plan foresee drills planned through Q2 – Q4</a:t>
            </a:r>
          </a:p>
          <a:p>
            <a:pPr marL="171450" indent="-171450" algn="just">
              <a:lnSpc>
                <a:spcPct val="100000"/>
              </a:lnSpc>
              <a:spcBef>
                <a:spcPts val="0"/>
              </a:spcBef>
              <a:buFont typeface="Arial" panose="020B0604020202020204" pitchFamily="34" charset="0"/>
              <a:buChar char="•"/>
            </a:pPr>
            <a:endParaRPr lang="en-US" sz="1100" dirty="0"/>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graphicFrame>
        <p:nvGraphicFramePr>
          <p:cNvPr id="5" name="Chart 4">
            <a:extLst>
              <a:ext uri="{FF2B5EF4-FFF2-40B4-BE49-F238E27FC236}">
                <a16:creationId xmlns:a16="http://schemas.microsoft.com/office/drawing/2014/main" id="{36339A9F-2013-852C-02F6-55DF64E65F84}"/>
              </a:ext>
            </a:extLst>
          </p:cNvPr>
          <p:cNvGraphicFramePr/>
          <p:nvPr>
            <p:extLst>
              <p:ext uri="{D42A27DB-BD31-4B8C-83A1-F6EECF244321}">
                <p14:modId xmlns:p14="http://schemas.microsoft.com/office/powerpoint/2010/main" val="1309819671"/>
              </p:ext>
            </p:extLst>
          </p:nvPr>
        </p:nvGraphicFramePr>
        <p:xfrm>
          <a:off x="6906958" y="1232647"/>
          <a:ext cx="3891221" cy="233682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4460067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84A6D8-A2DE-2807-E45F-2D1BDC29A312}"/>
              </a:ext>
            </a:extLst>
          </p:cNvPr>
          <p:cNvSpPr txBox="1">
            <a:spLocks/>
          </p:cNvSpPr>
          <p:nvPr/>
        </p:nvSpPr>
        <p:spPr>
          <a:xfrm>
            <a:off x="648881" y="76269"/>
            <a:ext cx="10150301"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4. Operational Control &amp; Emergency Preparedness – </a:t>
            </a:r>
            <a:r>
              <a:rPr lang="en-US" sz="2400" b="0" i="1" dirty="0"/>
              <a:t>Contractor Management</a:t>
            </a:r>
          </a:p>
        </p:txBody>
      </p:sp>
      <p:graphicFrame>
        <p:nvGraphicFramePr>
          <p:cNvPr id="3" name="Chart 2">
            <a:extLst>
              <a:ext uri="{FF2B5EF4-FFF2-40B4-BE49-F238E27FC236}">
                <a16:creationId xmlns:a16="http://schemas.microsoft.com/office/drawing/2014/main" id="{F23FE170-2F9A-9DA2-06BF-F395DF2446B3}"/>
              </a:ext>
            </a:extLst>
          </p:cNvPr>
          <p:cNvGraphicFramePr/>
          <p:nvPr>
            <p:extLst>
              <p:ext uri="{D42A27DB-BD31-4B8C-83A1-F6EECF244321}">
                <p14:modId xmlns:p14="http://schemas.microsoft.com/office/powerpoint/2010/main" val="3787362029"/>
              </p:ext>
            </p:extLst>
          </p:nvPr>
        </p:nvGraphicFramePr>
        <p:xfrm>
          <a:off x="1583601" y="1135121"/>
          <a:ext cx="3891221" cy="27358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940826D0-25B5-CD46-4D87-A1035D150A0A}"/>
              </a:ext>
            </a:extLst>
          </p:cNvPr>
          <p:cNvGraphicFramePr/>
          <p:nvPr>
            <p:extLst>
              <p:ext uri="{D42A27DB-BD31-4B8C-83A1-F6EECF244321}">
                <p14:modId xmlns:p14="http://schemas.microsoft.com/office/powerpoint/2010/main" val="1955985742"/>
              </p:ext>
            </p:extLst>
          </p:nvPr>
        </p:nvGraphicFramePr>
        <p:xfrm>
          <a:off x="6717178" y="1135121"/>
          <a:ext cx="3891221" cy="2735839"/>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9CF6C147-3F07-B05F-2FDC-5FE6069CA16C}"/>
              </a:ext>
            </a:extLst>
          </p:cNvPr>
          <p:cNvSpPr txBox="1">
            <a:spLocks/>
          </p:cNvSpPr>
          <p:nvPr/>
        </p:nvSpPr>
        <p:spPr>
          <a:xfrm>
            <a:off x="1863898" y="3676613"/>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13 – (Number of PTWs Issued ÷ Total works registered)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GB" sz="1100" dirty="0">
                <a:solidFill>
                  <a:srgbClr val="00249C"/>
                </a:solidFill>
              </a:rPr>
              <a:t>Both campuses issued PTWs for all registered work, achieving full compliance</a:t>
            </a:r>
            <a:br>
              <a:rPr lang="en-GB" sz="1100" dirty="0">
                <a:solidFill>
                  <a:srgbClr val="00249C"/>
                </a:solidFill>
              </a:rPr>
            </a:br>
            <a:endParaRPr lang="en-US" sz="1100" b="1" dirty="0">
              <a:solidFill>
                <a:schemeClr val="accent6"/>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r>
              <a:rPr lang="en-US" sz="1100" dirty="0"/>
              <a:t> No requirement</a:t>
            </a:r>
            <a:endParaRPr lang="en-US" sz="1100" b="1" dirty="0">
              <a:solidFill>
                <a:schemeClr val="accent6"/>
              </a:solidFill>
            </a:endParaRPr>
          </a:p>
          <a:p>
            <a:pPr marL="171450" indent="-171450">
              <a:buFont typeface="Arial" panose="020B0604020202020204" pitchFamily="34" charset="0"/>
              <a:buChar char="•"/>
            </a:pPr>
            <a:endParaRPr lang="en-US" sz="1100" dirty="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7B77EEAF-DC5B-2307-498F-77810EE7BD39}"/>
              </a:ext>
            </a:extLst>
          </p:cNvPr>
          <p:cNvSpPr txBox="1">
            <a:spLocks/>
          </p:cNvSpPr>
          <p:nvPr/>
        </p:nvSpPr>
        <p:spPr>
          <a:xfrm>
            <a:off x="7064714" y="3676613"/>
            <a:ext cx="3455832"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a:t>KPI 14 – (Inducted Contractors ÷ Total Active Contractors)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a:solidFill>
                  <a:schemeClr val="accent6"/>
                </a:solidFill>
              </a:rPr>
              <a:t>Key Observations:</a:t>
            </a:r>
            <a:r>
              <a:rPr lang="en-GB" sz="1100">
                <a:solidFill>
                  <a:srgbClr val="00249C"/>
                </a:solidFill>
              </a:rPr>
              <a:t>Contractor induction demonstrated strong performance, with both campuses successfully renewing inductions for existing contractors and conducting inductions for new contractors</a:t>
            </a:r>
            <a:endParaRPr lang="en-US" sz="110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a:solidFill>
                  <a:schemeClr val="accent6"/>
                </a:solidFill>
              </a:rPr>
              <a:t>Rectification:</a:t>
            </a:r>
            <a:r>
              <a:rPr lang="en-US" sz="1100"/>
              <a:t> No requirements</a:t>
            </a:r>
            <a:endParaRPr lang="en-US" sz="1100" b="1">
              <a:solidFill>
                <a:schemeClr val="accent6"/>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a:p>
        </p:txBody>
      </p:sp>
    </p:spTree>
    <p:extLst>
      <p:ext uri="{BB962C8B-B14F-4D97-AF65-F5344CB8AC3E}">
        <p14:creationId xmlns:p14="http://schemas.microsoft.com/office/powerpoint/2010/main" val="2885071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EF55A08-F697-3A45-E43B-FA6FC37B68CE}"/>
              </a:ext>
            </a:extLst>
          </p:cNvPr>
          <p:cNvSpPr txBox="1">
            <a:spLocks/>
          </p:cNvSpPr>
          <p:nvPr/>
        </p:nvSpPr>
        <p:spPr>
          <a:xfrm>
            <a:off x="659213"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5. Performance Evaluation &amp; Continual Improvement - </a:t>
            </a:r>
            <a:r>
              <a:rPr lang="en-US" sz="2400" b="0" i="1" dirty="0"/>
              <a:t>Inspection</a:t>
            </a:r>
          </a:p>
        </p:txBody>
      </p:sp>
      <p:graphicFrame>
        <p:nvGraphicFramePr>
          <p:cNvPr id="3" name="Chart 2">
            <a:extLst>
              <a:ext uri="{FF2B5EF4-FFF2-40B4-BE49-F238E27FC236}">
                <a16:creationId xmlns:a16="http://schemas.microsoft.com/office/drawing/2014/main" id="{73A4CE0F-E630-2A03-13A4-68EA0BCDEA03}"/>
              </a:ext>
            </a:extLst>
          </p:cNvPr>
          <p:cNvGraphicFramePr/>
          <p:nvPr>
            <p:extLst>
              <p:ext uri="{D42A27DB-BD31-4B8C-83A1-F6EECF244321}">
                <p14:modId xmlns:p14="http://schemas.microsoft.com/office/powerpoint/2010/main" val="3600102770"/>
              </p:ext>
            </p:extLst>
          </p:nvPr>
        </p:nvGraphicFramePr>
        <p:xfrm>
          <a:off x="1953072" y="1138895"/>
          <a:ext cx="3891221" cy="21963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D5EE6D26-5BDD-8B90-5A83-65934333BC35}"/>
              </a:ext>
            </a:extLst>
          </p:cNvPr>
          <p:cNvGraphicFramePr/>
          <p:nvPr>
            <p:extLst>
              <p:ext uri="{D42A27DB-BD31-4B8C-83A1-F6EECF244321}">
                <p14:modId xmlns:p14="http://schemas.microsoft.com/office/powerpoint/2010/main" val="2649316079"/>
              </p:ext>
            </p:extLst>
          </p:nvPr>
        </p:nvGraphicFramePr>
        <p:xfrm>
          <a:off x="6669240" y="1138895"/>
          <a:ext cx="3891221" cy="219635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DB142415-AEBD-ACB9-5CC6-23CC159072AF}"/>
              </a:ext>
            </a:extLst>
          </p:cNvPr>
          <p:cNvSpPr txBox="1">
            <a:spLocks/>
          </p:cNvSpPr>
          <p:nvPr/>
        </p:nvSpPr>
        <p:spPr>
          <a:xfrm>
            <a:off x="2128780" y="3429000"/>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15 – (Inspections Completed ÷ Inspections Planned) × 100</a:t>
            </a:r>
            <a:br>
              <a:rPr lang="en-US" sz="1200" b="1" dirty="0"/>
            </a:br>
            <a:endParaRPr lang="en-US" sz="1200" b="1" dirty="0"/>
          </a:p>
          <a:p>
            <a:pPr marL="171450" indent="-171450" algn="just">
              <a:buFont typeface="Arial" panose="020B0604020202020204" pitchFamily="34" charset="0"/>
              <a:buChar char="•"/>
            </a:pPr>
            <a:r>
              <a:rPr lang="en-US" sz="1100" b="1" dirty="0">
                <a:solidFill>
                  <a:schemeClr val="accent6"/>
                </a:solidFill>
              </a:rPr>
              <a:t>Key Observations: </a:t>
            </a:r>
            <a:r>
              <a:rPr lang="en-GB" sz="1100" dirty="0"/>
              <a:t>Dubai Academic City achieved the planned target for inspections scheduled in Q1, DBN completed 15 out of 18 planned inspections. Partially impacted by campus closures during mid-term/Eid break and due the regional conflict</a:t>
            </a:r>
            <a:br>
              <a:rPr lang="en-GB" sz="1100" dirty="0"/>
            </a:br>
            <a:endParaRPr lang="en-GB" sz="1100" dirty="0"/>
          </a:p>
          <a:p>
            <a:pPr marL="171450" indent="-171450" algn="just">
              <a:buFont typeface="Arial" panose="020B0604020202020204" pitchFamily="34" charset="0"/>
              <a:buChar char="•"/>
            </a:pPr>
            <a:r>
              <a:rPr lang="en-US" sz="1100" b="1" dirty="0">
                <a:solidFill>
                  <a:schemeClr val="accent6"/>
                </a:solidFill>
              </a:rPr>
              <a:t>Rectification: </a:t>
            </a:r>
            <a:r>
              <a:rPr lang="en-US" sz="1100" dirty="0">
                <a:solidFill>
                  <a:srgbClr val="00249C"/>
                </a:solidFill>
              </a:rPr>
              <a:t>No requirements</a:t>
            </a:r>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1" name="Text Placeholder 3">
            <a:extLst>
              <a:ext uri="{FF2B5EF4-FFF2-40B4-BE49-F238E27FC236}">
                <a16:creationId xmlns:a16="http://schemas.microsoft.com/office/drawing/2014/main" id="{47624A27-25FD-5515-F424-E7339FE37837}"/>
              </a:ext>
            </a:extLst>
          </p:cNvPr>
          <p:cNvSpPr txBox="1">
            <a:spLocks/>
          </p:cNvSpPr>
          <p:nvPr/>
        </p:nvSpPr>
        <p:spPr>
          <a:xfrm>
            <a:off x="6669240" y="3429000"/>
            <a:ext cx="408507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16 – (Findings Closed ÷ Total Findings)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GB" sz="1100" dirty="0">
                <a:solidFill>
                  <a:srgbClr val="00249C"/>
                </a:solidFill>
              </a:rPr>
              <a:t>Slight variation between both campuses, but still above institute average. Closure of findings dependent on action ownership and support other departments </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GB" sz="1100" dirty="0">
                <a:solidFill>
                  <a:srgbClr val="00249C"/>
                </a:solidFill>
              </a:rPr>
              <a:t>Improve coordination with other departments</a:t>
            </a:r>
            <a:endParaRPr lang="en-US" sz="1100" b="1" dirty="0">
              <a:solidFill>
                <a:schemeClr val="accent6"/>
              </a:solidFill>
            </a:endParaRPr>
          </a:p>
          <a:p>
            <a:pPr marL="285750" indent="-2857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3730796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144D033-06C2-3F95-4417-5E6D9DD59579}"/>
              </a:ext>
            </a:extLst>
          </p:cNvPr>
          <p:cNvSpPr txBox="1">
            <a:spLocks/>
          </p:cNvSpPr>
          <p:nvPr/>
        </p:nvSpPr>
        <p:spPr>
          <a:xfrm>
            <a:off x="659213" y="76269"/>
            <a:ext cx="11358615"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5. Performance Evaluation &amp; Continual Improvement – </a:t>
            </a:r>
            <a:r>
              <a:rPr lang="en-US" sz="2400" b="0" i="1" dirty="0"/>
              <a:t>Incident Reporting &amp; Investigation</a:t>
            </a:r>
          </a:p>
        </p:txBody>
      </p:sp>
      <p:graphicFrame>
        <p:nvGraphicFramePr>
          <p:cNvPr id="3" name="Chart 2">
            <a:extLst>
              <a:ext uri="{FF2B5EF4-FFF2-40B4-BE49-F238E27FC236}">
                <a16:creationId xmlns:a16="http://schemas.microsoft.com/office/drawing/2014/main" id="{4E07165A-AF93-1A17-D5D1-6E06E9317A93}"/>
              </a:ext>
            </a:extLst>
          </p:cNvPr>
          <p:cNvGraphicFramePr/>
          <p:nvPr>
            <p:extLst>
              <p:ext uri="{D42A27DB-BD31-4B8C-83A1-F6EECF244321}">
                <p14:modId xmlns:p14="http://schemas.microsoft.com/office/powerpoint/2010/main" val="152116899"/>
              </p:ext>
            </p:extLst>
          </p:nvPr>
        </p:nvGraphicFramePr>
        <p:xfrm>
          <a:off x="1858093" y="1146403"/>
          <a:ext cx="3891221" cy="219635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691AD59B-9452-2B67-D87D-86759B46F6B8}"/>
              </a:ext>
            </a:extLst>
          </p:cNvPr>
          <p:cNvGraphicFramePr/>
          <p:nvPr>
            <p:extLst>
              <p:ext uri="{D42A27DB-BD31-4B8C-83A1-F6EECF244321}">
                <p14:modId xmlns:p14="http://schemas.microsoft.com/office/powerpoint/2010/main" val="2366006684"/>
              </p:ext>
            </p:extLst>
          </p:nvPr>
        </p:nvGraphicFramePr>
        <p:xfrm>
          <a:off x="6637310" y="1151425"/>
          <a:ext cx="3891221" cy="2196353"/>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Placeholder 3">
            <a:extLst>
              <a:ext uri="{FF2B5EF4-FFF2-40B4-BE49-F238E27FC236}">
                <a16:creationId xmlns:a16="http://schemas.microsoft.com/office/drawing/2014/main" id="{C0A5B954-9F93-630F-5A0A-A2C175F09AFE}"/>
              </a:ext>
            </a:extLst>
          </p:cNvPr>
          <p:cNvSpPr txBox="1">
            <a:spLocks/>
          </p:cNvSpPr>
          <p:nvPr/>
        </p:nvSpPr>
        <p:spPr>
          <a:xfrm>
            <a:off x="1760236" y="336552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17 – (Notifications Submitted Within Target ÷ Total Incidents)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buFont typeface="Arial" panose="020B0604020202020204" pitchFamily="34" charset="0"/>
              <a:buChar char="•"/>
            </a:pPr>
            <a:r>
              <a:rPr lang="en-US" sz="1100" b="1" dirty="0">
                <a:solidFill>
                  <a:schemeClr val="accent6"/>
                </a:solidFill>
              </a:rPr>
              <a:t>Key Observations</a:t>
            </a:r>
            <a:r>
              <a:rPr lang="en-US" sz="1100" b="1" dirty="0">
                <a:solidFill>
                  <a:schemeClr val="tx2"/>
                </a:solidFill>
              </a:rPr>
              <a:t>: </a:t>
            </a:r>
            <a:r>
              <a:rPr lang="en-GB" sz="1100" dirty="0"/>
              <a:t>Both campuses had 02 reported incidents each which were notified late in Q1 hence scored 0%. It is worth noting that throughout Q1 staff did not have access to IWMS which hindered reporting </a:t>
            </a:r>
            <a:endParaRPr lang="en-US" sz="1100" dirty="0"/>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r>
              <a:rPr lang="en-US" sz="1100" dirty="0">
                <a:solidFill>
                  <a:srgbClr val="00249C"/>
                </a:solidFill>
              </a:rPr>
              <a:t>T</a:t>
            </a:r>
            <a:r>
              <a:rPr lang="en-GB" sz="1100" dirty="0" err="1">
                <a:solidFill>
                  <a:srgbClr val="00249C"/>
                </a:solidFill>
              </a:rPr>
              <a:t>argeted</a:t>
            </a:r>
            <a:r>
              <a:rPr lang="en-GB" sz="1100" dirty="0">
                <a:solidFill>
                  <a:srgbClr val="00249C"/>
                </a:solidFill>
              </a:rPr>
              <a:t> reporting </a:t>
            </a:r>
            <a:r>
              <a:rPr lang="en-GB" sz="1100" dirty="0"/>
              <a:t>awareness session to further improve adherence to on time notification requirements in Q2 - Q4</a:t>
            </a:r>
          </a:p>
          <a:p>
            <a:pPr marL="171450" indent="-171450" algn="just">
              <a:spcBef>
                <a:spcPts val="0"/>
              </a:spcBef>
              <a:buFont typeface="Arial" panose="020B0604020202020204" pitchFamily="34" charset="0"/>
              <a:buChar char="•"/>
            </a:pPr>
            <a:endParaRPr lang="en-US" sz="1100" dirty="0">
              <a:solidFill>
                <a:srgbClr val="00249C"/>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9" name="Text Placeholder 3">
            <a:extLst>
              <a:ext uri="{FF2B5EF4-FFF2-40B4-BE49-F238E27FC236}">
                <a16:creationId xmlns:a16="http://schemas.microsoft.com/office/drawing/2014/main" id="{6D2E4116-70D4-1F1A-EC07-063521CE77FD}"/>
              </a:ext>
            </a:extLst>
          </p:cNvPr>
          <p:cNvSpPr txBox="1">
            <a:spLocks/>
          </p:cNvSpPr>
          <p:nvPr/>
        </p:nvSpPr>
        <p:spPr>
          <a:xfrm>
            <a:off x="6763683" y="336552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18 – (Investigations Completed ÷ Total Incidents Investigated)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Key Observations: </a:t>
            </a:r>
            <a:r>
              <a:rPr lang="en-GB" sz="1100" dirty="0"/>
              <a:t>Both campuses had 02 reported incidents each which were investigated late in Q1 hence scored 0%.</a:t>
            </a:r>
            <a:br>
              <a:rPr lang="en-US" sz="1100" dirty="0"/>
            </a:br>
            <a:br>
              <a:rPr lang="en-US" sz="1100" dirty="0"/>
            </a:br>
            <a:r>
              <a:rPr lang="en-GB" sz="1100" dirty="0"/>
              <a:t>Important to note that until 8 February, investigations were conducted outside the IWMS platform, which contributed to extended closure timelines</a:t>
            </a:r>
          </a:p>
          <a:p>
            <a:pPr marL="171450" indent="-171450" algn="just">
              <a:spcBef>
                <a:spcPts val="0"/>
              </a:spcBef>
              <a:buFont typeface="Arial" panose="020B0604020202020204" pitchFamily="34" charset="0"/>
              <a:buChar char="•"/>
            </a:pPr>
            <a:endParaRPr lang="en-GB" sz="1100" dirty="0"/>
          </a:p>
          <a:p>
            <a:pPr marL="171450" indent="-171450" algn="just">
              <a:spcBef>
                <a:spcPts val="0"/>
              </a:spcBef>
              <a:buFont typeface="Arial" panose="020B0604020202020204" pitchFamily="34" charset="0"/>
              <a:buChar char="•"/>
            </a:pPr>
            <a:r>
              <a:rPr lang="en-US" sz="1100" b="1" dirty="0">
                <a:solidFill>
                  <a:schemeClr val="accent6"/>
                </a:solidFill>
              </a:rPr>
              <a:t>Rectification: </a:t>
            </a:r>
            <a:r>
              <a:rPr lang="en-GB" sz="1100" dirty="0"/>
              <a:t>Bi‑weekly review cycles to be set up with Incident / Emergency Management Specialist to improve on time completion of incident investigation</a:t>
            </a: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2829906989"/>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7DCC-5E00-0635-43F5-6B252E57332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37879D8-A518-75F7-338E-597F2C4C7D25}"/>
              </a:ext>
            </a:extLst>
          </p:cNvPr>
          <p:cNvSpPr txBox="1">
            <a:spLocks/>
          </p:cNvSpPr>
          <p:nvPr/>
        </p:nvSpPr>
        <p:spPr>
          <a:xfrm>
            <a:off x="731785" y="223762"/>
            <a:ext cx="10150301" cy="986177"/>
          </a:xfrm>
          <a:prstGeom prst="rect">
            <a:avLst/>
          </a:prstGeom>
        </p:spPr>
        <p:txBody>
          <a:bodyPr vert="horz" lIns="91440" tIns="45720" rIns="91440" bIns="45720" rtlCol="0" anchor="ctr" anchorCtr="0">
            <a:normAutofit fontScale="92500" lnSpcReduction="200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a:t>
            </a:r>
            <a:r>
              <a:rPr lang="en-US" sz="3200" dirty="0"/>
              <a:t>EHS KPI Dashboard</a:t>
            </a:r>
          </a:p>
          <a:p>
            <a:endParaRPr lang="en-US" sz="3000" dirty="0"/>
          </a:p>
          <a:p>
            <a:r>
              <a:rPr lang="en-US" sz="2400" b="0" dirty="0"/>
              <a:t>Campus KPI Scoring Breakdown</a:t>
            </a:r>
          </a:p>
        </p:txBody>
      </p:sp>
      <p:graphicFrame>
        <p:nvGraphicFramePr>
          <p:cNvPr id="13" name="Chart 12">
            <a:extLst>
              <a:ext uri="{FF2B5EF4-FFF2-40B4-BE49-F238E27FC236}">
                <a16:creationId xmlns:a16="http://schemas.microsoft.com/office/drawing/2014/main" id="{270BB58F-3E87-E938-A921-3DDE6303E9EA}"/>
              </a:ext>
            </a:extLst>
          </p:cNvPr>
          <p:cNvGraphicFramePr>
            <a:graphicFrameLocks/>
          </p:cNvGraphicFramePr>
          <p:nvPr/>
        </p:nvGraphicFramePr>
        <p:xfrm>
          <a:off x="1852646" y="1209939"/>
          <a:ext cx="8486707" cy="55363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7806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2324-451F-D0B8-57F6-026148947624}"/>
            </a:ext>
          </a:extLst>
        </p:cNvPr>
        <p:cNvGrpSpPr/>
        <p:nvPr/>
      </p:nvGrpSpPr>
      <p:grpSpPr>
        <a:xfrm>
          <a:off x="0" y="0"/>
          <a:ext cx="0" cy="0"/>
          <a:chOff x="0" y="0"/>
          <a:chExt cx="0" cy="0"/>
        </a:xfrm>
      </p:grpSpPr>
      <p:sp>
        <p:nvSpPr>
          <p:cNvPr id="5" name="Text 11">
            <a:extLst>
              <a:ext uri="{FF2B5EF4-FFF2-40B4-BE49-F238E27FC236}">
                <a16:creationId xmlns:a16="http://schemas.microsoft.com/office/drawing/2014/main" id="{3F55F258-627E-C342-6D0B-0A85728E5409}"/>
              </a:ext>
            </a:extLst>
          </p:cNvPr>
          <p:cNvSpPr/>
          <p:nvPr/>
        </p:nvSpPr>
        <p:spPr>
          <a:xfrm>
            <a:off x="998202" y="202035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marL="0" indent="0" algn="ctr">
              <a:buNone/>
            </a:pP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1. Leadership, Accountability &amp; Engagement (20%)</a:t>
            </a:r>
          </a:p>
        </p:txBody>
      </p:sp>
      <p:sp>
        <p:nvSpPr>
          <p:cNvPr id="6" name="Shape 12">
            <a:extLst>
              <a:ext uri="{FF2B5EF4-FFF2-40B4-BE49-F238E27FC236}">
                <a16:creationId xmlns:a16="http://schemas.microsoft.com/office/drawing/2014/main" id="{C06D5E10-AB68-9754-5AF4-A9ECBEB80A1A}"/>
              </a:ext>
            </a:extLst>
          </p:cNvPr>
          <p:cNvSpPr/>
          <p:nvPr/>
        </p:nvSpPr>
        <p:spPr>
          <a:xfrm>
            <a:off x="4409537" y="2236239"/>
            <a:ext cx="1463040" cy="201168"/>
          </a:xfrm>
          <a:prstGeom prst="rect">
            <a:avLst/>
          </a:prstGeom>
          <a:solidFill>
            <a:schemeClr val="bg2"/>
          </a:solidFill>
          <a:ln w="12700">
            <a:solidFill>
              <a:srgbClr val="1E3A4A"/>
            </a:solidFill>
            <a:prstDash val="solid"/>
          </a:ln>
        </p:spPr>
        <p:txBody>
          <a:bodyPr/>
          <a:lstStyle/>
          <a:p>
            <a:endParaRPr lang="en-US" dirty="0"/>
          </a:p>
        </p:txBody>
      </p:sp>
      <p:sp>
        <p:nvSpPr>
          <p:cNvPr id="7" name="Shape 13">
            <a:extLst>
              <a:ext uri="{FF2B5EF4-FFF2-40B4-BE49-F238E27FC236}">
                <a16:creationId xmlns:a16="http://schemas.microsoft.com/office/drawing/2014/main" id="{7C5B943F-16FF-C711-37D4-7D6F94F64EC2}"/>
              </a:ext>
            </a:extLst>
          </p:cNvPr>
          <p:cNvSpPr/>
          <p:nvPr/>
        </p:nvSpPr>
        <p:spPr>
          <a:xfrm>
            <a:off x="4409537" y="2236239"/>
            <a:ext cx="1059766" cy="201168"/>
          </a:xfrm>
          <a:prstGeom prst="rect">
            <a:avLst/>
          </a:prstGeom>
          <a:solidFill>
            <a:srgbClr val="FFC000"/>
          </a:solidFill>
          <a:ln w="12700">
            <a:solidFill>
              <a:srgbClr val="C0DD97"/>
            </a:solidFill>
            <a:prstDash val="solid"/>
          </a:ln>
        </p:spPr>
        <p:txBody>
          <a:bodyPr/>
          <a:lstStyle/>
          <a:p>
            <a:endParaRPr lang="en-US" dirty="0"/>
          </a:p>
        </p:txBody>
      </p:sp>
      <p:sp>
        <p:nvSpPr>
          <p:cNvPr id="16" name="Text 14">
            <a:extLst>
              <a:ext uri="{FF2B5EF4-FFF2-40B4-BE49-F238E27FC236}">
                <a16:creationId xmlns:a16="http://schemas.microsoft.com/office/drawing/2014/main" id="{752B5F82-3B5D-4CED-B410-8BF3D74D3644}"/>
              </a:ext>
            </a:extLst>
          </p:cNvPr>
          <p:cNvSpPr/>
          <p:nvPr/>
        </p:nvSpPr>
        <p:spPr>
          <a:xfrm>
            <a:off x="4409537" y="2035071"/>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72%</a:t>
            </a:r>
            <a:endParaRPr lang="en-US" sz="1400" dirty="0">
              <a:solidFill>
                <a:schemeClr val="tx1">
                  <a:lumMod val="75000"/>
                </a:schemeClr>
              </a:solidFill>
            </a:endParaRPr>
          </a:p>
        </p:txBody>
      </p:sp>
      <p:sp>
        <p:nvSpPr>
          <p:cNvPr id="24" name="Shape 15">
            <a:extLst>
              <a:ext uri="{FF2B5EF4-FFF2-40B4-BE49-F238E27FC236}">
                <a16:creationId xmlns:a16="http://schemas.microsoft.com/office/drawing/2014/main" id="{AEE15EB6-F47F-6F38-F0EA-91CDF1FFFC84}"/>
              </a:ext>
            </a:extLst>
          </p:cNvPr>
          <p:cNvSpPr/>
          <p:nvPr/>
        </p:nvSpPr>
        <p:spPr>
          <a:xfrm>
            <a:off x="6564959" y="2236239"/>
            <a:ext cx="1316736" cy="201168"/>
          </a:xfrm>
          <a:prstGeom prst="rect">
            <a:avLst/>
          </a:prstGeom>
          <a:solidFill>
            <a:schemeClr val="bg2"/>
          </a:solidFill>
          <a:ln w="12700">
            <a:solidFill>
              <a:srgbClr val="2A1A0A"/>
            </a:solidFill>
            <a:prstDash val="solid"/>
          </a:ln>
        </p:spPr>
        <p:txBody>
          <a:bodyPr/>
          <a:lstStyle/>
          <a:p>
            <a:endParaRPr lang="en-US"/>
          </a:p>
        </p:txBody>
      </p:sp>
      <p:sp>
        <p:nvSpPr>
          <p:cNvPr id="32" name="Shape 16">
            <a:extLst>
              <a:ext uri="{FF2B5EF4-FFF2-40B4-BE49-F238E27FC236}">
                <a16:creationId xmlns:a16="http://schemas.microsoft.com/office/drawing/2014/main" id="{B6650983-EAA8-9A33-9361-7A7E630E5B61}"/>
              </a:ext>
            </a:extLst>
          </p:cNvPr>
          <p:cNvSpPr/>
          <p:nvPr/>
        </p:nvSpPr>
        <p:spPr>
          <a:xfrm>
            <a:off x="6564959" y="2236239"/>
            <a:ext cx="812711" cy="201168"/>
          </a:xfrm>
          <a:prstGeom prst="rect">
            <a:avLst/>
          </a:prstGeom>
          <a:solidFill>
            <a:srgbClr val="FFC000"/>
          </a:solidFill>
          <a:ln w="12700">
            <a:solidFill>
              <a:srgbClr val="C0DD97"/>
            </a:solidFill>
            <a:prstDash val="solid"/>
          </a:ln>
        </p:spPr>
        <p:txBody>
          <a:bodyPr/>
          <a:lstStyle/>
          <a:p>
            <a:endParaRPr lang="en-US"/>
          </a:p>
        </p:txBody>
      </p:sp>
      <p:sp>
        <p:nvSpPr>
          <p:cNvPr id="40" name="Text 17">
            <a:extLst>
              <a:ext uri="{FF2B5EF4-FFF2-40B4-BE49-F238E27FC236}">
                <a16:creationId xmlns:a16="http://schemas.microsoft.com/office/drawing/2014/main" id="{ACD0D2E3-CD3A-D539-C9D0-47D2352CFAA2}"/>
              </a:ext>
            </a:extLst>
          </p:cNvPr>
          <p:cNvSpPr/>
          <p:nvPr/>
        </p:nvSpPr>
        <p:spPr>
          <a:xfrm>
            <a:off x="6564959" y="2035071"/>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62%</a:t>
            </a:r>
            <a:endParaRPr lang="en-US" sz="1400" dirty="0">
              <a:solidFill>
                <a:schemeClr val="tx1">
                  <a:lumMod val="75000"/>
                </a:schemeClr>
              </a:solidFill>
            </a:endParaRPr>
          </a:p>
        </p:txBody>
      </p:sp>
      <p:sp>
        <p:nvSpPr>
          <p:cNvPr id="57" name="Text 18">
            <a:extLst>
              <a:ext uri="{FF2B5EF4-FFF2-40B4-BE49-F238E27FC236}">
                <a16:creationId xmlns:a16="http://schemas.microsoft.com/office/drawing/2014/main" id="{A3C7168E-F4F7-4A66-D258-D673834E9AA6}"/>
              </a:ext>
            </a:extLst>
          </p:cNvPr>
          <p:cNvSpPr/>
          <p:nvPr/>
        </p:nvSpPr>
        <p:spPr>
          <a:xfrm>
            <a:off x="9076660" y="2160300"/>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85%</a:t>
            </a:r>
            <a:endParaRPr lang="en-US" sz="1400" dirty="0">
              <a:solidFill>
                <a:schemeClr val="tx1">
                  <a:lumMod val="75000"/>
                </a:schemeClr>
              </a:solidFill>
            </a:endParaRPr>
          </a:p>
        </p:txBody>
      </p:sp>
      <p:sp>
        <p:nvSpPr>
          <p:cNvPr id="58" name="Shape 23">
            <a:extLst>
              <a:ext uri="{FF2B5EF4-FFF2-40B4-BE49-F238E27FC236}">
                <a16:creationId xmlns:a16="http://schemas.microsoft.com/office/drawing/2014/main" id="{97ADCB36-D4B7-4612-6078-1953767AA242}"/>
              </a:ext>
            </a:extLst>
          </p:cNvPr>
          <p:cNvSpPr/>
          <p:nvPr/>
        </p:nvSpPr>
        <p:spPr>
          <a:xfrm>
            <a:off x="4409537" y="2998292"/>
            <a:ext cx="1463040" cy="201168"/>
          </a:xfrm>
          <a:prstGeom prst="rect">
            <a:avLst/>
          </a:prstGeom>
          <a:solidFill>
            <a:srgbClr val="FFFFFF"/>
          </a:solidFill>
          <a:ln w="12700">
            <a:solidFill>
              <a:srgbClr val="1E3A4A"/>
            </a:solidFill>
            <a:prstDash val="solid"/>
          </a:ln>
        </p:spPr>
        <p:txBody>
          <a:bodyPr/>
          <a:lstStyle/>
          <a:p>
            <a:endParaRPr lang="en-US"/>
          </a:p>
        </p:txBody>
      </p:sp>
      <p:sp>
        <p:nvSpPr>
          <p:cNvPr id="60" name="Shape 24">
            <a:extLst>
              <a:ext uri="{FF2B5EF4-FFF2-40B4-BE49-F238E27FC236}">
                <a16:creationId xmlns:a16="http://schemas.microsoft.com/office/drawing/2014/main" id="{E229C519-03FB-884B-C2A8-1A83E96A514D}"/>
              </a:ext>
            </a:extLst>
          </p:cNvPr>
          <p:cNvSpPr/>
          <p:nvPr/>
        </p:nvSpPr>
        <p:spPr>
          <a:xfrm>
            <a:off x="4409537" y="2998292"/>
            <a:ext cx="411480" cy="230807"/>
          </a:xfrm>
          <a:prstGeom prst="rect">
            <a:avLst/>
          </a:prstGeom>
          <a:solidFill>
            <a:srgbClr val="FFC000"/>
          </a:solidFill>
          <a:ln w="12700">
            <a:solidFill>
              <a:srgbClr val="C0DD97"/>
            </a:solidFill>
            <a:prstDash val="solid"/>
          </a:ln>
        </p:spPr>
        <p:txBody>
          <a:bodyPr/>
          <a:lstStyle/>
          <a:p>
            <a:endParaRPr lang="en-US" dirty="0"/>
          </a:p>
        </p:txBody>
      </p:sp>
      <p:sp>
        <p:nvSpPr>
          <p:cNvPr id="61" name="Text 25">
            <a:extLst>
              <a:ext uri="{FF2B5EF4-FFF2-40B4-BE49-F238E27FC236}">
                <a16:creationId xmlns:a16="http://schemas.microsoft.com/office/drawing/2014/main" id="{7D3E2696-1C7D-E887-C8A6-7B5E664FC0B9}"/>
              </a:ext>
            </a:extLst>
          </p:cNvPr>
          <p:cNvSpPr/>
          <p:nvPr/>
        </p:nvSpPr>
        <p:spPr>
          <a:xfrm>
            <a:off x="4409537" y="2797124"/>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28%</a:t>
            </a:r>
            <a:endParaRPr lang="en-US" sz="1400" dirty="0">
              <a:solidFill>
                <a:schemeClr val="tx1">
                  <a:lumMod val="75000"/>
                </a:schemeClr>
              </a:solidFill>
            </a:endParaRPr>
          </a:p>
        </p:txBody>
      </p:sp>
      <p:sp>
        <p:nvSpPr>
          <p:cNvPr id="62" name="Shape 26">
            <a:extLst>
              <a:ext uri="{FF2B5EF4-FFF2-40B4-BE49-F238E27FC236}">
                <a16:creationId xmlns:a16="http://schemas.microsoft.com/office/drawing/2014/main" id="{477B2D49-C06E-3204-0FD8-897075906B95}"/>
              </a:ext>
            </a:extLst>
          </p:cNvPr>
          <p:cNvSpPr/>
          <p:nvPr/>
        </p:nvSpPr>
        <p:spPr>
          <a:xfrm>
            <a:off x="6564959" y="2998292"/>
            <a:ext cx="1316736" cy="201168"/>
          </a:xfrm>
          <a:prstGeom prst="rect">
            <a:avLst/>
          </a:prstGeom>
          <a:solidFill>
            <a:schemeClr val="bg2"/>
          </a:solidFill>
          <a:ln w="12700">
            <a:solidFill>
              <a:srgbClr val="2A1A0A"/>
            </a:solidFill>
            <a:prstDash val="solid"/>
          </a:ln>
        </p:spPr>
        <p:txBody>
          <a:bodyPr/>
          <a:lstStyle/>
          <a:p>
            <a:endParaRPr lang="en-US"/>
          </a:p>
        </p:txBody>
      </p:sp>
      <p:sp>
        <p:nvSpPr>
          <p:cNvPr id="63" name="Shape 27">
            <a:extLst>
              <a:ext uri="{FF2B5EF4-FFF2-40B4-BE49-F238E27FC236}">
                <a16:creationId xmlns:a16="http://schemas.microsoft.com/office/drawing/2014/main" id="{6C635BCA-F263-5450-502D-CE63C0214550}"/>
              </a:ext>
            </a:extLst>
          </p:cNvPr>
          <p:cNvSpPr/>
          <p:nvPr/>
        </p:nvSpPr>
        <p:spPr>
          <a:xfrm>
            <a:off x="6564959" y="2998292"/>
            <a:ext cx="386144" cy="201168"/>
          </a:xfrm>
          <a:prstGeom prst="rect">
            <a:avLst/>
          </a:prstGeom>
          <a:solidFill>
            <a:srgbClr val="FFC000"/>
          </a:solidFill>
          <a:ln w="12700">
            <a:solidFill>
              <a:srgbClr val="C0DD97"/>
            </a:solidFill>
            <a:prstDash val="solid"/>
          </a:ln>
        </p:spPr>
        <p:txBody>
          <a:bodyPr/>
          <a:lstStyle/>
          <a:p>
            <a:endParaRPr lang="en-US"/>
          </a:p>
        </p:txBody>
      </p:sp>
      <p:sp>
        <p:nvSpPr>
          <p:cNvPr id="64" name="Text 28">
            <a:extLst>
              <a:ext uri="{FF2B5EF4-FFF2-40B4-BE49-F238E27FC236}">
                <a16:creationId xmlns:a16="http://schemas.microsoft.com/office/drawing/2014/main" id="{5F7C0F9F-D9CD-DD83-5F75-017B43BCB500}"/>
              </a:ext>
            </a:extLst>
          </p:cNvPr>
          <p:cNvSpPr/>
          <p:nvPr/>
        </p:nvSpPr>
        <p:spPr>
          <a:xfrm>
            <a:off x="6564959" y="2797124"/>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29%</a:t>
            </a:r>
            <a:endParaRPr lang="en-US" sz="1400" dirty="0">
              <a:solidFill>
                <a:schemeClr val="tx1">
                  <a:lumMod val="75000"/>
                </a:schemeClr>
              </a:solidFill>
            </a:endParaRPr>
          </a:p>
        </p:txBody>
      </p:sp>
      <p:sp>
        <p:nvSpPr>
          <p:cNvPr id="65" name="Text 29">
            <a:extLst>
              <a:ext uri="{FF2B5EF4-FFF2-40B4-BE49-F238E27FC236}">
                <a16:creationId xmlns:a16="http://schemas.microsoft.com/office/drawing/2014/main" id="{FC4FA658-F281-1852-ABCB-2B9E53858B4B}"/>
              </a:ext>
            </a:extLst>
          </p:cNvPr>
          <p:cNvSpPr/>
          <p:nvPr/>
        </p:nvSpPr>
        <p:spPr>
          <a:xfrm>
            <a:off x="9076660" y="2911059"/>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29%</a:t>
            </a:r>
            <a:endParaRPr lang="en-US" sz="1400" dirty="0">
              <a:solidFill>
                <a:schemeClr val="tx1">
                  <a:lumMod val="75000"/>
                </a:schemeClr>
              </a:solidFill>
            </a:endParaRPr>
          </a:p>
        </p:txBody>
      </p:sp>
      <p:sp>
        <p:nvSpPr>
          <p:cNvPr id="66" name="Shape 34">
            <a:extLst>
              <a:ext uri="{FF2B5EF4-FFF2-40B4-BE49-F238E27FC236}">
                <a16:creationId xmlns:a16="http://schemas.microsoft.com/office/drawing/2014/main" id="{61F34F27-6FAD-DA29-8AE4-E43586B41147}"/>
              </a:ext>
            </a:extLst>
          </p:cNvPr>
          <p:cNvSpPr/>
          <p:nvPr/>
        </p:nvSpPr>
        <p:spPr>
          <a:xfrm>
            <a:off x="4409537" y="3719086"/>
            <a:ext cx="1463040" cy="201168"/>
          </a:xfrm>
          <a:prstGeom prst="rect">
            <a:avLst/>
          </a:prstGeom>
          <a:solidFill>
            <a:schemeClr val="bg2"/>
          </a:solidFill>
          <a:ln w="12700">
            <a:solidFill>
              <a:srgbClr val="1E3A4A"/>
            </a:solidFill>
            <a:prstDash val="solid"/>
          </a:ln>
        </p:spPr>
        <p:txBody>
          <a:bodyPr/>
          <a:lstStyle/>
          <a:p>
            <a:endParaRPr lang="en-US"/>
          </a:p>
        </p:txBody>
      </p:sp>
      <p:sp>
        <p:nvSpPr>
          <p:cNvPr id="67" name="Shape 35">
            <a:extLst>
              <a:ext uri="{FF2B5EF4-FFF2-40B4-BE49-F238E27FC236}">
                <a16:creationId xmlns:a16="http://schemas.microsoft.com/office/drawing/2014/main" id="{D08D1D90-1BCB-ED87-C828-968E7B8CF13F}"/>
              </a:ext>
            </a:extLst>
          </p:cNvPr>
          <p:cNvSpPr/>
          <p:nvPr/>
        </p:nvSpPr>
        <p:spPr>
          <a:xfrm>
            <a:off x="4409537" y="3719086"/>
            <a:ext cx="1463040" cy="201168"/>
          </a:xfrm>
          <a:prstGeom prst="rect">
            <a:avLst/>
          </a:prstGeom>
          <a:solidFill>
            <a:srgbClr val="00249C"/>
          </a:solidFill>
          <a:ln w="12700">
            <a:solidFill>
              <a:srgbClr val="F7C1C1"/>
            </a:solidFill>
            <a:prstDash val="solid"/>
          </a:ln>
        </p:spPr>
        <p:txBody>
          <a:bodyPr/>
          <a:lstStyle/>
          <a:p>
            <a:endParaRPr lang="en-US"/>
          </a:p>
        </p:txBody>
      </p:sp>
      <p:sp>
        <p:nvSpPr>
          <p:cNvPr id="68" name="Text 36">
            <a:extLst>
              <a:ext uri="{FF2B5EF4-FFF2-40B4-BE49-F238E27FC236}">
                <a16:creationId xmlns:a16="http://schemas.microsoft.com/office/drawing/2014/main" id="{30C476F7-DAE0-A2F9-356C-0D443B75B487}"/>
              </a:ext>
            </a:extLst>
          </p:cNvPr>
          <p:cNvSpPr/>
          <p:nvPr/>
        </p:nvSpPr>
        <p:spPr>
          <a:xfrm>
            <a:off x="4409537" y="351791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9" name="Shape 37">
            <a:extLst>
              <a:ext uri="{FF2B5EF4-FFF2-40B4-BE49-F238E27FC236}">
                <a16:creationId xmlns:a16="http://schemas.microsoft.com/office/drawing/2014/main" id="{26365B79-35D5-0C07-B7F7-E345FBDA90C3}"/>
              </a:ext>
            </a:extLst>
          </p:cNvPr>
          <p:cNvSpPr/>
          <p:nvPr/>
        </p:nvSpPr>
        <p:spPr>
          <a:xfrm>
            <a:off x="6564959" y="3719086"/>
            <a:ext cx="1316736" cy="201168"/>
          </a:xfrm>
          <a:prstGeom prst="rect">
            <a:avLst/>
          </a:prstGeom>
          <a:solidFill>
            <a:schemeClr val="bg2"/>
          </a:solidFill>
          <a:ln w="12700">
            <a:solidFill>
              <a:srgbClr val="2A1A0A"/>
            </a:solidFill>
            <a:prstDash val="solid"/>
          </a:ln>
        </p:spPr>
        <p:txBody>
          <a:bodyPr/>
          <a:lstStyle/>
          <a:p>
            <a:endParaRPr lang="en-US"/>
          </a:p>
        </p:txBody>
      </p:sp>
      <p:sp>
        <p:nvSpPr>
          <p:cNvPr id="70" name="Shape 38">
            <a:extLst>
              <a:ext uri="{FF2B5EF4-FFF2-40B4-BE49-F238E27FC236}">
                <a16:creationId xmlns:a16="http://schemas.microsoft.com/office/drawing/2014/main" id="{79E2A930-C51E-B5CD-72F7-12AF9147F652}"/>
              </a:ext>
            </a:extLst>
          </p:cNvPr>
          <p:cNvSpPr/>
          <p:nvPr/>
        </p:nvSpPr>
        <p:spPr>
          <a:xfrm>
            <a:off x="6564959" y="3719086"/>
            <a:ext cx="658368" cy="201168"/>
          </a:xfrm>
          <a:prstGeom prst="rect">
            <a:avLst/>
          </a:prstGeom>
          <a:solidFill>
            <a:srgbClr val="FFC000"/>
          </a:solidFill>
          <a:ln w="12700">
            <a:solidFill>
              <a:srgbClr val="F7C1C1"/>
            </a:solidFill>
            <a:prstDash val="solid"/>
          </a:ln>
        </p:spPr>
        <p:txBody>
          <a:bodyPr/>
          <a:lstStyle/>
          <a:p>
            <a:endParaRPr lang="en-US"/>
          </a:p>
        </p:txBody>
      </p:sp>
      <p:sp>
        <p:nvSpPr>
          <p:cNvPr id="71" name="Text 39">
            <a:extLst>
              <a:ext uri="{FF2B5EF4-FFF2-40B4-BE49-F238E27FC236}">
                <a16:creationId xmlns:a16="http://schemas.microsoft.com/office/drawing/2014/main" id="{469FCAB6-937E-6D60-4424-9C8141132417}"/>
              </a:ext>
            </a:extLst>
          </p:cNvPr>
          <p:cNvSpPr/>
          <p:nvPr/>
        </p:nvSpPr>
        <p:spPr>
          <a:xfrm>
            <a:off x="6615326" y="3508177"/>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50%</a:t>
            </a:r>
            <a:endParaRPr lang="en-US" sz="1400" dirty="0">
              <a:solidFill>
                <a:schemeClr val="tx1">
                  <a:lumMod val="75000"/>
                </a:schemeClr>
              </a:solidFill>
            </a:endParaRPr>
          </a:p>
        </p:txBody>
      </p:sp>
      <p:sp>
        <p:nvSpPr>
          <p:cNvPr id="72" name="Text 40">
            <a:extLst>
              <a:ext uri="{FF2B5EF4-FFF2-40B4-BE49-F238E27FC236}">
                <a16:creationId xmlns:a16="http://schemas.microsoft.com/office/drawing/2014/main" id="{4A2C479A-2749-80D7-F7B8-CB82A41E95E7}"/>
              </a:ext>
            </a:extLst>
          </p:cNvPr>
          <p:cNvSpPr/>
          <p:nvPr/>
        </p:nvSpPr>
        <p:spPr>
          <a:xfrm>
            <a:off x="9076660" y="361410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89%</a:t>
            </a:r>
            <a:endParaRPr lang="en-US" sz="1400" dirty="0">
              <a:solidFill>
                <a:schemeClr val="tx1">
                  <a:lumMod val="75000"/>
                </a:schemeClr>
              </a:solidFill>
            </a:endParaRPr>
          </a:p>
        </p:txBody>
      </p:sp>
      <p:sp>
        <p:nvSpPr>
          <p:cNvPr id="73" name="Shape 45">
            <a:extLst>
              <a:ext uri="{FF2B5EF4-FFF2-40B4-BE49-F238E27FC236}">
                <a16:creationId xmlns:a16="http://schemas.microsoft.com/office/drawing/2014/main" id="{69B39C9B-0F8B-78DA-355A-C9709C587F93}"/>
              </a:ext>
            </a:extLst>
          </p:cNvPr>
          <p:cNvSpPr/>
          <p:nvPr/>
        </p:nvSpPr>
        <p:spPr>
          <a:xfrm>
            <a:off x="4409537" y="4410241"/>
            <a:ext cx="1463040" cy="201168"/>
          </a:xfrm>
          <a:prstGeom prst="rect">
            <a:avLst/>
          </a:prstGeom>
          <a:solidFill>
            <a:schemeClr val="bg2"/>
          </a:solidFill>
          <a:ln w="12700">
            <a:solidFill>
              <a:srgbClr val="1E3A4A"/>
            </a:solidFill>
            <a:prstDash val="solid"/>
          </a:ln>
        </p:spPr>
        <p:txBody>
          <a:bodyPr/>
          <a:lstStyle/>
          <a:p>
            <a:endParaRPr lang="en-US"/>
          </a:p>
        </p:txBody>
      </p:sp>
      <p:sp>
        <p:nvSpPr>
          <p:cNvPr id="74" name="Shape 46">
            <a:extLst>
              <a:ext uri="{FF2B5EF4-FFF2-40B4-BE49-F238E27FC236}">
                <a16:creationId xmlns:a16="http://schemas.microsoft.com/office/drawing/2014/main" id="{41E4B394-1A07-1E7D-D80C-08A58E1835F4}"/>
              </a:ext>
            </a:extLst>
          </p:cNvPr>
          <p:cNvSpPr/>
          <p:nvPr/>
        </p:nvSpPr>
        <p:spPr>
          <a:xfrm>
            <a:off x="4409536" y="4410241"/>
            <a:ext cx="1453286" cy="201168"/>
          </a:xfrm>
          <a:prstGeom prst="rect">
            <a:avLst/>
          </a:prstGeom>
          <a:solidFill>
            <a:srgbClr val="00249C"/>
          </a:solidFill>
          <a:ln w="12700">
            <a:solidFill>
              <a:srgbClr val="C0DD97"/>
            </a:solidFill>
            <a:prstDash val="solid"/>
          </a:ln>
        </p:spPr>
        <p:txBody>
          <a:bodyPr/>
          <a:lstStyle/>
          <a:p>
            <a:endParaRPr lang="en-US"/>
          </a:p>
        </p:txBody>
      </p:sp>
      <p:sp>
        <p:nvSpPr>
          <p:cNvPr id="75" name="Text 47">
            <a:extLst>
              <a:ext uri="{FF2B5EF4-FFF2-40B4-BE49-F238E27FC236}">
                <a16:creationId xmlns:a16="http://schemas.microsoft.com/office/drawing/2014/main" id="{50B1D3C1-444C-2099-C9E4-B27A564B7059}"/>
              </a:ext>
            </a:extLst>
          </p:cNvPr>
          <p:cNvSpPr/>
          <p:nvPr/>
        </p:nvSpPr>
        <p:spPr>
          <a:xfrm>
            <a:off x="4409537" y="4209073"/>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99%</a:t>
            </a:r>
            <a:endParaRPr lang="en-US" sz="1400" dirty="0">
              <a:solidFill>
                <a:schemeClr val="tx1">
                  <a:lumMod val="75000"/>
                </a:schemeClr>
              </a:solidFill>
            </a:endParaRPr>
          </a:p>
        </p:txBody>
      </p:sp>
      <p:sp>
        <p:nvSpPr>
          <p:cNvPr id="76" name="Shape 48">
            <a:extLst>
              <a:ext uri="{FF2B5EF4-FFF2-40B4-BE49-F238E27FC236}">
                <a16:creationId xmlns:a16="http://schemas.microsoft.com/office/drawing/2014/main" id="{68CE2CAD-EC87-780D-125D-7EAC58DBB473}"/>
              </a:ext>
            </a:extLst>
          </p:cNvPr>
          <p:cNvSpPr/>
          <p:nvPr/>
        </p:nvSpPr>
        <p:spPr>
          <a:xfrm>
            <a:off x="6564959" y="4410241"/>
            <a:ext cx="1316736" cy="201168"/>
          </a:xfrm>
          <a:prstGeom prst="rect">
            <a:avLst/>
          </a:prstGeom>
          <a:solidFill>
            <a:schemeClr val="bg2"/>
          </a:solidFill>
          <a:ln w="12700">
            <a:solidFill>
              <a:srgbClr val="2A1A0A"/>
            </a:solidFill>
            <a:prstDash val="solid"/>
          </a:ln>
        </p:spPr>
        <p:txBody>
          <a:bodyPr/>
          <a:lstStyle/>
          <a:p>
            <a:endParaRPr lang="en-US"/>
          </a:p>
        </p:txBody>
      </p:sp>
      <p:sp>
        <p:nvSpPr>
          <p:cNvPr id="77" name="Shape 49">
            <a:extLst>
              <a:ext uri="{FF2B5EF4-FFF2-40B4-BE49-F238E27FC236}">
                <a16:creationId xmlns:a16="http://schemas.microsoft.com/office/drawing/2014/main" id="{F799BC8F-C149-BFFE-939C-686F6532FFE1}"/>
              </a:ext>
            </a:extLst>
          </p:cNvPr>
          <p:cNvSpPr/>
          <p:nvPr/>
        </p:nvSpPr>
        <p:spPr>
          <a:xfrm>
            <a:off x="6564959" y="4410241"/>
            <a:ext cx="1307958" cy="201168"/>
          </a:xfrm>
          <a:prstGeom prst="rect">
            <a:avLst/>
          </a:prstGeom>
          <a:solidFill>
            <a:srgbClr val="00249C"/>
          </a:solidFill>
          <a:ln w="12700">
            <a:solidFill>
              <a:srgbClr val="C0DD97"/>
            </a:solidFill>
            <a:prstDash val="solid"/>
          </a:ln>
        </p:spPr>
        <p:txBody>
          <a:bodyPr/>
          <a:lstStyle/>
          <a:p>
            <a:endParaRPr lang="en-US"/>
          </a:p>
        </p:txBody>
      </p:sp>
      <p:sp>
        <p:nvSpPr>
          <p:cNvPr id="78" name="Text 50">
            <a:extLst>
              <a:ext uri="{FF2B5EF4-FFF2-40B4-BE49-F238E27FC236}">
                <a16:creationId xmlns:a16="http://schemas.microsoft.com/office/drawing/2014/main" id="{CC3F8160-8295-4FD1-5C99-5896053FACBF}"/>
              </a:ext>
            </a:extLst>
          </p:cNvPr>
          <p:cNvSpPr/>
          <p:nvPr/>
        </p:nvSpPr>
        <p:spPr>
          <a:xfrm>
            <a:off x="6564959" y="4209073"/>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99%</a:t>
            </a:r>
            <a:endParaRPr lang="en-US" sz="1400" dirty="0">
              <a:solidFill>
                <a:schemeClr val="tx1">
                  <a:lumMod val="75000"/>
                </a:schemeClr>
              </a:solidFill>
            </a:endParaRPr>
          </a:p>
        </p:txBody>
      </p:sp>
      <p:sp>
        <p:nvSpPr>
          <p:cNvPr id="79" name="Text 51">
            <a:extLst>
              <a:ext uri="{FF2B5EF4-FFF2-40B4-BE49-F238E27FC236}">
                <a16:creationId xmlns:a16="http://schemas.microsoft.com/office/drawing/2014/main" id="{4A4F5897-6C14-39EE-3703-A1235A3C886B}"/>
              </a:ext>
            </a:extLst>
          </p:cNvPr>
          <p:cNvSpPr/>
          <p:nvPr/>
        </p:nvSpPr>
        <p:spPr>
          <a:xfrm>
            <a:off x="9076660" y="430663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98%</a:t>
            </a:r>
            <a:endParaRPr lang="en-US" sz="1400" dirty="0">
              <a:solidFill>
                <a:schemeClr val="tx1">
                  <a:lumMod val="75000"/>
                </a:schemeClr>
              </a:solidFill>
            </a:endParaRPr>
          </a:p>
        </p:txBody>
      </p:sp>
      <p:sp>
        <p:nvSpPr>
          <p:cNvPr id="80" name="Shape 56">
            <a:extLst>
              <a:ext uri="{FF2B5EF4-FFF2-40B4-BE49-F238E27FC236}">
                <a16:creationId xmlns:a16="http://schemas.microsoft.com/office/drawing/2014/main" id="{A8989166-20AE-A56B-BB14-6B4BA81E880D}"/>
              </a:ext>
            </a:extLst>
          </p:cNvPr>
          <p:cNvSpPr/>
          <p:nvPr/>
        </p:nvSpPr>
        <p:spPr>
          <a:xfrm>
            <a:off x="4409538" y="5151026"/>
            <a:ext cx="1463040" cy="201168"/>
          </a:xfrm>
          <a:prstGeom prst="rect">
            <a:avLst/>
          </a:prstGeom>
          <a:solidFill>
            <a:schemeClr val="bg2"/>
          </a:solidFill>
          <a:ln w="12700">
            <a:solidFill>
              <a:srgbClr val="1E3A4A"/>
            </a:solidFill>
            <a:prstDash val="solid"/>
          </a:ln>
        </p:spPr>
        <p:txBody>
          <a:bodyPr/>
          <a:lstStyle/>
          <a:p>
            <a:endParaRPr lang="en-US"/>
          </a:p>
        </p:txBody>
      </p:sp>
      <p:sp>
        <p:nvSpPr>
          <p:cNvPr id="81" name="Shape 57">
            <a:extLst>
              <a:ext uri="{FF2B5EF4-FFF2-40B4-BE49-F238E27FC236}">
                <a16:creationId xmlns:a16="http://schemas.microsoft.com/office/drawing/2014/main" id="{0B06808D-3535-90C9-D5A5-1EE0021CD71D}"/>
              </a:ext>
            </a:extLst>
          </p:cNvPr>
          <p:cNvSpPr/>
          <p:nvPr/>
        </p:nvSpPr>
        <p:spPr>
          <a:xfrm>
            <a:off x="4409538" y="5151026"/>
            <a:ext cx="1259873" cy="201168"/>
          </a:xfrm>
          <a:prstGeom prst="rect">
            <a:avLst/>
          </a:prstGeom>
          <a:solidFill>
            <a:srgbClr val="00249C"/>
          </a:solidFill>
          <a:ln w="12700">
            <a:solidFill>
              <a:srgbClr val="F7C1C1"/>
            </a:solidFill>
            <a:prstDash val="solid"/>
          </a:ln>
        </p:spPr>
        <p:txBody>
          <a:bodyPr/>
          <a:lstStyle/>
          <a:p>
            <a:endParaRPr lang="en-US"/>
          </a:p>
        </p:txBody>
      </p:sp>
      <p:sp>
        <p:nvSpPr>
          <p:cNvPr id="82" name="Text 58">
            <a:extLst>
              <a:ext uri="{FF2B5EF4-FFF2-40B4-BE49-F238E27FC236}">
                <a16:creationId xmlns:a16="http://schemas.microsoft.com/office/drawing/2014/main" id="{1FEACE66-747E-3DA6-B004-A02E95301C59}"/>
              </a:ext>
            </a:extLst>
          </p:cNvPr>
          <p:cNvSpPr/>
          <p:nvPr/>
        </p:nvSpPr>
        <p:spPr>
          <a:xfrm>
            <a:off x="4409538" y="494985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86%</a:t>
            </a:r>
            <a:endParaRPr lang="en-US" sz="1400" dirty="0">
              <a:solidFill>
                <a:schemeClr val="tx1">
                  <a:lumMod val="75000"/>
                </a:schemeClr>
              </a:solidFill>
            </a:endParaRPr>
          </a:p>
        </p:txBody>
      </p:sp>
      <p:sp>
        <p:nvSpPr>
          <p:cNvPr id="83" name="Shape 59">
            <a:extLst>
              <a:ext uri="{FF2B5EF4-FFF2-40B4-BE49-F238E27FC236}">
                <a16:creationId xmlns:a16="http://schemas.microsoft.com/office/drawing/2014/main" id="{7BFCC5D1-D0CB-047D-A133-3F217E5F89B1}"/>
              </a:ext>
            </a:extLst>
          </p:cNvPr>
          <p:cNvSpPr/>
          <p:nvPr/>
        </p:nvSpPr>
        <p:spPr>
          <a:xfrm>
            <a:off x="6564960" y="5151026"/>
            <a:ext cx="1316736" cy="201168"/>
          </a:xfrm>
          <a:prstGeom prst="rect">
            <a:avLst/>
          </a:prstGeom>
          <a:solidFill>
            <a:schemeClr val="bg2"/>
          </a:solidFill>
          <a:ln w="12700">
            <a:solidFill>
              <a:srgbClr val="2A1A0A"/>
            </a:solidFill>
            <a:prstDash val="solid"/>
          </a:ln>
        </p:spPr>
        <p:txBody>
          <a:bodyPr/>
          <a:lstStyle/>
          <a:p>
            <a:endParaRPr lang="en-US"/>
          </a:p>
        </p:txBody>
      </p:sp>
      <p:sp>
        <p:nvSpPr>
          <p:cNvPr id="84" name="Shape 60">
            <a:extLst>
              <a:ext uri="{FF2B5EF4-FFF2-40B4-BE49-F238E27FC236}">
                <a16:creationId xmlns:a16="http://schemas.microsoft.com/office/drawing/2014/main" id="{ABD24DCA-17EA-C8D1-2B67-308309075D0C}"/>
              </a:ext>
            </a:extLst>
          </p:cNvPr>
          <p:cNvSpPr/>
          <p:nvPr/>
        </p:nvSpPr>
        <p:spPr>
          <a:xfrm>
            <a:off x="6564960" y="5151026"/>
            <a:ext cx="1027054" cy="201168"/>
          </a:xfrm>
          <a:prstGeom prst="rect">
            <a:avLst/>
          </a:prstGeom>
          <a:solidFill>
            <a:srgbClr val="FFC000"/>
          </a:solidFill>
          <a:ln w="12700">
            <a:solidFill>
              <a:srgbClr val="F7C1C1"/>
            </a:solidFill>
            <a:prstDash val="solid"/>
          </a:ln>
        </p:spPr>
        <p:txBody>
          <a:bodyPr/>
          <a:lstStyle/>
          <a:p>
            <a:endParaRPr lang="en-US"/>
          </a:p>
        </p:txBody>
      </p:sp>
      <p:sp>
        <p:nvSpPr>
          <p:cNvPr id="85" name="Text 61">
            <a:extLst>
              <a:ext uri="{FF2B5EF4-FFF2-40B4-BE49-F238E27FC236}">
                <a16:creationId xmlns:a16="http://schemas.microsoft.com/office/drawing/2014/main" id="{EB6684DE-5CE5-E2C2-94F5-7397A99093DA}"/>
              </a:ext>
            </a:extLst>
          </p:cNvPr>
          <p:cNvSpPr/>
          <p:nvPr/>
        </p:nvSpPr>
        <p:spPr>
          <a:xfrm>
            <a:off x="6564960" y="4949858"/>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78%</a:t>
            </a:r>
            <a:endParaRPr lang="en-US" sz="1400" dirty="0">
              <a:solidFill>
                <a:schemeClr val="tx1">
                  <a:lumMod val="75000"/>
                </a:schemeClr>
              </a:solidFill>
            </a:endParaRPr>
          </a:p>
        </p:txBody>
      </p:sp>
      <p:sp>
        <p:nvSpPr>
          <p:cNvPr id="86" name="Text 62">
            <a:extLst>
              <a:ext uri="{FF2B5EF4-FFF2-40B4-BE49-F238E27FC236}">
                <a16:creationId xmlns:a16="http://schemas.microsoft.com/office/drawing/2014/main" id="{C844CE18-33A1-23A6-4FF9-2B2099AA500C}"/>
              </a:ext>
            </a:extLst>
          </p:cNvPr>
          <p:cNvSpPr/>
          <p:nvPr/>
        </p:nvSpPr>
        <p:spPr>
          <a:xfrm>
            <a:off x="9076661" y="5057253"/>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80%</a:t>
            </a:r>
            <a:endParaRPr lang="en-US" sz="1400" dirty="0">
              <a:solidFill>
                <a:schemeClr val="tx1">
                  <a:lumMod val="75000"/>
                </a:schemeClr>
              </a:solidFill>
            </a:endParaRPr>
          </a:p>
        </p:txBody>
      </p:sp>
      <p:sp>
        <p:nvSpPr>
          <p:cNvPr id="87" name="Text 11">
            <a:extLst>
              <a:ext uri="{FF2B5EF4-FFF2-40B4-BE49-F238E27FC236}">
                <a16:creationId xmlns:a16="http://schemas.microsoft.com/office/drawing/2014/main" id="{917D5CD2-EEF6-C0AE-3008-6D3CAC039BF5}"/>
              </a:ext>
            </a:extLst>
          </p:cNvPr>
          <p:cNvSpPr/>
          <p:nvPr/>
        </p:nvSpPr>
        <p:spPr>
          <a:xfrm>
            <a:off x="998202" y="2745183"/>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2. Risk Management &amp; Planning (20%)</a:t>
            </a:r>
          </a:p>
        </p:txBody>
      </p:sp>
      <p:sp>
        <p:nvSpPr>
          <p:cNvPr id="88" name="Text 11">
            <a:extLst>
              <a:ext uri="{FF2B5EF4-FFF2-40B4-BE49-F238E27FC236}">
                <a16:creationId xmlns:a16="http://schemas.microsoft.com/office/drawing/2014/main" id="{7F86E6F3-81BB-01AF-2D9F-6A1991D63281}"/>
              </a:ext>
            </a:extLst>
          </p:cNvPr>
          <p:cNvSpPr/>
          <p:nvPr/>
        </p:nvSpPr>
        <p:spPr>
          <a:xfrm>
            <a:off x="998202" y="347943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3. Training &amp; Awareness (10%)</a:t>
            </a:r>
          </a:p>
        </p:txBody>
      </p:sp>
      <p:sp>
        <p:nvSpPr>
          <p:cNvPr id="89" name="Text 11">
            <a:extLst>
              <a:ext uri="{FF2B5EF4-FFF2-40B4-BE49-F238E27FC236}">
                <a16:creationId xmlns:a16="http://schemas.microsoft.com/office/drawing/2014/main" id="{FBBB0DA6-AC6E-CF5B-16A3-16D32590C3AA}"/>
              </a:ext>
            </a:extLst>
          </p:cNvPr>
          <p:cNvSpPr/>
          <p:nvPr/>
        </p:nvSpPr>
        <p:spPr>
          <a:xfrm>
            <a:off x="998202" y="420782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4. Operational Control &amp; Emergency Preparedness (25%)</a:t>
            </a:r>
          </a:p>
        </p:txBody>
      </p:sp>
      <p:sp>
        <p:nvSpPr>
          <p:cNvPr id="90" name="Text 11">
            <a:extLst>
              <a:ext uri="{FF2B5EF4-FFF2-40B4-BE49-F238E27FC236}">
                <a16:creationId xmlns:a16="http://schemas.microsoft.com/office/drawing/2014/main" id="{24DE36AD-FE9C-9906-C01C-1D9E5DC42CDD}"/>
              </a:ext>
            </a:extLst>
          </p:cNvPr>
          <p:cNvSpPr/>
          <p:nvPr/>
        </p:nvSpPr>
        <p:spPr>
          <a:xfrm>
            <a:off x="998202" y="493985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5. Performance Evaluation &amp; Continuous Improvement (25%)</a:t>
            </a:r>
          </a:p>
        </p:txBody>
      </p:sp>
      <p:sp>
        <p:nvSpPr>
          <p:cNvPr id="91" name="Text 3">
            <a:extLst>
              <a:ext uri="{FF2B5EF4-FFF2-40B4-BE49-F238E27FC236}">
                <a16:creationId xmlns:a16="http://schemas.microsoft.com/office/drawing/2014/main" id="{4F70E5BA-29BD-30FB-2776-2823F9A26413}"/>
              </a:ext>
            </a:extLst>
          </p:cNvPr>
          <p:cNvSpPr/>
          <p:nvPr/>
        </p:nvSpPr>
        <p:spPr>
          <a:xfrm>
            <a:off x="998201" y="1577237"/>
            <a:ext cx="2938863" cy="29624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Pillar</a:t>
            </a:r>
            <a:endParaRPr lang="en-US" sz="1600" dirty="0">
              <a:solidFill>
                <a:srgbClr val="00249C"/>
              </a:solidFill>
            </a:endParaRPr>
          </a:p>
        </p:txBody>
      </p:sp>
      <p:sp>
        <p:nvSpPr>
          <p:cNvPr id="92" name="Text 4">
            <a:extLst>
              <a:ext uri="{FF2B5EF4-FFF2-40B4-BE49-F238E27FC236}">
                <a16:creationId xmlns:a16="http://schemas.microsoft.com/office/drawing/2014/main" id="{D7A36F8B-6D54-086E-C3F8-C1347A7D3E6C}"/>
              </a:ext>
            </a:extLst>
          </p:cNvPr>
          <p:cNvSpPr/>
          <p:nvPr/>
        </p:nvSpPr>
        <p:spPr>
          <a:xfrm>
            <a:off x="4164458" y="1571795"/>
            <a:ext cx="1831378" cy="248846"/>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DMC</a:t>
            </a:r>
            <a:endParaRPr lang="en-US" sz="1600" dirty="0">
              <a:solidFill>
                <a:srgbClr val="00249C"/>
              </a:solidFill>
            </a:endParaRPr>
          </a:p>
        </p:txBody>
      </p:sp>
      <p:sp>
        <p:nvSpPr>
          <p:cNvPr id="93" name="Text 5">
            <a:extLst>
              <a:ext uri="{FF2B5EF4-FFF2-40B4-BE49-F238E27FC236}">
                <a16:creationId xmlns:a16="http://schemas.microsoft.com/office/drawing/2014/main" id="{F852F043-5104-652E-EADA-52E6968D0F19}"/>
              </a:ext>
            </a:extLst>
          </p:cNvPr>
          <p:cNvSpPr/>
          <p:nvPr/>
        </p:nvSpPr>
        <p:spPr>
          <a:xfrm>
            <a:off x="6336148" y="1592923"/>
            <a:ext cx="1774358" cy="251945"/>
          </a:xfrm>
          <a:prstGeom prst="rect">
            <a:avLst/>
          </a:prstGeom>
          <a:noFill/>
          <a:ln/>
        </p:spPr>
        <p:txBody>
          <a:bodyPr wrap="square" lIns="0" tIns="0" rIns="0" bIns="0" rtlCol="0" anchor="ctr"/>
          <a:lstStyle/>
          <a:p>
            <a:pPr algn="ctr"/>
            <a:r>
              <a:rPr lang="en-US" sz="1600" dirty="0">
                <a:solidFill>
                  <a:srgbClr val="00249C"/>
                </a:solidFill>
                <a:latin typeface="Calibri" pitchFamily="34" charset="0"/>
                <a:ea typeface="Calibri" pitchFamily="34" charset="-122"/>
                <a:cs typeface="Calibri" pitchFamily="34" charset="-120"/>
              </a:rPr>
              <a:t>DBN</a:t>
            </a:r>
            <a:endParaRPr lang="en-US" sz="1600" dirty="0">
              <a:solidFill>
                <a:srgbClr val="00249C"/>
              </a:solidFill>
            </a:endParaRPr>
          </a:p>
        </p:txBody>
      </p:sp>
      <p:sp>
        <p:nvSpPr>
          <p:cNvPr id="94" name="Text 6">
            <a:extLst>
              <a:ext uri="{FF2B5EF4-FFF2-40B4-BE49-F238E27FC236}">
                <a16:creationId xmlns:a16="http://schemas.microsoft.com/office/drawing/2014/main" id="{1E43C59F-9345-7D15-5069-F608DAE42EE6}"/>
              </a:ext>
            </a:extLst>
          </p:cNvPr>
          <p:cNvSpPr/>
          <p:nvPr/>
        </p:nvSpPr>
        <p:spPr>
          <a:xfrm>
            <a:off x="8450818" y="1595450"/>
            <a:ext cx="2124260" cy="24688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Avg Across Campuses </a:t>
            </a:r>
            <a:endParaRPr lang="en-US" sz="1600" dirty="0">
              <a:solidFill>
                <a:srgbClr val="00249C"/>
              </a:solidFill>
            </a:endParaRPr>
          </a:p>
        </p:txBody>
      </p:sp>
      <p:cxnSp>
        <p:nvCxnSpPr>
          <p:cNvPr id="95" name="Straight Connector 94">
            <a:extLst>
              <a:ext uri="{FF2B5EF4-FFF2-40B4-BE49-F238E27FC236}">
                <a16:creationId xmlns:a16="http://schemas.microsoft.com/office/drawing/2014/main" id="{42D10289-80BB-B0EA-E1D3-66ED48D5518F}"/>
              </a:ext>
            </a:extLst>
          </p:cNvPr>
          <p:cNvCxnSpPr/>
          <p:nvPr/>
        </p:nvCxnSpPr>
        <p:spPr>
          <a:xfrm>
            <a:off x="998202" y="1932032"/>
            <a:ext cx="9604942" cy="0"/>
          </a:xfrm>
          <a:prstGeom prst="line">
            <a:avLst/>
          </a:prstGeom>
          <a:ln>
            <a:solidFill>
              <a:srgbClr val="00249C"/>
            </a:solidFill>
          </a:ln>
        </p:spPr>
        <p:style>
          <a:lnRef idx="1">
            <a:schemeClr val="accent1"/>
          </a:lnRef>
          <a:fillRef idx="0">
            <a:schemeClr val="accent1"/>
          </a:fillRef>
          <a:effectRef idx="0">
            <a:schemeClr val="accent1"/>
          </a:effectRef>
          <a:fontRef idx="minor">
            <a:schemeClr val="tx1"/>
          </a:fontRef>
        </p:style>
      </p:cxnSp>
      <p:sp>
        <p:nvSpPr>
          <p:cNvPr id="2" name="Shape 3">
            <a:extLst>
              <a:ext uri="{FF2B5EF4-FFF2-40B4-BE49-F238E27FC236}">
                <a16:creationId xmlns:a16="http://schemas.microsoft.com/office/drawing/2014/main" id="{20B80BA5-F304-C2A3-8802-DC97E50A4ED0}"/>
              </a:ext>
            </a:extLst>
          </p:cNvPr>
          <p:cNvSpPr/>
          <p:nvPr/>
        </p:nvSpPr>
        <p:spPr>
          <a:xfrm>
            <a:off x="4405066"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 name="Shape 4">
            <a:extLst>
              <a:ext uri="{FF2B5EF4-FFF2-40B4-BE49-F238E27FC236}">
                <a16:creationId xmlns:a16="http://schemas.microsoft.com/office/drawing/2014/main" id="{A29C7D7B-77B4-22D1-782D-3E48EA43A63E}"/>
              </a:ext>
            </a:extLst>
          </p:cNvPr>
          <p:cNvSpPr/>
          <p:nvPr/>
        </p:nvSpPr>
        <p:spPr>
          <a:xfrm>
            <a:off x="4412015"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 name="Text 5">
            <a:extLst>
              <a:ext uri="{FF2B5EF4-FFF2-40B4-BE49-F238E27FC236}">
                <a16:creationId xmlns:a16="http://schemas.microsoft.com/office/drawing/2014/main" id="{CC5A3054-ECB2-4DC3-FFBD-C7D890E4F142}"/>
              </a:ext>
            </a:extLst>
          </p:cNvPr>
          <p:cNvSpPr/>
          <p:nvPr/>
        </p:nvSpPr>
        <p:spPr>
          <a:xfrm>
            <a:off x="4606234"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DMC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8" name="Text 6">
            <a:extLst>
              <a:ext uri="{FF2B5EF4-FFF2-40B4-BE49-F238E27FC236}">
                <a16:creationId xmlns:a16="http://schemas.microsoft.com/office/drawing/2014/main" id="{23838B55-691B-071B-E85E-A6B74C8CCFBF}"/>
              </a:ext>
            </a:extLst>
          </p:cNvPr>
          <p:cNvSpPr/>
          <p:nvPr/>
        </p:nvSpPr>
        <p:spPr>
          <a:xfrm>
            <a:off x="4606234" y="6068253"/>
            <a:ext cx="1691640" cy="384048"/>
          </a:xfrm>
          <a:prstGeom prst="rect">
            <a:avLst/>
          </a:prstGeom>
          <a:noFill/>
          <a:ln/>
        </p:spPr>
        <p:txBody>
          <a:bodyPr wrap="square" lIns="0" tIns="0" rIns="0" bIns="0" rtlCol="0" anchor="ctr"/>
          <a:lstStyle/>
          <a:p>
            <a:pPr marL="0" indent="0">
              <a:buNone/>
            </a:pPr>
            <a:r>
              <a:rPr lang="en-US" sz="2400" b="1" dirty="0">
                <a:solidFill>
                  <a:srgbClr val="00B050"/>
                </a:solidFill>
                <a:latin typeface="Tahoma" panose="020B0604030504040204" pitchFamily="34" charset="0"/>
                <a:ea typeface="Tahoma" panose="020B0604030504040204" pitchFamily="34" charset="0"/>
                <a:cs typeface="Tahoma" panose="020B0604030504040204" pitchFamily="34" charset="0"/>
              </a:rPr>
              <a:t>76%</a:t>
            </a:r>
            <a:endPar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 7">
            <a:extLst>
              <a:ext uri="{FF2B5EF4-FFF2-40B4-BE49-F238E27FC236}">
                <a16:creationId xmlns:a16="http://schemas.microsoft.com/office/drawing/2014/main" id="{8F485DFD-C27F-DE27-6A11-1CBB09C4CED7}"/>
              </a:ext>
            </a:extLst>
          </p:cNvPr>
          <p:cNvSpPr/>
          <p:nvPr/>
        </p:nvSpPr>
        <p:spPr>
          <a:xfrm>
            <a:off x="4606234"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0" name="Shape 8">
            <a:extLst>
              <a:ext uri="{FF2B5EF4-FFF2-40B4-BE49-F238E27FC236}">
                <a16:creationId xmlns:a16="http://schemas.microsoft.com/office/drawing/2014/main" id="{D490E1E8-506F-A5B9-A4CC-784E98FE5337}"/>
              </a:ext>
            </a:extLst>
          </p:cNvPr>
          <p:cNvSpPr/>
          <p:nvPr/>
        </p:nvSpPr>
        <p:spPr>
          <a:xfrm>
            <a:off x="6558010"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a:extLst>
              <a:ext uri="{FF2B5EF4-FFF2-40B4-BE49-F238E27FC236}">
                <a16:creationId xmlns:a16="http://schemas.microsoft.com/office/drawing/2014/main" id="{DE9DDCEF-95FE-FC55-11BB-730BFF4CE7E0}"/>
              </a:ext>
            </a:extLst>
          </p:cNvPr>
          <p:cNvSpPr/>
          <p:nvPr/>
        </p:nvSpPr>
        <p:spPr>
          <a:xfrm>
            <a:off x="6564959"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a:extLst>
              <a:ext uri="{FF2B5EF4-FFF2-40B4-BE49-F238E27FC236}">
                <a16:creationId xmlns:a16="http://schemas.microsoft.com/office/drawing/2014/main" id="{F94524AF-AAB9-6972-CCEF-22D6F85BB006}"/>
              </a:ext>
            </a:extLst>
          </p:cNvPr>
          <p:cNvSpPr/>
          <p:nvPr/>
        </p:nvSpPr>
        <p:spPr>
          <a:xfrm>
            <a:off x="6759178"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DBN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 11">
            <a:extLst>
              <a:ext uri="{FF2B5EF4-FFF2-40B4-BE49-F238E27FC236}">
                <a16:creationId xmlns:a16="http://schemas.microsoft.com/office/drawing/2014/main" id="{AB5F7F04-7F88-D15D-9522-74A54C148186}"/>
              </a:ext>
            </a:extLst>
          </p:cNvPr>
          <p:cNvSpPr/>
          <p:nvPr/>
        </p:nvSpPr>
        <p:spPr>
          <a:xfrm>
            <a:off x="6759178" y="6068253"/>
            <a:ext cx="1691640" cy="384048"/>
          </a:xfrm>
          <a:prstGeom prst="rect">
            <a:avLst/>
          </a:prstGeom>
          <a:noFill/>
          <a:ln/>
        </p:spPr>
        <p:txBody>
          <a:bodyPr wrap="square" lIns="0" tIns="0" rIns="0" bIns="0" rtlCol="0" anchor="ctr"/>
          <a:lstStyle/>
          <a:p>
            <a:pPr marL="0" indent="0">
              <a:buNone/>
            </a:pPr>
            <a:r>
              <a:rPr lang="en-US" sz="2400" b="1" dirty="0">
                <a:solidFill>
                  <a:srgbClr val="00B050"/>
                </a:solidFill>
                <a:latin typeface="Tahoma" panose="020B0604030504040204" pitchFamily="34" charset="0"/>
                <a:ea typeface="Tahoma" panose="020B0604030504040204" pitchFamily="34" charset="0"/>
                <a:cs typeface="Tahoma" panose="020B0604030504040204" pitchFamily="34" charset="0"/>
              </a:rPr>
              <a:t>68%</a:t>
            </a:r>
            <a:endParaRPr lang="en-US" sz="2400" dirty="0">
              <a:solidFill>
                <a:srgbClr val="00B050"/>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 12">
            <a:extLst>
              <a:ext uri="{FF2B5EF4-FFF2-40B4-BE49-F238E27FC236}">
                <a16:creationId xmlns:a16="http://schemas.microsoft.com/office/drawing/2014/main" id="{C38DF26B-7C62-9920-49B6-52D3654044D0}"/>
              </a:ext>
            </a:extLst>
          </p:cNvPr>
          <p:cNvSpPr/>
          <p:nvPr/>
        </p:nvSpPr>
        <p:spPr>
          <a:xfrm>
            <a:off x="6759178"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5" name="Shape 13">
            <a:extLst>
              <a:ext uri="{FF2B5EF4-FFF2-40B4-BE49-F238E27FC236}">
                <a16:creationId xmlns:a16="http://schemas.microsoft.com/office/drawing/2014/main" id="{85582E47-FDA5-7BD3-9993-ACA0D7136A1C}"/>
              </a:ext>
            </a:extLst>
          </p:cNvPr>
          <p:cNvSpPr/>
          <p:nvPr/>
        </p:nvSpPr>
        <p:spPr>
          <a:xfrm>
            <a:off x="8710954" y="5663225"/>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4">
            <a:extLst>
              <a:ext uri="{FF2B5EF4-FFF2-40B4-BE49-F238E27FC236}">
                <a16:creationId xmlns:a16="http://schemas.microsoft.com/office/drawing/2014/main" id="{360916A7-3E42-58AE-F5C2-8C3004CBCB12}"/>
              </a:ext>
            </a:extLst>
          </p:cNvPr>
          <p:cNvSpPr/>
          <p:nvPr/>
        </p:nvSpPr>
        <p:spPr>
          <a:xfrm>
            <a:off x="8710954" y="5663225"/>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5">
            <a:extLst>
              <a:ext uri="{FF2B5EF4-FFF2-40B4-BE49-F238E27FC236}">
                <a16:creationId xmlns:a16="http://schemas.microsoft.com/office/drawing/2014/main" id="{4B09F206-B6DA-38C5-5B9A-AE66D7E02895}"/>
              </a:ext>
            </a:extLst>
          </p:cNvPr>
          <p:cNvSpPr/>
          <p:nvPr/>
        </p:nvSpPr>
        <p:spPr>
          <a:xfrm>
            <a:off x="8912122" y="5809529"/>
            <a:ext cx="1691640" cy="201168"/>
          </a:xfrm>
          <a:prstGeom prst="rect">
            <a:avLst/>
          </a:prstGeom>
          <a:noFill/>
          <a:ln/>
        </p:spPr>
        <p:txBody>
          <a:bodyPr wrap="square" lIns="0" tIns="0" rIns="0" bIns="0" rtlCol="0" anchor="ctr">
            <a:normAutofit/>
          </a:bodyPr>
          <a:lstStyle/>
          <a:p>
            <a:pPr marL="0" indent="0">
              <a:buNone/>
            </a:pPr>
            <a:r>
              <a:rPr lang="en-US" sz="850" b="1" dirty="0">
                <a:solidFill>
                  <a:srgbClr val="00249C"/>
                </a:solidFill>
                <a:latin typeface="Tahoma" panose="020B0604030504040204" pitchFamily="34" charset="0"/>
                <a:ea typeface="Tahoma" panose="020B0604030504040204" pitchFamily="34" charset="0"/>
                <a:cs typeface="Tahoma" panose="020B0604030504040204" pitchFamily="34" charset="0"/>
              </a:rPr>
              <a:t>Avg Across Campuses</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 16">
            <a:extLst>
              <a:ext uri="{FF2B5EF4-FFF2-40B4-BE49-F238E27FC236}">
                <a16:creationId xmlns:a16="http://schemas.microsoft.com/office/drawing/2014/main" id="{36836A9C-BE22-08D0-60CB-84A1FDB6FE39}"/>
              </a:ext>
            </a:extLst>
          </p:cNvPr>
          <p:cNvSpPr/>
          <p:nvPr/>
        </p:nvSpPr>
        <p:spPr>
          <a:xfrm>
            <a:off x="8912122" y="6074705"/>
            <a:ext cx="1691640" cy="384048"/>
          </a:xfrm>
          <a:prstGeom prst="rect">
            <a:avLst/>
          </a:prstGeom>
          <a:noFill/>
          <a:ln/>
        </p:spPr>
        <p:txBody>
          <a:bodyPr wrap="square" lIns="0" tIns="0" rIns="0" bIns="0" rtlCol="0" anchor="ctr"/>
          <a:lstStyle/>
          <a:p>
            <a:pPr marL="0" indent="0">
              <a:buNone/>
            </a:pPr>
            <a:r>
              <a:rPr lang="en-US" sz="2400" b="1" dirty="0">
                <a:solidFill>
                  <a:srgbClr val="2F6FB0"/>
                </a:solidFill>
                <a:latin typeface="Tahoma" panose="020B0604030504040204" pitchFamily="34" charset="0"/>
                <a:ea typeface="Tahoma" panose="020B0604030504040204" pitchFamily="34" charset="0"/>
                <a:cs typeface="Tahoma" panose="020B0604030504040204" pitchFamily="34" charset="0"/>
              </a:rPr>
              <a:t>76%</a:t>
            </a:r>
            <a:endParaRPr lang="en-US" sz="2400" dirty="0">
              <a:solidFill>
                <a:srgbClr val="B5D4F4"/>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 17">
            <a:extLst>
              <a:ext uri="{FF2B5EF4-FFF2-40B4-BE49-F238E27FC236}">
                <a16:creationId xmlns:a16="http://schemas.microsoft.com/office/drawing/2014/main" id="{7624AC58-4425-0C3E-F731-43A967488991}"/>
              </a:ext>
            </a:extLst>
          </p:cNvPr>
          <p:cNvSpPr/>
          <p:nvPr/>
        </p:nvSpPr>
        <p:spPr>
          <a:xfrm>
            <a:off x="8912122" y="6504473"/>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Benchmark comparison</a:t>
            </a:r>
          </a:p>
        </p:txBody>
      </p:sp>
      <p:sp>
        <p:nvSpPr>
          <p:cNvPr id="22" name="Title 1">
            <a:extLst>
              <a:ext uri="{FF2B5EF4-FFF2-40B4-BE49-F238E27FC236}">
                <a16:creationId xmlns:a16="http://schemas.microsoft.com/office/drawing/2014/main" id="{CD5AC918-06A5-5101-85FB-F4BB67E22D83}"/>
              </a:ext>
            </a:extLst>
          </p:cNvPr>
          <p:cNvSpPr txBox="1">
            <a:spLocks/>
          </p:cNvSpPr>
          <p:nvPr/>
        </p:nvSpPr>
        <p:spPr>
          <a:xfrm>
            <a:off x="572333" y="9968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Q2	</a:t>
            </a:r>
          </a:p>
        </p:txBody>
      </p:sp>
    </p:spTree>
    <p:extLst>
      <p:ext uri="{BB962C8B-B14F-4D97-AF65-F5344CB8AC3E}">
        <p14:creationId xmlns:p14="http://schemas.microsoft.com/office/powerpoint/2010/main" val="773780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99B9-3820-B971-B1D7-620DEE0071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0CA8B27-2052-82D9-14D5-4BBDD783CF5D}"/>
              </a:ext>
            </a:extLst>
          </p:cNvPr>
          <p:cNvSpPr txBox="1">
            <a:spLocks/>
          </p:cNvSpPr>
          <p:nvPr/>
        </p:nvSpPr>
        <p:spPr>
          <a:xfrm>
            <a:off x="659213" y="144976"/>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4. EHS KPI Dashboard</a:t>
            </a:r>
          </a:p>
          <a:p>
            <a:r>
              <a:rPr lang="en-US" sz="2400" b="0" dirty="0"/>
              <a:t>1. Leadership, Accountability &amp; Engagement - </a:t>
            </a:r>
            <a:r>
              <a:rPr lang="en-US" sz="2400" b="0" i="1" dirty="0"/>
              <a:t>Accountability</a:t>
            </a:r>
          </a:p>
        </p:txBody>
      </p:sp>
      <p:graphicFrame>
        <p:nvGraphicFramePr>
          <p:cNvPr id="12" name="Chart 11">
            <a:extLst>
              <a:ext uri="{FF2B5EF4-FFF2-40B4-BE49-F238E27FC236}">
                <a16:creationId xmlns:a16="http://schemas.microsoft.com/office/drawing/2014/main" id="{5FF326FB-2CC1-18F7-D4A2-2E078F7AC456}"/>
              </a:ext>
            </a:extLst>
          </p:cNvPr>
          <p:cNvGraphicFramePr/>
          <p:nvPr>
            <p:extLst>
              <p:ext uri="{D42A27DB-BD31-4B8C-83A1-F6EECF244321}">
                <p14:modId xmlns:p14="http://schemas.microsoft.com/office/powerpoint/2010/main" val="1970420952"/>
              </p:ext>
            </p:extLst>
          </p:nvPr>
        </p:nvGraphicFramePr>
        <p:xfrm>
          <a:off x="7750261" y="1332825"/>
          <a:ext cx="3891221" cy="2196353"/>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899FA53D-C56A-A11E-17DC-00D6E6F9F438}"/>
              </a:ext>
            </a:extLst>
          </p:cNvPr>
          <p:cNvSpPr/>
          <p:nvPr/>
        </p:nvSpPr>
        <p:spPr>
          <a:xfrm>
            <a:off x="4295554" y="133443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a:solidFill>
                  <a:srgbClr val="00249C"/>
                </a:solidFill>
                <a:latin typeface="Tahoma" panose="020B0604030504040204" pitchFamily="34" charset="0"/>
                <a:ea typeface="Tahoma" panose="020B0604030504040204" pitchFamily="34" charset="0"/>
                <a:cs typeface="Tahoma" panose="020B0604030504040204" pitchFamily="34" charset="0"/>
              </a:rPr>
              <a:t>KPI 2 - Audit Findings Closed (%)</a:t>
            </a:r>
            <a:br>
              <a:rPr lang="en-US" sz="1100" b="1">
                <a:solidFill>
                  <a:srgbClr val="00249C"/>
                </a:solidFill>
                <a:latin typeface="Tahoma" panose="020B0604030504040204" pitchFamily="34" charset="0"/>
                <a:ea typeface="Tahoma" panose="020B0604030504040204" pitchFamily="34" charset="0"/>
                <a:cs typeface="Tahoma" panose="020B0604030504040204" pitchFamily="34" charset="0"/>
              </a:rPr>
            </a:br>
            <a:endParaRPr lang="en-US" sz="1100" b="1">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7" name="Rectangle 6">
            <a:extLst>
              <a:ext uri="{FF2B5EF4-FFF2-40B4-BE49-F238E27FC236}">
                <a16:creationId xmlns:a16="http://schemas.microsoft.com/office/drawing/2014/main" id="{05AA8600-AD20-BA41-89CA-31BAFAB25C99}"/>
              </a:ext>
            </a:extLst>
          </p:cNvPr>
          <p:cNvSpPr/>
          <p:nvPr/>
        </p:nvSpPr>
        <p:spPr>
          <a:xfrm>
            <a:off x="1018476" y="133282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1 - </a:t>
            </a:r>
            <a:r>
              <a:rPr lang="en-US" sz="1200" b="1" dirty="0">
                <a:solidFill>
                  <a:srgbClr val="00249C"/>
                </a:solidFill>
              </a:rPr>
              <a:t>Health and Safety KPI Reports Submitted &amp; Presented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14" name="Text Placeholder 3">
            <a:extLst>
              <a:ext uri="{FF2B5EF4-FFF2-40B4-BE49-F238E27FC236}">
                <a16:creationId xmlns:a16="http://schemas.microsoft.com/office/drawing/2014/main" id="{46B0EB53-F396-ABF8-6476-1F723F1274E0}"/>
              </a:ext>
            </a:extLst>
          </p:cNvPr>
          <p:cNvSpPr txBox="1">
            <a:spLocks/>
          </p:cNvSpPr>
          <p:nvPr/>
        </p:nvSpPr>
        <p:spPr>
          <a:xfrm>
            <a:off x="1179345" y="3529178"/>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 – (Reports presented on time ÷ planned submission) × 100</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r>
              <a:rPr lang="en-US" sz="1100" b="1" dirty="0">
                <a:solidFill>
                  <a:schemeClr val="tx2"/>
                </a:solidFill>
              </a:rPr>
              <a:t> </a:t>
            </a:r>
            <a:r>
              <a:rPr lang="en-US" sz="1100" dirty="0">
                <a:solidFill>
                  <a:schemeClr val="tx2"/>
                </a:solidFill>
              </a:rPr>
              <a:t>Both</a:t>
            </a:r>
            <a:r>
              <a:rPr lang="en-US" sz="1100" dirty="0"/>
              <a:t> campuses continued submitting their KPI figures on time every month during Q2; however, the KPI was strengthened during Q2 to change from this requirement to submission and presentation to the EHS Committee of quarterly KPI results </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a:t>
            </a:r>
            <a:r>
              <a:rPr lang="en-US" sz="1100" b="1" dirty="0"/>
              <a:t> </a:t>
            </a:r>
            <a:r>
              <a:rPr lang="en-US" sz="1200" dirty="0"/>
              <a:t>Campuses to be made aware of changed requirements</a:t>
            </a:r>
            <a:endParaRPr lang="en-US" sz="1100" dirty="0"/>
          </a:p>
        </p:txBody>
      </p:sp>
      <p:sp>
        <p:nvSpPr>
          <p:cNvPr id="16" name="Text Placeholder 3">
            <a:extLst>
              <a:ext uri="{FF2B5EF4-FFF2-40B4-BE49-F238E27FC236}">
                <a16:creationId xmlns:a16="http://schemas.microsoft.com/office/drawing/2014/main" id="{5AED0986-D986-B288-2BBC-ABD4FD292044}"/>
              </a:ext>
            </a:extLst>
          </p:cNvPr>
          <p:cNvSpPr txBox="1">
            <a:spLocks/>
          </p:cNvSpPr>
          <p:nvPr/>
        </p:nvSpPr>
        <p:spPr>
          <a:xfrm>
            <a:off x="4473182" y="3529178"/>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2 – (Audit findings closed ÷ Total findings identified) × 100</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r>
              <a:rPr lang="en-US" sz="1100" b="1" dirty="0">
                <a:solidFill>
                  <a:schemeClr val="tx2"/>
                </a:solidFill>
              </a:rPr>
              <a:t>: </a:t>
            </a:r>
            <a:r>
              <a:rPr lang="en-US" sz="1100" dirty="0"/>
              <a:t>No external audit took place in Q2 for any campus</a:t>
            </a:r>
            <a:r>
              <a:rPr lang="en-US" sz="1200" dirty="0"/>
              <a:t>. </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 </a:t>
            </a:r>
            <a:r>
              <a:rPr lang="en-US" sz="1100" dirty="0"/>
              <a:t>No requirement</a:t>
            </a:r>
            <a:r>
              <a:rPr lang="en-US" sz="1200" dirty="0"/>
              <a:t>.</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8" name="Text Placeholder 3">
            <a:extLst>
              <a:ext uri="{FF2B5EF4-FFF2-40B4-BE49-F238E27FC236}">
                <a16:creationId xmlns:a16="http://schemas.microsoft.com/office/drawing/2014/main" id="{82EF3A42-6B64-8B2E-25D1-F07C31127113}"/>
              </a:ext>
            </a:extLst>
          </p:cNvPr>
          <p:cNvSpPr txBox="1">
            <a:spLocks/>
          </p:cNvSpPr>
          <p:nvPr/>
        </p:nvSpPr>
        <p:spPr>
          <a:xfrm>
            <a:off x="7767019" y="3515056"/>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3 – (Legal requirements complied with ÷ Total compliance requirement ) × 100</a:t>
            </a:r>
          </a:p>
          <a:p>
            <a:pPr marL="171450" indent="-171450" algn="just">
              <a:spcBef>
                <a:spcPts val="0"/>
              </a:spcBef>
              <a:buFont typeface="Arial" panose="020B0604020202020204" pitchFamily="34" charset="0"/>
              <a:buChar char="•"/>
            </a:pPr>
            <a:endParaRPr lang="en-US" sz="1100" b="1" dirty="0">
              <a:solidFill>
                <a:srgbClr val="000000"/>
              </a:solidFill>
            </a:endParaRPr>
          </a:p>
          <a:p>
            <a:pPr marL="171450" indent="-171450" algn="just">
              <a:spcBef>
                <a:spcPts val="0"/>
              </a:spcBef>
              <a:buFont typeface="Arial" panose="020B0604020202020204" pitchFamily="34" charset="0"/>
              <a:buChar char="•"/>
            </a:pPr>
            <a:r>
              <a:rPr lang="en-US" sz="1100" b="1" dirty="0">
                <a:solidFill>
                  <a:srgbClr val="000000"/>
                </a:solidFill>
                <a:highlight>
                  <a:srgbClr val="00FF00"/>
                </a:highlight>
              </a:rPr>
              <a:t>Key Observations: </a:t>
            </a:r>
            <a:r>
              <a:rPr lang="en-GB" sz="1100" dirty="0">
                <a:solidFill>
                  <a:srgbClr val="00249C"/>
                </a:solidFill>
                <a:highlight>
                  <a:srgbClr val="00FF00"/>
                </a:highlight>
              </a:rPr>
              <a:t>Both campuses demonstrate full compliance with applicable legal requirements</a:t>
            </a:r>
            <a:endParaRPr lang="en-US" sz="1100" dirty="0">
              <a:highlight>
                <a:srgbClr val="00FF00"/>
              </a:highlight>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 </a:t>
            </a:r>
            <a:r>
              <a:rPr lang="en-US" sz="1100" dirty="0">
                <a:solidFill>
                  <a:srgbClr val="00249C"/>
                </a:solidFill>
              </a:rPr>
              <a:t>No requirements</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462679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AA4CD-1E57-C9A4-DB22-BF3E48579D7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E015FF-C9AB-9D7B-9D92-48500A7C48B7}"/>
              </a:ext>
            </a:extLst>
          </p:cNvPr>
          <p:cNvSpPr txBox="1">
            <a:spLocks/>
          </p:cNvSpPr>
          <p:nvPr/>
        </p:nvSpPr>
        <p:spPr>
          <a:xfrm>
            <a:off x="721625" y="19279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1. Leadership, Accountability &amp; Engagement – </a:t>
            </a:r>
            <a:r>
              <a:rPr lang="en-US" sz="2400" b="0" i="1" dirty="0"/>
              <a:t>Leadership Engagement</a:t>
            </a:r>
          </a:p>
        </p:txBody>
      </p:sp>
      <p:graphicFrame>
        <p:nvGraphicFramePr>
          <p:cNvPr id="9" name="Chart 8">
            <a:extLst>
              <a:ext uri="{FF2B5EF4-FFF2-40B4-BE49-F238E27FC236}">
                <a16:creationId xmlns:a16="http://schemas.microsoft.com/office/drawing/2014/main" id="{B7768753-BF2A-DA9D-47FD-667D71695908}"/>
              </a:ext>
            </a:extLst>
          </p:cNvPr>
          <p:cNvGraphicFramePr/>
          <p:nvPr>
            <p:extLst>
              <p:ext uri="{D42A27DB-BD31-4B8C-83A1-F6EECF244321}">
                <p14:modId xmlns:p14="http://schemas.microsoft.com/office/powerpoint/2010/main" val="3316719842"/>
              </p:ext>
            </p:extLst>
          </p:nvPr>
        </p:nvGraphicFramePr>
        <p:xfrm>
          <a:off x="1858219" y="1281390"/>
          <a:ext cx="3883249" cy="23326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E9591459-A4B3-4D98-B316-4579A05903C4}"/>
              </a:ext>
            </a:extLst>
          </p:cNvPr>
          <p:cNvGraphicFramePr/>
          <p:nvPr>
            <p:extLst>
              <p:ext uri="{D42A27DB-BD31-4B8C-83A1-F6EECF244321}">
                <p14:modId xmlns:p14="http://schemas.microsoft.com/office/powerpoint/2010/main" val="3935919699"/>
              </p:ext>
            </p:extLst>
          </p:nvPr>
        </p:nvGraphicFramePr>
        <p:xfrm>
          <a:off x="6450534" y="1281390"/>
          <a:ext cx="4256971" cy="2332617"/>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FF4E1010-9761-EA08-516B-80F702912829}"/>
              </a:ext>
            </a:extLst>
          </p:cNvPr>
          <p:cNvSpPr txBox="1">
            <a:spLocks/>
          </p:cNvSpPr>
          <p:nvPr/>
        </p:nvSpPr>
        <p:spPr>
          <a:xfrm>
            <a:off x="1703554" y="3614007"/>
            <a:ext cx="4093222"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4 – (Meeting conducted ÷ meetings Planned) × 100</a:t>
            </a:r>
          </a:p>
          <a:p>
            <a:pPr marL="171450" indent="-171450">
              <a:buFont typeface="Arial" panose="020B0604020202020204" pitchFamily="34" charset="0"/>
              <a:buChar char="•"/>
            </a:pPr>
            <a:r>
              <a:rPr lang="en-US" sz="1100" b="1" dirty="0">
                <a:solidFill>
                  <a:schemeClr val="accent6"/>
                </a:solidFill>
              </a:rPr>
              <a:t>Key Observations: </a:t>
            </a:r>
            <a:r>
              <a:rPr lang="en-GB" sz="1100" dirty="0">
                <a:solidFill>
                  <a:srgbClr val="00249C"/>
                </a:solidFill>
              </a:rPr>
              <a:t>C</a:t>
            </a:r>
            <a:r>
              <a:rPr lang="en-GB" sz="1100" dirty="0"/>
              <a:t>ampuses continued conducting monthly EHS Committee meetings, achieving full compliance with updated requirements</a:t>
            </a:r>
            <a:br>
              <a:rPr lang="en-GB" sz="1100" dirty="0"/>
            </a:br>
            <a:endParaRPr lang="en-GB" sz="12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US" sz="1100" dirty="0"/>
              <a:t>No requirement</a:t>
            </a:r>
            <a:endParaRPr lang="en-US" sz="1200" dirty="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0" name="Text Placeholder 3">
            <a:extLst>
              <a:ext uri="{FF2B5EF4-FFF2-40B4-BE49-F238E27FC236}">
                <a16:creationId xmlns:a16="http://schemas.microsoft.com/office/drawing/2014/main" id="{31D2A2A3-B757-517D-0EEB-CFF8BCE083EC}"/>
              </a:ext>
            </a:extLst>
          </p:cNvPr>
          <p:cNvSpPr txBox="1">
            <a:spLocks/>
          </p:cNvSpPr>
          <p:nvPr/>
        </p:nvSpPr>
        <p:spPr>
          <a:xfrm>
            <a:off x="6680824" y="3614007"/>
            <a:ext cx="4191102"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5 – (Action closed  ÷ Total actions raised)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highlight>
                  <a:srgbClr val="00FF00"/>
                </a:highlight>
              </a:rPr>
              <a:t>Key Observations: </a:t>
            </a:r>
            <a:r>
              <a:rPr lang="en-GB" sz="1100" dirty="0">
                <a:solidFill>
                  <a:srgbClr val="00249C"/>
                </a:solidFill>
                <a:highlight>
                  <a:srgbClr val="00FF00"/>
                </a:highlight>
              </a:rPr>
              <a:t>Committee actions closed continued 100% achievement, with both campuses closing all committee actions within the required timeframe</a:t>
            </a:r>
            <a:br>
              <a:rPr lang="en-GB" sz="1200" dirty="0">
                <a:solidFill>
                  <a:srgbClr val="00249C"/>
                </a:solidFill>
                <a:highlight>
                  <a:srgbClr val="00FF00"/>
                </a:highlight>
              </a:rPr>
            </a:br>
            <a:endParaRPr lang="en-GB" sz="1200" dirty="0">
              <a:solidFill>
                <a:srgbClr val="00249C"/>
              </a:solidFill>
              <a:highlight>
                <a:srgbClr val="00FF00"/>
              </a:highlight>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US" sz="1100" dirty="0"/>
              <a:t>No requirement</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p:txBody>
      </p:sp>
    </p:spTree>
    <p:extLst>
      <p:ext uri="{BB962C8B-B14F-4D97-AF65-F5344CB8AC3E}">
        <p14:creationId xmlns:p14="http://schemas.microsoft.com/office/powerpoint/2010/main" val="3671072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797ABFA-DAB7-9613-394A-E9B024961208}"/>
              </a:ext>
            </a:extLst>
          </p:cNvPr>
          <p:cNvSpPr txBox="1">
            <a:spLocks/>
          </p:cNvSpPr>
          <p:nvPr/>
        </p:nvSpPr>
        <p:spPr>
          <a:xfrm>
            <a:off x="620025"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2. Risk Management &amp; Planning</a:t>
            </a:r>
            <a:endParaRPr lang="en-US" sz="2400" b="0" i="1" dirty="0"/>
          </a:p>
        </p:txBody>
      </p:sp>
      <p:graphicFrame>
        <p:nvGraphicFramePr>
          <p:cNvPr id="7" name="Chart 6">
            <a:extLst>
              <a:ext uri="{FF2B5EF4-FFF2-40B4-BE49-F238E27FC236}">
                <a16:creationId xmlns:a16="http://schemas.microsoft.com/office/drawing/2014/main" id="{9068B047-347B-7049-D055-BC230F63ADFD}"/>
              </a:ext>
            </a:extLst>
          </p:cNvPr>
          <p:cNvGraphicFramePr/>
          <p:nvPr>
            <p:extLst>
              <p:ext uri="{D42A27DB-BD31-4B8C-83A1-F6EECF244321}">
                <p14:modId xmlns:p14="http://schemas.microsoft.com/office/powerpoint/2010/main" val="3817135004"/>
              </p:ext>
            </p:extLst>
          </p:nvPr>
        </p:nvGraphicFramePr>
        <p:xfrm>
          <a:off x="833963" y="986177"/>
          <a:ext cx="3891221" cy="2444462"/>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A6D656E0-6FAE-3EBA-0D34-9C38B97DC5CA}"/>
              </a:ext>
            </a:extLst>
          </p:cNvPr>
          <p:cNvSpPr/>
          <p:nvPr/>
        </p:nvSpPr>
        <p:spPr>
          <a:xfrm>
            <a:off x="4725184" y="961776"/>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a:solidFill>
                  <a:schemeClr val="tx1"/>
                </a:solidFill>
                <a:latin typeface="Tahoma" panose="020B0604030504040204" pitchFamily="34" charset="0"/>
                <a:ea typeface="Tahoma" panose="020B0604030504040204" pitchFamily="34" charset="0"/>
                <a:cs typeface="Tahoma" panose="020B0604030504040204" pitchFamily="34" charset="0"/>
              </a:rPr>
              <a:t>KPI 7 - </a:t>
            </a:r>
            <a:r>
              <a:rPr lang="en-US" sz="1100" b="1">
                <a:solidFill>
                  <a:schemeClr val="tx1"/>
                </a:solidFill>
                <a:latin typeface="Tahoma" panose="020B0604030504040204" pitchFamily="34" charset="0"/>
              </a:rPr>
              <a:t>Risk Assessments Closed (%)</a:t>
            </a:r>
            <a:endParaRPr lang="en-US" sz="1100" b="1">
              <a:solidFill>
                <a:schemeClr val="tx1"/>
              </a:solidFill>
              <a:latin typeface="Tahoma" panose="020B0604030504040204" pitchFamily="34" charset="0"/>
              <a:ea typeface="Tahoma" panose="020B0604030504040204" pitchFamily="34" charset="0"/>
              <a:cs typeface="Tahoma" panose="020B0604030504040204" pitchFamily="34" charset="0"/>
            </a:endParaRPr>
          </a:p>
          <a:p>
            <a:endParaRPr lang="en-US" sz="1100">
              <a:solidFill>
                <a:srgbClr val="002060"/>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8" name="Rectangle 7">
            <a:extLst>
              <a:ext uri="{FF2B5EF4-FFF2-40B4-BE49-F238E27FC236}">
                <a16:creationId xmlns:a16="http://schemas.microsoft.com/office/drawing/2014/main" id="{C67F7750-D576-5AF9-F27E-0912A2F437EC}"/>
              </a:ext>
            </a:extLst>
          </p:cNvPr>
          <p:cNvSpPr/>
          <p:nvPr/>
        </p:nvSpPr>
        <p:spPr>
          <a:xfrm>
            <a:off x="8347759" y="961776"/>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a:solidFill>
                  <a:schemeClr val="tx1"/>
                </a:solidFill>
                <a:latin typeface="Tahoma" panose="020B0604030504040204" pitchFamily="34" charset="0"/>
                <a:ea typeface="Tahoma" panose="020B0604030504040204" pitchFamily="34" charset="0"/>
                <a:cs typeface="Tahoma" panose="020B0604030504040204" pitchFamily="34" charset="0"/>
              </a:rPr>
              <a:t>KPI 8 - Risk </a:t>
            </a:r>
            <a:r>
              <a:rPr lang="en-US" sz="1100" b="1">
                <a:solidFill>
                  <a:schemeClr val="tx1"/>
                </a:solidFill>
                <a:latin typeface="Tahoma" panose="020B0604030504040204" pitchFamily="34" charset="0"/>
                <a:ea typeface="Tahoma" panose="020B0604030504040204" pitchFamily="34" charset="0"/>
                <a:cs typeface="Tahoma" panose="020B0604030504040204" pitchFamily="34" charset="0"/>
              </a:rPr>
              <a:t>Assessments</a:t>
            </a:r>
            <a:r>
              <a:rPr lang="en-US" sz="1200" b="1">
                <a:solidFill>
                  <a:schemeClr val="tx1"/>
                </a:solidFill>
                <a:latin typeface="Tahoma" panose="020B0604030504040204" pitchFamily="34" charset="0"/>
                <a:ea typeface="Tahoma" panose="020B0604030504040204" pitchFamily="34" charset="0"/>
                <a:cs typeface="Tahoma" panose="020B0604030504040204" pitchFamily="34" charset="0"/>
              </a:rPr>
              <a:t> and Validation (%)</a:t>
            </a:r>
            <a:endParaRPr lang="en-US" sz="1400">
              <a:solidFill>
                <a:schemeClr val="tx1"/>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12" name="Text Placeholder 3">
            <a:extLst>
              <a:ext uri="{FF2B5EF4-FFF2-40B4-BE49-F238E27FC236}">
                <a16:creationId xmlns:a16="http://schemas.microsoft.com/office/drawing/2014/main" id="{03123A81-E558-DDEE-4139-EFFE1E8A124E}"/>
              </a:ext>
            </a:extLst>
          </p:cNvPr>
          <p:cNvSpPr txBox="1">
            <a:spLocks/>
          </p:cNvSpPr>
          <p:nvPr/>
        </p:nvSpPr>
        <p:spPr>
          <a:xfrm>
            <a:off x="709552" y="335615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6 – (Implemented Controls ÷ Total Controls Identified) × 100</a:t>
            </a: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 </a:t>
            </a:r>
          </a:p>
          <a:p>
            <a:pPr marL="171450" indent="-171450" algn="just">
              <a:buFont typeface="Arial" panose="020B0604020202020204" pitchFamily="34" charset="0"/>
              <a:buChar char="•"/>
            </a:pPr>
            <a:r>
              <a:rPr lang="en-US" sz="1200" b="1" dirty="0">
                <a:solidFill>
                  <a:schemeClr val="accent6"/>
                </a:solidFill>
              </a:rPr>
              <a:t>Key Observations</a:t>
            </a:r>
            <a:r>
              <a:rPr lang="en-US" sz="1100" b="1" dirty="0">
                <a:solidFill>
                  <a:schemeClr val="accent6"/>
                </a:solidFill>
              </a:rPr>
              <a:t>: </a:t>
            </a:r>
            <a:r>
              <a:rPr lang="en-US" sz="1100" dirty="0"/>
              <a:t>Control measures within Risk Assessments sampled and cross campus validated (30 control measures) </a:t>
            </a:r>
          </a:p>
          <a:p>
            <a:pPr marL="171450" indent="-171450" algn="just">
              <a:buFont typeface="Arial" panose="020B0604020202020204" pitchFamily="34" charset="0"/>
              <a:buChar char="•"/>
            </a:pPr>
            <a:endParaRPr lang="en-US" sz="1100" dirty="0"/>
          </a:p>
          <a:p>
            <a:pPr marL="171450" indent="-171450" algn="just">
              <a:buFont typeface="Arial" panose="020B0604020202020204" pitchFamily="34" charset="0"/>
              <a:buChar char="•"/>
            </a:pPr>
            <a:r>
              <a:rPr lang="en-US" sz="1200" b="1" dirty="0">
                <a:solidFill>
                  <a:schemeClr val="accent6"/>
                </a:solidFill>
              </a:rPr>
              <a:t>Rectifications: </a:t>
            </a:r>
            <a:r>
              <a:rPr lang="en-US" sz="1100" dirty="0"/>
              <a:t>For Q3 onwards, the requirement has strengthened. The requirement now mandates centralized assignment of x3 Risk Assessments and evidence of all control measures implemented within the control measure must be submitted</a:t>
            </a:r>
            <a:endParaRPr lang="en-US" sz="1200" dirty="0"/>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4" name="Text Placeholder 3">
            <a:extLst>
              <a:ext uri="{FF2B5EF4-FFF2-40B4-BE49-F238E27FC236}">
                <a16:creationId xmlns:a16="http://schemas.microsoft.com/office/drawing/2014/main" id="{6BF2473F-AA7C-842B-2431-4B1CA2339D7C}"/>
              </a:ext>
            </a:extLst>
          </p:cNvPr>
          <p:cNvSpPr txBox="1">
            <a:spLocks/>
          </p:cNvSpPr>
          <p:nvPr/>
        </p:nvSpPr>
        <p:spPr>
          <a:xfrm>
            <a:off x="4717268" y="3347720"/>
            <a:ext cx="3891221" cy="2906279"/>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7 – (Risk Assessment closed ÷ Total Risk Assessments registered)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US" sz="1100" dirty="0">
                <a:solidFill>
                  <a:schemeClr val="tx2"/>
                </a:solidFill>
              </a:rPr>
              <a:t>All Risk Assessments undertaken must be reviewed against the Risk Register, this was not conducted by any campus in Q2</a:t>
            </a:r>
            <a:r>
              <a:rPr lang="en-US" sz="1100" dirty="0"/>
              <a:t> </a:t>
            </a:r>
            <a:br>
              <a:rPr lang="en-US" sz="1100" dirty="0"/>
            </a:br>
            <a:endParaRPr lang="en-US" sz="1100" dirty="0"/>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a:t>
            </a:r>
            <a:r>
              <a:rPr lang="en-US" sz="1100" b="1" dirty="0"/>
              <a:t> </a:t>
            </a:r>
            <a:r>
              <a:rPr lang="en-US" sz="1100" dirty="0"/>
              <a:t>Once KPI 6 sampling is completed, Risk Register to be reviewed and updated, if necessary, against the sampling Any new risk assessments undertaken in month</a:t>
            </a:r>
            <a:r>
              <a:rPr lang="en-US" sz="1100" b="1" dirty="0"/>
              <a:t> </a:t>
            </a:r>
            <a:r>
              <a:rPr lang="en-US" sz="1100" dirty="0"/>
              <a:t>(KPI 8) should also be in Risk Register</a:t>
            </a:r>
            <a:endParaRPr lang="en-US" sz="1100" b="1" dirty="0"/>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6" name="Text Placeholder 3">
            <a:extLst>
              <a:ext uri="{FF2B5EF4-FFF2-40B4-BE49-F238E27FC236}">
                <a16:creationId xmlns:a16="http://schemas.microsoft.com/office/drawing/2014/main" id="{FD64F7DA-7252-902D-3158-61825402336E}"/>
              </a:ext>
            </a:extLst>
          </p:cNvPr>
          <p:cNvSpPr txBox="1">
            <a:spLocks/>
          </p:cNvSpPr>
          <p:nvPr/>
        </p:nvSpPr>
        <p:spPr>
          <a:xfrm>
            <a:off x="8608489" y="3356151"/>
            <a:ext cx="3322495" cy="2906279"/>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a:t>KPI 8 – (Monthly Risk Assessment validated and signed off  ÷ Total assessments register)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a:solidFill>
                  <a:schemeClr val="accent6"/>
                </a:solidFill>
              </a:rPr>
              <a:t>Key Observations</a:t>
            </a:r>
            <a:r>
              <a:rPr lang="en-US" sz="1100" b="1">
                <a:solidFill>
                  <a:schemeClr val="tx2"/>
                </a:solidFill>
              </a:rPr>
              <a:t>: </a:t>
            </a:r>
            <a:r>
              <a:rPr lang="en-US" sz="1100">
                <a:solidFill>
                  <a:schemeClr val="tx2"/>
                </a:solidFill>
              </a:rPr>
              <a:t>Risk Assessment (risk register) validation is conducted annually and have not been due during Q1. </a:t>
            </a:r>
            <a:r>
              <a:rPr lang="en-US" sz="1100"/>
              <a:t>however, the KPI was later strengthened</a:t>
            </a:r>
            <a:r>
              <a:rPr lang="en-US" sz="1100">
                <a:solidFill>
                  <a:schemeClr val="tx2"/>
                </a:solidFill>
              </a:rPr>
              <a:t> to identification and validation of risk assessment for new processes or activities.</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a:solidFill>
                  <a:schemeClr val="accent6"/>
                </a:solidFill>
              </a:rPr>
              <a:t>Rectification: </a:t>
            </a:r>
            <a:r>
              <a:rPr lang="en-US" sz="1100">
                <a:solidFill>
                  <a:srgbClr val="00249C"/>
                </a:solidFill>
              </a:rPr>
              <a:t>Any requirement for new risk assessments in month to be undertaken (MOC, new machinery, annual update etc.)</a:t>
            </a:r>
            <a:endParaRPr lang="en-US" sz="1100" b="1">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a:p>
        </p:txBody>
      </p:sp>
    </p:spTree>
    <p:extLst>
      <p:ext uri="{BB962C8B-B14F-4D97-AF65-F5344CB8AC3E}">
        <p14:creationId xmlns:p14="http://schemas.microsoft.com/office/powerpoint/2010/main" val="3101187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0181E45-EE28-8639-6952-C4C9C7E4C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88CA5-25ED-25B8-0604-F703B959ED40}"/>
              </a:ext>
            </a:extLst>
          </p:cNvPr>
          <p:cNvSpPr txBox="1">
            <a:spLocks/>
          </p:cNvSpPr>
          <p:nvPr/>
        </p:nvSpPr>
        <p:spPr>
          <a:xfrm>
            <a:off x="659214" y="111461"/>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3. Training &amp; Awareness</a:t>
            </a:r>
            <a:endParaRPr lang="en-US" sz="2400" b="0" i="1" dirty="0"/>
          </a:p>
        </p:txBody>
      </p:sp>
      <p:graphicFrame>
        <p:nvGraphicFramePr>
          <p:cNvPr id="4" name="Chart 3">
            <a:extLst>
              <a:ext uri="{FF2B5EF4-FFF2-40B4-BE49-F238E27FC236}">
                <a16:creationId xmlns:a16="http://schemas.microsoft.com/office/drawing/2014/main" id="{E5A3284C-36A1-FA6C-74C4-F4993A4A20F5}"/>
              </a:ext>
            </a:extLst>
          </p:cNvPr>
          <p:cNvGraphicFramePr/>
          <p:nvPr>
            <p:extLst>
              <p:ext uri="{D42A27DB-BD31-4B8C-83A1-F6EECF244321}">
                <p14:modId xmlns:p14="http://schemas.microsoft.com/office/powerpoint/2010/main" val="4257717554"/>
              </p:ext>
            </p:extLst>
          </p:nvPr>
        </p:nvGraphicFramePr>
        <p:xfrm>
          <a:off x="1843143" y="1097638"/>
          <a:ext cx="3891221" cy="2610762"/>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4A09A290-4A08-3B42-6213-3EB298430842}"/>
              </a:ext>
            </a:extLst>
          </p:cNvPr>
          <p:cNvSpPr/>
          <p:nvPr/>
        </p:nvSpPr>
        <p:spPr>
          <a:xfrm>
            <a:off x="6714770" y="1097638"/>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10 - H&amp;S Awareness Campaigns Conducted (%)</a:t>
            </a:r>
          </a:p>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9" name="Text Placeholder 3">
            <a:extLst>
              <a:ext uri="{FF2B5EF4-FFF2-40B4-BE49-F238E27FC236}">
                <a16:creationId xmlns:a16="http://schemas.microsoft.com/office/drawing/2014/main" id="{A4FB1130-BCFB-3C1C-9337-1C32B50E7053}"/>
              </a:ext>
            </a:extLst>
          </p:cNvPr>
          <p:cNvSpPr txBox="1">
            <a:spLocks/>
          </p:cNvSpPr>
          <p:nvPr/>
        </p:nvSpPr>
        <p:spPr>
          <a:xfrm>
            <a:off x="1803758" y="3617878"/>
            <a:ext cx="3891221" cy="2410764"/>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9 – (Actual Training Hours ÷ Planned Training Hours) × 100</a:t>
            </a:r>
          </a:p>
          <a:p>
            <a:pPr marL="171450" indent="-171450" algn="just">
              <a:buFont typeface="Arial" panose="020B0604020202020204" pitchFamily="34" charset="0"/>
              <a:buChar char="•"/>
            </a:pPr>
            <a:r>
              <a:rPr lang="en-US" sz="1100" b="1" dirty="0">
                <a:solidFill>
                  <a:schemeClr val="accent6"/>
                </a:solidFill>
                <a:highlight>
                  <a:srgbClr val="00FF00"/>
                </a:highlight>
              </a:rPr>
              <a:t>Key Observations: </a:t>
            </a:r>
            <a:r>
              <a:rPr lang="en-GB" sz="1100" dirty="0">
                <a:solidFill>
                  <a:srgbClr val="00249C"/>
                </a:solidFill>
                <a:highlight>
                  <a:srgbClr val="00FF00"/>
                </a:highlight>
              </a:rPr>
              <a:t>Major improvement in delivery of planned EHS training compared to Q1 with both campuses achieving 100% training compliance. Dubai AL Nahda did not conduct planned training Management of Change scheduled for April-26.</a:t>
            </a:r>
            <a:br>
              <a:rPr lang="en-US" sz="1100" b="1" dirty="0">
                <a:solidFill>
                  <a:schemeClr val="accent6"/>
                </a:solidFill>
                <a:highlight>
                  <a:srgbClr val="00FF00"/>
                </a:highlight>
              </a:rPr>
            </a:br>
            <a:endParaRPr lang="en-US" sz="1100" b="1" dirty="0">
              <a:solidFill>
                <a:schemeClr val="accent6"/>
              </a:solidFill>
              <a:highlight>
                <a:srgbClr val="00FF00"/>
              </a:highlight>
            </a:endParaRPr>
          </a:p>
          <a:p>
            <a:pPr marL="171450" indent="-171450" algn="just">
              <a:buFont typeface="Arial" panose="020B0604020202020204" pitchFamily="34" charset="0"/>
              <a:buChar char="•"/>
            </a:pPr>
            <a:r>
              <a:rPr lang="en-US" sz="1100" b="1" dirty="0">
                <a:solidFill>
                  <a:schemeClr val="accent6"/>
                </a:solidFill>
              </a:rPr>
              <a:t>Rectification: </a:t>
            </a:r>
            <a:r>
              <a:rPr lang="en-US" sz="1100" dirty="0">
                <a:solidFill>
                  <a:srgbClr val="00249C"/>
                </a:solidFill>
              </a:rPr>
              <a:t>No requirements</a:t>
            </a:r>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4" name="Text Placeholder 3">
            <a:extLst>
              <a:ext uri="{FF2B5EF4-FFF2-40B4-BE49-F238E27FC236}">
                <a16:creationId xmlns:a16="http://schemas.microsoft.com/office/drawing/2014/main" id="{66F1FCBE-D54F-DC9D-E93C-4E2FC8632BAA}"/>
              </a:ext>
            </a:extLst>
          </p:cNvPr>
          <p:cNvSpPr txBox="1">
            <a:spLocks/>
          </p:cNvSpPr>
          <p:nvPr/>
        </p:nvSpPr>
        <p:spPr>
          <a:xfrm>
            <a:off x="6948450" y="3617878"/>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a:t>KPI 10 – (Number of Campaigns conducted ÷ Total Planned Campaigns) × 100</a:t>
            </a:r>
          </a:p>
          <a:p>
            <a:pPr marL="171450" indent="-171450">
              <a:buFont typeface="Arial" panose="020B0604020202020204" pitchFamily="34" charset="0"/>
              <a:buChar char="•"/>
            </a:pPr>
            <a:r>
              <a:rPr lang="en-US" sz="1100" b="1">
                <a:solidFill>
                  <a:srgbClr val="000000"/>
                </a:solidFill>
              </a:rPr>
              <a:t>Key Observations: </a:t>
            </a:r>
            <a:r>
              <a:rPr lang="en-US" sz="1100">
                <a:solidFill>
                  <a:schemeClr val="tx2"/>
                </a:solidFill>
              </a:rPr>
              <a:t>N</a:t>
            </a:r>
            <a:r>
              <a:rPr lang="en-GB" sz="1100"/>
              <a:t>o awareness campaigns were planned for Q2</a:t>
            </a:r>
            <a:endParaRPr lang="en-US" sz="1100">
              <a:solidFill>
                <a:schemeClr val="tx2"/>
              </a:solidFill>
            </a:endParaRPr>
          </a:p>
          <a:p>
            <a:pPr marL="171450" indent="-171450">
              <a:buFont typeface="Arial" panose="020B0604020202020204" pitchFamily="34" charset="0"/>
              <a:buChar char="•"/>
            </a:pPr>
            <a:endParaRPr lang="en-US" sz="1100" b="1"/>
          </a:p>
          <a:p>
            <a:pPr marL="171450" indent="-171450">
              <a:buFont typeface="Arial" panose="020B0604020202020204" pitchFamily="34" charset="0"/>
              <a:buChar char="•"/>
            </a:pPr>
            <a:r>
              <a:rPr lang="en-US" sz="1100" b="1">
                <a:solidFill>
                  <a:srgbClr val="000000"/>
                </a:solidFill>
              </a:rPr>
              <a:t>Rectification: </a:t>
            </a:r>
            <a:r>
              <a:rPr lang="en-US" sz="1100"/>
              <a:t>No requirement</a:t>
            </a:r>
            <a:endParaRPr lang="en-US" sz="1100" b="1"/>
          </a:p>
          <a:p>
            <a:endParaRPr lang="en-US" sz="110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a:p>
        </p:txBody>
      </p:sp>
    </p:spTree>
    <p:extLst>
      <p:ext uri="{BB962C8B-B14F-4D97-AF65-F5344CB8AC3E}">
        <p14:creationId xmlns:p14="http://schemas.microsoft.com/office/powerpoint/2010/main" val="2098505776"/>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2C9E53-0198-9672-5698-D316A6CC6F60}"/>
              </a:ext>
            </a:extLst>
          </p:cNvPr>
          <p:cNvSpPr txBox="1">
            <a:spLocks/>
          </p:cNvSpPr>
          <p:nvPr/>
        </p:nvSpPr>
        <p:spPr>
          <a:xfrm>
            <a:off x="647879" y="7132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4. EHS KPI Dashboard</a:t>
            </a:r>
          </a:p>
          <a:p>
            <a:r>
              <a:rPr lang="en-US" sz="2400" b="0" dirty="0"/>
              <a:t>4. Operational Control &amp; Emergency Preparedness</a:t>
            </a:r>
          </a:p>
        </p:txBody>
      </p:sp>
      <p:graphicFrame>
        <p:nvGraphicFramePr>
          <p:cNvPr id="3" name="Chart 2">
            <a:extLst>
              <a:ext uri="{FF2B5EF4-FFF2-40B4-BE49-F238E27FC236}">
                <a16:creationId xmlns:a16="http://schemas.microsoft.com/office/drawing/2014/main" id="{9D2C5744-11B0-4155-A41D-5385BBA67BCD}"/>
              </a:ext>
            </a:extLst>
          </p:cNvPr>
          <p:cNvGraphicFramePr/>
          <p:nvPr>
            <p:extLst>
              <p:ext uri="{D42A27DB-BD31-4B8C-83A1-F6EECF244321}">
                <p14:modId xmlns:p14="http://schemas.microsoft.com/office/powerpoint/2010/main" val="2094601966"/>
              </p:ext>
            </p:extLst>
          </p:nvPr>
        </p:nvGraphicFramePr>
        <p:xfrm>
          <a:off x="1677909" y="1111288"/>
          <a:ext cx="3891221" cy="273935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6E50D5BD-D519-47EC-E1DF-401173E6034A}"/>
              </a:ext>
            </a:extLst>
          </p:cNvPr>
          <p:cNvGraphicFramePr/>
          <p:nvPr>
            <p:extLst>
              <p:ext uri="{D42A27DB-BD31-4B8C-83A1-F6EECF244321}">
                <p14:modId xmlns:p14="http://schemas.microsoft.com/office/powerpoint/2010/main" val="1837828969"/>
              </p:ext>
            </p:extLst>
          </p:nvPr>
        </p:nvGraphicFramePr>
        <p:xfrm>
          <a:off x="6515916" y="1111287"/>
          <a:ext cx="3891221" cy="281047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22773D46-6800-5A42-3B65-550CA644D95F}"/>
              </a:ext>
            </a:extLst>
          </p:cNvPr>
          <p:cNvSpPr txBox="1">
            <a:spLocks/>
          </p:cNvSpPr>
          <p:nvPr/>
        </p:nvSpPr>
        <p:spPr>
          <a:xfrm>
            <a:off x="6613626" y="3844322"/>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a:t>KPI 12 – (Number of activities in compliance ÷ Total Activities Checked) × 100</a:t>
            </a:r>
          </a:p>
          <a:p>
            <a:pPr marL="171450" indent="-171450" algn="just">
              <a:spcBef>
                <a:spcPts val="0"/>
              </a:spcBef>
              <a:buFont typeface="Arial" panose="020B0604020202020204" pitchFamily="34" charset="0"/>
              <a:buChar char="•"/>
            </a:pPr>
            <a:endParaRPr lang="en-US" sz="1100" b="1">
              <a:solidFill>
                <a:schemeClr val="accent6"/>
              </a:solidFill>
            </a:endParaRPr>
          </a:p>
          <a:p>
            <a:pPr marL="171450" indent="-171450" algn="just">
              <a:spcBef>
                <a:spcPts val="0"/>
              </a:spcBef>
              <a:buFont typeface="Arial" panose="020B0604020202020204" pitchFamily="34" charset="0"/>
              <a:buChar char="•"/>
            </a:pPr>
            <a:r>
              <a:rPr lang="en-US" sz="1100" b="1">
                <a:solidFill>
                  <a:schemeClr val="accent6"/>
                </a:solidFill>
              </a:rPr>
              <a:t>Key Observations: </a:t>
            </a:r>
            <a:r>
              <a:rPr lang="en-GB" sz="1100"/>
              <a:t>Emergency drill conducted achieved full compliance, with both campuses completing all planned drills for Q2, demonstrating strong emergency preparedness and adherence to drill schedules</a:t>
            </a:r>
            <a:endParaRPr lang="en-US" sz="1100" b="1">
              <a:solidFill>
                <a:srgbClr val="000000"/>
              </a:solidFill>
            </a:endParaRPr>
          </a:p>
          <a:p>
            <a:pPr marL="171450" indent="-171450" algn="just">
              <a:lnSpc>
                <a:spcPct val="100000"/>
              </a:lnSpc>
              <a:spcBef>
                <a:spcPts val="0"/>
              </a:spcBef>
              <a:buFont typeface="Arial" panose="020B0604020202020204" pitchFamily="34" charset="0"/>
              <a:buChar char="•"/>
            </a:pPr>
            <a:endParaRPr lang="en-US" sz="1100" b="1">
              <a:solidFill>
                <a:srgbClr val="000000"/>
              </a:solidFill>
            </a:endParaRPr>
          </a:p>
          <a:p>
            <a:pPr marL="171450" indent="-171450" algn="just">
              <a:lnSpc>
                <a:spcPct val="100000"/>
              </a:lnSpc>
              <a:spcBef>
                <a:spcPts val="0"/>
              </a:spcBef>
              <a:buFont typeface="Arial" panose="020B0604020202020204" pitchFamily="34" charset="0"/>
              <a:buChar char="•"/>
            </a:pPr>
            <a:endParaRPr lang="en-US" sz="1100" b="1">
              <a:solidFill>
                <a:srgbClr val="000000"/>
              </a:solidFill>
            </a:endParaRPr>
          </a:p>
          <a:p>
            <a:pPr marL="171450" indent="-171450" algn="just">
              <a:lnSpc>
                <a:spcPct val="100000"/>
              </a:lnSpc>
              <a:spcBef>
                <a:spcPts val="0"/>
              </a:spcBef>
              <a:buFont typeface="Arial" panose="020B0604020202020204" pitchFamily="34" charset="0"/>
              <a:buChar char="•"/>
            </a:pPr>
            <a:r>
              <a:rPr lang="en-US" sz="1100" b="1">
                <a:solidFill>
                  <a:srgbClr val="000000"/>
                </a:solidFill>
              </a:rPr>
              <a:t>Rectification: </a:t>
            </a:r>
            <a:r>
              <a:rPr lang="en-US" sz="1100">
                <a:solidFill>
                  <a:srgbClr val="00249C"/>
                </a:solidFill>
              </a:rPr>
              <a:t>No requirements</a:t>
            </a:r>
          </a:p>
          <a:p>
            <a:pPr marL="171450" indent="-171450">
              <a:buFont typeface="Arial" panose="020B0604020202020204" pitchFamily="34" charset="0"/>
              <a:buChar char="•"/>
            </a:pPr>
            <a:endParaRPr lang="en-US" sz="110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a:p>
        </p:txBody>
      </p:sp>
      <p:sp>
        <p:nvSpPr>
          <p:cNvPr id="7" name="Text Placeholder 3">
            <a:extLst>
              <a:ext uri="{FF2B5EF4-FFF2-40B4-BE49-F238E27FC236}">
                <a16:creationId xmlns:a16="http://schemas.microsoft.com/office/drawing/2014/main" id="{573AF36C-CBB9-218A-F2DC-7EFBDB0A2634}"/>
              </a:ext>
            </a:extLst>
          </p:cNvPr>
          <p:cNvSpPr txBox="1">
            <a:spLocks/>
          </p:cNvSpPr>
          <p:nvPr/>
        </p:nvSpPr>
        <p:spPr>
          <a:xfrm>
            <a:off x="1688604" y="3844322"/>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11 – (Number of activities in compliance ÷ Total Activities Checked)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r>
              <a:rPr lang="en-US" sz="1100" b="1" dirty="0">
                <a:solidFill>
                  <a:schemeClr val="tx2"/>
                </a:solidFill>
              </a:rPr>
              <a:t>: </a:t>
            </a:r>
            <a:r>
              <a:rPr lang="en-GB" sz="1100" dirty="0">
                <a:solidFill>
                  <a:srgbClr val="00249C"/>
                </a:solidFill>
              </a:rPr>
              <a:t>Strong performance of both campuses reflecting consistent procedural compliance and effective implementation of operational controls</a:t>
            </a:r>
            <a:endParaRPr lang="en-US" sz="1100" dirty="0"/>
          </a:p>
          <a:p>
            <a:pPr marL="171450" indent="-171450" algn="just">
              <a:lnSpc>
                <a:spcPct val="100000"/>
              </a:lnSpc>
              <a:spcBef>
                <a:spcPts val="0"/>
              </a:spcBef>
              <a:buFont typeface="Arial" panose="020B0604020202020204" pitchFamily="34" charset="0"/>
              <a:buChar cha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pPr>
            <a:r>
              <a:rPr lang="en-US" sz="1100" b="1" dirty="0">
                <a:solidFill>
                  <a:schemeClr val="accent6"/>
                </a:solidFill>
              </a:rPr>
              <a:t>Rectification: </a:t>
            </a:r>
            <a:r>
              <a:rPr lang="en-US" sz="1100" dirty="0">
                <a:solidFill>
                  <a:srgbClr val="00249C"/>
                </a:solidFill>
              </a:rPr>
              <a:t>Strengthening t</a:t>
            </a:r>
            <a:r>
              <a:rPr lang="en-US" sz="1100" dirty="0"/>
              <a:t>he sampling and review requirement by centralized assignment of 2 procedures and evidence of all requirements implemented to be submitted.</a:t>
            </a:r>
          </a:p>
        </p:txBody>
      </p:sp>
    </p:spTree>
    <p:extLst>
      <p:ext uri="{BB962C8B-B14F-4D97-AF65-F5344CB8AC3E}">
        <p14:creationId xmlns:p14="http://schemas.microsoft.com/office/powerpoint/2010/main" val="3244600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84A6D8-A2DE-2807-E45F-2D1BDC29A312}"/>
              </a:ext>
            </a:extLst>
          </p:cNvPr>
          <p:cNvSpPr txBox="1">
            <a:spLocks/>
          </p:cNvSpPr>
          <p:nvPr/>
        </p:nvSpPr>
        <p:spPr>
          <a:xfrm>
            <a:off x="648881" y="76269"/>
            <a:ext cx="10150301"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4. Operational Control &amp; Emergency Preparedness – </a:t>
            </a:r>
            <a:r>
              <a:rPr lang="en-US" sz="2400" b="0" i="1" dirty="0"/>
              <a:t>Contractor Management</a:t>
            </a:r>
          </a:p>
        </p:txBody>
      </p:sp>
      <p:graphicFrame>
        <p:nvGraphicFramePr>
          <p:cNvPr id="3" name="Chart 2">
            <a:extLst>
              <a:ext uri="{FF2B5EF4-FFF2-40B4-BE49-F238E27FC236}">
                <a16:creationId xmlns:a16="http://schemas.microsoft.com/office/drawing/2014/main" id="{F23FE170-2F9A-9DA2-06BF-F395DF2446B3}"/>
              </a:ext>
            </a:extLst>
          </p:cNvPr>
          <p:cNvGraphicFramePr/>
          <p:nvPr>
            <p:extLst>
              <p:ext uri="{D42A27DB-BD31-4B8C-83A1-F6EECF244321}">
                <p14:modId xmlns:p14="http://schemas.microsoft.com/office/powerpoint/2010/main" val="3500553018"/>
              </p:ext>
            </p:extLst>
          </p:nvPr>
        </p:nvGraphicFramePr>
        <p:xfrm>
          <a:off x="1832810" y="1062446"/>
          <a:ext cx="3891221" cy="30320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940826D0-25B5-CD46-4D87-A1035D150A0A}"/>
              </a:ext>
            </a:extLst>
          </p:cNvPr>
          <p:cNvGraphicFramePr/>
          <p:nvPr>
            <p:extLst>
              <p:ext uri="{D42A27DB-BD31-4B8C-83A1-F6EECF244321}">
                <p14:modId xmlns:p14="http://schemas.microsoft.com/office/powerpoint/2010/main" val="1501703733"/>
              </p:ext>
            </p:extLst>
          </p:nvPr>
        </p:nvGraphicFramePr>
        <p:xfrm>
          <a:off x="6610713" y="1059885"/>
          <a:ext cx="3891221" cy="3090475"/>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7BA195C1-C94F-1EF2-9E6A-D4D56E4AFEBA}"/>
              </a:ext>
            </a:extLst>
          </p:cNvPr>
          <p:cNvSpPr txBox="1">
            <a:spLocks/>
          </p:cNvSpPr>
          <p:nvPr/>
        </p:nvSpPr>
        <p:spPr>
          <a:xfrm>
            <a:off x="2030042" y="3728737"/>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13 – (Number of PTWs Issued ÷ Total works registered) × 100</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0000"/>
                </a:solidFill>
              </a:rPr>
              <a:t>Key Observations: </a:t>
            </a:r>
            <a:r>
              <a:rPr lang="en-GB" sz="1100" dirty="0">
                <a:solidFill>
                  <a:srgbClr val="00249C"/>
                </a:solidFill>
              </a:rPr>
              <a:t>Both campuses issued PTWs for all registered work, achieving full compliance</a:t>
            </a:r>
            <a:endParaRPr lang="en-US" sz="1100" b="1" dirty="0">
              <a:solidFill>
                <a:schemeClr val="tx2"/>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0000"/>
                </a:solidFill>
              </a:rPr>
              <a:t>Rectification:</a:t>
            </a:r>
            <a:r>
              <a:rPr lang="en-US" sz="1200" b="1" dirty="0"/>
              <a:t> </a:t>
            </a:r>
            <a:r>
              <a:rPr lang="en-US" sz="1100" dirty="0"/>
              <a:t>No requirement</a:t>
            </a:r>
            <a:endParaRPr lang="en-US" sz="1200" dirty="0"/>
          </a:p>
          <a:p>
            <a:pPr marL="171450" indent="-171450">
              <a:buFont typeface="Arial" panose="020B0604020202020204" pitchFamily="34" charset="0"/>
              <a:buChar char="•"/>
            </a:pPr>
            <a:endParaRPr lang="en-US" sz="1100" dirty="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4E34D7AC-7B11-8AD1-5C16-EFF797526C59}"/>
              </a:ext>
            </a:extLst>
          </p:cNvPr>
          <p:cNvSpPr txBox="1">
            <a:spLocks/>
          </p:cNvSpPr>
          <p:nvPr/>
        </p:nvSpPr>
        <p:spPr>
          <a:xfrm>
            <a:off x="6907960" y="3735072"/>
            <a:ext cx="3455832"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14 – (Inducted Contractors ÷ Total Active Contractors) × 100</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0000"/>
                </a:solidFill>
              </a:rPr>
              <a:t>Key Observations: </a:t>
            </a:r>
            <a:r>
              <a:rPr lang="en-GB" sz="1100" dirty="0">
                <a:solidFill>
                  <a:srgbClr val="00249C"/>
                </a:solidFill>
              </a:rPr>
              <a:t>Contractor induction continued to demonstrate strong performance, with both campuses successfully renewing inductions for existing contractors and conducting inductions for new contractors</a:t>
            </a: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b="1"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0000"/>
                </a:solidFill>
              </a:rPr>
              <a:t>Rectification:</a:t>
            </a:r>
            <a:r>
              <a:rPr lang="en-US" sz="1200" b="1" dirty="0"/>
              <a:t> </a:t>
            </a:r>
            <a:r>
              <a:rPr lang="en-US" sz="1100" dirty="0"/>
              <a:t>No requirements</a:t>
            </a:r>
            <a:endParaRPr lang="en-US" sz="12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2885071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EF55A08-F697-3A45-E43B-FA6FC37B68CE}"/>
              </a:ext>
            </a:extLst>
          </p:cNvPr>
          <p:cNvSpPr txBox="1">
            <a:spLocks/>
          </p:cNvSpPr>
          <p:nvPr/>
        </p:nvSpPr>
        <p:spPr>
          <a:xfrm>
            <a:off x="659213"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5. Performance Evaluation &amp; Continual Improvement - </a:t>
            </a:r>
            <a:r>
              <a:rPr lang="en-US" sz="2400" b="0" i="1" dirty="0"/>
              <a:t>Inspection</a:t>
            </a:r>
          </a:p>
        </p:txBody>
      </p:sp>
      <p:graphicFrame>
        <p:nvGraphicFramePr>
          <p:cNvPr id="3" name="Chart 2">
            <a:extLst>
              <a:ext uri="{FF2B5EF4-FFF2-40B4-BE49-F238E27FC236}">
                <a16:creationId xmlns:a16="http://schemas.microsoft.com/office/drawing/2014/main" id="{73A4CE0F-E630-2A03-13A4-68EA0BCDEA03}"/>
              </a:ext>
            </a:extLst>
          </p:cNvPr>
          <p:cNvGraphicFramePr/>
          <p:nvPr>
            <p:extLst>
              <p:ext uri="{D42A27DB-BD31-4B8C-83A1-F6EECF244321}">
                <p14:modId xmlns:p14="http://schemas.microsoft.com/office/powerpoint/2010/main" val="3736896584"/>
              </p:ext>
            </p:extLst>
          </p:nvPr>
        </p:nvGraphicFramePr>
        <p:xfrm>
          <a:off x="1699072" y="1232647"/>
          <a:ext cx="3891221" cy="21963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D5EE6D26-5BDD-8B90-5A83-65934333BC35}"/>
              </a:ext>
            </a:extLst>
          </p:cNvPr>
          <p:cNvGraphicFramePr/>
          <p:nvPr>
            <p:extLst>
              <p:ext uri="{D42A27DB-BD31-4B8C-83A1-F6EECF244321}">
                <p14:modId xmlns:p14="http://schemas.microsoft.com/office/powerpoint/2010/main" val="1994259086"/>
              </p:ext>
            </p:extLst>
          </p:nvPr>
        </p:nvGraphicFramePr>
        <p:xfrm>
          <a:off x="6283160" y="1232647"/>
          <a:ext cx="3891221" cy="2196353"/>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Placeholder 3">
            <a:extLst>
              <a:ext uri="{FF2B5EF4-FFF2-40B4-BE49-F238E27FC236}">
                <a16:creationId xmlns:a16="http://schemas.microsoft.com/office/drawing/2014/main" id="{1440F8B7-EAA2-967F-C5A1-A9BFA12F9CFF}"/>
              </a:ext>
            </a:extLst>
          </p:cNvPr>
          <p:cNvSpPr txBox="1">
            <a:spLocks/>
          </p:cNvSpPr>
          <p:nvPr/>
        </p:nvSpPr>
        <p:spPr>
          <a:xfrm>
            <a:off x="1792342" y="3429000"/>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15 – (Inspections Completed ÷ Inspections Planned) × 100</a:t>
            </a:r>
          </a:p>
          <a:p>
            <a:pPr marL="171450" indent="-171450" algn="just">
              <a:buFont typeface="Arial" panose="020B0604020202020204" pitchFamily="34" charset="0"/>
              <a:buChar char="•"/>
            </a:pPr>
            <a:r>
              <a:rPr lang="en-US" sz="1100" b="1" dirty="0">
                <a:solidFill>
                  <a:schemeClr val="accent6"/>
                </a:solidFill>
              </a:rPr>
              <a:t>Key Observations: </a:t>
            </a:r>
            <a:r>
              <a:rPr lang="en-GB" sz="1100" dirty="0"/>
              <a:t>Inspections completed for both campuses averaged at 100%, above the institute average </a:t>
            </a:r>
          </a:p>
          <a:p>
            <a:pPr marL="171450" indent="-171450" algn="just">
              <a:buFont typeface="Arial" panose="020B0604020202020204" pitchFamily="34" charset="0"/>
              <a:buChar char="•"/>
            </a:pPr>
            <a:r>
              <a:rPr lang="en-US" sz="1100" b="1" dirty="0">
                <a:solidFill>
                  <a:schemeClr val="accent6"/>
                </a:solidFill>
              </a:rPr>
              <a:t>Rectification: </a:t>
            </a:r>
            <a:r>
              <a:rPr lang="en-US" sz="1050" dirty="0">
                <a:solidFill>
                  <a:srgbClr val="00249C"/>
                </a:solidFill>
              </a:rPr>
              <a:t>No requirements</a:t>
            </a:r>
            <a:endParaRPr lang="en-US" sz="1100" dirty="0">
              <a:solidFill>
                <a:srgbClr val="00249C"/>
              </a:solidFill>
            </a:endParaRPr>
          </a:p>
          <a:p>
            <a:pPr marL="285750" indent="-285750">
              <a:buFont typeface="Arial" panose="020B0604020202020204" pitchFamily="34" charset="0"/>
              <a:buChar char="•"/>
            </a:pPr>
            <a:endParaRPr lang="en-US" sz="1100" dirty="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1" name="Text Placeholder 3">
            <a:extLst>
              <a:ext uri="{FF2B5EF4-FFF2-40B4-BE49-F238E27FC236}">
                <a16:creationId xmlns:a16="http://schemas.microsoft.com/office/drawing/2014/main" id="{801E2EBE-426A-43AC-9728-CAF8E8CF34CF}"/>
              </a:ext>
            </a:extLst>
          </p:cNvPr>
          <p:cNvSpPr txBox="1">
            <a:spLocks/>
          </p:cNvSpPr>
          <p:nvPr/>
        </p:nvSpPr>
        <p:spPr>
          <a:xfrm>
            <a:off x="6376430" y="3409918"/>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16 – (Findings Closed ÷ Total Findings)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r>
              <a:rPr lang="en-GB" sz="1100" dirty="0">
                <a:solidFill>
                  <a:srgbClr val="00249C"/>
                </a:solidFill>
              </a:rPr>
              <a:t>Fairly significant variation between both campuses. Closure of findings dependent on action ownership and support other departments </a:t>
            </a:r>
            <a:endParaRPr lang="en-US" sz="1100" b="1" dirty="0">
              <a:solidFill>
                <a:schemeClr val="accent6"/>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r>
              <a:rPr lang="en-GB" sz="1100" dirty="0">
                <a:solidFill>
                  <a:srgbClr val="00249C"/>
                </a:solidFill>
              </a:rPr>
              <a:t>Continued coordination with other departments</a:t>
            </a:r>
            <a:endParaRPr lang="en-US" sz="1100" b="1" dirty="0">
              <a:solidFill>
                <a:schemeClr val="accent6"/>
              </a:solidFill>
            </a:endParaRPr>
          </a:p>
          <a:p>
            <a:pPr marL="285750" indent="-2857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3730796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144D033-06C2-3F95-4417-5E6D9DD59579}"/>
              </a:ext>
            </a:extLst>
          </p:cNvPr>
          <p:cNvSpPr txBox="1">
            <a:spLocks/>
          </p:cNvSpPr>
          <p:nvPr/>
        </p:nvSpPr>
        <p:spPr>
          <a:xfrm>
            <a:off x="659213" y="76269"/>
            <a:ext cx="11358615"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EHS KPI Dashboard</a:t>
            </a:r>
          </a:p>
          <a:p>
            <a:r>
              <a:rPr lang="en-US" sz="2400" b="0" dirty="0"/>
              <a:t>5. Performance Evaluation &amp; Continual Improvement – </a:t>
            </a:r>
            <a:r>
              <a:rPr lang="en-US" sz="2400" b="0" i="1" dirty="0"/>
              <a:t>Incident Reporting &amp; Investigation</a:t>
            </a:r>
          </a:p>
        </p:txBody>
      </p:sp>
      <p:graphicFrame>
        <p:nvGraphicFramePr>
          <p:cNvPr id="3" name="Chart 2">
            <a:extLst>
              <a:ext uri="{FF2B5EF4-FFF2-40B4-BE49-F238E27FC236}">
                <a16:creationId xmlns:a16="http://schemas.microsoft.com/office/drawing/2014/main" id="{4E07165A-AF93-1A17-D5D1-6E06E9317A93}"/>
              </a:ext>
            </a:extLst>
          </p:cNvPr>
          <p:cNvGraphicFramePr/>
          <p:nvPr>
            <p:extLst>
              <p:ext uri="{D42A27DB-BD31-4B8C-83A1-F6EECF244321}">
                <p14:modId xmlns:p14="http://schemas.microsoft.com/office/powerpoint/2010/main" val="2563850816"/>
              </p:ext>
            </p:extLst>
          </p:nvPr>
        </p:nvGraphicFramePr>
        <p:xfrm>
          <a:off x="1949533" y="1232647"/>
          <a:ext cx="3891221" cy="21963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691AD59B-9452-2B67-D87D-86759B46F6B8}"/>
              </a:ext>
            </a:extLst>
          </p:cNvPr>
          <p:cNvGraphicFramePr/>
          <p:nvPr>
            <p:extLst>
              <p:ext uri="{D42A27DB-BD31-4B8C-83A1-F6EECF244321}">
                <p14:modId xmlns:p14="http://schemas.microsoft.com/office/powerpoint/2010/main" val="2142291924"/>
              </p:ext>
            </p:extLst>
          </p:nvPr>
        </p:nvGraphicFramePr>
        <p:xfrm>
          <a:off x="6444270" y="1232647"/>
          <a:ext cx="3891221" cy="219635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97032C23-8064-17B5-953E-5E68D3816649}"/>
              </a:ext>
            </a:extLst>
          </p:cNvPr>
          <p:cNvSpPr txBox="1">
            <a:spLocks/>
          </p:cNvSpPr>
          <p:nvPr/>
        </p:nvSpPr>
        <p:spPr>
          <a:xfrm>
            <a:off x="1852715" y="3342322"/>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17 – (Notifications Submitted Within Target ÷ Total Incidents)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highlight>
                  <a:srgbClr val="00FF00"/>
                </a:highlight>
              </a:rPr>
              <a:t>Key Observations</a:t>
            </a:r>
            <a:r>
              <a:rPr lang="en-US" sz="1100" b="1" dirty="0">
                <a:solidFill>
                  <a:schemeClr val="tx2"/>
                </a:solidFill>
                <a:highlight>
                  <a:srgbClr val="00FF00"/>
                </a:highlight>
              </a:rPr>
              <a:t>: </a:t>
            </a:r>
            <a:r>
              <a:rPr lang="en-GB" sz="1100" strike="sngStrike" dirty="0">
                <a:highlight>
                  <a:srgbClr val="00FF00"/>
                </a:highlight>
              </a:rPr>
              <a:t>Incident notification on time improved for RAK B, with no incidents reported in Q2 for RAK A</a:t>
            </a:r>
            <a:r>
              <a:rPr lang="en-GB" sz="1100" dirty="0">
                <a:highlight>
                  <a:srgbClr val="00FF00"/>
                </a:highlight>
              </a:rPr>
              <a:t>. DMC had total 19 incidents, out of which 16 were reported on-time. DBN had total 07, 05 were reported on-time.</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r>
              <a:rPr lang="en-US" sz="1100" dirty="0">
                <a:solidFill>
                  <a:srgbClr val="00249C"/>
                </a:solidFill>
              </a:rPr>
              <a:t>No requirements</a:t>
            </a:r>
            <a:endParaRPr lang="en-GB" sz="1100" dirty="0"/>
          </a:p>
          <a:p>
            <a:pPr marL="171450" indent="-171450" algn="just">
              <a:spcBef>
                <a:spcPts val="0"/>
              </a:spcBef>
              <a:buFont typeface="Arial" panose="020B0604020202020204" pitchFamily="34" charset="0"/>
              <a:buChar char="•"/>
            </a:pPr>
            <a:endParaRPr lang="en-US" sz="1100" dirty="0">
              <a:solidFill>
                <a:srgbClr val="00249C"/>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9" name="Text Placeholder 3">
            <a:extLst>
              <a:ext uri="{FF2B5EF4-FFF2-40B4-BE49-F238E27FC236}">
                <a16:creationId xmlns:a16="http://schemas.microsoft.com/office/drawing/2014/main" id="{ABEE9D57-5A77-1445-C27D-92B520405E9D}"/>
              </a:ext>
            </a:extLst>
          </p:cNvPr>
          <p:cNvSpPr txBox="1">
            <a:spLocks/>
          </p:cNvSpPr>
          <p:nvPr/>
        </p:nvSpPr>
        <p:spPr>
          <a:xfrm>
            <a:off x="6444270" y="3342322"/>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18 – (Investigations Completed ÷ Total Incidents Investigated)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highlight>
                  <a:srgbClr val="00FF00"/>
                </a:highlight>
              </a:rPr>
              <a:t>Key Observations: </a:t>
            </a:r>
            <a:r>
              <a:rPr lang="en-GB" sz="1100" strike="sngStrike" dirty="0">
                <a:highlight>
                  <a:srgbClr val="00FF00"/>
                </a:highlight>
              </a:rPr>
              <a:t>Incident investigations completion on time continued at 100% for RAK B Campus . </a:t>
            </a:r>
            <a:r>
              <a:rPr lang="en-GB" sz="1100" dirty="0">
                <a:highlight>
                  <a:srgbClr val="00FF00"/>
                </a:highlight>
              </a:rPr>
              <a:t> DMC 11 investigated on-time out of 19, DBN 04 investigated on-time out of 07.</a:t>
            </a: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r>
              <a:rPr lang="en-GB" sz="1100" dirty="0"/>
              <a:t>No requirements</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2829906989"/>
      </p:ext>
    </p:extLst>
  </p:cSld>
  <p:clrMapOvr>
    <a:masterClrMapping/>
  </p:clrMapOvr>
</p:sld>
</file>

<file path=ppt/theme/theme1.xml><?xml version="1.0" encoding="utf-8"?>
<a:theme xmlns:a="http://schemas.openxmlformats.org/drawingml/2006/main" name="1_Office Theme">
  <a:themeElements>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CT-English-PPT" id="{66C1D627-B2B5-CC49-A3B4-7C85DDDC73E2}" vid="{1B779F52-C459-FE44-A2F4-9C273C3439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8E37F35-F500-4E6D-B0C4-73E8407C77A4}">
  <we:reference id="WA200010001" version="1.0.0.1" store="Omex" storeType="OMEX"/>
  <we:alternateReferences>
    <we:reference id="WA200010001" version="1.0.0.1" store="WA200010001" storeType="OMEX"/>
  </we:alternateReferences>
  <we:properties>
    <we:property name="claude.fileId" value="&quot;78f2d011-05ec-492e-b823-89e2f3711db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14309</TotalTime>
  <Words>3024</Words>
  <Application>Microsoft Office PowerPoint</Application>
  <PresentationFormat>Widescreen</PresentationFormat>
  <Paragraphs>426</Paragraphs>
  <Slides>21</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Tahoma</vt:lpstr>
      <vt:lpstr>1_Office Theme</vt:lpstr>
      <vt:lpstr>KPI PERFORMANCE Q1 &amp; Q2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Bakri Hamameh</dc:creator>
  <cp:lastModifiedBy>Melwin Dsouza</cp:lastModifiedBy>
  <cp:revision>424</cp:revision>
  <dcterms:created xsi:type="dcterms:W3CDTF">2023-08-15T07:47:02Z</dcterms:created>
  <dcterms:modified xsi:type="dcterms:W3CDTF">2026-08-27T00:50:47Z</dcterms:modified>
</cp:coreProperties>
</file>