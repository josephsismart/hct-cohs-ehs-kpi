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theme/themeOverride1.xml" ContentType="application/vnd.openxmlformats-officedocument.themeOverride+xml"/>
  <Override PartName="/ppt/notesSlides/notesSlide2.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theme/themeOverride2.xml" ContentType="application/vnd.openxmlformats-officedocument.themeOverride+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charts/chart10.xml" ContentType="application/vnd.openxmlformats-officedocument.drawingml.chart+xml"/>
  <Override PartName="/ppt/charts/style10.xml" ContentType="application/vnd.ms-office.chartstyle+xml"/>
  <Override PartName="/ppt/charts/colors10.xml" ContentType="application/vnd.ms-office.chartcolorstyle+xml"/>
  <Override PartName="/ppt/charts/chart11.xml" ContentType="application/vnd.openxmlformats-officedocument.drawingml.chart+xml"/>
  <Override PartName="/ppt/charts/style11.xml" ContentType="application/vnd.ms-office.chartstyle+xml"/>
  <Override PartName="/ppt/charts/colors11.xml" ContentType="application/vnd.ms-office.chartcolorstyle+xml"/>
  <Override PartName="/ppt/charts/chart12.xml" ContentType="application/vnd.openxmlformats-officedocument.drawingml.chart+xml"/>
  <Override PartName="/ppt/charts/style12.xml" ContentType="application/vnd.ms-office.chartstyle+xml"/>
  <Override PartName="/ppt/charts/colors12.xml" ContentType="application/vnd.ms-office.chartcolorstyle+xml"/>
  <Override PartName="/ppt/charts/chart13.xml" ContentType="application/vnd.openxmlformats-officedocument.drawingml.chart+xml"/>
  <Override PartName="/ppt/charts/style13.xml" ContentType="application/vnd.ms-office.chartstyle+xml"/>
  <Override PartName="/ppt/charts/colors13.xml" ContentType="application/vnd.ms-office.chartcolorstyle+xml"/>
  <Override PartName="/ppt/charts/chart14.xml" ContentType="application/vnd.openxmlformats-officedocument.drawingml.chart+xml"/>
  <Override PartName="/ppt/charts/style14.xml" ContentType="application/vnd.ms-office.chartstyle+xml"/>
  <Override PartName="/ppt/charts/colors14.xml" ContentType="application/vnd.ms-office.chartcolorstyle+xml"/>
  <Override PartName="/ppt/charts/chart15.xml" ContentType="application/vnd.openxmlformats-officedocument.drawingml.chart+xml"/>
  <Override PartName="/ppt/charts/style15.xml" ContentType="application/vnd.ms-office.chartstyle+xml"/>
  <Override PartName="/ppt/charts/colors15.xml" ContentType="application/vnd.ms-office.chartcolorstyle+xml"/>
  <Override PartName="/ppt/charts/chart16.xml" ContentType="application/vnd.openxmlformats-officedocument.drawingml.chart+xml"/>
  <Override PartName="/ppt/charts/style16.xml" ContentType="application/vnd.ms-office.chartstyle+xml"/>
  <Override PartName="/ppt/charts/colors16.xml" ContentType="application/vnd.ms-office.chartcolorstyle+xml"/>
  <Override PartName="/ppt/charts/chart17.xml" ContentType="application/vnd.openxmlformats-officedocument.drawingml.chart+xml"/>
  <Override PartName="/ppt/charts/style17.xml" ContentType="application/vnd.ms-office.chartstyle+xml"/>
  <Override PartName="/ppt/charts/colors17.xml" ContentType="application/vnd.ms-office.chartcolorstyl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3" r:id="rId1"/>
  </p:sldMasterIdLst>
  <p:notesMasterIdLst>
    <p:notesMasterId r:id="rId25"/>
  </p:notesMasterIdLst>
  <p:sldIdLst>
    <p:sldId id="340" r:id="rId2"/>
    <p:sldId id="401" r:id="rId3"/>
    <p:sldId id="404" r:id="rId4"/>
    <p:sldId id="392" r:id="rId5"/>
    <p:sldId id="360" r:id="rId6"/>
    <p:sldId id="395" r:id="rId7"/>
    <p:sldId id="338" r:id="rId8"/>
    <p:sldId id="361" r:id="rId9"/>
    <p:sldId id="339" r:id="rId10"/>
    <p:sldId id="352" r:id="rId11"/>
    <p:sldId id="335" r:id="rId12"/>
    <p:sldId id="383" r:id="rId13"/>
    <p:sldId id="359" r:id="rId14"/>
    <p:sldId id="405" r:id="rId15"/>
    <p:sldId id="406" r:id="rId16"/>
    <p:sldId id="407" r:id="rId17"/>
    <p:sldId id="408" r:id="rId18"/>
    <p:sldId id="409" r:id="rId19"/>
    <p:sldId id="410" r:id="rId20"/>
    <p:sldId id="362" r:id="rId21"/>
    <p:sldId id="411" r:id="rId22"/>
    <p:sldId id="353" r:id="rId23"/>
    <p:sldId id="264"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0F79E1A-B9DF-E92A-56B6-BF93512E2FD3}" name="Melwin Dsouza" initials="MD" userId="S::Melwin.Dsouza@corporateohs.com::149ac2db-be8b-40ff-b11b-d098f284dba8" providerId="AD"/>
  <p188:author id="{4D5F4B26-70C2-C458-CF70-89C76E1704D8}" name="Branco Dennenberg" initials="BD" userId="7b81a8bc22f2f239" providerId="Windows Live"/>
  <p188:author id="{5B26CF33-3F9E-64B6-8031-873F17783981}" name="Caroline Savage" initials="CS" userId="7108174042d12c3f" providerId="Windows Live"/>
  <p188:author id="{8D6D4444-3D9E-9EFB-8C07-AA5665A4A5C5}" name="Karthikeyan Viswanathan" initials="KV" userId="S::Karthikeyan.Viswanathan@corporateohs.com::ee677136-ef6c-4a16-817e-71289ad1cdb2" providerId="AD"/>
  <p188:author id="{CFC1D6F1-5CCD-23D0-AEA0-FE2283801C34}" name="caroline savage" initials="cs" userId="S::carolinesavage@corporateohs.com::91448213-4f62-4282-a05a-3f8111c1e7bd"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00249C"/>
    <a:srgbClr val="A50034"/>
    <a:srgbClr val="F7C1C1"/>
    <a:srgbClr val="C0DD97"/>
    <a:srgbClr val="47D7AC"/>
    <a:srgbClr val="23ACDD"/>
    <a:srgbClr val="B5D4F4"/>
    <a:srgbClr val="B1E4E3"/>
    <a:srgbClr val="00A3E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406A169-BE79-41EF-B950-E0A2465A7844}" v="18" dt="2026-07-07T12:18:43.43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979" autoAdjust="0"/>
    <p:restoredTop sz="90719" autoAdjust="0"/>
  </p:normalViewPr>
  <p:slideViewPr>
    <p:cSldViewPr snapToGrid="0">
      <p:cViewPr varScale="1">
        <p:scale>
          <a:sx n="75" d="100"/>
          <a:sy n="75" d="100"/>
        </p:scale>
        <p:origin x="1205" y="48"/>
      </p:cViewPr>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8/10/relationships/authors" Targe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 Id="rId30"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aroline savage" userId="91448213-4f62-4282-a05a-3f8111c1e7bd" providerId="ADAL" clId="{12E5D5C5-97B3-48EB-B13D-D18563E280BB}"/>
    <pc:docChg chg="addSld delSld modSld sldOrd">
      <pc:chgData name="caroline savage" userId="91448213-4f62-4282-a05a-3f8111c1e7bd" providerId="ADAL" clId="{12E5D5C5-97B3-48EB-B13D-D18563E280BB}" dt="2026-07-08T04:09:38.681" v="23" actId="6549"/>
      <pc:docMkLst>
        <pc:docMk/>
      </pc:docMkLst>
      <pc:sldChg chg="ord">
        <pc:chgData name="caroline savage" userId="91448213-4f62-4282-a05a-3f8111c1e7bd" providerId="ADAL" clId="{12E5D5C5-97B3-48EB-B13D-D18563E280BB}" dt="2026-07-07T12:05:03.762" v="5"/>
        <pc:sldMkLst>
          <pc:docMk/>
          <pc:sldMk cId="3101187471" sldId="338"/>
        </pc:sldMkLst>
      </pc:sldChg>
      <pc:sldChg chg="ord">
        <pc:chgData name="caroline savage" userId="91448213-4f62-4282-a05a-3f8111c1e7bd" providerId="ADAL" clId="{12E5D5C5-97B3-48EB-B13D-D18563E280BB}" dt="2026-07-07T12:05:03.762" v="5"/>
        <pc:sldMkLst>
          <pc:docMk/>
          <pc:sldMk cId="3244600674" sldId="339"/>
        </pc:sldMkLst>
      </pc:sldChg>
      <pc:sldChg chg="addSp modSp mod">
        <pc:chgData name="caroline savage" userId="91448213-4f62-4282-a05a-3f8111c1e7bd" providerId="ADAL" clId="{12E5D5C5-97B3-48EB-B13D-D18563E280BB}" dt="2026-07-08T04:09:32.259" v="22" actId="6549"/>
        <pc:sldMkLst>
          <pc:docMk/>
          <pc:sldMk cId="929942118" sldId="353"/>
        </pc:sldMkLst>
        <pc:spChg chg="add mod">
          <ac:chgData name="caroline savage" userId="91448213-4f62-4282-a05a-3f8111c1e7bd" providerId="ADAL" clId="{12E5D5C5-97B3-48EB-B13D-D18563E280BB}" dt="2026-07-07T12:17:01.917" v="18" actId="767"/>
          <ac:spMkLst>
            <pc:docMk/>
            <pc:sldMk cId="929942118" sldId="353"/>
            <ac:spMk id="2" creationId="{D58C25FC-D701-A547-C584-1DA3331894AD}"/>
          </ac:spMkLst>
        </pc:spChg>
        <pc:spChg chg="mod">
          <ac:chgData name="caroline savage" userId="91448213-4f62-4282-a05a-3f8111c1e7bd" providerId="ADAL" clId="{12E5D5C5-97B3-48EB-B13D-D18563E280BB}" dt="2026-07-08T04:09:32.259" v="22" actId="6549"/>
          <ac:spMkLst>
            <pc:docMk/>
            <pc:sldMk cId="929942118" sldId="353"/>
            <ac:spMk id="4" creationId="{31F0D0EA-95AA-EE1A-E0C1-414934A77FC8}"/>
          </ac:spMkLst>
        </pc:spChg>
      </pc:sldChg>
      <pc:sldChg chg="modSp ord">
        <pc:chgData name="caroline savage" userId="91448213-4f62-4282-a05a-3f8111c1e7bd" providerId="ADAL" clId="{12E5D5C5-97B3-48EB-B13D-D18563E280BB}" dt="2026-07-07T12:14:58.826" v="16"/>
        <pc:sldMkLst>
          <pc:docMk/>
          <pc:sldMk cId="2204815029" sldId="359"/>
        </pc:sldMkLst>
        <pc:graphicFrameChg chg="mod">
          <ac:chgData name="caroline savage" userId="91448213-4f62-4282-a05a-3f8111c1e7bd" providerId="ADAL" clId="{12E5D5C5-97B3-48EB-B13D-D18563E280BB}" dt="2026-07-07T12:14:58.826" v="16"/>
          <ac:graphicFrameMkLst>
            <pc:docMk/>
            <pc:sldMk cId="2204815029" sldId="359"/>
            <ac:graphicFrameMk id="2" creationId="{AFBB3CA4-063C-BD2A-CF99-415AC915C9E3}"/>
          </ac:graphicFrameMkLst>
        </pc:graphicFrameChg>
      </pc:sldChg>
      <pc:sldChg chg="ord">
        <pc:chgData name="caroline savage" userId="91448213-4f62-4282-a05a-3f8111c1e7bd" providerId="ADAL" clId="{12E5D5C5-97B3-48EB-B13D-D18563E280BB}" dt="2026-07-07T12:05:03.762" v="5"/>
        <pc:sldMkLst>
          <pc:docMk/>
          <pc:sldMk cId="462679577" sldId="360"/>
        </pc:sldMkLst>
      </pc:sldChg>
      <pc:sldChg chg="ord">
        <pc:chgData name="caroline savage" userId="91448213-4f62-4282-a05a-3f8111c1e7bd" providerId="ADAL" clId="{12E5D5C5-97B3-48EB-B13D-D18563E280BB}" dt="2026-07-07T12:05:03.762" v="5"/>
        <pc:sldMkLst>
          <pc:docMk/>
          <pc:sldMk cId="2098505776" sldId="361"/>
        </pc:sldMkLst>
      </pc:sldChg>
      <pc:sldChg chg="del">
        <pc:chgData name="caroline savage" userId="91448213-4f62-4282-a05a-3f8111c1e7bd" providerId="ADAL" clId="{12E5D5C5-97B3-48EB-B13D-D18563E280BB}" dt="2026-07-08T04:09:28.046" v="20" actId="47"/>
        <pc:sldMkLst>
          <pc:docMk/>
          <pc:sldMk cId="1250658852" sldId="380"/>
        </pc:sldMkLst>
      </pc:sldChg>
      <pc:sldChg chg="ord">
        <pc:chgData name="caroline savage" userId="91448213-4f62-4282-a05a-3f8111c1e7bd" providerId="ADAL" clId="{12E5D5C5-97B3-48EB-B13D-D18563E280BB}" dt="2026-07-07T12:05:03.762" v="5"/>
        <pc:sldMkLst>
          <pc:docMk/>
          <pc:sldMk cId="773780304" sldId="392"/>
        </pc:sldMkLst>
      </pc:sldChg>
      <pc:sldChg chg="ord">
        <pc:chgData name="caroline savage" userId="91448213-4f62-4282-a05a-3f8111c1e7bd" providerId="ADAL" clId="{12E5D5C5-97B3-48EB-B13D-D18563E280BB}" dt="2026-07-07T12:05:03.762" v="5"/>
        <pc:sldMkLst>
          <pc:docMk/>
          <pc:sldMk cId="3671072281" sldId="395"/>
        </pc:sldMkLst>
      </pc:sldChg>
      <pc:sldChg chg="modSp mod">
        <pc:chgData name="caroline savage" userId="91448213-4f62-4282-a05a-3f8111c1e7bd" providerId="ADAL" clId="{12E5D5C5-97B3-48EB-B13D-D18563E280BB}" dt="2026-07-08T04:09:38.681" v="23" actId="6549"/>
        <pc:sldMkLst>
          <pc:docMk/>
          <pc:sldMk cId="2057660815" sldId="401"/>
        </pc:sldMkLst>
        <pc:spChg chg="mod">
          <ac:chgData name="caroline savage" userId="91448213-4f62-4282-a05a-3f8111c1e7bd" providerId="ADAL" clId="{12E5D5C5-97B3-48EB-B13D-D18563E280BB}" dt="2026-07-08T04:09:38.681" v="23" actId="6549"/>
          <ac:spMkLst>
            <pc:docMk/>
            <pc:sldMk cId="2057660815" sldId="401"/>
            <ac:spMk id="62" creationId="{4E471528-9CBB-6568-41E6-D2AF7AA2740A}"/>
          </ac:spMkLst>
        </pc:spChg>
      </pc:sldChg>
      <pc:sldChg chg="ord">
        <pc:chgData name="caroline savage" userId="91448213-4f62-4282-a05a-3f8111c1e7bd" providerId="ADAL" clId="{12E5D5C5-97B3-48EB-B13D-D18563E280BB}" dt="2026-07-07T12:04:08.783" v="4"/>
        <pc:sldMkLst>
          <pc:docMk/>
          <pc:sldMk cId="4174377885" sldId="402"/>
        </pc:sldMkLst>
      </pc:sldChg>
      <pc:sldChg chg="ord">
        <pc:chgData name="caroline savage" userId="91448213-4f62-4282-a05a-3f8111c1e7bd" providerId="ADAL" clId="{12E5D5C5-97B3-48EB-B13D-D18563E280BB}" dt="2026-07-07T12:04:08.783" v="4"/>
        <pc:sldMkLst>
          <pc:docMk/>
          <pc:sldMk cId="1263559796" sldId="403"/>
        </pc:sldMkLst>
      </pc:sldChg>
      <pc:sldChg chg="ord">
        <pc:chgData name="caroline savage" userId="91448213-4f62-4282-a05a-3f8111c1e7bd" providerId="ADAL" clId="{12E5D5C5-97B3-48EB-B13D-D18563E280BB}" dt="2026-07-07T12:05:03.762" v="5"/>
        <pc:sldMkLst>
          <pc:docMk/>
          <pc:sldMk cId="1427806595" sldId="404"/>
        </pc:sldMkLst>
      </pc:sldChg>
      <pc:sldChg chg="add ord">
        <pc:chgData name="caroline savage" userId="91448213-4f62-4282-a05a-3f8111c1e7bd" providerId="ADAL" clId="{12E5D5C5-97B3-48EB-B13D-D18563E280BB}" dt="2026-07-07T11:59:19.536" v="2"/>
        <pc:sldMkLst>
          <pc:docMk/>
          <pc:sldMk cId="2267161353" sldId="412"/>
        </pc:sldMkLst>
      </pc:sldChg>
    </pc:docChg>
  </pc:docChgLst>
</pc:chgInfo>
</file>

<file path=ppt/charts/_rels/chart1.xml.rels><?xml version="1.0" encoding="UTF-8" standalone="yes"?>
<Relationships xmlns="http://schemas.openxmlformats.org/package/2006/relationships"><Relationship Id="rId3" Type="http://schemas.openxmlformats.org/officeDocument/2006/relationships/themeOverride" Target="../theme/themeOverride1.xml"/><Relationship Id="rId2" Type="http://schemas.microsoft.com/office/2011/relationships/chartColorStyle" Target="colors1.xml"/><Relationship Id="rId1" Type="http://schemas.microsoft.com/office/2011/relationships/chartStyle" Target="style1.xml"/><Relationship Id="rId4"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5.xlsx"/><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package" Target="../embeddings/Microsoft_Excel_Worksheet6.xlsx"/><Relationship Id="rId2" Type="http://schemas.microsoft.com/office/2011/relationships/chartColorStyle" Target="colors7.xml"/><Relationship Id="rId1" Type="http://schemas.microsoft.com/office/2011/relationships/chartStyle" Target="style7.xml"/></Relationships>
</file>

<file path=ppt/charts/_rels/chart8.xml.rels><?xml version="1.0" encoding="UTF-8" standalone="yes"?>
<Relationships xmlns="http://schemas.openxmlformats.org/package/2006/relationships"><Relationship Id="rId3" Type="http://schemas.openxmlformats.org/officeDocument/2006/relationships/package" Target="../embeddings/Microsoft_Excel_Worksheet7.xlsx"/><Relationship Id="rId2" Type="http://schemas.microsoft.com/office/2011/relationships/chartColorStyle" Target="colors8.xml"/><Relationship Id="rId1" Type="http://schemas.microsoft.com/office/2011/relationships/chartStyle" Target="style8.xml"/></Relationships>
</file>

<file path=ppt/charts/_rels/chart9.xml.rels><?xml version="1.0" encoding="UTF-8" standalone="yes"?>
<Relationships xmlns="http://schemas.openxmlformats.org/package/2006/relationships"><Relationship Id="rId3" Type="http://schemas.openxmlformats.org/officeDocument/2006/relationships/package" Target="../embeddings/Microsoft_Excel_Worksheet8.xlsx"/><Relationship Id="rId2" Type="http://schemas.microsoft.com/office/2011/relationships/chartColorStyle" Target="colors9.xml"/><Relationship Id="rId1" Type="http://schemas.microsoft.com/office/2011/relationships/chartStyle" Target="style9.xml"/></Relationships>
</file>

<file path=ppt/charts/_rels/chart10.xml.rels><?xml version="1.0" encoding="UTF-8" standalone="yes"?>
<Relationships xmlns="http://schemas.openxmlformats.org/package/2006/relationships"><Relationship Id="rId3" Type="http://schemas.openxmlformats.org/officeDocument/2006/relationships/package" Target="../embeddings/Microsoft_Excel_Worksheet9.xlsx"/><Relationship Id="rId2" Type="http://schemas.microsoft.com/office/2011/relationships/chartColorStyle" Target="colors10.xml"/><Relationship Id="rId1" Type="http://schemas.microsoft.com/office/2011/relationships/chartStyle" Target="style10.xml"/></Relationships>
</file>

<file path=ppt/charts/_rels/chart11.xml.rels><?xml version="1.0" encoding="UTF-8" standalone="yes"?>
<Relationships xmlns="http://schemas.openxmlformats.org/package/2006/relationships"><Relationship Id="rId3" Type="http://schemas.openxmlformats.org/officeDocument/2006/relationships/package" Target="../embeddings/Microsoft_Excel_Worksheet10.xlsx"/><Relationship Id="rId2" Type="http://schemas.microsoft.com/office/2011/relationships/chartColorStyle" Target="colors11.xml"/><Relationship Id="rId1" Type="http://schemas.microsoft.com/office/2011/relationships/chartStyle" Target="style11.xml"/></Relationships>
</file>

<file path=ppt/charts/_rels/chart12.xml.rels><?xml version="1.0" encoding="UTF-8" standalone="yes"?>
<Relationships xmlns="http://schemas.openxmlformats.org/package/2006/relationships"><Relationship Id="rId3" Type="http://schemas.openxmlformats.org/officeDocument/2006/relationships/package" Target="../embeddings/Microsoft_Excel_Worksheet11.xlsx"/><Relationship Id="rId2" Type="http://schemas.microsoft.com/office/2011/relationships/chartColorStyle" Target="colors12.xml"/><Relationship Id="rId1" Type="http://schemas.microsoft.com/office/2011/relationships/chartStyle" Target="style12.xml"/></Relationships>
</file>

<file path=ppt/charts/_rels/chart13.xml.rels><?xml version="1.0" encoding="UTF-8" standalone="yes"?>
<Relationships xmlns="http://schemas.openxmlformats.org/package/2006/relationships"><Relationship Id="rId3" Type="http://schemas.openxmlformats.org/officeDocument/2006/relationships/package" Target="../embeddings/Microsoft_Excel_Worksheet12.xlsx"/><Relationship Id="rId2" Type="http://schemas.microsoft.com/office/2011/relationships/chartColorStyle" Target="colors13.xml"/><Relationship Id="rId1" Type="http://schemas.microsoft.com/office/2011/relationships/chartStyle" Target="style13.xml"/></Relationships>
</file>

<file path=ppt/charts/_rels/chart14.xml.rels><?xml version="1.0" encoding="UTF-8" standalone="yes"?>
<Relationships xmlns="http://schemas.openxmlformats.org/package/2006/relationships"><Relationship Id="rId3" Type="http://schemas.openxmlformats.org/officeDocument/2006/relationships/package" Target="../embeddings/Microsoft_Excel_Worksheet13.xlsx"/><Relationship Id="rId2" Type="http://schemas.microsoft.com/office/2011/relationships/chartColorStyle" Target="colors14.xml"/><Relationship Id="rId1" Type="http://schemas.microsoft.com/office/2011/relationships/chartStyle" Target="style14.xml"/></Relationships>
</file>

<file path=ppt/charts/_rels/chart15.xml.rels><?xml version="1.0" encoding="UTF-8" standalone="yes"?>
<Relationships xmlns="http://schemas.openxmlformats.org/package/2006/relationships"><Relationship Id="rId3" Type="http://schemas.openxmlformats.org/officeDocument/2006/relationships/package" Target="../embeddings/Microsoft_Excel_Worksheet14.xlsx"/><Relationship Id="rId2" Type="http://schemas.microsoft.com/office/2011/relationships/chartColorStyle" Target="colors15.xml"/><Relationship Id="rId1" Type="http://schemas.microsoft.com/office/2011/relationships/chartStyle" Target="style15.xml"/></Relationships>
</file>

<file path=ppt/charts/_rels/chart16.xml.rels><?xml version="1.0" encoding="UTF-8" standalone="yes"?>
<Relationships xmlns="http://schemas.openxmlformats.org/package/2006/relationships"><Relationship Id="rId3" Type="http://schemas.openxmlformats.org/officeDocument/2006/relationships/package" Target="../embeddings/Microsoft_Excel_Worksheet15.xlsx"/><Relationship Id="rId2" Type="http://schemas.microsoft.com/office/2011/relationships/chartColorStyle" Target="colors16.xml"/><Relationship Id="rId1" Type="http://schemas.microsoft.com/office/2011/relationships/chartStyle" Target="style16.xml"/></Relationships>
</file>

<file path=ppt/charts/_rels/chart17.xml.rels><?xml version="1.0" encoding="UTF-8" standalone="yes"?>
<Relationships xmlns="http://schemas.openxmlformats.org/package/2006/relationships"><Relationship Id="rId3" Type="http://schemas.openxmlformats.org/officeDocument/2006/relationships/package" Target="../embeddings/Microsoft_Excel_Worksheet16.xlsx"/><Relationship Id="rId2" Type="http://schemas.microsoft.com/office/2011/relationships/chartColorStyle" Target="colors17.xml"/><Relationship Id="rId1" Type="http://schemas.microsoft.com/office/2011/relationships/chartStyle" Target="style17.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0.1902588310969851"/>
          <c:y val="5.6500479633733573E-4"/>
          <c:w val="0.65320343035115047"/>
          <c:h val="0.9869297326427352"/>
        </c:manualLayout>
      </c:layout>
      <c:pieChart>
        <c:varyColors val="1"/>
        <c:ser>
          <c:idx val="0"/>
          <c:order val="0"/>
          <c:spPr>
            <a:solidFill>
              <a:srgbClr val="00249C"/>
            </a:solidFill>
          </c:spPr>
          <c:dPt>
            <c:idx val="0"/>
            <c:bubble3D val="0"/>
            <c:spPr>
              <a:solidFill>
                <a:srgbClr val="00249C"/>
              </a:solidFill>
              <a:ln w="19050">
                <a:solidFill>
                  <a:schemeClr val="lt1"/>
                </a:solidFill>
              </a:ln>
              <a:effectLst/>
            </c:spPr>
            <c:extLst>
              <c:ext xmlns:c16="http://schemas.microsoft.com/office/drawing/2014/chart" uri="{C3380CC4-5D6E-409C-BE32-E72D297353CC}">
                <c16:uniqueId val="{00000001-BA65-4EE1-8706-5F9AF75E9B6F}"/>
              </c:ext>
            </c:extLst>
          </c:dPt>
          <c:dPt>
            <c:idx val="1"/>
            <c:bubble3D val="0"/>
            <c:spPr>
              <a:solidFill>
                <a:srgbClr val="00249C"/>
              </a:solidFill>
              <a:ln w="19050">
                <a:solidFill>
                  <a:schemeClr val="lt1"/>
                </a:solidFill>
              </a:ln>
              <a:effectLst/>
            </c:spPr>
            <c:extLst>
              <c:ext xmlns:c16="http://schemas.microsoft.com/office/drawing/2014/chart" uri="{C3380CC4-5D6E-409C-BE32-E72D297353CC}">
                <c16:uniqueId val="{00000003-BA65-4EE1-8706-5F9AF75E9B6F}"/>
              </c:ext>
            </c:extLst>
          </c:dPt>
          <c:dPt>
            <c:idx val="2"/>
            <c:bubble3D val="0"/>
            <c:spPr>
              <a:solidFill>
                <a:srgbClr val="00249C"/>
              </a:solidFill>
              <a:ln w="19050">
                <a:solidFill>
                  <a:schemeClr val="lt1"/>
                </a:solidFill>
              </a:ln>
              <a:effectLst/>
            </c:spPr>
            <c:extLst>
              <c:ext xmlns:c16="http://schemas.microsoft.com/office/drawing/2014/chart" uri="{C3380CC4-5D6E-409C-BE32-E72D297353CC}">
                <c16:uniqueId val="{00000005-BA65-4EE1-8706-5F9AF75E9B6F}"/>
              </c:ext>
            </c:extLst>
          </c:dPt>
          <c:dPt>
            <c:idx val="3"/>
            <c:bubble3D val="0"/>
            <c:spPr>
              <a:solidFill>
                <a:srgbClr val="00249C"/>
              </a:solidFill>
              <a:ln w="19050">
                <a:solidFill>
                  <a:schemeClr val="lt1"/>
                </a:solidFill>
              </a:ln>
              <a:effectLst/>
            </c:spPr>
            <c:extLst>
              <c:ext xmlns:c16="http://schemas.microsoft.com/office/drawing/2014/chart" uri="{C3380CC4-5D6E-409C-BE32-E72D297353CC}">
                <c16:uniqueId val="{00000007-BA65-4EE1-8706-5F9AF75E9B6F}"/>
              </c:ext>
            </c:extLst>
          </c:dPt>
          <c:dPt>
            <c:idx val="4"/>
            <c:bubble3D val="0"/>
            <c:spPr>
              <a:solidFill>
                <a:srgbClr val="00249C"/>
              </a:solidFill>
              <a:ln w="19050">
                <a:solidFill>
                  <a:schemeClr val="lt1"/>
                </a:solidFill>
              </a:ln>
              <a:effectLst/>
            </c:spPr>
            <c:extLst>
              <c:ext xmlns:c16="http://schemas.microsoft.com/office/drawing/2014/chart" uri="{C3380CC4-5D6E-409C-BE32-E72D297353CC}">
                <c16:uniqueId val="{00000009-BA65-4EE1-8706-5F9AF75E9B6F}"/>
              </c:ext>
            </c:extLst>
          </c:dPt>
          <c:dLbls>
            <c:dLbl>
              <c:idx val="0"/>
              <c:layout>
                <c:manualLayout>
                  <c:x val="-0.16487988540823936"/>
                  <c:y val="0.21043838976193191"/>
                </c:manualLayout>
              </c:layout>
              <c:showLegendKey val="0"/>
              <c:showVal val="0"/>
              <c:showCatName val="1"/>
              <c:showSerName val="0"/>
              <c:showPercent val="0"/>
              <c:showBubbleSize val="0"/>
              <c:extLst>
                <c:ext xmlns:c15="http://schemas.microsoft.com/office/drawing/2012/chart" uri="{CE6537A1-D6FC-4f65-9D91-7224C49458BB}"/>
                <c:ext xmlns:c16="http://schemas.microsoft.com/office/drawing/2014/chart" uri="{C3380CC4-5D6E-409C-BE32-E72D297353CC}">
                  <c16:uniqueId val="{00000001-BA65-4EE1-8706-5F9AF75E9B6F}"/>
                </c:ext>
              </c:extLst>
            </c:dLbl>
            <c:dLbl>
              <c:idx val="1"/>
              <c:layout>
                <c:manualLayout>
                  <c:x val="-0.23891016132627421"/>
                  <c:y val="-0.12164657640375343"/>
                </c:manualLayout>
              </c:layout>
              <c:showLegendKey val="0"/>
              <c:showVal val="0"/>
              <c:showCatName val="1"/>
              <c:showSerName val="0"/>
              <c:showPercent val="0"/>
              <c:showBubbleSize val="0"/>
              <c:extLst>
                <c:ext xmlns:c15="http://schemas.microsoft.com/office/drawing/2012/chart" uri="{CE6537A1-D6FC-4f65-9D91-7224C49458BB}"/>
                <c:ext xmlns:c16="http://schemas.microsoft.com/office/drawing/2014/chart" uri="{C3380CC4-5D6E-409C-BE32-E72D297353CC}">
                  <c16:uniqueId val="{00000003-BA65-4EE1-8706-5F9AF75E9B6F}"/>
                </c:ext>
              </c:extLst>
            </c:dLbl>
            <c:dLbl>
              <c:idx val="2"/>
              <c:layout>
                <c:manualLayout>
                  <c:x val="-9.4551292259325348E-2"/>
                  <c:y val="-9.1621826068713233E-2"/>
                </c:manualLayout>
              </c:layout>
              <c:spPr>
                <a:noFill/>
                <a:ln>
                  <a:noFill/>
                </a:ln>
                <a:effectLst/>
              </c:spPr>
              <c:txPr>
                <a:bodyPr rot="0" spcFirstLastPara="1" vertOverflow="ellipsis" vert="horz" wrap="square" lIns="38100" tIns="19050" rIns="38100" bIns="19050" anchor="ctr" anchorCtr="1">
                  <a:noAutofit/>
                </a:bodyPr>
                <a:lstStyle/>
                <a:p>
                  <a:pPr>
                    <a:defRPr sz="1200" b="0" i="0" u="none" strike="noStrike" kern="1200" baseline="0">
                      <a:solidFill>
                        <a:schemeClr val="bg1"/>
                      </a:solidFill>
                      <a:latin typeface="Tahoma" panose="020B0604030504040204" pitchFamily="34" charset="0"/>
                      <a:ea typeface="Tahoma" panose="020B0604030504040204" pitchFamily="34" charset="0"/>
                      <a:cs typeface="Tahoma" panose="020B0604030504040204" pitchFamily="34" charset="0"/>
                    </a:defRPr>
                  </a:pPr>
                  <a:endParaRPr lang="en-US"/>
                </a:p>
              </c:txPr>
              <c:showLegendKey val="0"/>
              <c:showVal val="0"/>
              <c:showCatName val="1"/>
              <c:showSerName val="0"/>
              <c:showPercent val="0"/>
              <c:showBubbleSize val="0"/>
              <c:extLst>
                <c:ext xmlns:c15="http://schemas.microsoft.com/office/drawing/2012/chart" uri="{CE6537A1-D6FC-4f65-9D91-7224C49458BB}">
                  <c15:layout>
                    <c:manualLayout>
                      <c:w val="0.10964754195876607"/>
                      <c:h val="0.1950950570342205"/>
                    </c:manualLayout>
                  </c15:layout>
                </c:ext>
                <c:ext xmlns:c16="http://schemas.microsoft.com/office/drawing/2014/chart" uri="{C3380CC4-5D6E-409C-BE32-E72D297353CC}">
                  <c16:uniqueId val="{00000005-BA65-4EE1-8706-5F9AF75E9B6F}"/>
                </c:ext>
              </c:extLst>
            </c:dLbl>
            <c:dLbl>
              <c:idx val="3"/>
              <c:layout>
                <c:manualLayout>
                  <c:x val="0.17089371763214278"/>
                  <c:y val="-0.26345155502357021"/>
                </c:manualLayout>
              </c:layout>
              <c:showLegendKey val="0"/>
              <c:showVal val="0"/>
              <c:showCatName val="1"/>
              <c:showSerName val="0"/>
              <c:showPercent val="0"/>
              <c:showBubbleSize val="0"/>
              <c:extLst>
                <c:ext xmlns:c15="http://schemas.microsoft.com/office/drawing/2012/chart" uri="{CE6537A1-D6FC-4f65-9D91-7224C49458BB}"/>
                <c:ext xmlns:c16="http://schemas.microsoft.com/office/drawing/2014/chart" uri="{C3380CC4-5D6E-409C-BE32-E72D297353CC}">
                  <c16:uniqueId val="{00000007-BA65-4EE1-8706-5F9AF75E9B6F}"/>
                </c:ext>
              </c:extLst>
            </c:dLbl>
            <c:dLbl>
              <c:idx val="4"/>
              <c:layout>
                <c:manualLayout>
                  <c:x val="0.17808724396757206"/>
                  <c:y val="0.22657342216650292"/>
                </c:manualLayout>
              </c:layout>
              <c:tx>
                <c:rich>
                  <a:bodyPr/>
                  <a:lstStyle/>
                  <a:p>
                    <a:fld id="{54EFDA80-51B9-4B77-AD05-126701107E30}" type="CATEGORYNAME">
                      <a:rPr lang="en-US" b="0"/>
                      <a:pPr/>
                      <a:t>[CATEGORY NAME]</a:t>
                    </a:fld>
                    <a:endParaRPr lang="en-US"/>
                  </a:p>
                </c:rich>
              </c:tx>
              <c:showLegendKey val="0"/>
              <c:showVal val="0"/>
              <c:showCatName val="1"/>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9-BA65-4EE1-8706-5F9AF75E9B6F}"/>
                </c:ext>
              </c:extLst>
            </c:dLbl>
            <c:numFmt formatCode="0%" sourceLinked="0"/>
            <c:spPr>
              <a:noFill/>
              <a:ln>
                <a:noFill/>
              </a:ln>
              <a:effectLst/>
            </c:spPr>
            <c:txPr>
              <a:bodyPr rot="0" spcFirstLastPara="1" vertOverflow="ellipsis" vert="horz" wrap="square" lIns="38100" tIns="19050" rIns="38100" bIns="19050" anchor="ctr" anchorCtr="1">
                <a:spAutoFit/>
              </a:bodyPr>
              <a:lstStyle/>
              <a:p>
                <a:pPr>
                  <a:defRPr sz="1200" b="0" i="0" u="none" strike="noStrike" kern="1200" baseline="0">
                    <a:solidFill>
                      <a:schemeClr val="bg1"/>
                    </a:solidFill>
                    <a:latin typeface="Tahoma" panose="020B0604030504040204" pitchFamily="34" charset="0"/>
                    <a:ea typeface="Tahoma" panose="020B0604030504040204" pitchFamily="34" charset="0"/>
                    <a:cs typeface="Tahoma" panose="020B0604030504040204" pitchFamily="34" charset="0"/>
                  </a:defRPr>
                </a:pPr>
                <a:endParaRPr lang="en-US"/>
              </a:p>
            </c:txPr>
            <c:showLegendKey val="0"/>
            <c:showVal val="0"/>
            <c:showCatName val="1"/>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Sheet1!$B$3:$B$7</c:f>
              <c:strCache>
                <c:ptCount val="5"/>
                <c:pt idx="0">
                  <c:v>1. Leadership, Accountability &amp; Engagement (20%)</c:v>
                </c:pt>
                <c:pt idx="1">
                  <c:v>2. Risk Management &amp; Planning (20%)</c:v>
                </c:pt>
                <c:pt idx="2">
                  <c:v>3. Training &amp; Awareness (10%)</c:v>
                </c:pt>
                <c:pt idx="3">
                  <c:v>4. Operational Control &amp; Emergency Preparedness (25%)</c:v>
                </c:pt>
                <c:pt idx="4">
                  <c:v>5. Performance Evaluation &amp; Continual Improvement (25%)</c:v>
                </c:pt>
              </c:strCache>
            </c:strRef>
          </c:cat>
          <c:val>
            <c:numRef>
              <c:f>Sheet1!$C$3:$C$7</c:f>
              <c:numCache>
                <c:formatCode>General</c:formatCode>
                <c:ptCount val="5"/>
                <c:pt idx="0">
                  <c:v>20</c:v>
                </c:pt>
                <c:pt idx="1">
                  <c:v>20</c:v>
                </c:pt>
                <c:pt idx="2">
                  <c:v>10</c:v>
                </c:pt>
                <c:pt idx="3">
                  <c:v>25</c:v>
                </c:pt>
                <c:pt idx="4">
                  <c:v>25</c:v>
                </c:pt>
              </c:numCache>
            </c:numRef>
          </c:val>
          <c:extLst>
            <c:ext xmlns:c16="http://schemas.microsoft.com/office/drawing/2014/chart" uri="{C3380CC4-5D6E-409C-BE32-E72D297353CC}">
              <c16:uniqueId val="{0000000A-BA65-4EE1-8706-5F9AF75E9B6F}"/>
            </c:ext>
          </c:extLst>
        </c:ser>
        <c:dLbls>
          <c:showLegendKey val="0"/>
          <c:showVal val="1"/>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a:pPr>
      <a:endParaRPr lang="en-US"/>
    </a:p>
  </c:txPr>
  <c:externalData r:id="rId4">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en-US" sz="1200" b="0" i="0" u="none" strike="noStrike" kern="1200" spc="0" baseline="0">
                <a:solidFill>
                  <a:schemeClr val="tx1"/>
                </a:solidFill>
                <a:latin typeface="Tahoma" panose="020B0604030504040204" pitchFamily="34" charset="0"/>
                <a:ea typeface="Tahoma" panose="020B0604030504040204" pitchFamily="34" charset="0"/>
                <a:cs typeface="Tahoma" panose="020B0604030504040204" pitchFamily="34" charset="0"/>
              </a:defRPr>
            </a:pPr>
            <a:r>
              <a:rPr lang="en-US" dirty="0"/>
              <a:t>HS KPI Report</a:t>
            </a:r>
          </a:p>
        </c:rich>
      </c:tx>
      <c:layout>
        <c:manualLayout>
          <c:xMode val="edge"/>
          <c:yMode val="edge"/>
          <c:x val="0.37049163886504494"/>
          <c:y val="5.7823127703060485E-3"/>
        </c:manualLayout>
      </c:layout>
      <c:overlay val="0"/>
      <c:spPr>
        <a:noFill/>
        <a:ln>
          <a:noFill/>
        </a:ln>
        <a:effectLst/>
      </c:spPr>
      <c:txPr>
        <a:bodyPr rot="0" spcFirstLastPara="1" vertOverflow="ellipsis" vert="horz" wrap="square" anchor="ctr" anchorCtr="1"/>
        <a:lstStyle/>
        <a:p>
          <a:pPr>
            <a:defRPr lang="en-US" sz="1200" b="0" i="0" u="none" strike="noStrike" kern="1200" spc="0" baseline="0">
              <a:solidFill>
                <a:schemeClr val="tx1"/>
              </a:solidFill>
              <a:latin typeface="Tahoma" panose="020B0604030504040204" pitchFamily="34" charset="0"/>
              <a:ea typeface="Tahoma" panose="020B0604030504040204" pitchFamily="34" charset="0"/>
              <a:cs typeface="Tahoma" panose="020B0604030504040204" pitchFamily="34" charset="0"/>
            </a:defRPr>
          </a:pPr>
          <a:endParaRPr lang="en-US"/>
        </a:p>
      </c:txPr>
    </c:title>
    <c:autoTitleDeleted val="0"/>
    <c:plotArea>
      <c:layout/>
      <c:barChart>
        <c:barDir val="col"/>
        <c:grouping val="clustered"/>
        <c:varyColors val="0"/>
        <c:ser>
          <c:idx val="0"/>
          <c:order val="0"/>
          <c:tx>
            <c:strRef>
              <c:f>Sheet1!$B$1</c:f>
              <c:strCache>
                <c:ptCount val="1"/>
                <c:pt idx="0">
                  <c:v>Series 1</c:v>
                </c:pt>
              </c:strCache>
            </c:strRef>
          </c:tx>
          <c:spPr>
            <a:solidFill>
              <a:srgbClr val="00249C"/>
            </a:solidFill>
            <a:ln>
              <a:noFill/>
            </a:ln>
            <a:effectLst/>
          </c:spPr>
          <c:invertIfNegative val="0"/>
          <c:dPt>
            <c:idx val="0"/>
            <c:invertIfNegative val="1"/>
            <c:bubble3D val="0"/>
            <c:spPr>
              <a:solidFill>
                <a:srgbClr val="00249C"/>
              </a:solidFill>
              <a:ln>
                <a:noFill/>
              </a:ln>
              <a:effectLst/>
            </c:spPr>
            <c:extLst>
              <c:ext xmlns:c16="http://schemas.microsoft.com/office/drawing/2014/chart" uri="{C3380CC4-5D6E-409C-BE32-E72D297353CC}">
                <c16:uniqueId val="{00000001-E307-4B90-831E-6FC306B6ECB5}"/>
              </c:ext>
            </c:extLst>
          </c:dPt>
          <c:dPt>
            <c:idx val="1"/>
            <c:invertIfNegative val="1"/>
            <c:bubble3D val="0"/>
            <c:spPr>
              <a:solidFill>
                <a:srgbClr val="00249C"/>
              </a:solidFill>
              <a:ln>
                <a:noFill/>
              </a:ln>
              <a:effectLst/>
            </c:spPr>
            <c:extLst>
              <c:ext xmlns:c16="http://schemas.microsoft.com/office/drawing/2014/chart" uri="{C3380CC4-5D6E-409C-BE32-E72D297353CC}">
                <c16:uniqueId val="{00000003-E307-4B90-831E-6FC306B6ECB5}"/>
              </c:ext>
            </c:extLst>
          </c:dPt>
          <c:dPt>
            <c:idx val="2"/>
            <c:invertIfNegative val="1"/>
            <c:bubble3D val="0"/>
            <c:spPr>
              <a:solidFill>
                <a:srgbClr val="00249C"/>
              </a:solidFill>
              <a:ln>
                <a:noFill/>
              </a:ln>
              <a:effectLst/>
            </c:spPr>
            <c:extLst>
              <c:ext xmlns:c16="http://schemas.microsoft.com/office/drawing/2014/chart" uri="{C3380CC4-5D6E-409C-BE32-E72D297353CC}">
                <c16:uniqueId val="{00000005-E307-4B90-831E-6FC306B6ECB5}"/>
              </c:ext>
            </c:extLst>
          </c:dPt>
          <c:dLbls>
            <c:numFmt formatCode="0%" sourceLinked="0"/>
            <c:spPr>
              <a:noFill/>
              <a:ln>
                <a:noFill/>
              </a:ln>
              <a:effectLst/>
            </c:spPr>
            <c:txPr>
              <a:bodyPr rot="0" spcFirstLastPara="1" vertOverflow="ellipsis" vert="horz" wrap="square" anchor="ctr" anchorCtr="1"/>
              <a:lstStyle/>
              <a:p>
                <a:pPr>
                  <a:defRPr lang="en-US" sz="1000" b="0" i="0" u="none" strike="noStrike" kern="1200" baseline="0">
                    <a:solidFill>
                      <a:schemeClr val="tx1"/>
                    </a:solidFill>
                    <a:latin typeface="Tahoma" panose="020B0604030504040204" pitchFamily="34" charset="0"/>
                    <a:ea typeface="Tahoma" panose="020B0604030504040204" pitchFamily="34" charset="0"/>
                    <a:cs typeface="Tahoma" panose="020B0604030504040204" pitchFamily="34" charset="0"/>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Sheet1!$A$2:$A$4</c:f>
              <c:strCache>
                <c:ptCount val="3"/>
                <c:pt idx="0">
                  <c:v>ADA</c:v>
                </c:pt>
                <c:pt idx="1">
                  <c:v>ADB</c:v>
                </c:pt>
                <c:pt idx="2">
                  <c:v>Campus Avg.</c:v>
                </c:pt>
              </c:strCache>
            </c:strRef>
          </c:cat>
          <c:val>
            <c:numRef>
              <c:f>Sheet1!$B$2:$B$4</c:f>
              <c:numCache>
                <c:formatCode>General</c:formatCode>
                <c:ptCount val="3"/>
                <c:pt idx="0">
                  <c:v>1</c:v>
                </c:pt>
                <c:pt idx="1">
                  <c:v>1</c:v>
                </c:pt>
                <c:pt idx="2">
                  <c:v>1</c:v>
                </c:pt>
              </c:numCache>
            </c:numRef>
          </c:val>
          <c:extLst>
            <c:ext xmlns:c16="http://schemas.microsoft.com/office/drawing/2014/chart" uri="{C3380CC4-5D6E-409C-BE32-E72D297353CC}">
              <c16:uniqueId val="{00000000-32E3-4566-91E5-AD902C58A639}"/>
            </c:ext>
          </c:extLst>
        </c:ser>
        <c:dLbls>
          <c:showLegendKey val="0"/>
          <c:showVal val="1"/>
          <c:showCatName val="0"/>
          <c:showSerName val="0"/>
          <c:showPercent val="0"/>
          <c:showBubbleSize val="0"/>
        </c:dLbls>
        <c:gapWidth val="219"/>
        <c:axId val="372600672"/>
        <c:axId val="372598752"/>
      </c:barChart>
      <c:lineChart>
        <c:grouping val="standard"/>
        <c:varyColors val="0"/>
        <c:ser>
          <c:idx val="1"/>
          <c:order val="1"/>
          <c:tx>
            <c:strRef>
              <c:f>Sheet1!$B$1</c:f>
              <c:strCache>
                <c:ptCount val="1"/>
                <c:pt idx="0">
                  <c:v>Series 1</c:v>
                </c:pt>
              </c:strCache>
            </c:strRef>
          </c:tx>
          <c:spPr>
            <a:ln w="28575" cap="rnd">
              <a:solidFill>
                <a:schemeClr val="accent2"/>
              </a:solidFill>
              <a:round/>
            </a:ln>
            <a:effectLst/>
          </c:spPr>
          <c:marker>
            <c:symbol val="none"/>
          </c:marker>
          <c:cat>
            <c:strRef>
              <c:f>Sheet1!$A$2:$A$4</c:f>
              <c:strCache>
                <c:ptCount val="3"/>
                <c:pt idx="0">
                  <c:v>ADA</c:v>
                </c:pt>
                <c:pt idx="1">
                  <c:v>ADB</c:v>
                </c:pt>
                <c:pt idx="2">
                  <c:v>Campus Avg.</c:v>
                </c:pt>
              </c:strCache>
            </c:strRef>
          </c:cat>
          <c:val>
            <c:numRef>
              <c:f>Sheet1!$B$2:$B$4</c:f>
              <c:numCache>
                <c:formatCode>General</c:formatCode>
                <c:ptCount val="3"/>
                <c:pt idx="0">
                  <c:v>1</c:v>
                </c:pt>
                <c:pt idx="1">
                  <c:v>1</c:v>
                </c:pt>
                <c:pt idx="2">
                  <c:v>1</c:v>
                </c:pt>
              </c:numCache>
            </c:numRef>
          </c:val>
          <c:smooth val="0"/>
          <c:extLst>
            <c:ext xmlns:c16="http://schemas.microsoft.com/office/drawing/2014/chart" uri="{C3380CC4-5D6E-409C-BE32-E72D297353CC}">
              <c16:uniqueId val="{00000000-32E3-4566-91E5-AD902C58A639}"/>
            </c:ext>
          </c:extLst>
        </c:ser>
        <c:dLbls>
          <c:showLegendKey val="0"/>
          <c:showVal val="0"/>
          <c:showCatName val="0"/>
          <c:showSerName val="0"/>
          <c:showPercent val="0"/>
          <c:showBubbleSize val="0"/>
        </c:dLbls>
        <c:marker val="1"/>
        <c:smooth val="0"/>
        <c:axId val="372600672"/>
        <c:axId val="372598752"/>
      </c:lineChart>
      <c:catAx>
        <c:axId val="372600672"/>
        <c:scaling>
          <c:orientation val="minMax"/>
        </c:scaling>
        <c:delete val="1"/>
        <c:axPos val="b"/>
        <c:numFmt formatCode="General" sourceLinked="1"/>
        <c:majorTickMark val="none"/>
        <c:minorTickMark val="none"/>
        <c:tickLblPos val="nextTo"/>
        <c:crossAx val="372598752"/>
        <c:crosses val="autoZero"/>
        <c:auto val="1"/>
        <c:lblAlgn val="ctr"/>
        <c:lblOffset val="100"/>
        <c:noMultiLvlLbl val="0"/>
      </c:catAx>
      <c:valAx>
        <c:axId val="372598752"/>
        <c:scaling>
          <c:orientation val="minMax"/>
          <c:max val="1"/>
          <c:min val="0.5"/>
        </c:scaling>
        <c:delete val="0"/>
        <c:axPos val="l"/>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lgn="ctr">
              <a:defRPr lang="en-US" sz="1000" b="0" i="0" u="none" strike="noStrike" kern="1200" baseline="0">
                <a:solidFill>
                  <a:schemeClr val="tx1"/>
                </a:solidFill>
                <a:latin typeface="Tahoma" panose="020B0604030504040204" pitchFamily="34" charset="0"/>
                <a:ea typeface="Tahoma" panose="020B0604030504040204" pitchFamily="34" charset="0"/>
                <a:cs typeface="Tahoma" panose="020B0604030504040204" pitchFamily="34" charset="0"/>
              </a:defRPr>
            </a:pPr>
            <a:endParaRPr lang="en-US"/>
          </a:p>
        </c:txPr>
        <c:crossAx val="372600672"/>
        <c:crosses val="autoZero"/>
        <c:crossBetween val="between"/>
        <c:majorUnit val="0.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lang="en-US" sz="1000" b="0" i="0" u="none" strike="noStrike" kern="1200" baseline="0">
          <a:solidFill>
            <a:schemeClr val="tx1"/>
          </a:solidFill>
          <a:latin typeface="Tahoma" panose="020B0604030504040204" pitchFamily="34" charset="0"/>
          <a:ea typeface="Tahoma" panose="020B0604030504040204" pitchFamily="34" charset="0"/>
          <a:cs typeface="Tahoma" panose="020B0604030504040204" pitchFamily="34" charset="0"/>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en-US" sz="1200" b="0" i="0" u="none" strike="noStrike" kern="1200" spc="0" baseline="0">
                <a:solidFill>
                  <a:schemeClr val="tx1"/>
                </a:solidFill>
                <a:latin typeface="Tahoma" panose="020B0604030504040204" pitchFamily="34" charset="0"/>
                <a:ea typeface="Tahoma" panose="020B0604030504040204" pitchFamily="34" charset="0"/>
                <a:cs typeface="Tahoma" panose="020B0604030504040204" pitchFamily="34" charset="0"/>
              </a:defRPr>
            </a:pPr>
            <a:r>
              <a:rPr lang="en-US"/>
              <a:t>External Authority Compliance</a:t>
            </a:r>
          </a:p>
        </c:rich>
      </c:tx>
      <c:layout>
        <c:manualLayout>
          <c:xMode val="edge"/>
          <c:yMode val="edge"/>
          <c:x val="0.28445955652480287"/>
          <c:y val="1.1564625540612097E-2"/>
        </c:manualLayout>
      </c:layout>
      <c:overlay val="0"/>
      <c:spPr>
        <a:noFill/>
        <a:ln>
          <a:noFill/>
        </a:ln>
        <a:effectLst/>
      </c:spPr>
      <c:txPr>
        <a:bodyPr rot="0" spcFirstLastPara="1" vertOverflow="ellipsis" vert="horz" wrap="square" anchor="ctr" anchorCtr="1"/>
        <a:lstStyle/>
        <a:p>
          <a:pPr>
            <a:defRPr lang="en-US" sz="1200" b="0" i="0" u="none" strike="noStrike" kern="1200" spc="0" baseline="0">
              <a:solidFill>
                <a:schemeClr val="tx1"/>
              </a:solidFill>
              <a:latin typeface="Tahoma" panose="020B0604030504040204" pitchFamily="34" charset="0"/>
              <a:ea typeface="Tahoma" panose="020B0604030504040204" pitchFamily="34" charset="0"/>
              <a:cs typeface="Tahoma" panose="020B0604030504040204" pitchFamily="34" charset="0"/>
            </a:defRPr>
          </a:pPr>
          <a:endParaRPr lang="en-US"/>
        </a:p>
      </c:txPr>
    </c:title>
    <c:autoTitleDeleted val="0"/>
    <c:plotArea>
      <c:layout>
        <c:manualLayout>
          <c:layoutTarget val="inner"/>
          <c:xMode val="edge"/>
          <c:yMode val="edge"/>
          <c:x val="0.13616576164414254"/>
          <c:y val="0.19960598301183052"/>
          <c:w val="0.82818454242454165"/>
          <c:h val="0.55962543361654526"/>
        </c:manualLayout>
      </c:layout>
      <c:barChart>
        <c:barDir val="col"/>
        <c:grouping val="clustered"/>
        <c:varyColors val="0"/>
        <c:ser>
          <c:idx val="0"/>
          <c:order val="0"/>
          <c:tx>
            <c:strRef>
              <c:f>Sheet1!$B$1</c:f>
              <c:strCache>
                <c:ptCount val="1"/>
                <c:pt idx="0">
                  <c:v>Series 1</c:v>
                </c:pt>
              </c:strCache>
            </c:strRef>
          </c:tx>
          <c:spPr>
            <a:solidFill>
              <a:schemeClr val="accent1"/>
            </a:solidFill>
            <a:ln>
              <a:noFill/>
            </a:ln>
            <a:effectLst/>
          </c:spPr>
          <c:invertIfNegative val="0"/>
          <c:dPt>
            <c:idx val="0"/>
            <c:invertIfNegative val="0"/>
            <c:bubble3D val="0"/>
            <c:spPr>
              <a:solidFill>
                <a:srgbClr val="FFC000"/>
              </a:solidFill>
              <a:ln>
                <a:noFill/>
              </a:ln>
              <a:effectLst/>
            </c:spPr>
            <c:extLst>
              <c:ext xmlns:c16="http://schemas.microsoft.com/office/drawing/2014/chart" uri="{C3380CC4-5D6E-409C-BE32-E72D297353CC}">
                <c16:uniqueId val="{00000000-26D1-4870-831B-A4A7B63134FD}"/>
              </c:ext>
            </c:extLst>
          </c:dPt>
          <c:dPt>
            <c:idx val="1"/>
            <c:invertIfNegative val="0"/>
            <c:bubble3D val="0"/>
            <c:spPr>
              <a:solidFill>
                <a:srgbClr val="FFC000"/>
              </a:solidFill>
              <a:ln>
                <a:noFill/>
              </a:ln>
              <a:effectLst/>
            </c:spPr>
            <c:extLst>
              <c:ext xmlns:c16="http://schemas.microsoft.com/office/drawing/2014/chart" uri="{C3380CC4-5D6E-409C-BE32-E72D297353CC}">
                <c16:uniqueId val="{00000001-26D1-4870-831B-A4A7B63134FD}"/>
              </c:ext>
            </c:extLst>
          </c:dPt>
          <c:dPt>
            <c:idx val="2"/>
            <c:invertIfNegative val="0"/>
            <c:bubble3D val="0"/>
            <c:spPr>
              <a:solidFill>
                <a:srgbClr val="00249C"/>
              </a:solidFill>
              <a:ln>
                <a:noFill/>
              </a:ln>
              <a:effectLst/>
            </c:spPr>
            <c:extLst>
              <c:ext xmlns:c16="http://schemas.microsoft.com/office/drawing/2014/chart" uri="{C3380CC4-5D6E-409C-BE32-E72D297353CC}">
                <c16:uniqueId val="{00000002-26D1-4870-831B-A4A7B63134FD}"/>
              </c:ext>
            </c:extLst>
          </c:dPt>
          <c:dLbls>
            <c:numFmt formatCode="0%" sourceLinked="0"/>
            <c:spPr>
              <a:noFill/>
              <a:ln>
                <a:noFill/>
              </a:ln>
              <a:effectLst/>
            </c:spPr>
            <c:txPr>
              <a:bodyPr rot="0" spcFirstLastPara="1" vertOverflow="ellipsis" vert="horz" wrap="square" anchor="ctr" anchorCtr="1"/>
              <a:lstStyle/>
              <a:p>
                <a:pPr>
                  <a:defRPr lang="en-US" sz="1000" b="0" i="0" u="none" strike="noStrike" kern="1200" baseline="0">
                    <a:solidFill>
                      <a:schemeClr val="tx1"/>
                    </a:solidFill>
                    <a:latin typeface="Tahoma" panose="020B0604030504040204" pitchFamily="34" charset="0"/>
                    <a:ea typeface="Tahoma" panose="020B0604030504040204" pitchFamily="34" charset="0"/>
                    <a:cs typeface="Tahoma" panose="020B0604030504040204" pitchFamily="34" charset="0"/>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Sheet1!$A$2:$A$4</c:f>
              <c:strCache>
                <c:ptCount val="3"/>
                <c:pt idx="0">
                  <c:v>ADA</c:v>
                </c:pt>
                <c:pt idx="1">
                  <c:v>ADB</c:v>
                </c:pt>
                <c:pt idx="2">
                  <c:v>Campus Avg.</c:v>
                </c:pt>
              </c:strCache>
            </c:strRef>
          </c:cat>
          <c:val>
            <c:numRef>
              <c:f>Sheet1!$B$2:$B$4</c:f>
              <c:numCache>
                <c:formatCode>General</c:formatCode>
                <c:ptCount val="3"/>
                <c:pt idx="0">
                  <c:v>0.8571428571428571</c:v>
                </c:pt>
                <c:pt idx="1">
                  <c:v>0.8571428571428571</c:v>
                </c:pt>
                <c:pt idx="2">
                  <c:v>0.94126984126984126</c:v>
                </c:pt>
              </c:numCache>
            </c:numRef>
          </c:val>
          <c:extLst>
            <c:ext xmlns:c16="http://schemas.microsoft.com/office/drawing/2014/chart" uri="{C3380CC4-5D6E-409C-BE32-E72D297353CC}">
              <c16:uniqueId val="{00000000-326A-48FC-98FB-69534615B354}"/>
            </c:ext>
          </c:extLst>
        </c:ser>
        <c:dLbls>
          <c:showLegendKey val="0"/>
          <c:showVal val="1"/>
          <c:showCatName val="0"/>
          <c:showSerName val="0"/>
          <c:showPercent val="0"/>
          <c:showBubbleSize val="0"/>
        </c:dLbls>
        <c:gapWidth val="219"/>
        <c:axId val="589694672"/>
        <c:axId val="589695152"/>
      </c:barChart>
      <c:lineChart>
        <c:grouping val="standard"/>
        <c:varyColors val="0"/>
        <c:ser>
          <c:idx val="1"/>
          <c:order val="1"/>
          <c:tx>
            <c:strRef>
              <c:f>Sheet1!$B$1</c:f>
              <c:strCache>
                <c:ptCount val="1"/>
                <c:pt idx="0">
                  <c:v>Series 1</c:v>
                </c:pt>
              </c:strCache>
            </c:strRef>
          </c:tx>
          <c:spPr>
            <a:ln w="28575" cap="rnd">
              <a:solidFill>
                <a:schemeClr val="accent2"/>
              </a:solidFill>
              <a:round/>
            </a:ln>
            <a:effectLst/>
          </c:spPr>
          <c:marker>
            <c:symbol val="none"/>
          </c:marker>
          <c:cat>
            <c:strRef>
              <c:f>Sheet1!$A$2:$A$4</c:f>
              <c:strCache>
                <c:ptCount val="3"/>
                <c:pt idx="0">
                  <c:v>ADA</c:v>
                </c:pt>
                <c:pt idx="1">
                  <c:v>ADB</c:v>
                </c:pt>
                <c:pt idx="2">
                  <c:v>Campus Avg.</c:v>
                </c:pt>
              </c:strCache>
            </c:strRef>
          </c:cat>
          <c:val>
            <c:numRef>
              <c:f>Sheet1!$B$2:$B$4</c:f>
              <c:numCache>
                <c:formatCode>General</c:formatCode>
                <c:ptCount val="3"/>
                <c:pt idx="0">
                  <c:v>0.8571428571428571</c:v>
                </c:pt>
                <c:pt idx="1">
                  <c:v>0.8571428571428571</c:v>
                </c:pt>
                <c:pt idx="2">
                  <c:v>0.94126984126984126</c:v>
                </c:pt>
              </c:numCache>
            </c:numRef>
          </c:val>
          <c:smooth val="0"/>
          <c:extLst>
            <c:ext xmlns:c16="http://schemas.microsoft.com/office/drawing/2014/chart" uri="{C3380CC4-5D6E-409C-BE32-E72D297353CC}">
              <c16:uniqueId val="{00000000-326A-48FC-98FB-69534615B354}"/>
            </c:ext>
          </c:extLst>
        </c:ser>
        <c:dLbls>
          <c:showLegendKey val="0"/>
          <c:showVal val="0"/>
          <c:showCatName val="0"/>
          <c:showSerName val="0"/>
          <c:showPercent val="0"/>
          <c:showBubbleSize val="0"/>
        </c:dLbls>
        <c:marker val="1"/>
        <c:smooth val="0"/>
        <c:axId val="589694672"/>
        <c:axId val="589695152"/>
      </c:lineChart>
      <c:catAx>
        <c:axId val="589694672"/>
        <c:scaling>
          <c:orientation val="minMax"/>
        </c:scaling>
        <c:delete val="1"/>
        <c:axPos val="b"/>
        <c:numFmt formatCode="General" sourceLinked="1"/>
        <c:majorTickMark val="none"/>
        <c:minorTickMark val="none"/>
        <c:tickLblPos val="nextTo"/>
        <c:crossAx val="589695152"/>
        <c:crosses val="autoZero"/>
        <c:auto val="1"/>
        <c:lblAlgn val="ctr"/>
        <c:lblOffset val="100"/>
        <c:noMultiLvlLbl val="0"/>
      </c:catAx>
      <c:valAx>
        <c:axId val="589695152"/>
        <c:scaling>
          <c:orientation val="minMax"/>
          <c:max val="1"/>
          <c:min val="0.5"/>
        </c:scaling>
        <c:delete val="0"/>
        <c:axPos val="l"/>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lgn="ctr">
              <a:defRPr lang="en-US" sz="1000" b="0" i="0" u="none" strike="noStrike" kern="1200" baseline="0">
                <a:solidFill>
                  <a:schemeClr val="tx1"/>
                </a:solidFill>
                <a:latin typeface="Tahoma" panose="020B0604030504040204" pitchFamily="34" charset="0"/>
                <a:ea typeface="Tahoma" panose="020B0604030504040204" pitchFamily="34" charset="0"/>
                <a:cs typeface="Tahoma" panose="020B0604030504040204" pitchFamily="34" charset="0"/>
              </a:defRPr>
            </a:pPr>
            <a:endParaRPr lang="en-US"/>
          </a:p>
        </c:txPr>
        <c:crossAx val="589694672"/>
        <c:crosses val="autoZero"/>
        <c:crossBetween val="between"/>
        <c:majorUnit val="0.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lang="en-US" sz="1000" b="0" i="0" u="none" strike="noStrike" kern="1200" baseline="0">
          <a:solidFill>
            <a:schemeClr val="tx1"/>
          </a:solidFill>
          <a:latin typeface="Tahoma" panose="020B0604030504040204" pitchFamily="34" charset="0"/>
          <a:ea typeface="Tahoma" panose="020B0604030504040204" pitchFamily="34" charset="0"/>
          <a:cs typeface="Tahoma" panose="020B0604030504040204" pitchFamily="34" charset="0"/>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en-US" sz="1200" b="0" i="0" u="none" strike="noStrike" kern="1200" spc="0" baseline="0">
                <a:solidFill>
                  <a:schemeClr val="tx1"/>
                </a:solidFill>
                <a:latin typeface="Tahoma" panose="020B0604030504040204" pitchFamily="34" charset="0"/>
                <a:ea typeface="Tahoma" panose="020B0604030504040204" pitchFamily="34" charset="0"/>
                <a:cs typeface="Tahoma" panose="020B0604030504040204" pitchFamily="34" charset="0"/>
              </a:defRPr>
            </a:pPr>
            <a:r>
              <a:rPr lang="en-US" dirty="0"/>
              <a:t>Monthly Committee Meeting</a:t>
            </a:r>
          </a:p>
        </c:rich>
      </c:tx>
      <c:layout>
        <c:manualLayout>
          <c:xMode val="edge"/>
          <c:yMode val="edge"/>
          <c:x val="0.26151089043224651"/>
          <c:y val="0"/>
        </c:manualLayout>
      </c:layout>
      <c:overlay val="0"/>
      <c:spPr>
        <a:noFill/>
        <a:ln>
          <a:noFill/>
        </a:ln>
        <a:effectLst/>
      </c:spPr>
      <c:txPr>
        <a:bodyPr rot="0" spcFirstLastPara="1" vertOverflow="ellipsis" vert="horz" wrap="square" anchor="ctr" anchorCtr="1"/>
        <a:lstStyle/>
        <a:p>
          <a:pPr>
            <a:defRPr lang="en-US" sz="1200" b="0" i="0" u="none" strike="noStrike" kern="1200" spc="0" baseline="0">
              <a:solidFill>
                <a:schemeClr val="tx1"/>
              </a:solidFill>
              <a:latin typeface="Tahoma" panose="020B0604030504040204" pitchFamily="34" charset="0"/>
              <a:ea typeface="Tahoma" panose="020B0604030504040204" pitchFamily="34" charset="0"/>
              <a:cs typeface="Tahoma" panose="020B0604030504040204" pitchFamily="34" charset="0"/>
            </a:defRPr>
          </a:pPr>
          <a:endParaRPr lang="en-US"/>
        </a:p>
      </c:txPr>
    </c:title>
    <c:autoTitleDeleted val="0"/>
    <c:plotArea>
      <c:layout/>
      <c:barChart>
        <c:barDir val="col"/>
        <c:grouping val="clustered"/>
        <c:varyColors val="0"/>
        <c:ser>
          <c:idx val="0"/>
          <c:order val="0"/>
          <c:tx>
            <c:strRef>
              <c:f>Sheet1!$B$1</c:f>
              <c:strCache>
                <c:ptCount val="1"/>
                <c:pt idx="0">
                  <c:v>Series 1</c:v>
                </c:pt>
              </c:strCache>
            </c:strRef>
          </c:tx>
          <c:spPr>
            <a:solidFill>
              <a:srgbClr val="00249C"/>
            </a:solidFill>
            <a:ln>
              <a:noFill/>
            </a:ln>
            <a:effectLst/>
          </c:spPr>
          <c:invertIfNegative val="0"/>
          <c:dPt>
            <c:idx val="0"/>
            <c:invertIfNegative val="1"/>
            <c:bubble3D val="0"/>
            <c:spPr>
              <a:solidFill>
                <a:srgbClr val="00249C"/>
              </a:solidFill>
              <a:ln>
                <a:noFill/>
              </a:ln>
              <a:effectLst/>
            </c:spPr>
            <c:extLst>
              <c:ext xmlns:c16="http://schemas.microsoft.com/office/drawing/2014/chart" uri="{C3380CC4-5D6E-409C-BE32-E72D297353CC}">
                <c16:uniqueId val="{00000001-ABDE-4EA8-8FF6-525476CEC6D4}"/>
              </c:ext>
            </c:extLst>
          </c:dPt>
          <c:dPt>
            <c:idx val="1"/>
            <c:invertIfNegative val="1"/>
            <c:bubble3D val="0"/>
            <c:spPr>
              <a:solidFill>
                <a:srgbClr val="00249C"/>
              </a:solidFill>
              <a:ln>
                <a:noFill/>
              </a:ln>
              <a:effectLst/>
            </c:spPr>
            <c:extLst>
              <c:ext xmlns:c16="http://schemas.microsoft.com/office/drawing/2014/chart" uri="{C3380CC4-5D6E-409C-BE32-E72D297353CC}">
                <c16:uniqueId val="{00000003-ABDE-4EA8-8FF6-525476CEC6D4}"/>
              </c:ext>
            </c:extLst>
          </c:dPt>
          <c:dPt>
            <c:idx val="2"/>
            <c:invertIfNegative val="1"/>
            <c:bubble3D val="0"/>
            <c:spPr>
              <a:solidFill>
                <a:srgbClr val="00249C"/>
              </a:solidFill>
              <a:ln>
                <a:noFill/>
              </a:ln>
              <a:effectLst/>
            </c:spPr>
            <c:extLst>
              <c:ext xmlns:c16="http://schemas.microsoft.com/office/drawing/2014/chart" uri="{C3380CC4-5D6E-409C-BE32-E72D297353CC}">
                <c16:uniqueId val="{00000005-ABDE-4EA8-8FF6-525476CEC6D4}"/>
              </c:ext>
            </c:extLst>
          </c:dPt>
          <c:dLbls>
            <c:numFmt formatCode="0%" sourceLinked="0"/>
            <c:spPr>
              <a:noFill/>
              <a:ln>
                <a:noFill/>
              </a:ln>
              <a:effectLst/>
            </c:spPr>
            <c:txPr>
              <a:bodyPr rot="0" spcFirstLastPara="1" vertOverflow="ellipsis" vert="horz" wrap="square" anchor="ctr" anchorCtr="1"/>
              <a:lstStyle/>
              <a:p>
                <a:pPr>
                  <a:defRPr lang="en-US" sz="1000" b="0" i="0" u="none" strike="noStrike" kern="1200" baseline="0">
                    <a:solidFill>
                      <a:schemeClr val="tx1"/>
                    </a:solidFill>
                    <a:latin typeface="Tahoma" panose="020B0604030504040204" pitchFamily="34" charset="0"/>
                    <a:ea typeface="Tahoma" panose="020B0604030504040204" pitchFamily="34" charset="0"/>
                    <a:cs typeface="Tahoma" panose="020B0604030504040204" pitchFamily="34" charset="0"/>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Sheet1!$A$2:$A$4</c:f>
              <c:strCache>
                <c:ptCount val="3"/>
                <c:pt idx="0">
                  <c:v>ADA</c:v>
                </c:pt>
                <c:pt idx="1">
                  <c:v>ADB</c:v>
                </c:pt>
                <c:pt idx="2">
                  <c:v>Campus Avg.</c:v>
                </c:pt>
              </c:strCache>
            </c:strRef>
          </c:cat>
          <c:val>
            <c:numRef>
              <c:f>Sheet1!$B$2:$B$4</c:f>
              <c:numCache>
                <c:formatCode>General</c:formatCode>
                <c:ptCount val="3"/>
                <c:pt idx="0">
                  <c:v>1</c:v>
                </c:pt>
                <c:pt idx="1">
                  <c:v>1</c:v>
                </c:pt>
                <c:pt idx="2">
                  <c:v>1</c:v>
                </c:pt>
              </c:numCache>
            </c:numRef>
          </c:val>
          <c:extLst>
            <c:ext xmlns:c16="http://schemas.microsoft.com/office/drawing/2014/chart" uri="{C3380CC4-5D6E-409C-BE32-E72D297353CC}">
              <c16:uniqueId val="{00000000-5C59-4273-A6CC-B2057A5A459D}"/>
            </c:ext>
          </c:extLst>
        </c:ser>
        <c:dLbls>
          <c:showLegendKey val="0"/>
          <c:showVal val="1"/>
          <c:showCatName val="0"/>
          <c:showSerName val="0"/>
          <c:showPercent val="0"/>
          <c:showBubbleSize val="0"/>
        </c:dLbls>
        <c:gapWidth val="219"/>
        <c:axId val="372600672"/>
        <c:axId val="372598752"/>
      </c:barChart>
      <c:lineChart>
        <c:grouping val="standard"/>
        <c:varyColors val="0"/>
        <c:ser>
          <c:idx val="1"/>
          <c:order val="1"/>
          <c:tx>
            <c:strRef>
              <c:f>Sheet1!$B$1</c:f>
              <c:strCache>
                <c:ptCount val="1"/>
                <c:pt idx="0">
                  <c:v>Series 1</c:v>
                </c:pt>
              </c:strCache>
            </c:strRef>
          </c:tx>
          <c:spPr>
            <a:ln w="28575" cap="rnd">
              <a:solidFill>
                <a:schemeClr val="accent2"/>
              </a:solidFill>
              <a:round/>
            </a:ln>
            <a:effectLst/>
          </c:spPr>
          <c:marker>
            <c:symbol val="none"/>
          </c:marker>
          <c:cat>
            <c:strRef>
              <c:f>Sheet1!$A$2:$A$4</c:f>
              <c:strCache>
                <c:ptCount val="3"/>
                <c:pt idx="0">
                  <c:v>ADA</c:v>
                </c:pt>
                <c:pt idx="1">
                  <c:v>ADB</c:v>
                </c:pt>
                <c:pt idx="2">
                  <c:v>Campus Avg.</c:v>
                </c:pt>
              </c:strCache>
            </c:strRef>
          </c:cat>
          <c:val>
            <c:numRef>
              <c:f>Sheet1!$B$2:$B$4</c:f>
              <c:numCache>
                <c:formatCode>General</c:formatCode>
                <c:ptCount val="3"/>
                <c:pt idx="0">
                  <c:v>1</c:v>
                </c:pt>
                <c:pt idx="1">
                  <c:v>1</c:v>
                </c:pt>
                <c:pt idx="2">
                  <c:v>1</c:v>
                </c:pt>
              </c:numCache>
            </c:numRef>
          </c:val>
          <c:smooth val="0"/>
          <c:extLst>
            <c:ext xmlns:c16="http://schemas.microsoft.com/office/drawing/2014/chart" uri="{C3380CC4-5D6E-409C-BE32-E72D297353CC}">
              <c16:uniqueId val="{00000000-5C59-4273-A6CC-B2057A5A459D}"/>
            </c:ext>
          </c:extLst>
        </c:ser>
        <c:dLbls>
          <c:showLegendKey val="0"/>
          <c:showVal val="0"/>
          <c:showCatName val="0"/>
          <c:showSerName val="0"/>
          <c:showPercent val="0"/>
          <c:showBubbleSize val="0"/>
        </c:dLbls>
        <c:marker val="1"/>
        <c:smooth val="0"/>
        <c:axId val="372600672"/>
        <c:axId val="372598752"/>
      </c:lineChart>
      <c:catAx>
        <c:axId val="372600672"/>
        <c:scaling>
          <c:orientation val="minMax"/>
        </c:scaling>
        <c:delete val="1"/>
        <c:axPos val="b"/>
        <c:numFmt formatCode="General" sourceLinked="1"/>
        <c:majorTickMark val="none"/>
        <c:minorTickMark val="none"/>
        <c:tickLblPos val="nextTo"/>
        <c:crossAx val="372598752"/>
        <c:crosses val="autoZero"/>
        <c:auto val="1"/>
        <c:lblAlgn val="ctr"/>
        <c:lblOffset val="100"/>
        <c:noMultiLvlLbl val="0"/>
      </c:catAx>
      <c:valAx>
        <c:axId val="372598752"/>
        <c:scaling>
          <c:orientation val="minMax"/>
          <c:max val="1"/>
          <c:min val="0.5"/>
        </c:scaling>
        <c:delete val="0"/>
        <c:axPos val="l"/>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lgn="ctr">
              <a:defRPr lang="en-US" sz="1000" b="0" i="0" u="none" strike="noStrike" kern="1200" baseline="0">
                <a:solidFill>
                  <a:schemeClr val="tx1"/>
                </a:solidFill>
                <a:latin typeface="Tahoma" panose="020B0604030504040204" pitchFamily="34" charset="0"/>
                <a:ea typeface="Tahoma" panose="020B0604030504040204" pitchFamily="34" charset="0"/>
                <a:cs typeface="Tahoma" panose="020B0604030504040204" pitchFamily="34" charset="0"/>
              </a:defRPr>
            </a:pPr>
            <a:endParaRPr lang="en-US"/>
          </a:p>
        </c:txPr>
        <c:crossAx val="372600672"/>
        <c:crosses val="autoZero"/>
        <c:crossBetween val="between"/>
        <c:majorUnit val="0.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lang="en-US" sz="1000" b="0" i="0" u="none" strike="noStrike" kern="1200" baseline="0">
          <a:solidFill>
            <a:schemeClr val="tx1"/>
          </a:solidFill>
          <a:latin typeface="Tahoma" panose="020B0604030504040204" pitchFamily="34" charset="0"/>
          <a:ea typeface="Tahoma" panose="020B0604030504040204" pitchFamily="34" charset="0"/>
          <a:cs typeface="Tahoma" panose="020B0604030504040204" pitchFamily="34" charset="0"/>
        </a:defRPr>
      </a:pPr>
      <a:endParaRPr lang="en-US"/>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en-US" sz="1200" b="0" i="0" u="none" strike="noStrike" kern="1200" spc="0" baseline="0">
                <a:solidFill>
                  <a:schemeClr val="tx1"/>
                </a:solidFill>
                <a:latin typeface="Tahoma" panose="020B0604030504040204" pitchFamily="34" charset="0"/>
                <a:ea typeface="Tahoma" panose="020B0604030504040204" pitchFamily="34" charset="0"/>
                <a:cs typeface="Tahoma" panose="020B0604030504040204" pitchFamily="34" charset="0"/>
              </a:defRPr>
            </a:pPr>
            <a:r>
              <a:rPr lang="en-US" dirty="0"/>
              <a:t>Management Review &amp; Committee Actions Closed Due June-26</a:t>
            </a:r>
          </a:p>
          <a:p>
            <a:pPr>
              <a:defRPr/>
            </a:pPr>
            <a:endParaRPr lang="en-US" dirty="0"/>
          </a:p>
        </c:rich>
      </c:tx>
      <c:layout>
        <c:manualLayout>
          <c:xMode val="edge"/>
          <c:yMode val="edge"/>
          <c:x val="0.12546349719011063"/>
          <c:y val="0"/>
        </c:manualLayout>
      </c:layout>
      <c:overlay val="0"/>
      <c:spPr>
        <a:noFill/>
        <a:ln>
          <a:noFill/>
        </a:ln>
        <a:effectLst/>
      </c:spPr>
      <c:txPr>
        <a:bodyPr rot="0" spcFirstLastPara="1" vertOverflow="ellipsis" vert="horz" wrap="square" anchor="ctr" anchorCtr="1"/>
        <a:lstStyle/>
        <a:p>
          <a:pPr>
            <a:defRPr lang="en-US" sz="1200" b="0" i="0" u="none" strike="noStrike" kern="1200" spc="0" baseline="0">
              <a:solidFill>
                <a:schemeClr val="tx1"/>
              </a:solidFill>
              <a:latin typeface="Tahoma" panose="020B0604030504040204" pitchFamily="34" charset="0"/>
              <a:ea typeface="Tahoma" panose="020B0604030504040204" pitchFamily="34" charset="0"/>
              <a:cs typeface="Tahoma" panose="020B0604030504040204" pitchFamily="34" charset="0"/>
            </a:defRPr>
          </a:pPr>
          <a:endParaRPr lang="en-US"/>
        </a:p>
      </c:txPr>
    </c:title>
    <c:autoTitleDeleted val="0"/>
    <c:plotArea>
      <c:layout/>
      <c:barChart>
        <c:barDir val="col"/>
        <c:grouping val="clustered"/>
        <c:varyColors val="0"/>
        <c:ser>
          <c:idx val="0"/>
          <c:order val="0"/>
          <c:tx>
            <c:strRef>
              <c:f>Sheet1!$B$1</c:f>
              <c:strCache>
                <c:ptCount val="1"/>
                <c:pt idx="0">
                  <c:v>Series 1</c:v>
                </c:pt>
              </c:strCache>
            </c:strRef>
          </c:tx>
          <c:spPr>
            <a:solidFill>
              <a:srgbClr val="00249C"/>
            </a:solidFill>
            <a:ln>
              <a:noFill/>
            </a:ln>
            <a:effectLst/>
          </c:spPr>
          <c:invertIfNegative val="0"/>
          <c:dPt>
            <c:idx val="0"/>
            <c:invertIfNegative val="0"/>
            <c:bubble3D val="0"/>
            <c:spPr>
              <a:solidFill>
                <a:srgbClr val="00249C"/>
              </a:solidFill>
              <a:ln>
                <a:noFill/>
              </a:ln>
              <a:effectLst/>
            </c:spPr>
            <c:extLst>
              <c:ext xmlns:c16="http://schemas.microsoft.com/office/drawing/2014/chart" uri="{C3380CC4-5D6E-409C-BE32-E72D297353CC}">
                <c16:uniqueId val="{00000000-3284-4EA8-841A-A274FBB17FC9}"/>
              </c:ext>
            </c:extLst>
          </c:dPt>
          <c:dPt>
            <c:idx val="1"/>
            <c:invertIfNegative val="0"/>
            <c:bubble3D val="0"/>
            <c:spPr>
              <a:solidFill>
                <a:srgbClr val="00249C"/>
              </a:solidFill>
              <a:ln>
                <a:noFill/>
              </a:ln>
              <a:effectLst/>
            </c:spPr>
            <c:extLst>
              <c:ext xmlns:c16="http://schemas.microsoft.com/office/drawing/2014/chart" uri="{C3380CC4-5D6E-409C-BE32-E72D297353CC}">
                <c16:uniqueId val="{00000001-3284-4EA8-841A-A274FBB17FC9}"/>
              </c:ext>
            </c:extLst>
          </c:dPt>
          <c:dPt>
            <c:idx val="2"/>
            <c:invertIfNegative val="1"/>
            <c:bubble3D val="0"/>
            <c:spPr>
              <a:solidFill>
                <a:srgbClr val="00249C"/>
              </a:solidFill>
              <a:ln>
                <a:noFill/>
              </a:ln>
              <a:effectLst/>
            </c:spPr>
            <c:extLst>
              <c:ext xmlns:c16="http://schemas.microsoft.com/office/drawing/2014/chart" uri="{C3380CC4-5D6E-409C-BE32-E72D297353CC}">
                <c16:uniqueId val="{00000005-D7B9-4A81-9B8B-795CB1FE19B6}"/>
              </c:ext>
            </c:extLst>
          </c:dPt>
          <c:dLbls>
            <c:numFmt formatCode="0%" sourceLinked="0"/>
            <c:spPr>
              <a:noFill/>
              <a:ln>
                <a:noFill/>
              </a:ln>
              <a:effectLst/>
            </c:spPr>
            <c:txPr>
              <a:bodyPr rot="0" spcFirstLastPara="1" vertOverflow="ellipsis" vert="horz" wrap="square" anchor="ctr" anchorCtr="1"/>
              <a:lstStyle/>
              <a:p>
                <a:pPr>
                  <a:defRPr lang="en-US" sz="1000" b="0" i="0" u="none" strike="noStrike" kern="1200" baseline="0">
                    <a:solidFill>
                      <a:schemeClr val="tx1"/>
                    </a:solidFill>
                    <a:latin typeface="Tahoma" panose="020B0604030504040204" pitchFamily="34" charset="0"/>
                    <a:ea typeface="Tahoma" panose="020B0604030504040204" pitchFamily="34" charset="0"/>
                    <a:cs typeface="Tahoma" panose="020B0604030504040204" pitchFamily="34" charset="0"/>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Sheet1!$A$2:$A$4</c:f>
              <c:strCache>
                <c:ptCount val="3"/>
                <c:pt idx="0">
                  <c:v>ADA</c:v>
                </c:pt>
                <c:pt idx="1">
                  <c:v>ADB</c:v>
                </c:pt>
                <c:pt idx="2">
                  <c:v>Campus Avg.</c:v>
                </c:pt>
              </c:strCache>
            </c:strRef>
          </c:cat>
          <c:val>
            <c:numRef>
              <c:f>Sheet1!$B$2:$B$4</c:f>
              <c:numCache>
                <c:formatCode>General</c:formatCode>
                <c:ptCount val="3"/>
                <c:pt idx="0">
                  <c:v>1</c:v>
                </c:pt>
                <c:pt idx="1">
                  <c:v>1</c:v>
                </c:pt>
                <c:pt idx="2">
                  <c:v>0.85185185185185186</c:v>
                </c:pt>
              </c:numCache>
            </c:numRef>
          </c:val>
          <c:extLst>
            <c:ext xmlns:c16="http://schemas.microsoft.com/office/drawing/2014/chart" uri="{C3380CC4-5D6E-409C-BE32-E72D297353CC}">
              <c16:uniqueId val="{00000000-46D6-4D77-A0F5-895D5FD4D053}"/>
            </c:ext>
          </c:extLst>
        </c:ser>
        <c:dLbls>
          <c:showLegendKey val="0"/>
          <c:showVal val="1"/>
          <c:showCatName val="0"/>
          <c:showSerName val="0"/>
          <c:showPercent val="0"/>
          <c:showBubbleSize val="0"/>
        </c:dLbls>
        <c:gapWidth val="219"/>
        <c:axId val="372600672"/>
        <c:axId val="372598752"/>
      </c:barChart>
      <c:lineChart>
        <c:grouping val="standard"/>
        <c:varyColors val="0"/>
        <c:ser>
          <c:idx val="1"/>
          <c:order val="1"/>
          <c:tx>
            <c:strRef>
              <c:f>Sheet1!$B$1</c:f>
              <c:strCache>
                <c:ptCount val="1"/>
                <c:pt idx="0">
                  <c:v>Series 1</c:v>
                </c:pt>
              </c:strCache>
            </c:strRef>
          </c:tx>
          <c:spPr>
            <a:ln w="28575" cap="rnd">
              <a:solidFill>
                <a:schemeClr val="accent2"/>
              </a:solidFill>
              <a:round/>
            </a:ln>
            <a:effectLst/>
          </c:spPr>
          <c:marker>
            <c:symbol val="none"/>
          </c:marker>
          <c:cat>
            <c:strRef>
              <c:f>Sheet1!$A$2:$A$4</c:f>
              <c:strCache>
                <c:ptCount val="3"/>
                <c:pt idx="0">
                  <c:v>ADA</c:v>
                </c:pt>
                <c:pt idx="1">
                  <c:v>ADB</c:v>
                </c:pt>
                <c:pt idx="2">
                  <c:v>Campus Avg.</c:v>
                </c:pt>
              </c:strCache>
            </c:strRef>
          </c:cat>
          <c:val>
            <c:numRef>
              <c:f>Sheet1!$B$2:$B$4</c:f>
              <c:numCache>
                <c:formatCode>General</c:formatCode>
                <c:ptCount val="3"/>
                <c:pt idx="0">
                  <c:v>1</c:v>
                </c:pt>
                <c:pt idx="1">
                  <c:v>1</c:v>
                </c:pt>
                <c:pt idx="2">
                  <c:v>0.85185185185185186</c:v>
                </c:pt>
              </c:numCache>
            </c:numRef>
          </c:val>
          <c:smooth val="0"/>
          <c:extLst>
            <c:ext xmlns:c16="http://schemas.microsoft.com/office/drawing/2014/chart" uri="{C3380CC4-5D6E-409C-BE32-E72D297353CC}">
              <c16:uniqueId val="{00000000-46D6-4D77-A0F5-895D5FD4D053}"/>
            </c:ext>
          </c:extLst>
        </c:ser>
        <c:dLbls>
          <c:showLegendKey val="0"/>
          <c:showVal val="0"/>
          <c:showCatName val="0"/>
          <c:showSerName val="0"/>
          <c:showPercent val="0"/>
          <c:showBubbleSize val="0"/>
        </c:dLbls>
        <c:marker val="1"/>
        <c:smooth val="0"/>
        <c:axId val="372600672"/>
        <c:axId val="372598752"/>
      </c:lineChart>
      <c:catAx>
        <c:axId val="372600672"/>
        <c:scaling>
          <c:orientation val="minMax"/>
        </c:scaling>
        <c:delete val="1"/>
        <c:axPos val="b"/>
        <c:numFmt formatCode="General" sourceLinked="1"/>
        <c:majorTickMark val="none"/>
        <c:minorTickMark val="none"/>
        <c:tickLblPos val="nextTo"/>
        <c:crossAx val="372598752"/>
        <c:crosses val="autoZero"/>
        <c:auto val="1"/>
        <c:lblAlgn val="ctr"/>
        <c:lblOffset val="100"/>
        <c:noMultiLvlLbl val="0"/>
      </c:catAx>
      <c:valAx>
        <c:axId val="372598752"/>
        <c:scaling>
          <c:orientation val="minMax"/>
          <c:max val="1"/>
          <c:min val="0.5"/>
        </c:scaling>
        <c:delete val="0"/>
        <c:axPos val="l"/>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lgn="ctr">
              <a:defRPr lang="en-US" sz="1000" b="0" i="0" u="none" strike="noStrike" kern="1200" baseline="0">
                <a:solidFill>
                  <a:schemeClr val="tx1"/>
                </a:solidFill>
                <a:latin typeface="Tahoma" panose="020B0604030504040204" pitchFamily="34" charset="0"/>
                <a:ea typeface="Tahoma" panose="020B0604030504040204" pitchFamily="34" charset="0"/>
                <a:cs typeface="Tahoma" panose="020B0604030504040204" pitchFamily="34" charset="0"/>
              </a:defRPr>
            </a:pPr>
            <a:endParaRPr lang="en-US"/>
          </a:p>
        </c:txPr>
        <c:crossAx val="372600672"/>
        <c:crosses val="autoZero"/>
        <c:crossBetween val="between"/>
        <c:majorUnit val="0.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lang="en-US" sz="1000" b="0" i="0" u="none" strike="noStrike" kern="1200" baseline="0">
          <a:solidFill>
            <a:schemeClr val="tx1"/>
          </a:solidFill>
          <a:latin typeface="Tahoma" panose="020B0604030504040204" pitchFamily="34" charset="0"/>
          <a:ea typeface="Tahoma" panose="020B0604030504040204" pitchFamily="34" charset="0"/>
          <a:cs typeface="Tahoma" panose="020B0604030504040204" pitchFamily="34" charset="0"/>
        </a:defRPr>
      </a:pPr>
      <a:endParaRPr lang="en-US"/>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lang="en-US" sz="1200" b="0" i="0" u="none" strike="noStrike" kern="1200" spc="0" baseline="0">
                <a:solidFill>
                  <a:srgbClr val="00249C"/>
                </a:solidFill>
                <a:latin typeface="Tahoma" panose="020B0604030504040204" pitchFamily="34" charset="0"/>
                <a:ea typeface="Tahoma" panose="020B0604030504040204" pitchFamily="34" charset="0"/>
                <a:cs typeface="Tahoma" panose="020B0604030504040204" pitchFamily="34" charset="0"/>
              </a:defRPr>
            </a:pPr>
            <a:r>
              <a:rPr lang="en-US" dirty="0"/>
              <a:t>Hazard Identification</a:t>
            </a:r>
          </a:p>
        </c:rich>
      </c:tx>
      <c:layout>
        <c:manualLayout>
          <c:xMode val="edge"/>
          <c:yMode val="edge"/>
          <c:x val="0.31056961298266023"/>
          <c:y val="1.7346938310918145E-2"/>
        </c:manualLayout>
      </c:layout>
      <c:overlay val="0"/>
      <c:spPr>
        <a:noFill/>
        <a:ln>
          <a:noFill/>
        </a:ln>
        <a:effectLst/>
      </c:spPr>
      <c:txPr>
        <a:bodyPr rot="0" spcFirstLastPara="1" vertOverflow="ellipsis" vert="horz" wrap="square"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lang="en-US" sz="1200" b="0" i="0" u="none" strike="noStrike" kern="1200" spc="0" baseline="0">
              <a:solidFill>
                <a:srgbClr val="00249C"/>
              </a:solidFill>
              <a:latin typeface="Tahoma" panose="020B0604030504040204" pitchFamily="34" charset="0"/>
              <a:ea typeface="Tahoma" panose="020B0604030504040204" pitchFamily="34" charset="0"/>
              <a:cs typeface="Tahoma" panose="020B0604030504040204" pitchFamily="34" charset="0"/>
            </a:defRPr>
          </a:pPr>
          <a:endParaRPr lang="en-US"/>
        </a:p>
      </c:txPr>
    </c:title>
    <c:autoTitleDeleted val="0"/>
    <c:plotArea>
      <c:layout>
        <c:manualLayout>
          <c:layoutTarget val="inner"/>
          <c:xMode val="edge"/>
          <c:yMode val="edge"/>
          <c:x val="0.13616576164414254"/>
          <c:y val="0.19960598301183052"/>
          <c:w val="0.82818454242454165"/>
          <c:h val="0.55962543361654526"/>
        </c:manualLayout>
      </c:layout>
      <c:barChart>
        <c:barDir val="col"/>
        <c:grouping val="clustered"/>
        <c:varyColors val="0"/>
        <c:ser>
          <c:idx val="0"/>
          <c:order val="0"/>
          <c:tx>
            <c:strRef>
              <c:f>Sheet1!$B$1</c:f>
              <c:strCache>
                <c:ptCount val="1"/>
                <c:pt idx="0">
                  <c:v>Series 1</c:v>
                </c:pt>
              </c:strCache>
            </c:strRef>
          </c:tx>
          <c:spPr>
            <a:solidFill>
              <a:schemeClr val="accent1"/>
            </a:solidFill>
            <a:ln>
              <a:noFill/>
            </a:ln>
            <a:effectLst/>
          </c:spPr>
          <c:invertIfNegative val="0"/>
          <c:dPt>
            <c:idx val="0"/>
            <c:invertIfNegative val="0"/>
            <c:bubble3D val="0"/>
            <c:spPr>
              <a:solidFill>
                <a:srgbClr val="00249C"/>
              </a:solidFill>
              <a:ln>
                <a:noFill/>
              </a:ln>
              <a:effectLst/>
            </c:spPr>
            <c:extLst>
              <c:ext xmlns:c16="http://schemas.microsoft.com/office/drawing/2014/chart" uri="{C3380CC4-5D6E-409C-BE32-E72D297353CC}">
                <c16:uniqueId val="{00000001-4536-4613-9FA4-E112A2ECBFF8}"/>
              </c:ext>
            </c:extLst>
          </c:dPt>
          <c:dPt>
            <c:idx val="1"/>
            <c:invertIfNegative val="0"/>
            <c:bubble3D val="0"/>
            <c:spPr>
              <a:solidFill>
                <a:srgbClr val="FFC000"/>
              </a:solidFill>
              <a:ln>
                <a:noFill/>
              </a:ln>
              <a:effectLst/>
            </c:spPr>
            <c:extLst>
              <c:ext xmlns:c16="http://schemas.microsoft.com/office/drawing/2014/chart" uri="{C3380CC4-5D6E-409C-BE32-E72D297353CC}">
                <c16:uniqueId val="{00000003-4536-4613-9FA4-E112A2ECBFF8}"/>
              </c:ext>
            </c:extLst>
          </c:dPt>
          <c:dPt>
            <c:idx val="2"/>
            <c:invertIfNegative val="0"/>
            <c:bubble3D val="0"/>
            <c:spPr>
              <a:solidFill>
                <a:srgbClr val="00249C"/>
              </a:solidFill>
              <a:ln>
                <a:noFill/>
              </a:ln>
              <a:effectLst/>
            </c:spPr>
            <c:extLst>
              <c:ext xmlns:c16="http://schemas.microsoft.com/office/drawing/2014/chart" uri="{C3380CC4-5D6E-409C-BE32-E72D297353CC}">
                <c16:uniqueId val="{00000005-4536-4613-9FA4-E112A2ECBFF8}"/>
              </c:ext>
            </c:extLst>
          </c:dPt>
          <c:dLbls>
            <c:numFmt formatCode="0%" sourceLinked="0"/>
            <c:spPr>
              <a:noFill/>
              <a:ln>
                <a:noFill/>
              </a:ln>
              <a:effectLst/>
            </c:spPr>
            <c:txPr>
              <a:bodyPr rot="0" spcFirstLastPara="1" vertOverflow="ellipsis" vert="horz" wrap="square" anchor="ctr" anchorCtr="1"/>
              <a:lstStyle/>
              <a:p>
                <a:pPr>
                  <a:defRPr lang="en-US" sz="1000" b="0" i="0" u="none" strike="noStrike" kern="1200" baseline="0">
                    <a:solidFill>
                      <a:schemeClr val="tx1"/>
                    </a:solidFill>
                    <a:latin typeface="Tahoma" panose="020B0604030504040204" pitchFamily="34" charset="0"/>
                    <a:ea typeface="Tahoma" panose="020B0604030504040204" pitchFamily="34" charset="0"/>
                    <a:cs typeface="Tahoma" panose="020B0604030504040204" pitchFamily="34" charset="0"/>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Sheet1!$A$2:$A$4</c:f>
              <c:strCache>
                <c:ptCount val="3"/>
                <c:pt idx="0">
                  <c:v>ADA</c:v>
                </c:pt>
                <c:pt idx="1">
                  <c:v>ADB</c:v>
                </c:pt>
                <c:pt idx="2">
                  <c:v>Campus Avg.</c:v>
                </c:pt>
              </c:strCache>
            </c:strRef>
          </c:cat>
          <c:val>
            <c:numRef>
              <c:f>Sheet1!$B$2:$B$4</c:f>
              <c:numCache>
                <c:formatCode>General</c:formatCode>
                <c:ptCount val="3"/>
                <c:pt idx="0">
                  <c:v>1</c:v>
                </c:pt>
                <c:pt idx="1">
                  <c:v>0.9</c:v>
                </c:pt>
                <c:pt idx="2">
                  <c:v>0.97717881220603553</c:v>
                </c:pt>
              </c:numCache>
            </c:numRef>
          </c:val>
          <c:extLst>
            <c:ext xmlns:c16="http://schemas.microsoft.com/office/drawing/2014/chart" uri="{C3380CC4-5D6E-409C-BE32-E72D297353CC}">
              <c16:uniqueId val="{00000006-4536-4613-9FA4-E112A2ECBFF8}"/>
            </c:ext>
          </c:extLst>
        </c:ser>
        <c:dLbls>
          <c:showLegendKey val="0"/>
          <c:showVal val="1"/>
          <c:showCatName val="0"/>
          <c:showSerName val="0"/>
          <c:showPercent val="0"/>
          <c:showBubbleSize val="0"/>
        </c:dLbls>
        <c:gapWidth val="219"/>
        <c:axId val="589694672"/>
        <c:axId val="589695152"/>
      </c:barChart>
      <c:lineChart>
        <c:grouping val="standard"/>
        <c:varyColors val="0"/>
        <c:ser>
          <c:idx val="1"/>
          <c:order val="1"/>
          <c:tx>
            <c:strRef>
              <c:f>Sheet1!$B$1</c:f>
              <c:strCache>
                <c:ptCount val="1"/>
                <c:pt idx="0">
                  <c:v>Series 1</c:v>
                </c:pt>
              </c:strCache>
            </c:strRef>
          </c:tx>
          <c:spPr>
            <a:ln w="28575" cap="rnd">
              <a:solidFill>
                <a:schemeClr val="accent2"/>
              </a:solidFill>
              <a:round/>
            </a:ln>
            <a:effectLst/>
          </c:spPr>
          <c:marker>
            <c:symbol val="none"/>
          </c:marker>
          <c:cat>
            <c:strRef>
              <c:f>Sheet1!$A$2:$A$4</c:f>
              <c:strCache>
                <c:ptCount val="3"/>
                <c:pt idx="0">
                  <c:v>ADA</c:v>
                </c:pt>
                <c:pt idx="1">
                  <c:v>ADB</c:v>
                </c:pt>
                <c:pt idx="2">
                  <c:v>Campus Avg.</c:v>
                </c:pt>
              </c:strCache>
            </c:strRef>
          </c:cat>
          <c:val>
            <c:numRef>
              <c:f>Sheet1!$B$2:$B$4</c:f>
              <c:numCache>
                <c:formatCode>General</c:formatCode>
                <c:ptCount val="3"/>
                <c:pt idx="0">
                  <c:v>1</c:v>
                </c:pt>
                <c:pt idx="1">
                  <c:v>0.9</c:v>
                </c:pt>
                <c:pt idx="2">
                  <c:v>0.97717881220603553</c:v>
                </c:pt>
              </c:numCache>
            </c:numRef>
          </c:val>
          <c:smooth val="0"/>
          <c:extLst>
            <c:ext xmlns:c16="http://schemas.microsoft.com/office/drawing/2014/chart" uri="{C3380CC4-5D6E-409C-BE32-E72D297353CC}">
              <c16:uniqueId val="{00000006-4536-4613-9FA4-E112A2ECBFF8}"/>
            </c:ext>
          </c:extLst>
        </c:ser>
        <c:dLbls>
          <c:showLegendKey val="0"/>
          <c:showVal val="0"/>
          <c:showCatName val="0"/>
          <c:showSerName val="0"/>
          <c:showPercent val="0"/>
          <c:showBubbleSize val="0"/>
        </c:dLbls>
        <c:marker val="1"/>
        <c:smooth val="0"/>
        <c:axId val="589694672"/>
        <c:axId val="589695152"/>
      </c:lineChart>
      <c:catAx>
        <c:axId val="589694672"/>
        <c:scaling>
          <c:orientation val="minMax"/>
        </c:scaling>
        <c:delete val="1"/>
        <c:axPos val="b"/>
        <c:numFmt formatCode="General" sourceLinked="1"/>
        <c:majorTickMark val="none"/>
        <c:minorTickMark val="none"/>
        <c:tickLblPos val="nextTo"/>
        <c:crossAx val="589695152"/>
        <c:crosses val="autoZero"/>
        <c:auto val="1"/>
        <c:lblAlgn val="ctr"/>
        <c:lblOffset val="100"/>
        <c:noMultiLvlLbl val="0"/>
      </c:catAx>
      <c:valAx>
        <c:axId val="589695152"/>
        <c:scaling>
          <c:orientation val="minMax"/>
          <c:max val="1"/>
          <c:min val="0.5"/>
        </c:scaling>
        <c:delete val="0"/>
        <c:axPos val="l"/>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lgn="ctr">
              <a:defRPr lang="en-US" sz="1000" b="0" i="0" u="none" strike="noStrike" kern="1200" baseline="0">
                <a:solidFill>
                  <a:schemeClr val="tx1"/>
                </a:solidFill>
                <a:latin typeface="Tahoma" panose="020B0604030504040204" pitchFamily="34" charset="0"/>
                <a:ea typeface="Tahoma" panose="020B0604030504040204" pitchFamily="34" charset="0"/>
                <a:cs typeface="Tahoma" panose="020B0604030504040204" pitchFamily="34" charset="0"/>
              </a:defRPr>
            </a:pPr>
            <a:endParaRPr lang="en-US"/>
          </a:p>
        </c:txPr>
        <c:crossAx val="589694672"/>
        <c:crosses val="autoZero"/>
        <c:crossBetween val="between"/>
        <c:majorUnit val="0.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lang="en-US" sz="1000" b="0" i="0" u="none" strike="noStrike" kern="1200" baseline="0">
          <a:solidFill>
            <a:schemeClr val="tx1"/>
          </a:solidFill>
          <a:latin typeface="Tahoma" panose="020B0604030504040204" pitchFamily="34" charset="0"/>
          <a:ea typeface="Tahoma" panose="020B0604030504040204" pitchFamily="34" charset="0"/>
          <a:cs typeface="Tahoma" panose="020B0604030504040204" pitchFamily="34" charset="0"/>
        </a:defRPr>
      </a:pPr>
      <a:endParaRPr lang="en-US"/>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lang="en-US" sz="1200" b="0" i="0" u="none" strike="noStrike" kern="1200" spc="0" baseline="0">
                <a:solidFill>
                  <a:srgbClr val="00249C"/>
                </a:solidFill>
                <a:latin typeface="Tahoma" panose="020B0604030504040204" pitchFamily="34" charset="0"/>
                <a:ea typeface="Tahoma" panose="020B0604030504040204" pitchFamily="34" charset="0"/>
                <a:cs typeface="Tahoma" panose="020B0604030504040204" pitchFamily="34" charset="0"/>
              </a:defRPr>
            </a:pPr>
            <a:r>
              <a:rPr lang="en-US" dirty="0"/>
              <a:t>Risk Assessment Closed</a:t>
            </a:r>
          </a:p>
        </c:rich>
      </c:tx>
      <c:layout>
        <c:manualLayout>
          <c:xMode val="edge"/>
          <c:yMode val="edge"/>
          <c:x val="0.31056961298266023"/>
          <c:y val="1.7346938310918145E-2"/>
        </c:manualLayout>
      </c:layout>
      <c:overlay val="0"/>
      <c:spPr>
        <a:noFill/>
        <a:ln>
          <a:noFill/>
        </a:ln>
        <a:effectLst/>
      </c:spPr>
      <c:txPr>
        <a:bodyPr rot="0" spcFirstLastPara="1" vertOverflow="ellipsis" vert="horz" wrap="square"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lang="en-US" sz="1200" b="0" i="0" u="none" strike="noStrike" kern="1200" spc="0" baseline="0">
              <a:solidFill>
                <a:srgbClr val="00249C"/>
              </a:solidFill>
              <a:latin typeface="Tahoma" panose="020B0604030504040204" pitchFamily="34" charset="0"/>
              <a:ea typeface="Tahoma" panose="020B0604030504040204" pitchFamily="34" charset="0"/>
              <a:cs typeface="Tahoma" panose="020B0604030504040204" pitchFamily="34" charset="0"/>
            </a:defRPr>
          </a:pPr>
          <a:endParaRPr lang="en-US"/>
        </a:p>
      </c:txPr>
    </c:title>
    <c:autoTitleDeleted val="0"/>
    <c:plotArea>
      <c:layout>
        <c:manualLayout>
          <c:layoutTarget val="inner"/>
          <c:xMode val="edge"/>
          <c:yMode val="edge"/>
          <c:x val="0.13616576164414254"/>
          <c:y val="0.19960598301183052"/>
          <c:w val="0.82818454242454165"/>
          <c:h val="0.55962543361654526"/>
        </c:manualLayout>
      </c:layout>
      <c:barChart>
        <c:barDir val="col"/>
        <c:grouping val="clustered"/>
        <c:varyColors val="0"/>
        <c:ser>
          <c:idx val="0"/>
          <c:order val="0"/>
          <c:tx>
            <c:strRef>
              <c:f>Sheet1!$B$1</c:f>
              <c:strCache>
                <c:ptCount val="1"/>
                <c:pt idx="0">
                  <c:v>Series 1</c:v>
                </c:pt>
              </c:strCache>
            </c:strRef>
          </c:tx>
          <c:spPr>
            <a:solidFill>
              <a:schemeClr val="accent1"/>
            </a:solidFill>
            <a:ln>
              <a:noFill/>
            </a:ln>
            <a:effectLst/>
          </c:spPr>
          <c:invertIfNegative val="0"/>
          <c:dPt>
            <c:idx val="0"/>
            <c:invertIfNegative val="0"/>
            <c:bubble3D val="0"/>
            <c:spPr>
              <a:solidFill>
                <a:srgbClr val="00249C"/>
              </a:solidFill>
              <a:ln>
                <a:noFill/>
              </a:ln>
              <a:effectLst/>
            </c:spPr>
            <c:extLst>
              <c:ext xmlns:c16="http://schemas.microsoft.com/office/drawing/2014/chart" uri="{C3380CC4-5D6E-409C-BE32-E72D297353CC}">
                <c16:uniqueId val="{00000001-B144-443F-8F2B-9C378D9AF99F}"/>
              </c:ext>
            </c:extLst>
          </c:dPt>
          <c:dPt>
            <c:idx val="1"/>
            <c:invertIfNegative val="0"/>
            <c:bubble3D val="0"/>
            <c:spPr>
              <a:solidFill>
                <a:srgbClr val="00249C"/>
              </a:solidFill>
              <a:ln>
                <a:noFill/>
              </a:ln>
              <a:effectLst/>
            </c:spPr>
            <c:extLst>
              <c:ext xmlns:c16="http://schemas.microsoft.com/office/drawing/2014/chart" uri="{C3380CC4-5D6E-409C-BE32-E72D297353CC}">
                <c16:uniqueId val="{00000003-B144-443F-8F2B-9C378D9AF99F}"/>
              </c:ext>
            </c:extLst>
          </c:dPt>
          <c:dPt>
            <c:idx val="2"/>
            <c:invertIfNegative val="0"/>
            <c:bubble3D val="0"/>
            <c:spPr>
              <a:solidFill>
                <a:srgbClr val="00249C"/>
              </a:solidFill>
              <a:ln>
                <a:noFill/>
              </a:ln>
              <a:effectLst/>
            </c:spPr>
            <c:extLst>
              <c:ext xmlns:c16="http://schemas.microsoft.com/office/drawing/2014/chart" uri="{C3380CC4-5D6E-409C-BE32-E72D297353CC}">
                <c16:uniqueId val="{00000005-B144-443F-8F2B-9C378D9AF99F}"/>
              </c:ext>
            </c:extLst>
          </c:dPt>
          <c:dLbls>
            <c:numFmt formatCode="0%" sourceLinked="0"/>
            <c:spPr>
              <a:noFill/>
              <a:ln>
                <a:noFill/>
              </a:ln>
              <a:effectLst/>
            </c:spPr>
            <c:txPr>
              <a:bodyPr rot="0" spcFirstLastPara="1" vertOverflow="ellipsis" vert="horz" wrap="square" anchor="ctr" anchorCtr="1"/>
              <a:lstStyle/>
              <a:p>
                <a:pPr>
                  <a:defRPr lang="en-US" sz="1000" b="0" i="0" u="none" strike="noStrike" kern="1200" baseline="0">
                    <a:solidFill>
                      <a:schemeClr val="tx1"/>
                    </a:solidFill>
                    <a:latin typeface="Tahoma" panose="020B0604030504040204" pitchFamily="34" charset="0"/>
                    <a:ea typeface="Tahoma" panose="020B0604030504040204" pitchFamily="34" charset="0"/>
                    <a:cs typeface="Tahoma" panose="020B0604030504040204" pitchFamily="34" charset="0"/>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Sheet1!$A$2:$A$4</c:f>
              <c:strCache>
                <c:ptCount val="3"/>
                <c:pt idx="0">
                  <c:v>ADA</c:v>
                </c:pt>
                <c:pt idx="1">
                  <c:v>ADB</c:v>
                </c:pt>
                <c:pt idx="2">
                  <c:v>Campus Avg.</c:v>
                </c:pt>
              </c:strCache>
            </c:strRef>
          </c:cat>
          <c:val>
            <c:numRef>
              <c:f>Sheet1!$B$2:$B$4</c:f>
              <c:numCache>
                <c:formatCode>General</c:formatCode>
                <c:ptCount val="3"/>
                <c:pt idx="0">
                  <c:v>1</c:v>
                </c:pt>
                <c:pt idx="1">
                  <c:v>1</c:v>
                </c:pt>
                <c:pt idx="2">
                  <c:v>1</c:v>
                </c:pt>
              </c:numCache>
            </c:numRef>
          </c:val>
          <c:extLst>
            <c:ext xmlns:c16="http://schemas.microsoft.com/office/drawing/2014/chart" uri="{C3380CC4-5D6E-409C-BE32-E72D297353CC}">
              <c16:uniqueId val="{00000006-B144-443F-8F2B-9C378D9AF99F}"/>
            </c:ext>
          </c:extLst>
        </c:ser>
        <c:dLbls>
          <c:showLegendKey val="0"/>
          <c:showVal val="1"/>
          <c:showCatName val="0"/>
          <c:showSerName val="0"/>
          <c:showPercent val="0"/>
          <c:showBubbleSize val="0"/>
        </c:dLbls>
        <c:gapWidth val="219"/>
        <c:axId val="589694672"/>
        <c:axId val="589695152"/>
      </c:barChart>
      <c:lineChart>
        <c:grouping val="standard"/>
        <c:varyColors val="0"/>
        <c:ser>
          <c:idx val="1"/>
          <c:order val="1"/>
          <c:tx>
            <c:strRef>
              <c:f>Sheet1!$B$1</c:f>
              <c:strCache>
                <c:ptCount val="1"/>
                <c:pt idx="0">
                  <c:v>Series 1</c:v>
                </c:pt>
              </c:strCache>
            </c:strRef>
          </c:tx>
          <c:spPr>
            <a:ln w="28575" cap="rnd">
              <a:solidFill>
                <a:schemeClr val="accent2"/>
              </a:solidFill>
              <a:round/>
            </a:ln>
            <a:effectLst/>
          </c:spPr>
          <c:marker>
            <c:symbol val="none"/>
          </c:marker>
          <c:cat>
            <c:strRef>
              <c:f>Sheet1!$A$2:$A$4</c:f>
              <c:strCache>
                <c:ptCount val="3"/>
                <c:pt idx="0">
                  <c:v>ADA</c:v>
                </c:pt>
                <c:pt idx="1">
                  <c:v>ADB</c:v>
                </c:pt>
                <c:pt idx="2">
                  <c:v>Campus Avg.</c:v>
                </c:pt>
              </c:strCache>
            </c:strRef>
          </c:cat>
          <c:val>
            <c:numRef>
              <c:f>Sheet1!$B$2:$B$4</c:f>
              <c:numCache>
                <c:formatCode>General</c:formatCode>
                <c:ptCount val="3"/>
                <c:pt idx="0">
                  <c:v>1</c:v>
                </c:pt>
                <c:pt idx="1">
                  <c:v>1</c:v>
                </c:pt>
                <c:pt idx="2">
                  <c:v>1</c:v>
                </c:pt>
              </c:numCache>
            </c:numRef>
          </c:val>
          <c:smooth val="0"/>
          <c:extLst>
            <c:ext xmlns:c16="http://schemas.microsoft.com/office/drawing/2014/chart" uri="{C3380CC4-5D6E-409C-BE32-E72D297353CC}">
              <c16:uniqueId val="{00000006-B144-443F-8F2B-9C378D9AF99F}"/>
            </c:ext>
          </c:extLst>
        </c:ser>
        <c:dLbls>
          <c:showLegendKey val="0"/>
          <c:showVal val="0"/>
          <c:showCatName val="0"/>
          <c:showSerName val="0"/>
          <c:showPercent val="0"/>
          <c:showBubbleSize val="0"/>
        </c:dLbls>
        <c:marker val="1"/>
        <c:smooth val="0"/>
        <c:axId val="589694672"/>
        <c:axId val="589695152"/>
      </c:lineChart>
      <c:catAx>
        <c:axId val="589694672"/>
        <c:scaling>
          <c:orientation val="minMax"/>
        </c:scaling>
        <c:delete val="1"/>
        <c:axPos val="b"/>
        <c:numFmt formatCode="General" sourceLinked="1"/>
        <c:majorTickMark val="none"/>
        <c:minorTickMark val="none"/>
        <c:tickLblPos val="nextTo"/>
        <c:crossAx val="589695152"/>
        <c:crosses val="autoZero"/>
        <c:auto val="1"/>
        <c:lblAlgn val="ctr"/>
        <c:lblOffset val="100"/>
        <c:noMultiLvlLbl val="0"/>
      </c:catAx>
      <c:valAx>
        <c:axId val="589695152"/>
        <c:scaling>
          <c:orientation val="minMax"/>
          <c:max val="1"/>
          <c:min val="0.5"/>
        </c:scaling>
        <c:delete val="0"/>
        <c:axPos val="l"/>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lgn="ctr">
              <a:defRPr lang="en-US" sz="1000" b="0" i="0" u="none" strike="noStrike" kern="1200" baseline="0">
                <a:solidFill>
                  <a:schemeClr val="tx1"/>
                </a:solidFill>
                <a:latin typeface="Tahoma" panose="020B0604030504040204" pitchFamily="34" charset="0"/>
                <a:ea typeface="Tahoma" panose="020B0604030504040204" pitchFamily="34" charset="0"/>
                <a:cs typeface="Tahoma" panose="020B0604030504040204" pitchFamily="34" charset="0"/>
              </a:defRPr>
            </a:pPr>
            <a:endParaRPr lang="en-US"/>
          </a:p>
        </c:txPr>
        <c:crossAx val="589694672"/>
        <c:crosses val="autoZero"/>
        <c:crossBetween val="between"/>
        <c:majorUnit val="0.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lang="en-US" sz="1000" b="0" i="0" u="none" strike="noStrike" kern="1200" baseline="0">
          <a:solidFill>
            <a:schemeClr val="tx1"/>
          </a:solidFill>
          <a:latin typeface="Tahoma" panose="020B0604030504040204" pitchFamily="34" charset="0"/>
          <a:ea typeface="Tahoma" panose="020B0604030504040204" pitchFamily="34" charset="0"/>
          <a:cs typeface="Tahoma" panose="020B0604030504040204" pitchFamily="34" charset="0"/>
        </a:defRPr>
      </a:pPr>
      <a:endParaRPr lang="en-US"/>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lang="en-US" sz="1200" b="0" i="0" u="none" strike="noStrike" kern="1200" spc="0" baseline="0">
                <a:solidFill>
                  <a:srgbClr val="00249C"/>
                </a:solidFill>
                <a:latin typeface="Tahoma" panose="020B0604030504040204" pitchFamily="34" charset="0"/>
                <a:ea typeface="Tahoma" panose="020B0604030504040204" pitchFamily="34" charset="0"/>
                <a:cs typeface="Tahoma" panose="020B0604030504040204" pitchFamily="34" charset="0"/>
              </a:defRPr>
            </a:pPr>
            <a:r>
              <a:rPr lang="en-US" dirty="0"/>
              <a:t>Risk Identification </a:t>
            </a:r>
          </a:p>
        </c:rich>
      </c:tx>
      <c:layout>
        <c:manualLayout>
          <c:xMode val="edge"/>
          <c:yMode val="edge"/>
          <c:x val="0.31056961298266023"/>
          <c:y val="1.7346938310918145E-2"/>
        </c:manualLayout>
      </c:layout>
      <c:overlay val="0"/>
      <c:spPr>
        <a:noFill/>
        <a:ln>
          <a:noFill/>
        </a:ln>
        <a:effectLst/>
      </c:spPr>
      <c:txPr>
        <a:bodyPr rot="0" spcFirstLastPara="1" vertOverflow="ellipsis" vert="horz" wrap="square"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lang="en-US" sz="1200" b="0" i="0" u="none" strike="noStrike" kern="1200" spc="0" baseline="0">
              <a:solidFill>
                <a:srgbClr val="00249C"/>
              </a:solidFill>
              <a:latin typeface="Tahoma" panose="020B0604030504040204" pitchFamily="34" charset="0"/>
              <a:ea typeface="Tahoma" panose="020B0604030504040204" pitchFamily="34" charset="0"/>
              <a:cs typeface="Tahoma" panose="020B0604030504040204" pitchFamily="34" charset="0"/>
            </a:defRPr>
          </a:pPr>
          <a:endParaRPr lang="en-US"/>
        </a:p>
      </c:txPr>
    </c:title>
    <c:autoTitleDeleted val="0"/>
    <c:plotArea>
      <c:layout>
        <c:manualLayout>
          <c:layoutTarget val="inner"/>
          <c:xMode val="edge"/>
          <c:yMode val="edge"/>
          <c:x val="0.13616576164414254"/>
          <c:y val="0.19960598301183052"/>
          <c:w val="0.82818454242454165"/>
          <c:h val="0.55962543361654526"/>
        </c:manualLayout>
      </c:layout>
      <c:barChart>
        <c:barDir val="col"/>
        <c:grouping val="clustered"/>
        <c:varyColors val="0"/>
        <c:ser>
          <c:idx val="0"/>
          <c:order val="0"/>
          <c:tx>
            <c:strRef>
              <c:f>Sheet1!$B$1</c:f>
              <c:strCache>
                <c:ptCount val="1"/>
                <c:pt idx="0">
                  <c:v>Series 1</c:v>
                </c:pt>
              </c:strCache>
            </c:strRef>
          </c:tx>
          <c:spPr>
            <a:solidFill>
              <a:schemeClr val="accent1"/>
            </a:solidFill>
            <a:ln>
              <a:noFill/>
            </a:ln>
            <a:effectLst/>
          </c:spPr>
          <c:invertIfNegative val="0"/>
          <c:dPt>
            <c:idx val="0"/>
            <c:invertIfNegative val="0"/>
            <c:bubble3D val="0"/>
            <c:spPr>
              <a:solidFill>
                <a:srgbClr val="00249C"/>
              </a:solidFill>
              <a:ln>
                <a:noFill/>
              </a:ln>
              <a:effectLst/>
            </c:spPr>
            <c:extLst>
              <c:ext xmlns:c16="http://schemas.microsoft.com/office/drawing/2014/chart" uri="{C3380CC4-5D6E-409C-BE32-E72D297353CC}">
                <c16:uniqueId val="{00000001-D15E-405F-B0AF-78E47083417D}"/>
              </c:ext>
            </c:extLst>
          </c:dPt>
          <c:dPt>
            <c:idx val="1"/>
            <c:invertIfNegative val="0"/>
            <c:bubble3D val="0"/>
            <c:spPr>
              <a:solidFill>
                <a:srgbClr val="00249C"/>
              </a:solidFill>
              <a:ln>
                <a:noFill/>
              </a:ln>
              <a:effectLst/>
            </c:spPr>
            <c:extLst>
              <c:ext xmlns:c16="http://schemas.microsoft.com/office/drawing/2014/chart" uri="{C3380CC4-5D6E-409C-BE32-E72D297353CC}">
                <c16:uniqueId val="{00000003-D15E-405F-B0AF-78E47083417D}"/>
              </c:ext>
            </c:extLst>
          </c:dPt>
          <c:dPt>
            <c:idx val="2"/>
            <c:invertIfNegative val="0"/>
            <c:bubble3D val="0"/>
            <c:spPr>
              <a:solidFill>
                <a:srgbClr val="00249C"/>
              </a:solidFill>
              <a:ln>
                <a:noFill/>
              </a:ln>
              <a:effectLst/>
            </c:spPr>
            <c:extLst>
              <c:ext xmlns:c16="http://schemas.microsoft.com/office/drawing/2014/chart" uri="{C3380CC4-5D6E-409C-BE32-E72D297353CC}">
                <c16:uniqueId val="{00000005-D15E-405F-B0AF-78E47083417D}"/>
              </c:ext>
            </c:extLst>
          </c:dPt>
          <c:dLbls>
            <c:numFmt formatCode="0%" sourceLinked="0"/>
            <c:spPr>
              <a:noFill/>
              <a:ln>
                <a:noFill/>
              </a:ln>
              <a:effectLst/>
            </c:spPr>
            <c:txPr>
              <a:bodyPr rot="0" spcFirstLastPara="1" vertOverflow="ellipsis" vert="horz" wrap="square" anchor="ctr" anchorCtr="1"/>
              <a:lstStyle/>
              <a:p>
                <a:pPr>
                  <a:defRPr lang="en-US" sz="1000" b="0" i="0" u="none" strike="noStrike" kern="1200" baseline="0">
                    <a:solidFill>
                      <a:schemeClr val="tx1"/>
                    </a:solidFill>
                    <a:latin typeface="Tahoma" panose="020B0604030504040204" pitchFamily="34" charset="0"/>
                    <a:ea typeface="Tahoma" panose="020B0604030504040204" pitchFamily="34" charset="0"/>
                    <a:cs typeface="Tahoma" panose="020B0604030504040204" pitchFamily="34" charset="0"/>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Sheet1!$A$2:$A$4</c:f>
              <c:strCache>
                <c:ptCount val="3"/>
                <c:pt idx="0">
                  <c:v>ADA</c:v>
                </c:pt>
                <c:pt idx="1">
                  <c:v>ADB</c:v>
                </c:pt>
                <c:pt idx="2">
                  <c:v>Campus Avg.</c:v>
                </c:pt>
              </c:strCache>
            </c:strRef>
          </c:cat>
          <c:val>
            <c:numRef>
              <c:f>Sheet1!$B$2:$B$4</c:f>
              <c:numCache>
                <c:formatCode>General</c:formatCode>
                <c:ptCount val="3"/>
                <c:pt idx="0">
                  <c:v>1</c:v>
                </c:pt>
                <c:pt idx="1">
                  <c:v>1</c:v>
                </c:pt>
                <c:pt idx="2">
                  <c:v>1</c:v>
                </c:pt>
              </c:numCache>
            </c:numRef>
          </c:val>
          <c:extLst>
            <c:ext xmlns:c16="http://schemas.microsoft.com/office/drawing/2014/chart" uri="{C3380CC4-5D6E-409C-BE32-E72D297353CC}">
              <c16:uniqueId val="{00000006-D15E-405F-B0AF-78E47083417D}"/>
            </c:ext>
          </c:extLst>
        </c:ser>
        <c:dLbls>
          <c:showLegendKey val="0"/>
          <c:showVal val="1"/>
          <c:showCatName val="0"/>
          <c:showSerName val="0"/>
          <c:showPercent val="0"/>
          <c:showBubbleSize val="0"/>
        </c:dLbls>
        <c:gapWidth val="219"/>
        <c:axId val="589694672"/>
        <c:axId val="589695152"/>
      </c:barChart>
      <c:lineChart>
        <c:grouping val="standard"/>
        <c:varyColors val="0"/>
        <c:ser>
          <c:idx val="1"/>
          <c:order val="1"/>
          <c:tx>
            <c:strRef>
              <c:f>Sheet1!$B$1</c:f>
              <c:strCache>
                <c:ptCount val="1"/>
                <c:pt idx="0">
                  <c:v>Series 1</c:v>
                </c:pt>
              </c:strCache>
            </c:strRef>
          </c:tx>
          <c:spPr>
            <a:ln w="28575" cap="rnd">
              <a:solidFill>
                <a:schemeClr val="accent2"/>
              </a:solidFill>
              <a:round/>
            </a:ln>
            <a:effectLst/>
          </c:spPr>
          <c:marker>
            <c:symbol val="none"/>
          </c:marker>
          <c:cat>
            <c:strRef>
              <c:f>Sheet1!$A$2:$A$4</c:f>
              <c:strCache>
                <c:ptCount val="3"/>
                <c:pt idx="0">
                  <c:v>ADA</c:v>
                </c:pt>
                <c:pt idx="1">
                  <c:v>ADB</c:v>
                </c:pt>
                <c:pt idx="2">
                  <c:v>Campus Avg.</c:v>
                </c:pt>
              </c:strCache>
            </c:strRef>
          </c:cat>
          <c:val>
            <c:numRef>
              <c:f>Sheet1!$B$2:$B$4</c:f>
              <c:numCache>
                <c:formatCode>General</c:formatCode>
                <c:ptCount val="3"/>
                <c:pt idx="0">
                  <c:v>1</c:v>
                </c:pt>
                <c:pt idx="1">
                  <c:v>1</c:v>
                </c:pt>
                <c:pt idx="2">
                  <c:v>1</c:v>
                </c:pt>
              </c:numCache>
            </c:numRef>
          </c:val>
          <c:smooth val="0"/>
          <c:extLst>
            <c:ext xmlns:c16="http://schemas.microsoft.com/office/drawing/2014/chart" uri="{C3380CC4-5D6E-409C-BE32-E72D297353CC}">
              <c16:uniqueId val="{00000006-D15E-405F-B0AF-78E47083417D}"/>
            </c:ext>
          </c:extLst>
        </c:ser>
        <c:dLbls>
          <c:showLegendKey val="0"/>
          <c:showVal val="0"/>
          <c:showCatName val="0"/>
          <c:showSerName val="0"/>
          <c:showPercent val="0"/>
          <c:showBubbleSize val="0"/>
        </c:dLbls>
        <c:marker val="1"/>
        <c:smooth val="0"/>
        <c:axId val="589694672"/>
        <c:axId val="589695152"/>
      </c:lineChart>
      <c:catAx>
        <c:axId val="589694672"/>
        <c:scaling>
          <c:orientation val="minMax"/>
        </c:scaling>
        <c:delete val="1"/>
        <c:axPos val="b"/>
        <c:numFmt formatCode="General" sourceLinked="1"/>
        <c:majorTickMark val="none"/>
        <c:minorTickMark val="none"/>
        <c:tickLblPos val="nextTo"/>
        <c:crossAx val="589695152"/>
        <c:crosses val="autoZero"/>
        <c:auto val="1"/>
        <c:lblAlgn val="ctr"/>
        <c:lblOffset val="100"/>
        <c:noMultiLvlLbl val="0"/>
      </c:catAx>
      <c:valAx>
        <c:axId val="589695152"/>
        <c:scaling>
          <c:orientation val="minMax"/>
          <c:max val="1"/>
          <c:min val="0.5"/>
        </c:scaling>
        <c:delete val="0"/>
        <c:axPos val="l"/>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lgn="ctr">
              <a:defRPr lang="en-US" sz="1000" b="0" i="0" u="none" strike="noStrike" kern="1200" baseline="0">
                <a:solidFill>
                  <a:schemeClr val="tx1"/>
                </a:solidFill>
                <a:latin typeface="Tahoma" panose="020B0604030504040204" pitchFamily="34" charset="0"/>
                <a:ea typeface="Tahoma" panose="020B0604030504040204" pitchFamily="34" charset="0"/>
                <a:cs typeface="Tahoma" panose="020B0604030504040204" pitchFamily="34" charset="0"/>
              </a:defRPr>
            </a:pPr>
            <a:endParaRPr lang="en-US"/>
          </a:p>
        </c:txPr>
        <c:crossAx val="589694672"/>
        <c:crosses val="autoZero"/>
        <c:crossBetween val="between"/>
        <c:majorUnit val="0.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lang="en-US" sz="1000" b="0" i="0" u="none" strike="noStrike" kern="1200" baseline="0">
          <a:solidFill>
            <a:schemeClr val="tx1"/>
          </a:solidFill>
          <a:latin typeface="Tahoma" panose="020B0604030504040204" pitchFamily="34" charset="0"/>
          <a:ea typeface="Tahoma" panose="020B0604030504040204" pitchFamily="34" charset="0"/>
          <a:cs typeface="Tahoma" panose="020B0604030504040204" pitchFamily="34" charset="0"/>
        </a:defRPr>
      </a:pPr>
      <a:endParaRPr lang="en-US"/>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lang="en-US" sz="1200" b="0" i="0" u="none" strike="noStrike" kern="1200" spc="0" baseline="0">
                <a:solidFill>
                  <a:srgbClr val="00249C"/>
                </a:solidFill>
                <a:latin typeface="Tahoma" panose="020B0604030504040204" pitchFamily="34" charset="0"/>
                <a:ea typeface="Tahoma" panose="020B0604030504040204" pitchFamily="34" charset="0"/>
                <a:cs typeface="Tahoma" panose="020B0604030504040204" pitchFamily="34" charset="0"/>
              </a:defRPr>
            </a:pPr>
            <a:r>
              <a:rPr lang="en-US" dirty="0"/>
              <a:t>Training</a:t>
            </a:r>
          </a:p>
        </c:rich>
      </c:tx>
      <c:layout>
        <c:manualLayout>
          <c:xMode val="edge"/>
          <c:yMode val="edge"/>
          <c:x val="0.31056961298266023"/>
          <c:y val="1.7346938310918145E-2"/>
        </c:manualLayout>
      </c:layout>
      <c:overlay val="0"/>
      <c:spPr>
        <a:noFill/>
        <a:ln>
          <a:noFill/>
        </a:ln>
        <a:effectLst/>
      </c:spPr>
      <c:txPr>
        <a:bodyPr rot="0" spcFirstLastPara="1" vertOverflow="ellipsis" vert="horz" wrap="square"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lang="en-US" sz="1200" b="0" i="0" u="none" strike="noStrike" kern="1200" spc="0" baseline="0">
              <a:solidFill>
                <a:srgbClr val="00249C"/>
              </a:solidFill>
              <a:latin typeface="Tahoma" panose="020B0604030504040204" pitchFamily="34" charset="0"/>
              <a:ea typeface="Tahoma" panose="020B0604030504040204" pitchFamily="34" charset="0"/>
              <a:cs typeface="Tahoma" panose="020B0604030504040204" pitchFamily="34" charset="0"/>
            </a:defRPr>
          </a:pPr>
          <a:endParaRPr lang="en-US"/>
        </a:p>
      </c:txPr>
    </c:title>
    <c:autoTitleDeleted val="0"/>
    <c:plotArea>
      <c:layout>
        <c:manualLayout>
          <c:layoutTarget val="inner"/>
          <c:xMode val="edge"/>
          <c:yMode val="edge"/>
          <c:x val="0.13616576164414254"/>
          <c:y val="0.19960598301183052"/>
          <c:w val="0.82818454242454165"/>
          <c:h val="0.55962543361654526"/>
        </c:manualLayout>
      </c:layout>
      <c:barChart>
        <c:barDir val="col"/>
        <c:grouping val="clustered"/>
        <c:varyColors val="0"/>
        <c:ser>
          <c:idx val="0"/>
          <c:order val="0"/>
          <c:tx>
            <c:strRef>
              <c:f>Sheet1!$B$1</c:f>
              <c:strCache>
                <c:ptCount val="1"/>
                <c:pt idx="0">
                  <c:v>Series 1</c:v>
                </c:pt>
              </c:strCache>
            </c:strRef>
          </c:tx>
          <c:spPr>
            <a:solidFill>
              <a:schemeClr val="accent1"/>
            </a:solidFill>
            <a:ln>
              <a:noFill/>
            </a:ln>
            <a:effectLst/>
          </c:spPr>
          <c:invertIfNegative val="0"/>
          <c:dPt>
            <c:idx val="0"/>
            <c:invertIfNegative val="0"/>
            <c:bubble3D val="0"/>
            <c:spPr>
              <a:solidFill>
                <a:srgbClr val="00249C"/>
              </a:solidFill>
              <a:ln>
                <a:noFill/>
              </a:ln>
              <a:effectLst/>
            </c:spPr>
            <c:extLst>
              <c:ext xmlns:c16="http://schemas.microsoft.com/office/drawing/2014/chart" uri="{C3380CC4-5D6E-409C-BE32-E72D297353CC}">
                <c16:uniqueId val="{00000001-FD35-4859-9360-BD15DE2B4867}"/>
              </c:ext>
            </c:extLst>
          </c:dPt>
          <c:dPt>
            <c:idx val="1"/>
            <c:invertIfNegative val="0"/>
            <c:bubble3D val="0"/>
            <c:spPr>
              <a:solidFill>
                <a:srgbClr val="00249C"/>
              </a:solidFill>
              <a:ln>
                <a:noFill/>
              </a:ln>
              <a:effectLst/>
            </c:spPr>
            <c:extLst>
              <c:ext xmlns:c16="http://schemas.microsoft.com/office/drawing/2014/chart" uri="{C3380CC4-5D6E-409C-BE32-E72D297353CC}">
                <c16:uniqueId val="{00000003-FD35-4859-9360-BD15DE2B4867}"/>
              </c:ext>
            </c:extLst>
          </c:dPt>
          <c:dPt>
            <c:idx val="2"/>
            <c:invertIfNegative val="0"/>
            <c:bubble3D val="0"/>
            <c:spPr>
              <a:solidFill>
                <a:srgbClr val="00249C"/>
              </a:solidFill>
              <a:ln>
                <a:noFill/>
              </a:ln>
              <a:effectLst/>
            </c:spPr>
            <c:extLst>
              <c:ext xmlns:c16="http://schemas.microsoft.com/office/drawing/2014/chart" uri="{C3380CC4-5D6E-409C-BE32-E72D297353CC}">
                <c16:uniqueId val="{00000005-FD35-4859-9360-BD15DE2B4867}"/>
              </c:ext>
            </c:extLst>
          </c:dPt>
          <c:dLbls>
            <c:numFmt formatCode="0%" sourceLinked="0"/>
            <c:spPr>
              <a:noFill/>
              <a:ln>
                <a:noFill/>
              </a:ln>
              <a:effectLst/>
            </c:spPr>
            <c:txPr>
              <a:bodyPr rot="0" spcFirstLastPara="1" vertOverflow="ellipsis" vert="horz" wrap="square" anchor="ctr" anchorCtr="1"/>
              <a:lstStyle/>
              <a:p>
                <a:pPr>
                  <a:defRPr lang="en-US" sz="1000" b="0" i="0" u="none" strike="noStrike" kern="1200" baseline="0">
                    <a:solidFill>
                      <a:schemeClr val="tx1"/>
                    </a:solidFill>
                    <a:latin typeface="Tahoma" panose="020B0604030504040204" pitchFamily="34" charset="0"/>
                    <a:ea typeface="Tahoma" panose="020B0604030504040204" pitchFamily="34" charset="0"/>
                    <a:cs typeface="Tahoma" panose="020B0604030504040204" pitchFamily="34" charset="0"/>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Sheet1!$A$2:$A$4</c:f>
              <c:strCache>
                <c:ptCount val="3"/>
                <c:pt idx="0">
                  <c:v>ADA</c:v>
                </c:pt>
                <c:pt idx="1">
                  <c:v>ADB</c:v>
                </c:pt>
                <c:pt idx="2">
                  <c:v>Campus Avg.</c:v>
                </c:pt>
              </c:strCache>
            </c:strRef>
          </c:cat>
          <c:val>
            <c:numRef>
              <c:f>Sheet1!$B$2:$B$4</c:f>
              <c:numCache>
                <c:formatCode>General</c:formatCode>
                <c:ptCount val="3"/>
                <c:pt idx="0">
                  <c:v>1</c:v>
                </c:pt>
                <c:pt idx="1">
                  <c:v>1</c:v>
                </c:pt>
                <c:pt idx="2">
                  <c:v>1</c:v>
                </c:pt>
              </c:numCache>
            </c:numRef>
          </c:val>
          <c:extLst>
            <c:ext xmlns:c16="http://schemas.microsoft.com/office/drawing/2014/chart" uri="{C3380CC4-5D6E-409C-BE32-E72D297353CC}">
              <c16:uniqueId val="{00000006-FD35-4859-9360-BD15DE2B4867}"/>
            </c:ext>
          </c:extLst>
        </c:ser>
        <c:dLbls>
          <c:showLegendKey val="0"/>
          <c:showVal val="1"/>
          <c:showCatName val="0"/>
          <c:showSerName val="0"/>
          <c:showPercent val="0"/>
          <c:showBubbleSize val="0"/>
        </c:dLbls>
        <c:gapWidth val="219"/>
        <c:axId val="589694672"/>
        <c:axId val="589695152"/>
      </c:barChart>
      <c:lineChart>
        <c:grouping val="standard"/>
        <c:varyColors val="0"/>
        <c:ser>
          <c:idx val="1"/>
          <c:order val="1"/>
          <c:tx>
            <c:strRef>
              <c:f>Sheet1!$B$1</c:f>
              <c:strCache>
                <c:ptCount val="1"/>
                <c:pt idx="0">
                  <c:v>Series 1</c:v>
                </c:pt>
              </c:strCache>
            </c:strRef>
          </c:tx>
          <c:spPr>
            <a:ln w="28575" cap="rnd">
              <a:solidFill>
                <a:schemeClr val="accent2"/>
              </a:solidFill>
              <a:round/>
            </a:ln>
            <a:effectLst/>
          </c:spPr>
          <c:marker>
            <c:symbol val="none"/>
          </c:marker>
          <c:cat>
            <c:strRef>
              <c:f>Sheet1!$A$2:$A$4</c:f>
              <c:strCache>
                <c:ptCount val="3"/>
                <c:pt idx="0">
                  <c:v>ADA</c:v>
                </c:pt>
                <c:pt idx="1">
                  <c:v>ADB</c:v>
                </c:pt>
                <c:pt idx="2">
                  <c:v>Campus Avg.</c:v>
                </c:pt>
              </c:strCache>
            </c:strRef>
          </c:cat>
          <c:val>
            <c:numRef>
              <c:f>Sheet1!$B$2:$B$4</c:f>
              <c:numCache>
                <c:formatCode>General</c:formatCode>
                <c:ptCount val="3"/>
                <c:pt idx="0">
                  <c:v>1</c:v>
                </c:pt>
                <c:pt idx="1">
                  <c:v>1</c:v>
                </c:pt>
                <c:pt idx="2">
                  <c:v>1</c:v>
                </c:pt>
              </c:numCache>
            </c:numRef>
          </c:val>
          <c:smooth val="0"/>
          <c:extLst>
            <c:ext xmlns:c16="http://schemas.microsoft.com/office/drawing/2014/chart" uri="{C3380CC4-5D6E-409C-BE32-E72D297353CC}">
              <c16:uniqueId val="{00000006-FD35-4859-9360-BD15DE2B4867}"/>
            </c:ext>
          </c:extLst>
        </c:ser>
        <c:dLbls>
          <c:showLegendKey val="0"/>
          <c:showVal val="0"/>
          <c:showCatName val="0"/>
          <c:showSerName val="0"/>
          <c:showPercent val="0"/>
          <c:showBubbleSize val="0"/>
        </c:dLbls>
        <c:marker val="1"/>
        <c:smooth val="0"/>
        <c:axId val="589694672"/>
        <c:axId val="589695152"/>
      </c:lineChart>
      <c:catAx>
        <c:axId val="589694672"/>
        <c:scaling>
          <c:orientation val="minMax"/>
        </c:scaling>
        <c:delete val="1"/>
        <c:axPos val="b"/>
        <c:numFmt formatCode="General" sourceLinked="1"/>
        <c:majorTickMark val="none"/>
        <c:minorTickMark val="none"/>
        <c:tickLblPos val="nextTo"/>
        <c:crossAx val="589695152"/>
        <c:crosses val="autoZero"/>
        <c:auto val="1"/>
        <c:lblAlgn val="ctr"/>
        <c:lblOffset val="100"/>
        <c:noMultiLvlLbl val="0"/>
      </c:catAx>
      <c:valAx>
        <c:axId val="589695152"/>
        <c:scaling>
          <c:orientation val="minMax"/>
          <c:max val="1"/>
          <c:min val="0.5"/>
        </c:scaling>
        <c:delete val="0"/>
        <c:axPos val="l"/>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lgn="ctr">
              <a:defRPr lang="en-US" sz="1000" b="0" i="0" u="none" strike="noStrike" kern="1200" baseline="0">
                <a:solidFill>
                  <a:schemeClr val="tx1"/>
                </a:solidFill>
                <a:latin typeface="Tahoma" panose="020B0604030504040204" pitchFamily="34" charset="0"/>
                <a:ea typeface="Tahoma" panose="020B0604030504040204" pitchFamily="34" charset="0"/>
                <a:cs typeface="Tahoma" panose="020B0604030504040204" pitchFamily="34" charset="0"/>
              </a:defRPr>
            </a:pPr>
            <a:endParaRPr lang="en-US"/>
          </a:p>
        </c:txPr>
        <c:crossAx val="589694672"/>
        <c:crosses val="autoZero"/>
        <c:crossBetween val="between"/>
        <c:majorUnit val="0.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lang="en-US" sz="1000" b="0" i="0" u="none" strike="noStrike" kern="1200" baseline="0">
          <a:solidFill>
            <a:schemeClr val="tx1"/>
          </a:solidFill>
          <a:latin typeface="Tahoma" panose="020B0604030504040204" pitchFamily="34" charset="0"/>
          <a:ea typeface="Tahoma" panose="020B0604030504040204" pitchFamily="34" charset="0"/>
          <a:cs typeface="Tahoma" panose="020B0604030504040204" pitchFamily="34" charset="0"/>
        </a:defRPr>
      </a:pPr>
      <a:endParaRPr lang="en-US"/>
    </a:p>
  </c:txPr>
  <c:externalData r:id="rId3">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lang="en-US" sz="1200" b="0" i="0" u="none" strike="noStrike" kern="1200" spc="0" baseline="0">
                <a:solidFill>
                  <a:srgbClr val="00249C"/>
                </a:solidFill>
                <a:latin typeface="Tahoma" panose="020B0604030504040204" pitchFamily="34" charset="0"/>
                <a:ea typeface="Tahoma" panose="020B0604030504040204" pitchFamily="34" charset="0"/>
                <a:cs typeface="Tahoma" panose="020B0604030504040204" pitchFamily="34" charset="0"/>
              </a:defRPr>
            </a:pPr>
            <a:r>
              <a:rPr lang="en-US" dirty="0"/>
              <a:t>Operational Control Procedures</a:t>
            </a:r>
          </a:p>
        </c:rich>
      </c:tx>
      <c:layout>
        <c:manualLayout>
          <c:xMode val="edge"/>
          <c:yMode val="edge"/>
          <c:x val="0.25508574300971343"/>
          <c:y val="5.7823127703060485E-3"/>
        </c:manualLayout>
      </c:layout>
      <c:overlay val="0"/>
      <c:spPr>
        <a:noFill/>
        <a:ln>
          <a:noFill/>
        </a:ln>
        <a:effectLst/>
      </c:spPr>
      <c:txPr>
        <a:bodyPr rot="0" spcFirstLastPara="1" vertOverflow="ellipsis" vert="horz" wrap="square"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lang="en-US" sz="1200" b="0" i="0" u="none" strike="noStrike" kern="1200" spc="0" baseline="0">
              <a:solidFill>
                <a:srgbClr val="00249C"/>
              </a:solidFill>
              <a:latin typeface="Tahoma" panose="020B0604030504040204" pitchFamily="34" charset="0"/>
              <a:ea typeface="Tahoma" panose="020B0604030504040204" pitchFamily="34" charset="0"/>
              <a:cs typeface="Tahoma" panose="020B0604030504040204" pitchFamily="34" charset="0"/>
            </a:defRPr>
          </a:pPr>
          <a:endParaRPr lang="en-US"/>
        </a:p>
      </c:txPr>
    </c:title>
    <c:autoTitleDeleted val="0"/>
    <c:plotArea>
      <c:layout>
        <c:manualLayout>
          <c:layoutTarget val="inner"/>
          <c:xMode val="edge"/>
          <c:yMode val="edge"/>
          <c:x val="0.13616576164414254"/>
          <c:y val="0.19960598301183052"/>
          <c:w val="0.82818454242454165"/>
          <c:h val="0.55962543361654526"/>
        </c:manualLayout>
      </c:layout>
      <c:barChart>
        <c:barDir val="col"/>
        <c:grouping val="clustered"/>
        <c:varyColors val="0"/>
        <c:ser>
          <c:idx val="0"/>
          <c:order val="0"/>
          <c:tx>
            <c:strRef>
              <c:f>Sheet1!$B$1</c:f>
              <c:strCache>
                <c:ptCount val="1"/>
                <c:pt idx="0">
                  <c:v>Series 1</c:v>
                </c:pt>
              </c:strCache>
            </c:strRef>
          </c:tx>
          <c:spPr>
            <a:solidFill>
              <a:schemeClr val="accent1"/>
            </a:solidFill>
            <a:ln>
              <a:noFill/>
            </a:ln>
            <a:effectLst/>
          </c:spPr>
          <c:invertIfNegative val="0"/>
          <c:dPt>
            <c:idx val="0"/>
            <c:invertIfNegative val="0"/>
            <c:bubble3D val="0"/>
            <c:spPr>
              <a:solidFill>
                <a:srgbClr val="00249C"/>
              </a:solidFill>
              <a:ln>
                <a:noFill/>
              </a:ln>
              <a:effectLst/>
            </c:spPr>
            <c:extLst>
              <c:ext xmlns:c16="http://schemas.microsoft.com/office/drawing/2014/chart" uri="{C3380CC4-5D6E-409C-BE32-E72D297353CC}">
                <c16:uniqueId val="{00000001-D3E2-40B1-A782-19892A84049E}"/>
              </c:ext>
            </c:extLst>
          </c:dPt>
          <c:dPt>
            <c:idx val="1"/>
            <c:invertIfNegative val="0"/>
            <c:bubble3D val="0"/>
            <c:spPr>
              <a:solidFill>
                <a:srgbClr val="00249C"/>
              </a:solidFill>
              <a:ln>
                <a:noFill/>
              </a:ln>
              <a:effectLst/>
            </c:spPr>
            <c:extLst>
              <c:ext xmlns:c16="http://schemas.microsoft.com/office/drawing/2014/chart" uri="{C3380CC4-5D6E-409C-BE32-E72D297353CC}">
                <c16:uniqueId val="{00000003-D3E2-40B1-A782-19892A84049E}"/>
              </c:ext>
            </c:extLst>
          </c:dPt>
          <c:dPt>
            <c:idx val="2"/>
            <c:invertIfNegative val="0"/>
            <c:bubble3D val="0"/>
            <c:spPr>
              <a:solidFill>
                <a:srgbClr val="00249C"/>
              </a:solidFill>
              <a:ln>
                <a:noFill/>
              </a:ln>
              <a:effectLst/>
            </c:spPr>
            <c:extLst>
              <c:ext xmlns:c16="http://schemas.microsoft.com/office/drawing/2014/chart" uri="{C3380CC4-5D6E-409C-BE32-E72D297353CC}">
                <c16:uniqueId val="{00000005-D3E2-40B1-A782-19892A84049E}"/>
              </c:ext>
            </c:extLst>
          </c:dPt>
          <c:dLbls>
            <c:numFmt formatCode="0%" sourceLinked="0"/>
            <c:spPr>
              <a:noFill/>
              <a:ln>
                <a:noFill/>
              </a:ln>
              <a:effectLst/>
            </c:spPr>
            <c:txPr>
              <a:bodyPr rot="0" spcFirstLastPara="1" vertOverflow="ellipsis" vert="horz" wrap="square" anchor="ctr" anchorCtr="1"/>
              <a:lstStyle/>
              <a:p>
                <a:pPr>
                  <a:defRPr lang="en-US" sz="1000" b="0" i="0" u="none" strike="noStrike" kern="1200" baseline="0">
                    <a:solidFill>
                      <a:schemeClr val="tx1"/>
                    </a:solidFill>
                    <a:latin typeface="Tahoma" panose="020B0604030504040204" pitchFamily="34" charset="0"/>
                    <a:ea typeface="Tahoma" panose="020B0604030504040204" pitchFamily="34" charset="0"/>
                    <a:cs typeface="Tahoma" panose="020B0604030504040204" pitchFamily="34" charset="0"/>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Sheet1!$A$2:$A$4</c:f>
              <c:strCache>
                <c:ptCount val="3"/>
                <c:pt idx="0">
                  <c:v>ADA</c:v>
                </c:pt>
                <c:pt idx="1">
                  <c:v>ADB</c:v>
                </c:pt>
                <c:pt idx="2">
                  <c:v>Campus Avg.</c:v>
                </c:pt>
              </c:strCache>
            </c:strRef>
          </c:cat>
          <c:val>
            <c:numRef>
              <c:f>Sheet1!$B$2:$B$4</c:f>
              <c:numCache>
                <c:formatCode>General</c:formatCode>
                <c:ptCount val="3"/>
                <c:pt idx="0">
                  <c:v>1</c:v>
                </c:pt>
                <c:pt idx="1">
                  <c:v>1</c:v>
                </c:pt>
                <c:pt idx="2">
                  <c:v>0.97844532279314889</c:v>
                </c:pt>
              </c:numCache>
            </c:numRef>
          </c:val>
          <c:extLst>
            <c:ext xmlns:c16="http://schemas.microsoft.com/office/drawing/2014/chart" uri="{C3380CC4-5D6E-409C-BE32-E72D297353CC}">
              <c16:uniqueId val="{00000006-D3E2-40B1-A782-19892A84049E}"/>
            </c:ext>
          </c:extLst>
        </c:ser>
        <c:dLbls>
          <c:showLegendKey val="0"/>
          <c:showVal val="1"/>
          <c:showCatName val="0"/>
          <c:showSerName val="0"/>
          <c:showPercent val="0"/>
          <c:showBubbleSize val="0"/>
        </c:dLbls>
        <c:gapWidth val="219"/>
        <c:axId val="589694672"/>
        <c:axId val="589695152"/>
      </c:barChart>
      <c:lineChart>
        <c:grouping val="standard"/>
        <c:varyColors val="0"/>
        <c:ser>
          <c:idx val="1"/>
          <c:order val="1"/>
          <c:tx>
            <c:strRef>
              <c:f>Sheet1!$B$1</c:f>
              <c:strCache>
                <c:ptCount val="1"/>
                <c:pt idx="0">
                  <c:v>Series 1</c:v>
                </c:pt>
              </c:strCache>
            </c:strRef>
          </c:tx>
          <c:spPr>
            <a:ln w="28575" cap="rnd">
              <a:solidFill>
                <a:schemeClr val="accent2"/>
              </a:solidFill>
              <a:round/>
            </a:ln>
            <a:effectLst/>
          </c:spPr>
          <c:marker>
            <c:symbol val="none"/>
          </c:marker>
          <c:cat>
            <c:strRef>
              <c:f>Sheet1!$A$2:$A$4</c:f>
              <c:strCache>
                <c:ptCount val="3"/>
                <c:pt idx="0">
                  <c:v>ADA</c:v>
                </c:pt>
                <c:pt idx="1">
                  <c:v>ADB</c:v>
                </c:pt>
                <c:pt idx="2">
                  <c:v>Campus Avg.</c:v>
                </c:pt>
              </c:strCache>
            </c:strRef>
          </c:cat>
          <c:val>
            <c:numRef>
              <c:f>Sheet1!$B$2:$B$4</c:f>
              <c:numCache>
                <c:formatCode>General</c:formatCode>
                <c:ptCount val="3"/>
                <c:pt idx="0">
                  <c:v>1</c:v>
                </c:pt>
                <c:pt idx="1">
                  <c:v>1</c:v>
                </c:pt>
                <c:pt idx="2">
                  <c:v>0.97844532279314889</c:v>
                </c:pt>
              </c:numCache>
            </c:numRef>
          </c:val>
          <c:smooth val="0"/>
          <c:extLst>
            <c:ext xmlns:c16="http://schemas.microsoft.com/office/drawing/2014/chart" uri="{C3380CC4-5D6E-409C-BE32-E72D297353CC}">
              <c16:uniqueId val="{00000006-D3E2-40B1-A782-19892A84049E}"/>
            </c:ext>
          </c:extLst>
        </c:ser>
        <c:dLbls>
          <c:showLegendKey val="0"/>
          <c:showVal val="0"/>
          <c:showCatName val="0"/>
          <c:showSerName val="0"/>
          <c:showPercent val="0"/>
          <c:showBubbleSize val="0"/>
        </c:dLbls>
        <c:marker val="1"/>
        <c:smooth val="0"/>
        <c:axId val="589694672"/>
        <c:axId val="589695152"/>
      </c:lineChart>
      <c:catAx>
        <c:axId val="589694672"/>
        <c:scaling>
          <c:orientation val="minMax"/>
        </c:scaling>
        <c:delete val="1"/>
        <c:axPos val="b"/>
        <c:numFmt formatCode="General" sourceLinked="1"/>
        <c:majorTickMark val="none"/>
        <c:minorTickMark val="none"/>
        <c:tickLblPos val="nextTo"/>
        <c:crossAx val="589695152"/>
        <c:crosses val="autoZero"/>
        <c:auto val="1"/>
        <c:lblAlgn val="ctr"/>
        <c:lblOffset val="100"/>
        <c:noMultiLvlLbl val="0"/>
      </c:catAx>
      <c:valAx>
        <c:axId val="589695152"/>
        <c:scaling>
          <c:orientation val="minMax"/>
          <c:max val="1"/>
          <c:min val="0.5"/>
        </c:scaling>
        <c:delete val="0"/>
        <c:axPos val="l"/>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lgn="ctr">
              <a:defRPr lang="en-US" sz="1000" b="0" i="0" u="none" strike="noStrike" kern="1200" baseline="0">
                <a:solidFill>
                  <a:schemeClr val="tx1"/>
                </a:solidFill>
                <a:latin typeface="Tahoma" panose="020B0604030504040204" pitchFamily="34" charset="0"/>
                <a:ea typeface="Tahoma" panose="020B0604030504040204" pitchFamily="34" charset="0"/>
                <a:cs typeface="Tahoma" panose="020B0604030504040204" pitchFamily="34" charset="0"/>
              </a:defRPr>
            </a:pPr>
            <a:endParaRPr lang="en-US"/>
          </a:p>
        </c:txPr>
        <c:crossAx val="589694672"/>
        <c:crosses val="autoZero"/>
        <c:crossBetween val="between"/>
        <c:majorUnit val="0.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lang="en-US" sz="1000" b="0" i="0" u="none" strike="noStrike" kern="1200" baseline="0">
          <a:solidFill>
            <a:schemeClr val="tx1"/>
          </a:solidFill>
          <a:latin typeface="Tahoma" panose="020B0604030504040204" pitchFamily="34" charset="0"/>
          <a:ea typeface="Tahoma" panose="020B0604030504040204" pitchFamily="34" charset="0"/>
          <a:cs typeface="Tahoma" panose="020B0604030504040204" pitchFamily="34" charset="0"/>
        </a:defRPr>
      </a:pPr>
      <a:endParaRPr lang="en-US"/>
    </a:p>
  </c:txPr>
  <c:externalData r:id="rId3">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lang="en-US" sz="1200" b="0" i="0" u="none" strike="noStrike" kern="1200" spc="0" baseline="0">
                <a:solidFill>
                  <a:srgbClr val="00249C"/>
                </a:solidFill>
                <a:latin typeface="Tahoma" panose="020B0604030504040204" pitchFamily="34" charset="0"/>
                <a:ea typeface="Tahoma" panose="020B0604030504040204" pitchFamily="34" charset="0"/>
                <a:cs typeface="Tahoma" panose="020B0604030504040204" pitchFamily="34" charset="0"/>
              </a:defRPr>
            </a:pPr>
            <a:r>
              <a:rPr lang="en-US" dirty="0"/>
              <a:t>Drills</a:t>
            </a:r>
          </a:p>
        </c:rich>
      </c:tx>
      <c:layout>
        <c:manualLayout>
          <c:xMode val="edge"/>
          <c:yMode val="edge"/>
          <c:x val="0.44438365232917898"/>
          <c:y val="0"/>
        </c:manualLayout>
      </c:layout>
      <c:overlay val="0"/>
      <c:spPr>
        <a:noFill/>
        <a:ln>
          <a:noFill/>
        </a:ln>
        <a:effectLst/>
      </c:spPr>
      <c:txPr>
        <a:bodyPr rot="0" spcFirstLastPara="1" vertOverflow="ellipsis" vert="horz" wrap="square"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lang="en-US" sz="1200" b="0" i="0" u="none" strike="noStrike" kern="1200" spc="0" baseline="0">
              <a:solidFill>
                <a:srgbClr val="00249C"/>
              </a:solidFill>
              <a:latin typeface="Tahoma" panose="020B0604030504040204" pitchFamily="34" charset="0"/>
              <a:ea typeface="Tahoma" panose="020B0604030504040204" pitchFamily="34" charset="0"/>
              <a:cs typeface="Tahoma" panose="020B0604030504040204" pitchFamily="34" charset="0"/>
            </a:defRPr>
          </a:pPr>
          <a:endParaRPr lang="en-US"/>
        </a:p>
      </c:txPr>
    </c:title>
    <c:autoTitleDeleted val="0"/>
    <c:plotArea>
      <c:layout>
        <c:manualLayout>
          <c:layoutTarget val="inner"/>
          <c:xMode val="edge"/>
          <c:yMode val="edge"/>
          <c:x val="0.13616576164414254"/>
          <c:y val="0.19960598301183052"/>
          <c:w val="0.82818454242454165"/>
          <c:h val="0.55962543361654526"/>
        </c:manualLayout>
      </c:layout>
      <c:barChart>
        <c:barDir val="col"/>
        <c:grouping val="clustered"/>
        <c:varyColors val="0"/>
        <c:ser>
          <c:idx val="0"/>
          <c:order val="0"/>
          <c:tx>
            <c:strRef>
              <c:f>Sheet1!$B$1</c:f>
              <c:strCache>
                <c:ptCount val="1"/>
                <c:pt idx="0">
                  <c:v>Series 1</c:v>
                </c:pt>
              </c:strCache>
            </c:strRef>
          </c:tx>
          <c:spPr>
            <a:solidFill>
              <a:schemeClr val="accent1"/>
            </a:solidFill>
            <a:ln>
              <a:noFill/>
            </a:ln>
            <a:effectLst/>
          </c:spPr>
          <c:invertIfNegative val="0"/>
          <c:dPt>
            <c:idx val="0"/>
            <c:invertIfNegative val="0"/>
            <c:bubble3D val="0"/>
            <c:spPr>
              <a:solidFill>
                <a:srgbClr val="00249C"/>
              </a:solidFill>
              <a:ln>
                <a:noFill/>
              </a:ln>
              <a:effectLst/>
            </c:spPr>
            <c:extLst>
              <c:ext xmlns:c16="http://schemas.microsoft.com/office/drawing/2014/chart" uri="{C3380CC4-5D6E-409C-BE32-E72D297353CC}">
                <c16:uniqueId val="{00000001-0CB5-4EC6-A65B-AADA7FEC6D90}"/>
              </c:ext>
            </c:extLst>
          </c:dPt>
          <c:dPt>
            <c:idx val="1"/>
            <c:invertIfNegative val="0"/>
            <c:bubble3D val="0"/>
            <c:spPr>
              <a:solidFill>
                <a:srgbClr val="00249C"/>
              </a:solidFill>
              <a:ln>
                <a:noFill/>
              </a:ln>
              <a:effectLst/>
            </c:spPr>
            <c:extLst>
              <c:ext xmlns:c16="http://schemas.microsoft.com/office/drawing/2014/chart" uri="{C3380CC4-5D6E-409C-BE32-E72D297353CC}">
                <c16:uniqueId val="{00000003-0CB5-4EC6-A65B-AADA7FEC6D90}"/>
              </c:ext>
            </c:extLst>
          </c:dPt>
          <c:dPt>
            <c:idx val="2"/>
            <c:invertIfNegative val="0"/>
            <c:bubble3D val="0"/>
            <c:spPr>
              <a:solidFill>
                <a:srgbClr val="00249C"/>
              </a:solidFill>
              <a:ln>
                <a:noFill/>
              </a:ln>
              <a:effectLst/>
            </c:spPr>
            <c:extLst>
              <c:ext xmlns:c16="http://schemas.microsoft.com/office/drawing/2014/chart" uri="{C3380CC4-5D6E-409C-BE32-E72D297353CC}">
                <c16:uniqueId val="{00000005-0CB5-4EC6-A65B-AADA7FEC6D90}"/>
              </c:ext>
            </c:extLst>
          </c:dPt>
          <c:dLbls>
            <c:numFmt formatCode="0%" sourceLinked="0"/>
            <c:spPr>
              <a:noFill/>
              <a:ln>
                <a:noFill/>
              </a:ln>
              <a:effectLst/>
            </c:spPr>
            <c:txPr>
              <a:bodyPr rot="0" spcFirstLastPara="1" vertOverflow="ellipsis" vert="horz" wrap="square" anchor="ctr" anchorCtr="1"/>
              <a:lstStyle/>
              <a:p>
                <a:pPr>
                  <a:defRPr lang="en-US" sz="1000" b="0" i="0" u="none" strike="noStrike" kern="1200" baseline="0">
                    <a:solidFill>
                      <a:schemeClr val="tx1"/>
                    </a:solidFill>
                    <a:latin typeface="Tahoma" panose="020B0604030504040204" pitchFamily="34" charset="0"/>
                    <a:ea typeface="Tahoma" panose="020B0604030504040204" pitchFamily="34" charset="0"/>
                    <a:cs typeface="Tahoma" panose="020B0604030504040204" pitchFamily="34" charset="0"/>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Sheet1!$A$2:$A$4</c:f>
              <c:strCache>
                <c:ptCount val="3"/>
                <c:pt idx="0">
                  <c:v>ADA</c:v>
                </c:pt>
                <c:pt idx="1">
                  <c:v>ADB</c:v>
                </c:pt>
                <c:pt idx="2">
                  <c:v>Campus Avg.</c:v>
                </c:pt>
              </c:strCache>
            </c:strRef>
          </c:cat>
          <c:val>
            <c:numRef>
              <c:f>Sheet1!$B$2:$B$4</c:f>
              <c:numCache>
                <c:formatCode>General</c:formatCode>
                <c:ptCount val="3"/>
                <c:pt idx="0">
                  <c:v>1</c:v>
                </c:pt>
                <c:pt idx="1">
                  <c:v>1</c:v>
                </c:pt>
                <c:pt idx="2">
                  <c:v>1</c:v>
                </c:pt>
              </c:numCache>
            </c:numRef>
          </c:val>
          <c:extLst>
            <c:ext xmlns:c16="http://schemas.microsoft.com/office/drawing/2014/chart" uri="{C3380CC4-5D6E-409C-BE32-E72D297353CC}">
              <c16:uniqueId val="{00000006-0CB5-4EC6-A65B-AADA7FEC6D90}"/>
            </c:ext>
          </c:extLst>
        </c:ser>
        <c:dLbls>
          <c:showLegendKey val="0"/>
          <c:showVal val="1"/>
          <c:showCatName val="0"/>
          <c:showSerName val="0"/>
          <c:showPercent val="0"/>
          <c:showBubbleSize val="0"/>
        </c:dLbls>
        <c:gapWidth val="219"/>
        <c:axId val="589694672"/>
        <c:axId val="589695152"/>
      </c:barChart>
      <c:lineChart>
        <c:grouping val="standard"/>
        <c:varyColors val="0"/>
        <c:ser>
          <c:idx val="1"/>
          <c:order val="1"/>
          <c:tx>
            <c:strRef>
              <c:f>Sheet1!$B$1</c:f>
              <c:strCache>
                <c:ptCount val="1"/>
                <c:pt idx="0">
                  <c:v>Series 1</c:v>
                </c:pt>
              </c:strCache>
            </c:strRef>
          </c:tx>
          <c:spPr>
            <a:ln w="28575" cap="rnd">
              <a:solidFill>
                <a:schemeClr val="accent2"/>
              </a:solidFill>
              <a:round/>
            </a:ln>
            <a:effectLst/>
          </c:spPr>
          <c:marker>
            <c:symbol val="none"/>
          </c:marker>
          <c:cat>
            <c:strRef>
              <c:f>Sheet1!$A$2:$A$4</c:f>
              <c:strCache>
                <c:ptCount val="3"/>
                <c:pt idx="0">
                  <c:v>ADA</c:v>
                </c:pt>
                <c:pt idx="1">
                  <c:v>ADB</c:v>
                </c:pt>
                <c:pt idx="2">
                  <c:v>Campus Avg.</c:v>
                </c:pt>
              </c:strCache>
            </c:strRef>
          </c:cat>
          <c:val>
            <c:numRef>
              <c:f>Sheet1!$B$2:$B$4</c:f>
              <c:numCache>
                <c:formatCode>General</c:formatCode>
                <c:ptCount val="3"/>
                <c:pt idx="0">
                  <c:v>1</c:v>
                </c:pt>
                <c:pt idx="1">
                  <c:v>1</c:v>
                </c:pt>
                <c:pt idx="2">
                  <c:v>1</c:v>
                </c:pt>
              </c:numCache>
            </c:numRef>
          </c:val>
          <c:smooth val="0"/>
          <c:extLst>
            <c:ext xmlns:c16="http://schemas.microsoft.com/office/drawing/2014/chart" uri="{C3380CC4-5D6E-409C-BE32-E72D297353CC}">
              <c16:uniqueId val="{00000006-0CB5-4EC6-A65B-AADA7FEC6D90}"/>
            </c:ext>
          </c:extLst>
        </c:ser>
        <c:dLbls>
          <c:showLegendKey val="0"/>
          <c:showVal val="0"/>
          <c:showCatName val="0"/>
          <c:showSerName val="0"/>
          <c:showPercent val="0"/>
          <c:showBubbleSize val="0"/>
        </c:dLbls>
        <c:marker val="1"/>
        <c:smooth val="0"/>
        <c:axId val="589694672"/>
        <c:axId val="589695152"/>
      </c:lineChart>
      <c:catAx>
        <c:axId val="589694672"/>
        <c:scaling>
          <c:orientation val="minMax"/>
        </c:scaling>
        <c:delete val="1"/>
        <c:axPos val="b"/>
        <c:numFmt formatCode="General" sourceLinked="1"/>
        <c:majorTickMark val="none"/>
        <c:minorTickMark val="none"/>
        <c:tickLblPos val="nextTo"/>
        <c:crossAx val="589695152"/>
        <c:crosses val="autoZero"/>
        <c:auto val="1"/>
        <c:lblAlgn val="ctr"/>
        <c:lblOffset val="100"/>
        <c:noMultiLvlLbl val="0"/>
      </c:catAx>
      <c:valAx>
        <c:axId val="589695152"/>
        <c:scaling>
          <c:orientation val="minMax"/>
          <c:max val="1"/>
          <c:min val="0.5"/>
        </c:scaling>
        <c:delete val="0"/>
        <c:axPos val="l"/>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lgn="ctr">
              <a:defRPr lang="en-US" sz="1000" b="0" i="0" u="none" strike="noStrike" kern="1200" baseline="0">
                <a:solidFill>
                  <a:schemeClr val="tx1"/>
                </a:solidFill>
                <a:latin typeface="Tahoma" panose="020B0604030504040204" pitchFamily="34" charset="0"/>
                <a:ea typeface="Tahoma" panose="020B0604030504040204" pitchFamily="34" charset="0"/>
                <a:cs typeface="Tahoma" panose="020B0604030504040204" pitchFamily="34" charset="0"/>
              </a:defRPr>
            </a:pPr>
            <a:endParaRPr lang="en-US"/>
          </a:p>
        </c:txPr>
        <c:crossAx val="589694672"/>
        <c:crosses val="autoZero"/>
        <c:crossBetween val="between"/>
        <c:majorUnit val="0.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lang="en-US" sz="1000" b="0" i="0" u="none" strike="noStrike" kern="1200" baseline="0">
          <a:solidFill>
            <a:schemeClr val="tx1"/>
          </a:solidFill>
          <a:latin typeface="Tahoma" panose="020B0604030504040204" pitchFamily="34" charset="0"/>
          <a:ea typeface="Tahoma" panose="020B0604030504040204" pitchFamily="34" charset="0"/>
          <a:cs typeface="Tahoma" panose="020B0604030504040204" pitchFamily="34" charset="0"/>
        </a:defRPr>
      </a:pPr>
      <a:endParaRPr lang="en-US"/>
    </a:p>
  </c:txPr>
  <c:externalData r:id="rId3">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lang="en-US" sz="1200" b="0" i="0" u="none" strike="noStrike" kern="1200" spc="0" baseline="0">
                <a:solidFill>
                  <a:srgbClr val="00249C"/>
                </a:solidFill>
                <a:latin typeface="Tahoma" panose="020B0604030504040204" pitchFamily="34" charset="0"/>
                <a:ea typeface="Tahoma" panose="020B0604030504040204" pitchFamily="34" charset="0"/>
                <a:cs typeface="Tahoma" panose="020B0604030504040204" pitchFamily="34" charset="0"/>
              </a:defRPr>
            </a:pPr>
            <a:r>
              <a:rPr lang="en-US" dirty="0"/>
              <a:t>Permit to Work</a:t>
            </a:r>
          </a:p>
        </c:rich>
      </c:tx>
      <c:layout>
        <c:manualLayout>
          <c:xMode val="edge"/>
          <c:yMode val="edge"/>
          <c:x val="0.37910851118453559"/>
          <c:y val="2.891156385153024E-2"/>
        </c:manualLayout>
      </c:layout>
      <c:overlay val="0"/>
      <c:spPr>
        <a:noFill/>
        <a:ln>
          <a:noFill/>
        </a:ln>
        <a:effectLst/>
      </c:spPr>
      <c:txPr>
        <a:bodyPr rot="0" spcFirstLastPara="1" vertOverflow="ellipsis" vert="horz" wrap="square"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lang="en-US" sz="1200" b="0" i="0" u="none" strike="noStrike" kern="1200" spc="0" baseline="0">
              <a:solidFill>
                <a:srgbClr val="00249C"/>
              </a:solidFill>
              <a:latin typeface="Tahoma" panose="020B0604030504040204" pitchFamily="34" charset="0"/>
              <a:ea typeface="Tahoma" panose="020B0604030504040204" pitchFamily="34" charset="0"/>
              <a:cs typeface="Tahoma" panose="020B0604030504040204" pitchFamily="34" charset="0"/>
            </a:defRPr>
          </a:pPr>
          <a:endParaRPr lang="en-US"/>
        </a:p>
      </c:txPr>
    </c:title>
    <c:autoTitleDeleted val="0"/>
    <c:plotArea>
      <c:layout>
        <c:manualLayout>
          <c:layoutTarget val="inner"/>
          <c:xMode val="edge"/>
          <c:yMode val="edge"/>
          <c:x val="0.13616576164414254"/>
          <c:y val="0.19960598301183052"/>
          <c:w val="0.82818454242454165"/>
          <c:h val="0.55962543361654526"/>
        </c:manualLayout>
      </c:layout>
      <c:barChart>
        <c:barDir val="col"/>
        <c:grouping val="clustered"/>
        <c:varyColors val="0"/>
        <c:ser>
          <c:idx val="0"/>
          <c:order val="0"/>
          <c:tx>
            <c:strRef>
              <c:f>Sheet1!$B$1</c:f>
              <c:strCache>
                <c:ptCount val="1"/>
                <c:pt idx="0">
                  <c:v>Series 1</c:v>
                </c:pt>
              </c:strCache>
            </c:strRef>
          </c:tx>
          <c:spPr>
            <a:solidFill>
              <a:schemeClr val="accent1"/>
            </a:solidFill>
            <a:ln>
              <a:noFill/>
            </a:ln>
            <a:effectLst/>
          </c:spPr>
          <c:invertIfNegative val="0"/>
          <c:dPt>
            <c:idx val="0"/>
            <c:invertIfNegative val="0"/>
            <c:bubble3D val="0"/>
            <c:spPr>
              <a:solidFill>
                <a:srgbClr val="00249C"/>
              </a:solidFill>
              <a:ln>
                <a:noFill/>
              </a:ln>
              <a:effectLst/>
            </c:spPr>
            <c:extLst>
              <c:ext xmlns:c16="http://schemas.microsoft.com/office/drawing/2014/chart" uri="{C3380CC4-5D6E-409C-BE32-E72D297353CC}">
                <c16:uniqueId val="{00000001-5823-41F5-B8BC-C84EEAE529E0}"/>
              </c:ext>
            </c:extLst>
          </c:dPt>
          <c:dPt>
            <c:idx val="1"/>
            <c:invertIfNegative val="0"/>
            <c:bubble3D val="0"/>
            <c:spPr>
              <a:solidFill>
                <a:srgbClr val="00249C"/>
              </a:solidFill>
              <a:ln>
                <a:noFill/>
              </a:ln>
              <a:effectLst/>
            </c:spPr>
            <c:extLst>
              <c:ext xmlns:c16="http://schemas.microsoft.com/office/drawing/2014/chart" uri="{C3380CC4-5D6E-409C-BE32-E72D297353CC}">
                <c16:uniqueId val="{00000003-5823-41F5-B8BC-C84EEAE529E0}"/>
              </c:ext>
            </c:extLst>
          </c:dPt>
          <c:dPt>
            <c:idx val="2"/>
            <c:invertIfNegative val="0"/>
            <c:bubble3D val="0"/>
            <c:spPr>
              <a:solidFill>
                <a:srgbClr val="00249C"/>
              </a:solidFill>
              <a:ln>
                <a:noFill/>
              </a:ln>
              <a:effectLst/>
            </c:spPr>
            <c:extLst>
              <c:ext xmlns:c16="http://schemas.microsoft.com/office/drawing/2014/chart" uri="{C3380CC4-5D6E-409C-BE32-E72D297353CC}">
                <c16:uniqueId val="{00000005-5823-41F5-B8BC-C84EEAE529E0}"/>
              </c:ext>
            </c:extLst>
          </c:dPt>
          <c:dLbls>
            <c:numFmt formatCode="0%" sourceLinked="0"/>
            <c:spPr>
              <a:noFill/>
              <a:ln>
                <a:noFill/>
              </a:ln>
              <a:effectLst/>
            </c:spPr>
            <c:txPr>
              <a:bodyPr rot="0" spcFirstLastPara="1" vertOverflow="ellipsis" vert="horz" wrap="square" anchor="ctr" anchorCtr="1"/>
              <a:lstStyle/>
              <a:p>
                <a:pPr>
                  <a:defRPr lang="en-US" sz="1000" b="0" i="0" u="none" strike="noStrike" kern="1200" baseline="0">
                    <a:solidFill>
                      <a:schemeClr val="tx1"/>
                    </a:solidFill>
                    <a:latin typeface="Tahoma" panose="020B0604030504040204" pitchFamily="34" charset="0"/>
                    <a:ea typeface="Tahoma" panose="020B0604030504040204" pitchFamily="34" charset="0"/>
                    <a:cs typeface="Tahoma" panose="020B0604030504040204" pitchFamily="34" charset="0"/>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Sheet1!$A$2:$A$4</c:f>
              <c:strCache>
                <c:ptCount val="3"/>
                <c:pt idx="0">
                  <c:v>ADA</c:v>
                </c:pt>
                <c:pt idx="1">
                  <c:v>ADB</c:v>
                </c:pt>
                <c:pt idx="2">
                  <c:v>Campus Avg.</c:v>
                </c:pt>
              </c:strCache>
            </c:strRef>
          </c:cat>
          <c:val>
            <c:numRef>
              <c:f>Sheet1!$B$2:$B$4</c:f>
              <c:numCache>
                <c:formatCode>General</c:formatCode>
                <c:ptCount val="3"/>
                <c:pt idx="0">
                  <c:v>1</c:v>
                </c:pt>
                <c:pt idx="1">
                  <c:v>1</c:v>
                </c:pt>
                <c:pt idx="2">
                  <c:v>1</c:v>
                </c:pt>
              </c:numCache>
            </c:numRef>
          </c:val>
          <c:extLst>
            <c:ext xmlns:c16="http://schemas.microsoft.com/office/drawing/2014/chart" uri="{C3380CC4-5D6E-409C-BE32-E72D297353CC}">
              <c16:uniqueId val="{00000006-5823-41F5-B8BC-C84EEAE529E0}"/>
            </c:ext>
          </c:extLst>
        </c:ser>
        <c:dLbls>
          <c:showLegendKey val="0"/>
          <c:showVal val="1"/>
          <c:showCatName val="0"/>
          <c:showSerName val="0"/>
          <c:showPercent val="0"/>
          <c:showBubbleSize val="0"/>
        </c:dLbls>
        <c:gapWidth val="219"/>
        <c:axId val="589694672"/>
        <c:axId val="589695152"/>
      </c:barChart>
      <c:lineChart>
        <c:grouping val="standard"/>
        <c:varyColors val="0"/>
        <c:ser>
          <c:idx val="1"/>
          <c:order val="1"/>
          <c:tx>
            <c:strRef>
              <c:f>Sheet1!$B$1</c:f>
              <c:strCache>
                <c:ptCount val="1"/>
                <c:pt idx="0">
                  <c:v>Series 1</c:v>
                </c:pt>
              </c:strCache>
            </c:strRef>
          </c:tx>
          <c:spPr>
            <a:ln w="28575" cap="rnd">
              <a:solidFill>
                <a:schemeClr val="accent2"/>
              </a:solidFill>
              <a:round/>
            </a:ln>
            <a:effectLst/>
          </c:spPr>
          <c:marker>
            <c:symbol val="none"/>
          </c:marker>
          <c:cat>
            <c:strRef>
              <c:f>Sheet1!$A$2:$A$4</c:f>
              <c:strCache>
                <c:ptCount val="3"/>
                <c:pt idx="0">
                  <c:v>ADA</c:v>
                </c:pt>
                <c:pt idx="1">
                  <c:v>ADB</c:v>
                </c:pt>
                <c:pt idx="2">
                  <c:v>Campus Avg.</c:v>
                </c:pt>
              </c:strCache>
            </c:strRef>
          </c:cat>
          <c:val>
            <c:numRef>
              <c:f>Sheet1!$B$2:$B$4</c:f>
              <c:numCache>
                <c:formatCode>General</c:formatCode>
                <c:ptCount val="3"/>
                <c:pt idx="0">
                  <c:v>1</c:v>
                </c:pt>
                <c:pt idx="1">
                  <c:v>1</c:v>
                </c:pt>
                <c:pt idx="2">
                  <c:v>1</c:v>
                </c:pt>
              </c:numCache>
            </c:numRef>
          </c:val>
          <c:smooth val="0"/>
          <c:extLst>
            <c:ext xmlns:c16="http://schemas.microsoft.com/office/drawing/2014/chart" uri="{C3380CC4-5D6E-409C-BE32-E72D297353CC}">
              <c16:uniqueId val="{00000006-5823-41F5-B8BC-C84EEAE529E0}"/>
            </c:ext>
          </c:extLst>
        </c:ser>
        <c:dLbls>
          <c:showLegendKey val="0"/>
          <c:showVal val="0"/>
          <c:showCatName val="0"/>
          <c:showSerName val="0"/>
          <c:showPercent val="0"/>
          <c:showBubbleSize val="0"/>
        </c:dLbls>
        <c:marker val="1"/>
        <c:smooth val="0"/>
        <c:axId val="589694672"/>
        <c:axId val="589695152"/>
      </c:lineChart>
      <c:catAx>
        <c:axId val="589694672"/>
        <c:scaling>
          <c:orientation val="minMax"/>
        </c:scaling>
        <c:delete val="1"/>
        <c:axPos val="b"/>
        <c:numFmt formatCode="General" sourceLinked="1"/>
        <c:majorTickMark val="none"/>
        <c:minorTickMark val="none"/>
        <c:tickLblPos val="nextTo"/>
        <c:crossAx val="589695152"/>
        <c:crosses val="autoZero"/>
        <c:auto val="1"/>
        <c:lblAlgn val="ctr"/>
        <c:lblOffset val="100"/>
        <c:noMultiLvlLbl val="0"/>
      </c:catAx>
      <c:valAx>
        <c:axId val="589695152"/>
        <c:scaling>
          <c:orientation val="minMax"/>
          <c:max val="1"/>
          <c:min val="0.5"/>
        </c:scaling>
        <c:delete val="0"/>
        <c:axPos val="l"/>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lgn="ctr">
              <a:defRPr lang="en-US" sz="1000" b="0" i="0" u="none" strike="noStrike" kern="1200" baseline="0">
                <a:solidFill>
                  <a:schemeClr val="tx1"/>
                </a:solidFill>
                <a:latin typeface="Tahoma" panose="020B0604030504040204" pitchFamily="34" charset="0"/>
                <a:ea typeface="Tahoma" panose="020B0604030504040204" pitchFamily="34" charset="0"/>
                <a:cs typeface="Tahoma" panose="020B0604030504040204" pitchFamily="34" charset="0"/>
              </a:defRPr>
            </a:pPr>
            <a:endParaRPr lang="en-US"/>
          </a:p>
        </c:txPr>
        <c:crossAx val="589694672"/>
        <c:crosses val="autoZero"/>
        <c:crossBetween val="between"/>
        <c:majorUnit val="0.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lang="en-US" sz="1000" b="0" i="0" u="none" strike="noStrike" kern="1200" baseline="0">
          <a:solidFill>
            <a:schemeClr val="tx1"/>
          </a:solidFill>
          <a:latin typeface="Tahoma" panose="020B0604030504040204" pitchFamily="34" charset="0"/>
          <a:ea typeface="Tahoma" panose="020B0604030504040204" pitchFamily="34" charset="0"/>
          <a:cs typeface="Tahoma" panose="020B0604030504040204" pitchFamily="34" charset="0"/>
        </a:defRPr>
      </a:pPr>
      <a:endParaRPr lang="en-US"/>
    </a:p>
  </c:txPr>
  <c:externalData r:id="rId3">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lang="en-US" sz="1200" b="0" i="0" u="none" strike="noStrike" kern="1200" spc="0" baseline="0">
                <a:solidFill>
                  <a:srgbClr val="00249C"/>
                </a:solidFill>
                <a:latin typeface="Tahoma" panose="020B0604030504040204" pitchFamily="34" charset="0"/>
                <a:ea typeface="Tahoma" panose="020B0604030504040204" pitchFamily="34" charset="0"/>
                <a:cs typeface="Tahoma" panose="020B0604030504040204" pitchFamily="34" charset="0"/>
              </a:defRPr>
            </a:pPr>
            <a:r>
              <a:rPr lang="en-US" dirty="0"/>
              <a:t>Contractor Induction</a:t>
            </a:r>
          </a:p>
        </c:rich>
      </c:tx>
      <c:layout>
        <c:manualLayout>
          <c:xMode val="edge"/>
          <c:yMode val="edge"/>
          <c:x val="0.37910851118453559"/>
          <c:y val="2.891156385153024E-2"/>
        </c:manualLayout>
      </c:layout>
      <c:overlay val="0"/>
      <c:spPr>
        <a:noFill/>
        <a:ln>
          <a:noFill/>
        </a:ln>
        <a:effectLst/>
      </c:spPr>
      <c:txPr>
        <a:bodyPr rot="0" spcFirstLastPara="1" vertOverflow="ellipsis" vert="horz" wrap="square"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lang="en-US" sz="1200" b="0" i="0" u="none" strike="noStrike" kern="1200" spc="0" baseline="0">
              <a:solidFill>
                <a:srgbClr val="00249C"/>
              </a:solidFill>
              <a:latin typeface="Tahoma" panose="020B0604030504040204" pitchFamily="34" charset="0"/>
              <a:ea typeface="Tahoma" panose="020B0604030504040204" pitchFamily="34" charset="0"/>
              <a:cs typeface="Tahoma" panose="020B0604030504040204" pitchFamily="34" charset="0"/>
            </a:defRPr>
          </a:pPr>
          <a:endParaRPr lang="en-US"/>
        </a:p>
      </c:txPr>
    </c:title>
    <c:autoTitleDeleted val="0"/>
    <c:plotArea>
      <c:layout>
        <c:manualLayout>
          <c:layoutTarget val="inner"/>
          <c:xMode val="edge"/>
          <c:yMode val="edge"/>
          <c:x val="0.13616576164414254"/>
          <c:y val="0.19960598301183052"/>
          <c:w val="0.82818454242454165"/>
          <c:h val="0.55962543361654526"/>
        </c:manualLayout>
      </c:layout>
      <c:barChart>
        <c:barDir val="col"/>
        <c:grouping val="clustered"/>
        <c:varyColors val="0"/>
        <c:ser>
          <c:idx val="0"/>
          <c:order val="0"/>
          <c:tx>
            <c:strRef>
              <c:f>Sheet1!$B$1</c:f>
              <c:strCache>
                <c:ptCount val="1"/>
                <c:pt idx="0">
                  <c:v>Series 1</c:v>
                </c:pt>
              </c:strCache>
            </c:strRef>
          </c:tx>
          <c:spPr>
            <a:solidFill>
              <a:schemeClr val="accent1"/>
            </a:solidFill>
            <a:ln>
              <a:noFill/>
            </a:ln>
            <a:effectLst/>
          </c:spPr>
          <c:invertIfNegative val="0"/>
          <c:dPt>
            <c:idx val="0"/>
            <c:invertIfNegative val="0"/>
            <c:bubble3D val="0"/>
            <c:spPr>
              <a:solidFill>
                <a:srgbClr val="00249C"/>
              </a:solidFill>
              <a:ln>
                <a:noFill/>
              </a:ln>
              <a:effectLst/>
            </c:spPr>
            <c:extLst>
              <c:ext xmlns:c16="http://schemas.microsoft.com/office/drawing/2014/chart" uri="{C3380CC4-5D6E-409C-BE32-E72D297353CC}">
                <c16:uniqueId val="{00000001-8078-459C-87A1-80B8C52926CF}"/>
              </c:ext>
            </c:extLst>
          </c:dPt>
          <c:dPt>
            <c:idx val="1"/>
            <c:invertIfNegative val="0"/>
            <c:bubble3D val="0"/>
            <c:spPr>
              <a:solidFill>
                <a:srgbClr val="00249C"/>
              </a:solidFill>
              <a:ln>
                <a:noFill/>
              </a:ln>
              <a:effectLst/>
            </c:spPr>
            <c:extLst>
              <c:ext xmlns:c16="http://schemas.microsoft.com/office/drawing/2014/chart" uri="{C3380CC4-5D6E-409C-BE32-E72D297353CC}">
                <c16:uniqueId val="{00000003-8078-459C-87A1-80B8C52926CF}"/>
              </c:ext>
            </c:extLst>
          </c:dPt>
          <c:dPt>
            <c:idx val="2"/>
            <c:invertIfNegative val="0"/>
            <c:bubble3D val="0"/>
            <c:spPr>
              <a:solidFill>
                <a:srgbClr val="00249C"/>
              </a:solidFill>
              <a:ln>
                <a:noFill/>
              </a:ln>
              <a:effectLst/>
            </c:spPr>
            <c:extLst>
              <c:ext xmlns:c16="http://schemas.microsoft.com/office/drawing/2014/chart" uri="{C3380CC4-5D6E-409C-BE32-E72D297353CC}">
                <c16:uniqueId val="{00000005-8078-459C-87A1-80B8C52926CF}"/>
              </c:ext>
            </c:extLst>
          </c:dPt>
          <c:dLbls>
            <c:numFmt formatCode="0%" sourceLinked="0"/>
            <c:spPr>
              <a:noFill/>
              <a:ln>
                <a:noFill/>
              </a:ln>
              <a:effectLst/>
            </c:spPr>
            <c:txPr>
              <a:bodyPr rot="0" spcFirstLastPara="1" vertOverflow="ellipsis" vert="horz" wrap="square" anchor="ctr" anchorCtr="1"/>
              <a:lstStyle/>
              <a:p>
                <a:pPr>
                  <a:defRPr lang="en-US" sz="1000" b="0" i="0" u="none" strike="noStrike" kern="1200" baseline="0">
                    <a:solidFill>
                      <a:schemeClr val="tx1"/>
                    </a:solidFill>
                    <a:latin typeface="Tahoma" panose="020B0604030504040204" pitchFamily="34" charset="0"/>
                    <a:ea typeface="Tahoma" panose="020B0604030504040204" pitchFamily="34" charset="0"/>
                    <a:cs typeface="Tahoma" panose="020B0604030504040204" pitchFamily="34" charset="0"/>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Sheet1!$A$2:$A$4</c:f>
              <c:strCache>
                <c:ptCount val="3"/>
                <c:pt idx="0">
                  <c:v>ADA</c:v>
                </c:pt>
                <c:pt idx="1">
                  <c:v>ADB</c:v>
                </c:pt>
                <c:pt idx="2">
                  <c:v>Campus Avg.</c:v>
                </c:pt>
              </c:strCache>
            </c:strRef>
          </c:cat>
          <c:val>
            <c:numRef>
              <c:f>Sheet1!$B$2:$B$4</c:f>
              <c:numCache>
                <c:formatCode>General</c:formatCode>
                <c:ptCount val="3"/>
                <c:pt idx="0">
                  <c:v>1</c:v>
                </c:pt>
                <c:pt idx="1">
                  <c:v>1</c:v>
                </c:pt>
                <c:pt idx="2">
                  <c:v>1</c:v>
                </c:pt>
              </c:numCache>
            </c:numRef>
          </c:val>
          <c:extLst>
            <c:ext xmlns:c16="http://schemas.microsoft.com/office/drawing/2014/chart" uri="{C3380CC4-5D6E-409C-BE32-E72D297353CC}">
              <c16:uniqueId val="{00000006-8078-459C-87A1-80B8C52926CF}"/>
            </c:ext>
          </c:extLst>
        </c:ser>
        <c:dLbls>
          <c:showLegendKey val="0"/>
          <c:showVal val="1"/>
          <c:showCatName val="0"/>
          <c:showSerName val="0"/>
          <c:showPercent val="0"/>
          <c:showBubbleSize val="0"/>
        </c:dLbls>
        <c:gapWidth val="219"/>
        <c:axId val="589694672"/>
        <c:axId val="589695152"/>
      </c:barChart>
      <c:lineChart>
        <c:grouping val="standard"/>
        <c:varyColors val="0"/>
        <c:ser>
          <c:idx val="1"/>
          <c:order val="1"/>
          <c:tx>
            <c:strRef>
              <c:f>Sheet1!$B$1</c:f>
              <c:strCache>
                <c:ptCount val="1"/>
                <c:pt idx="0">
                  <c:v>Series 1</c:v>
                </c:pt>
              </c:strCache>
            </c:strRef>
          </c:tx>
          <c:spPr>
            <a:ln w="28575" cap="rnd">
              <a:solidFill>
                <a:schemeClr val="accent2"/>
              </a:solidFill>
              <a:round/>
            </a:ln>
            <a:effectLst/>
          </c:spPr>
          <c:marker>
            <c:symbol val="none"/>
          </c:marker>
          <c:cat>
            <c:strRef>
              <c:f>Sheet1!$A$2:$A$4</c:f>
              <c:strCache>
                <c:ptCount val="3"/>
                <c:pt idx="0">
                  <c:v>ADA</c:v>
                </c:pt>
                <c:pt idx="1">
                  <c:v>ADB</c:v>
                </c:pt>
                <c:pt idx="2">
                  <c:v>Campus Avg.</c:v>
                </c:pt>
              </c:strCache>
            </c:strRef>
          </c:cat>
          <c:val>
            <c:numRef>
              <c:f>Sheet1!$B$2:$B$4</c:f>
              <c:numCache>
                <c:formatCode>General</c:formatCode>
                <c:ptCount val="3"/>
                <c:pt idx="0">
                  <c:v>1</c:v>
                </c:pt>
                <c:pt idx="1">
                  <c:v>1</c:v>
                </c:pt>
                <c:pt idx="2">
                  <c:v>1</c:v>
                </c:pt>
              </c:numCache>
            </c:numRef>
          </c:val>
          <c:smooth val="0"/>
          <c:extLst>
            <c:ext xmlns:c16="http://schemas.microsoft.com/office/drawing/2014/chart" uri="{C3380CC4-5D6E-409C-BE32-E72D297353CC}">
              <c16:uniqueId val="{00000006-8078-459C-87A1-80B8C52926CF}"/>
            </c:ext>
          </c:extLst>
        </c:ser>
        <c:dLbls>
          <c:showLegendKey val="0"/>
          <c:showVal val="0"/>
          <c:showCatName val="0"/>
          <c:showSerName val="0"/>
          <c:showPercent val="0"/>
          <c:showBubbleSize val="0"/>
        </c:dLbls>
        <c:marker val="1"/>
        <c:smooth val="0"/>
        <c:axId val="589694672"/>
        <c:axId val="589695152"/>
      </c:lineChart>
      <c:catAx>
        <c:axId val="589694672"/>
        <c:scaling>
          <c:orientation val="minMax"/>
        </c:scaling>
        <c:delete val="1"/>
        <c:axPos val="b"/>
        <c:numFmt formatCode="General" sourceLinked="1"/>
        <c:majorTickMark val="none"/>
        <c:minorTickMark val="none"/>
        <c:tickLblPos val="nextTo"/>
        <c:crossAx val="589695152"/>
        <c:crosses val="autoZero"/>
        <c:auto val="1"/>
        <c:lblAlgn val="ctr"/>
        <c:lblOffset val="100"/>
        <c:noMultiLvlLbl val="0"/>
      </c:catAx>
      <c:valAx>
        <c:axId val="589695152"/>
        <c:scaling>
          <c:orientation val="minMax"/>
          <c:max val="1"/>
          <c:min val="0.5"/>
        </c:scaling>
        <c:delete val="0"/>
        <c:axPos val="l"/>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lgn="ctr">
              <a:defRPr lang="en-US" sz="1000" b="0" i="0" u="none" strike="noStrike" kern="1200" baseline="0">
                <a:solidFill>
                  <a:schemeClr val="tx1"/>
                </a:solidFill>
                <a:latin typeface="Tahoma" panose="020B0604030504040204" pitchFamily="34" charset="0"/>
                <a:ea typeface="Tahoma" panose="020B0604030504040204" pitchFamily="34" charset="0"/>
                <a:cs typeface="Tahoma" panose="020B0604030504040204" pitchFamily="34" charset="0"/>
              </a:defRPr>
            </a:pPr>
            <a:endParaRPr lang="en-US"/>
          </a:p>
        </c:txPr>
        <c:crossAx val="589694672"/>
        <c:crosses val="autoZero"/>
        <c:crossBetween val="between"/>
        <c:majorUnit val="0.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lang="en-US" sz="1000" b="0" i="0" u="none" strike="noStrike" kern="1200" baseline="0">
          <a:solidFill>
            <a:schemeClr val="tx1"/>
          </a:solidFill>
          <a:latin typeface="Tahoma" panose="020B0604030504040204" pitchFamily="34" charset="0"/>
          <a:ea typeface="Tahoma" panose="020B0604030504040204" pitchFamily="34" charset="0"/>
          <a:cs typeface="Tahoma" panose="020B0604030504040204" pitchFamily="34" charset="0"/>
        </a:defRPr>
      </a:pPr>
      <a:endParaRPr lang="en-US"/>
    </a:p>
  </c:txPr>
  <c:externalData r:id="rId3">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lang="en-US" sz="1200" b="0" i="0" u="none" strike="noStrike" kern="1200" spc="0" baseline="0">
                <a:solidFill>
                  <a:srgbClr val="00249C"/>
                </a:solidFill>
                <a:latin typeface="Tahoma" panose="020B0604030504040204" pitchFamily="34" charset="0"/>
                <a:ea typeface="Tahoma" panose="020B0604030504040204" pitchFamily="34" charset="0"/>
                <a:cs typeface="Tahoma" panose="020B0604030504040204" pitchFamily="34" charset="0"/>
              </a:defRPr>
            </a:pPr>
            <a:r>
              <a:rPr lang="en-US" dirty="0"/>
              <a:t>Scheduled Inspections Completed</a:t>
            </a:r>
          </a:p>
        </c:rich>
      </c:tx>
      <c:layout>
        <c:manualLayout>
          <c:xMode val="edge"/>
          <c:yMode val="edge"/>
          <c:x val="0.24529447183801689"/>
          <c:y val="0"/>
        </c:manualLayout>
      </c:layout>
      <c:overlay val="0"/>
      <c:spPr>
        <a:noFill/>
        <a:ln>
          <a:noFill/>
        </a:ln>
        <a:effectLst/>
      </c:spPr>
      <c:txPr>
        <a:bodyPr rot="0" spcFirstLastPara="1" vertOverflow="ellipsis" vert="horz" wrap="square"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lang="en-US" sz="1200" b="0" i="0" u="none" strike="noStrike" kern="1200" spc="0" baseline="0">
              <a:solidFill>
                <a:srgbClr val="00249C"/>
              </a:solidFill>
              <a:latin typeface="Tahoma" panose="020B0604030504040204" pitchFamily="34" charset="0"/>
              <a:ea typeface="Tahoma" panose="020B0604030504040204" pitchFamily="34" charset="0"/>
              <a:cs typeface="Tahoma" panose="020B0604030504040204" pitchFamily="34" charset="0"/>
            </a:defRPr>
          </a:pPr>
          <a:endParaRPr lang="en-US"/>
        </a:p>
      </c:txPr>
    </c:title>
    <c:autoTitleDeleted val="0"/>
    <c:plotArea>
      <c:layout>
        <c:manualLayout>
          <c:layoutTarget val="inner"/>
          <c:xMode val="edge"/>
          <c:yMode val="edge"/>
          <c:x val="0.13616576164414254"/>
          <c:y val="0.19960598301183052"/>
          <c:w val="0.82818454242454165"/>
          <c:h val="0.55962543361654526"/>
        </c:manualLayout>
      </c:layout>
      <c:barChart>
        <c:barDir val="col"/>
        <c:grouping val="clustered"/>
        <c:varyColors val="0"/>
        <c:ser>
          <c:idx val="0"/>
          <c:order val="0"/>
          <c:tx>
            <c:strRef>
              <c:f>Sheet1!$B$1</c:f>
              <c:strCache>
                <c:ptCount val="1"/>
                <c:pt idx="0">
                  <c:v>Series 1</c:v>
                </c:pt>
              </c:strCache>
            </c:strRef>
          </c:tx>
          <c:spPr>
            <a:solidFill>
              <a:schemeClr val="accent1"/>
            </a:solidFill>
            <a:ln>
              <a:noFill/>
            </a:ln>
            <a:effectLst/>
          </c:spPr>
          <c:invertIfNegative val="0"/>
          <c:dPt>
            <c:idx val="0"/>
            <c:invertIfNegative val="0"/>
            <c:bubble3D val="0"/>
            <c:spPr>
              <a:solidFill>
                <a:srgbClr val="00249C"/>
              </a:solidFill>
              <a:ln>
                <a:noFill/>
              </a:ln>
              <a:effectLst/>
            </c:spPr>
            <c:extLst>
              <c:ext xmlns:c16="http://schemas.microsoft.com/office/drawing/2014/chart" uri="{C3380CC4-5D6E-409C-BE32-E72D297353CC}">
                <c16:uniqueId val="{00000001-C836-4C38-B3AF-DB14259D9935}"/>
              </c:ext>
            </c:extLst>
          </c:dPt>
          <c:dPt>
            <c:idx val="1"/>
            <c:invertIfNegative val="0"/>
            <c:bubble3D val="0"/>
            <c:spPr>
              <a:solidFill>
                <a:srgbClr val="00249C"/>
              </a:solidFill>
              <a:ln>
                <a:noFill/>
              </a:ln>
              <a:effectLst/>
            </c:spPr>
            <c:extLst>
              <c:ext xmlns:c16="http://schemas.microsoft.com/office/drawing/2014/chart" uri="{C3380CC4-5D6E-409C-BE32-E72D297353CC}">
                <c16:uniqueId val="{00000003-C836-4C38-B3AF-DB14259D9935}"/>
              </c:ext>
            </c:extLst>
          </c:dPt>
          <c:dPt>
            <c:idx val="2"/>
            <c:invertIfNegative val="0"/>
            <c:bubble3D val="0"/>
            <c:spPr>
              <a:solidFill>
                <a:srgbClr val="00249C"/>
              </a:solidFill>
              <a:ln>
                <a:noFill/>
              </a:ln>
              <a:effectLst/>
            </c:spPr>
            <c:extLst>
              <c:ext xmlns:c16="http://schemas.microsoft.com/office/drawing/2014/chart" uri="{C3380CC4-5D6E-409C-BE32-E72D297353CC}">
                <c16:uniqueId val="{00000005-C836-4C38-B3AF-DB14259D9935}"/>
              </c:ext>
            </c:extLst>
          </c:dPt>
          <c:dLbls>
            <c:numFmt formatCode="0%" sourceLinked="0"/>
            <c:spPr>
              <a:noFill/>
              <a:ln>
                <a:noFill/>
              </a:ln>
              <a:effectLst/>
            </c:spPr>
            <c:txPr>
              <a:bodyPr rot="0" spcFirstLastPara="1" vertOverflow="ellipsis" vert="horz" wrap="square" anchor="ctr" anchorCtr="1"/>
              <a:lstStyle/>
              <a:p>
                <a:pPr>
                  <a:defRPr lang="en-US" sz="1000" b="0" i="0" u="none" strike="noStrike" kern="1200" baseline="0">
                    <a:solidFill>
                      <a:schemeClr val="tx1"/>
                    </a:solidFill>
                    <a:latin typeface="Tahoma" panose="020B0604030504040204" pitchFamily="34" charset="0"/>
                    <a:ea typeface="Tahoma" panose="020B0604030504040204" pitchFamily="34" charset="0"/>
                    <a:cs typeface="Tahoma" panose="020B0604030504040204" pitchFamily="34" charset="0"/>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Sheet1!$A$2:$A$4</c:f>
              <c:strCache>
                <c:ptCount val="3"/>
                <c:pt idx="0">
                  <c:v>ADA</c:v>
                </c:pt>
                <c:pt idx="1">
                  <c:v>ADB</c:v>
                </c:pt>
                <c:pt idx="2">
                  <c:v>Campus Avg.</c:v>
                </c:pt>
              </c:strCache>
            </c:strRef>
          </c:cat>
          <c:val>
            <c:numRef>
              <c:f>Sheet1!$B$2:$B$4</c:f>
              <c:numCache>
                <c:formatCode>General</c:formatCode>
                <c:ptCount val="3"/>
                <c:pt idx="0">
                  <c:v>1</c:v>
                </c:pt>
                <c:pt idx="1">
                  <c:v>1</c:v>
                </c:pt>
                <c:pt idx="2">
                  <c:v>0.98095238095238102</c:v>
                </c:pt>
              </c:numCache>
            </c:numRef>
          </c:val>
          <c:extLst>
            <c:ext xmlns:c16="http://schemas.microsoft.com/office/drawing/2014/chart" uri="{C3380CC4-5D6E-409C-BE32-E72D297353CC}">
              <c16:uniqueId val="{00000006-C836-4C38-B3AF-DB14259D9935}"/>
            </c:ext>
          </c:extLst>
        </c:ser>
        <c:dLbls>
          <c:showLegendKey val="0"/>
          <c:showVal val="1"/>
          <c:showCatName val="0"/>
          <c:showSerName val="0"/>
          <c:showPercent val="0"/>
          <c:showBubbleSize val="0"/>
        </c:dLbls>
        <c:gapWidth val="219"/>
        <c:axId val="589694672"/>
        <c:axId val="589695152"/>
      </c:barChart>
      <c:lineChart>
        <c:grouping val="standard"/>
        <c:varyColors val="0"/>
        <c:ser>
          <c:idx val="1"/>
          <c:order val="1"/>
          <c:tx>
            <c:strRef>
              <c:f>Sheet1!$B$1</c:f>
              <c:strCache>
                <c:ptCount val="1"/>
                <c:pt idx="0">
                  <c:v>Series 1</c:v>
                </c:pt>
              </c:strCache>
            </c:strRef>
          </c:tx>
          <c:spPr>
            <a:ln w="28575" cap="rnd">
              <a:solidFill>
                <a:schemeClr val="accent2"/>
              </a:solidFill>
              <a:round/>
            </a:ln>
            <a:effectLst/>
          </c:spPr>
          <c:marker>
            <c:symbol val="none"/>
          </c:marker>
          <c:cat>
            <c:strRef>
              <c:f>Sheet1!$A$2:$A$4</c:f>
              <c:strCache>
                <c:ptCount val="3"/>
                <c:pt idx="0">
                  <c:v>ADA</c:v>
                </c:pt>
                <c:pt idx="1">
                  <c:v>ADB</c:v>
                </c:pt>
                <c:pt idx="2">
                  <c:v>Campus Avg.</c:v>
                </c:pt>
              </c:strCache>
            </c:strRef>
          </c:cat>
          <c:val>
            <c:numRef>
              <c:f>Sheet1!$B$2:$B$4</c:f>
              <c:numCache>
                <c:formatCode>General</c:formatCode>
                <c:ptCount val="3"/>
                <c:pt idx="0">
                  <c:v>1</c:v>
                </c:pt>
                <c:pt idx="1">
                  <c:v>1</c:v>
                </c:pt>
                <c:pt idx="2">
                  <c:v>0.98095238095238102</c:v>
                </c:pt>
              </c:numCache>
            </c:numRef>
          </c:val>
          <c:smooth val="0"/>
          <c:extLst>
            <c:ext xmlns:c16="http://schemas.microsoft.com/office/drawing/2014/chart" uri="{C3380CC4-5D6E-409C-BE32-E72D297353CC}">
              <c16:uniqueId val="{00000006-C836-4C38-B3AF-DB14259D9935}"/>
            </c:ext>
          </c:extLst>
        </c:ser>
        <c:dLbls>
          <c:showLegendKey val="0"/>
          <c:showVal val="0"/>
          <c:showCatName val="0"/>
          <c:showSerName val="0"/>
          <c:showPercent val="0"/>
          <c:showBubbleSize val="0"/>
        </c:dLbls>
        <c:marker val="1"/>
        <c:smooth val="0"/>
        <c:axId val="589694672"/>
        <c:axId val="589695152"/>
      </c:lineChart>
      <c:catAx>
        <c:axId val="589694672"/>
        <c:scaling>
          <c:orientation val="minMax"/>
        </c:scaling>
        <c:delete val="1"/>
        <c:axPos val="b"/>
        <c:numFmt formatCode="General" sourceLinked="1"/>
        <c:majorTickMark val="none"/>
        <c:minorTickMark val="none"/>
        <c:tickLblPos val="nextTo"/>
        <c:crossAx val="589695152"/>
        <c:crosses val="autoZero"/>
        <c:auto val="1"/>
        <c:lblAlgn val="ctr"/>
        <c:lblOffset val="100"/>
        <c:noMultiLvlLbl val="0"/>
      </c:catAx>
      <c:valAx>
        <c:axId val="589695152"/>
        <c:scaling>
          <c:orientation val="minMax"/>
          <c:max val="1"/>
          <c:min val="0.5"/>
        </c:scaling>
        <c:delete val="0"/>
        <c:axPos val="l"/>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lgn="ctr">
              <a:defRPr lang="en-US" sz="1000" b="0" i="0" u="none" strike="noStrike" kern="1200" baseline="0">
                <a:solidFill>
                  <a:schemeClr val="tx1"/>
                </a:solidFill>
                <a:latin typeface="Tahoma" panose="020B0604030504040204" pitchFamily="34" charset="0"/>
                <a:ea typeface="Tahoma" panose="020B0604030504040204" pitchFamily="34" charset="0"/>
                <a:cs typeface="Tahoma" panose="020B0604030504040204" pitchFamily="34" charset="0"/>
              </a:defRPr>
            </a:pPr>
            <a:endParaRPr lang="en-US"/>
          </a:p>
        </c:txPr>
        <c:crossAx val="589694672"/>
        <c:crosses val="autoZero"/>
        <c:crossBetween val="between"/>
        <c:majorUnit val="0.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lang="en-US" sz="1000" b="0" i="0" u="none" strike="noStrike" kern="1200" baseline="0">
          <a:solidFill>
            <a:schemeClr val="tx1"/>
          </a:solidFill>
          <a:latin typeface="Tahoma" panose="020B0604030504040204" pitchFamily="34" charset="0"/>
          <a:ea typeface="Tahoma" panose="020B0604030504040204" pitchFamily="34" charset="0"/>
          <a:cs typeface="Tahoma" panose="020B0604030504040204" pitchFamily="34" charset="0"/>
        </a:defRPr>
      </a:pPr>
      <a:endParaRPr lang="en-US"/>
    </a:p>
  </c:txPr>
  <c:externalData r:id="rId3">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lang="en-US" sz="1200" b="0" i="0" u="none" strike="noStrike" kern="1200" spc="0" baseline="0">
                <a:solidFill>
                  <a:srgbClr val="00249C"/>
                </a:solidFill>
                <a:latin typeface="Tahoma" panose="020B0604030504040204" pitchFamily="34" charset="0"/>
                <a:ea typeface="Tahoma" panose="020B0604030504040204" pitchFamily="34" charset="0"/>
                <a:cs typeface="Tahoma" panose="020B0604030504040204" pitchFamily="34" charset="0"/>
              </a:defRPr>
            </a:pPr>
            <a:r>
              <a:rPr lang="en-US" dirty="0"/>
              <a:t>Inspection Findings Closed on Time</a:t>
            </a:r>
          </a:p>
        </c:rich>
      </c:tx>
      <c:layout>
        <c:manualLayout>
          <c:xMode val="edge"/>
          <c:yMode val="edge"/>
          <c:x val="0.22571192949462396"/>
          <c:y val="0"/>
        </c:manualLayout>
      </c:layout>
      <c:overlay val="0"/>
      <c:spPr>
        <a:noFill/>
        <a:ln>
          <a:noFill/>
        </a:ln>
        <a:effectLst/>
      </c:spPr>
      <c:txPr>
        <a:bodyPr rot="0" spcFirstLastPara="1" vertOverflow="ellipsis" vert="horz" wrap="square"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lang="en-US" sz="1200" b="0" i="0" u="none" strike="noStrike" kern="1200" spc="0" baseline="0">
              <a:solidFill>
                <a:srgbClr val="00249C"/>
              </a:solidFill>
              <a:latin typeface="Tahoma" panose="020B0604030504040204" pitchFamily="34" charset="0"/>
              <a:ea typeface="Tahoma" panose="020B0604030504040204" pitchFamily="34" charset="0"/>
              <a:cs typeface="Tahoma" panose="020B0604030504040204" pitchFamily="34" charset="0"/>
            </a:defRPr>
          </a:pPr>
          <a:endParaRPr lang="en-US"/>
        </a:p>
      </c:txPr>
    </c:title>
    <c:autoTitleDeleted val="0"/>
    <c:plotArea>
      <c:layout>
        <c:manualLayout>
          <c:layoutTarget val="inner"/>
          <c:xMode val="edge"/>
          <c:yMode val="edge"/>
          <c:x val="0.13616576164414254"/>
          <c:y val="0.19960598301183052"/>
          <c:w val="0.82818454242454165"/>
          <c:h val="0.55962543361654526"/>
        </c:manualLayout>
      </c:layout>
      <c:barChart>
        <c:barDir val="col"/>
        <c:grouping val="clustered"/>
        <c:varyColors val="0"/>
        <c:ser>
          <c:idx val="0"/>
          <c:order val="0"/>
          <c:tx>
            <c:strRef>
              <c:f>Sheet1!$B$1</c:f>
              <c:strCache>
                <c:ptCount val="1"/>
                <c:pt idx="0">
                  <c:v>Series 1</c:v>
                </c:pt>
              </c:strCache>
            </c:strRef>
          </c:tx>
          <c:spPr>
            <a:solidFill>
              <a:schemeClr val="accent1"/>
            </a:solidFill>
            <a:ln>
              <a:noFill/>
            </a:ln>
            <a:effectLst/>
          </c:spPr>
          <c:invertIfNegative val="0"/>
          <c:dPt>
            <c:idx val="0"/>
            <c:invertIfNegative val="0"/>
            <c:bubble3D val="0"/>
            <c:spPr>
              <a:solidFill>
                <a:srgbClr val="00249C"/>
              </a:solidFill>
              <a:ln>
                <a:noFill/>
              </a:ln>
              <a:effectLst/>
            </c:spPr>
            <c:extLst>
              <c:ext xmlns:c16="http://schemas.microsoft.com/office/drawing/2014/chart" uri="{C3380CC4-5D6E-409C-BE32-E72D297353CC}">
                <c16:uniqueId val="{00000001-72E4-4828-BBFD-3DFE83236654}"/>
              </c:ext>
            </c:extLst>
          </c:dPt>
          <c:dPt>
            <c:idx val="1"/>
            <c:invertIfNegative val="0"/>
            <c:bubble3D val="0"/>
            <c:spPr>
              <a:solidFill>
                <a:srgbClr val="FFC000"/>
              </a:solidFill>
              <a:ln>
                <a:noFill/>
              </a:ln>
              <a:effectLst/>
            </c:spPr>
            <c:extLst>
              <c:ext xmlns:c16="http://schemas.microsoft.com/office/drawing/2014/chart" uri="{C3380CC4-5D6E-409C-BE32-E72D297353CC}">
                <c16:uniqueId val="{00000003-72E4-4828-BBFD-3DFE83236654}"/>
              </c:ext>
            </c:extLst>
          </c:dPt>
          <c:dPt>
            <c:idx val="2"/>
            <c:invertIfNegative val="0"/>
            <c:bubble3D val="0"/>
            <c:spPr>
              <a:solidFill>
                <a:srgbClr val="00249C"/>
              </a:solidFill>
              <a:ln>
                <a:noFill/>
              </a:ln>
              <a:effectLst/>
            </c:spPr>
            <c:extLst>
              <c:ext xmlns:c16="http://schemas.microsoft.com/office/drawing/2014/chart" uri="{C3380CC4-5D6E-409C-BE32-E72D297353CC}">
                <c16:uniqueId val="{00000005-72E4-4828-BBFD-3DFE83236654}"/>
              </c:ext>
            </c:extLst>
          </c:dPt>
          <c:dLbls>
            <c:numFmt formatCode="0%" sourceLinked="0"/>
            <c:spPr>
              <a:noFill/>
              <a:ln>
                <a:noFill/>
              </a:ln>
              <a:effectLst/>
            </c:spPr>
            <c:txPr>
              <a:bodyPr rot="0" spcFirstLastPara="1" vertOverflow="ellipsis" vert="horz" wrap="square" anchor="ctr" anchorCtr="1"/>
              <a:lstStyle/>
              <a:p>
                <a:pPr>
                  <a:defRPr lang="en-US" sz="1000" b="0" i="0" u="none" strike="noStrike" kern="1200" baseline="0">
                    <a:solidFill>
                      <a:schemeClr val="tx1"/>
                    </a:solidFill>
                    <a:latin typeface="Tahoma" panose="020B0604030504040204" pitchFamily="34" charset="0"/>
                    <a:ea typeface="Tahoma" panose="020B0604030504040204" pitchFamily="34" charset="0"/>
                    <a:cs typeface="Tahoma" panose="020B0604030504040204" pitchFamily="34" charset="0"/>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Sheet1!$A$2:$A$4</c:f>
              <c:strCache>
                <c:ptCount val="3"/>
                <c:pt idx="0">
                  <c:v>ADA</c:v>
                </c:pt>
                <c:pt idx="1">
                  <c:v>ADB</c:v>
                </c:pt>
                <c:pt idx="2">
                  <c:v>Campus Avg.</c:v>
                </c:pt>
              </c:strCache>
            </c:strRef>
          </c:cat>
          <c:val>
            <c:numRef>
              <c:f>Sheet1!$B$2:$B$4</c:f>
              <c:numCache>
                <c:formatCode>General</c:formatCode>
                <c:ptCount val="3"/>
                <c:pt idx="0">
                  <c:v>1</c:v>
                </c:pt>
                <c:pt idx="1">
                  <c:v>0.83333333333333337</c:v>
                </c:pt>
                <c:pt idx="2">
                  <c:v>0.87438271604938267</c:v>
                </c:pt>
              </c:numCache>
            </c:numRef>
          </c:val>
          <c:extLst>
            <c:ext xmlns:c16="http://schemas.microsoft.com/office/drawing/2014/chart" uri="{C3380CC4-5D6E-409C-BE32-E72D297353CC}">
              <c16:uniqueId val="{00000006-72E4-4828-BBFD-3DFE83236654}"/>
            </c:ext>
          </c:extLst>
        </c:ser>
        <c:dLbls>
          <c:showLegendKey val="0"/>
          <c:showVal val="1"/>
          <c:showCatName val="0"/>
          <c:showSerName val="0"/>
          <c:showPercent val="0"/>
          <c:showBubbleSize val="0"/>
        </c:dLbls>
        <c:gapWidth val="219"/>
        <c:axId val="589694672"/>
        <c:axId val="589695152"/>
      </c:barChart>
      <c:lineChart>
        <c:grouping val="standard"/>
        <c:varyColors val="0"/>
        <c:ser>
          <c:idx val="1"/>
          <c:order val="1"/>
          <c:tx>
            <c:strRef>
              <c:f>Sheet1!$B$1</c:f>
              <c:strCache>
                <c:ptCount val="1"/>
                <c:pt idx="0">
                  <c:v>Series 1</c:v>
                </c:pt>
              </c:strCache>
            </c:strRef>
          </c:tx>
          <c:spPr>
            <a:ln w="28575" cap="rnd">
              <a:solidFill>
                <a:schemeClr val="accent2"/>
              </a:solidFill>
              <a:round/>
            </a:ln>
            <a:effectLst/>
          </c:spPr>
          <c:marker>
            <c:symbol val="none"/>
          </c:marker>
          <c:cat>
            <c:strRef>
              <c:f>Sheet1!$A$2:$A$4</c:f>
              <c:strCache>
                <c:ptCount val="3"/>
                <c:pt idx="0">
                  <c:v>ADA</c:v>
                </c:pt>
                <c:pt idx="1">
                  <c:v>ADB</c:v>
                </c:pt>
                <c:pt idx="2">
                  <c:v>Campus Avg.</c:v>
                </c:pt>
              </c:strCache>
            </c:strRef>
          </c:cat>
          <c:val>
            <c:numRef>
              <c:f>Sheet1!$B$2:$B$4</c:f>
              <c:numCache>
                <c:formatCode>General</c:formatCode>
                <c:ptCount val="3"/>
                <c:pt idx="0">
                  <c:v>1</c:v>
                </c:pt>
                <c:pt idx="1">
                  <c:v>0.83333333333333337</c:v>
                </c:pt>
                <c:pt idx="2">
                  <c:v>0.87438271604938267</c:v>
                </c:pt>
              </c:numCache>
            </c:numRef>
          </c:val>
          <c:smooth val="0"/>
          <c:extLst>
            <c:ext xmlns:c16="http://schemas.microsoft.com/office/drawing/2014/chart" uri="{C3380CC4-5D6E-409C-BE32-E72D297353CC}">
              <c16:uniqueId val="{00000006-72E4-4828-BBFD-3DFE83236654}"/>
            </c:ext>
          </c:extLst>
        </c:ser>
        <c:dLbls>
          <c:showLegendKey val="0"/>
          <c:showVal val="0"/>
          <c:showCatName val="0"/>
          <c:showSerName val="0"/>
          <c:showPercent val="0"/>
          <c:showBubbleSize val="0"/>
        </c:dLbls>
        <c:marker val="1"/>
        <c:smooth val="0"/>
        <c:axId val="589694672"/>
        <c:axId val="589695152"/>
      </c:lineChart>
      <c:catAx>
        <c:axId val="589694672"/>
        <c:scaling>
          <c:orientation val="minMax"/>
        </c:scaling>
        <c:delete val="1"/>
        <c:axPos val="b"/>
        <c:numFmt formatCode="General" sourceLinked="1"/>
        <c:majorTickMark val="none"/>
        <c:minorTickMark val="none"/>
        <c:tickLblPos val="nextTo"/>
        <c:crossAx val="589695152"/>
        <c:crosses val="autoZero"/>
        <c:auto val="1"/>
        <c:lblAlgn val="ctr"/>
        <c:lblOffset val="100"/>
        <c:noMultiLvlLbl val="0"/>
      </c:catAx>
      <c:valAx>
        <c:axId val="589695152"/>
        <c:scaling>
          <c:orientation val="minMax"/>
          <c:max val="1"/>
          <c:min val="0.5"/>
        </c:scaling>
        <c:delete val="0"/>
        <c:axPos val="l"/>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lgn="ctr">
              <a:defRPr lang="en-US" sz="1000" b="0" i="0" u="none" strike="noStrike" kern="1200" baseline="0">
                <a:solidFill>
                  <a:schemeClr val="tx1"/>
                </a:solidFill>
                <a:latin typeface="Tahoma" panose="020B0604030504040204" pitchFamily="34" charset="0"/>
                <a:ea typeface="Tahoma" panose="020B0604030504040204" pitchFamily="34" charset="0"/>
                <a:cs typeface="Tahoma" panose="020B0604030504040204" pitchFamily="34" charset="0"/>
              </a:defRPr>
            </a:pPr>
            <a:endParaRPr lang="en-US"/>
          </a:p>
        </c:txPr>
        <c:crossAx val="589694672"/>
        <c:crosses val="autoZero"/>
        <c:crossBetween val="between"/>
        <c:majorUnit val="0.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lang="en-US" sz="1000" b="0" i="0" u="none" strike="noStrike" kern="1200" baseline="0">
          <a:solidFill>
            <a:schemeClr val="tx1"/>
          </a:solidFill>
          <a:latin typeface="Tahoma" panose="020B0604030504040204" pitchFamily="34" charset="0"/>
          <a:ea typeface="Tahoma" panose="020B0604030504040204" pitchFamily="34" charset="0"/>
          <a:cs typeface="Tahoma" panose="020B0604030504040204" pitchFamily="34" charset="0"/>
        </a:defRPr>
      </a:pPr>
      <a:endParaRPr lang="en-US"/>
    </a:p>
  </c:txPr>
  <c:externalData r:id="rId3">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lang="en-US" sz="1200" b="0" i="0" u="none" strike="noStrike" kern="1200" spc="0" baseline="0">
                <a:solidFill>
                  <a:srgbClr val="00249C"/>
                </a:solidFill>
                <a:latin typeface="Tahoma" panose="020B0604030504040204" pitchFamily="34" charset="0"/>
                <a:ea typeface="Tahoma" panose="020B0604030504040204" pitchFamily="34" charset="0"/>
                <a:cs typeface="Tahoma" panose="020B0604030504040204" pitchFamily="34" charset="0"/>
              </a:defRPr>
            </a:pPr>
            <a:r>
              <a:rPr lang="en-US" dirty="0"/>
              <a:t>Incident Notification On Time</a:t>
            </a:r>
          </a:p>
        </c:rich>
      </c:tx>
      <c:layout>
        <c:manualLayout>
          <c:xMode val="edge"/>
          <c:yMode val="edge"/>
          <c:x val="0.26487701418140991"/>
          <c:y val="0"/>
        </c:manualLayout>
      </c:layout>
      <c:overlay val="0"/>
      <c:spPr>
        <a:noFill/>
        <a:ln>
          <a:noFill/>
        </a:ln>
        <a:effectLst/>
      </c:spPr>
      <c:txPr>
        <a:bodyPr rot="0" spcFirstLastPara="1" vertOverflow="ellipsis" vert="horz" wrap="square"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lang="en-US" sz="1200" b="0" i="0" u="none" strike="noStrike" kern="1200" spc="0" baseline="0">
              <a:solidFill>
                <a:srgbClr val="00249C"/>
              </a:solidFill>
              <a:latin typeface="Tahoma" panose="020B0604030504040204" pitchFamily="34" charset="0"/>
              <a:ea typeface="Tahoma" panose="020B0604030504040204" pitchFamily="34" charset="0"/>
              <a:cs typeface="Tahoma" panose="020B0604030504040204" pitchFamily="34" charset="0"/>
            </a:defRPr>
          </a:pPr>
          <a:endParaRPr lang="en-US"/>
        </a:p>
      </c:txPr>
    </c:title>
    <c:autoTitleDeleted val="0"/>
    <c:plotArea>
      <c:layout>
        <c:manualLayout>
          <c:layoutTarget val="inner"/>
          <c:xMode val="edge"/>
          <c:yMode val="edge"/>
          <c:x val="0.13616576164414254"/>
          <c:y val="0.19960598301183052"/>
          <c:w val="0.82818454242454165"/>
          <c:h val="0.55962543361654526"/>
        </c:manualLayout>
      </c:layout>
      <c:barChart>
        <c:barDir val="col"/>
        <c:grouping val="clustered"/>
        <c:varyColors val="0"/>
        <c:ser>
          <c:idx val="0"/>
          <c:order val="0"/>
          <c:tx>
            <c:strRef>
              <c:f>Sheet1!$B$1</c:f>
              <c:strCache>
                <c:ptCount val="1"/>
                <c:pt idx="0">
                  <c:v>Series 1</c:v>
                </c:pt>
              </c:strCache>
            </c:strRef>
          </c:tx>
          <c:spPr>
            <a:solidFill>
              <a:schemeClr val="accent1"/>
            </a:solidFill>
            <a:ln>
              <a:noFill/>
            </a:ln>
            <a:effectLst/>
          </c:spPr>
          <c:invertIfNegative val="0"/>
          <c:dPt>
            <c:idx val="0"/>
            <c:invertIfNegative val="0"/>
            <c:bubble3D val="0"/>
            <c:spPr>
              <a:solidFill>
                <a:srgbClr val="FFC000"/>
              </a:solidFill>
              <a:ln>
                <a:noFill/>
              </a:ln>
              <a:effectLst/>
            </c:spPr>
            <c:extLst>
              <c:ext xmlns:c16="http://schemas.microsoft.com/office/drawing/2014/chart" uri="{C3380CC4-5D6E-409C-BE32-E72D297353CC}">
                <c16:uniqueId val="{00000001-362C-40CF-B7B7-262DD162B280}"/>
              </c:ext>
            </c:extLst>
          </c:dPt>
          <c:dPt>
            <c:idx val="1"/>
            <c:invertIfNegative val="0"/>
            <c:bubble3D val="0"/>
            <c:spPr>
              <a:solidFill>
                <a:srgbClr val="FFC000"/>
              </a:solidFill>
              <a:ln>
                <a:noFill/>
              </a:ln>
              <a:effectLst/>
            </c:spPr>
            <c:extLst>
              <c:ext xmlns:c16="http://schemas.microsoft.com/office/drawing/2014/chart" uri="{C3380CC4-5D6E-409C-BE32-E72D297353CC}">
                <c16:uniqueId val="{00000003-362C-40CF-B7B7-262DD162B280}"/>
              </c:ext>
            </c:extLst>
          </c:dPt>
          <c:dPt>
            <c:idx val="2"/>
            <c:invertIfNegative val="0"/>
            <c:bubble3D val="0"/>
            <c:spPr>
              <a:solidFill>
                <a:srgbClr val="00249C"/>
              </a:solidFill>
              <a:ln>
                <a:noFill/>
              </a:ln>
              <a:effectLst/>
            </c:spPr>
            <c:extLst>
              <c:ext xmlns:c16="http://schemas.microsoft.com/office/drawing/2014/chart" uri="{C3380CC4-5D6E-409C-BE32-E72D297353CC}">
                <c16:uniqueId val="{00000005-362C-40CF-B7B7-262DD162B280}"/>
              </c:ext>
            </c:extLst>
          </c:dPt>
          <c:dLbls>
            <c:numFmt formatCode="0%" sourceLinked="0"/>
            <c:spPr>
              <a:noFill/>
              <a:ln>
                <a:noFill/>
              </a:ln>
              <a:effectLst/>
            </c:spPr>
            <c:txPr>
              <a:bodyPr rot="0" spcFirstLastPara="1" vertOverflow="ellipsis" vert="horz" wrap="square" anchor="ctr" anchorCtr="1"/>
              <a:lstStyle/>
              <a:p>
                <a:pPr>
                  <a:defRPr lang="en-US" sz="1000" b="0" i="0" u="none" strike="noStrike" kern="1200" baseline="0">
                    <a:solidFill>
                      <a:schemeClr val="tx1"/>
                    </a:solidFill>
                    <a:latin typeface="Tahoma" panose="020B0604030504040204" pitchFamily="34" charset="0"/>
                    <a:ea typeface="Tahoma" panose="020B0604030504040204" pitchFamily="34" charset="0"/>
                    <a:cs typeface="Tahoma" panose="020B0604030504040204" pitchFamily="34" charset="0"/>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Sheet1!$A$2:$A$4</c:f>
              <c:strCache>
                <c:ptCount val="3"/>
                <c:pt idx="0">
                  <c:v>ADA</c:v>
                </c:pt>
                <c:pt idx="1">
                  <c:v>ADB</c:v>
                </c:pt>
                <c:pt idx="2">
                  <c:v>Campus Avg.</c:v>
                </c:pt>
              </c:strCache>
            </c:strRef>
          </c:cat>
          <c:val>
            <c:numRef>
              <c:f>Sheet1!$B$2:$B$4</c:f>
              <c:numCache>
                <c:formatCode>General</c:formatCode>
                <c:ptCount val="3"/>
                <c:pt idx="0">
                  <c:v>0.5</c:v>
                </c:pt>
                <c:pt idx="1">
                  <c:v>0.5</c:v>
                </c:pt>
                <c:pt idx="2">
                  <c:v>0.9</c:v>
                </c:pt>
              </c:numCache>
            </c:numRef>
          </c:val>
          <c:extLst>
            <c:ext xmlns:c16="http://schemas.microsoft.com/office/drawing/2014/chart" uri="{C3380CC4-5D6E-409C-BE32-E72D297353CC}">
              <c16:uniqueId val="{00000006-362C-40CF-B7B7-262DD162B280}"/>
            </c:ext>
          </c:extLst>
        </c:ser>
        <c:dLbls>
          <c:showLegendKey val="0"/>
          <c:showVal val="1"/>
          <c:showCatName val="0"/>
          <c:showSerName val="0"/>
          <c:showPercent val="0"/>
          <c:showBubbleSize val="0"/>
        </c:dLbls>
        <c:gapWidth val="219"/>
        <c:axId val="589694672"/>
        <c:axId val="589695152"/>
      </c:barChart>
      <c:lineChart>
        <c:grouping val="standard"/>
        <c:varyColors val="0"/>
        <c:ser>
          <c:idx val="1"/>
          <c:order val="1"/>
          <c:tx>
            <c:strRef>
              <c:f>Sheet1!$B$1</c:f>
              <c:strCache>
                <c:ptCount val="1"/>
                <c:pt idx="0">
                  <c:v>Series 1</c:v>
                </c:pt>
              </c:strCache>
            </c:strRef>
          </c:tx>
          <c:spPr>
            <a:ln w="28575" cap="rnd">
              <a:solidFill>
                <a:schemeClr val="accent2"/>
              </a:solidFill>
              <a:round/>
            </a:ln>
            <a:effectLst/>
          </c:spPr>
          <c:marker>
            <c:symbol val="none"/>
          </c:marker>
          <c:cat>
            <c:strRef>
              <c:f>Sheet1!$A$2:$A$4</c:f>
              <c:strCache>
                <c:ptCount val="3"/>
                <c:pt idx="0">
                  <c:v>ADA</c:v>
                </c:pt>
                <c:pt idx="1">
                  <c:v>ADB</c:v>
                </c:pt>
                <c:pt idx="2">
                  <c:v>Campus Avg.</c:v>
                </c:pt>
              </c:strCache>
            </c:strRef>
          </c:cat>
          <c:val>
            <c:numRef>
              <c:f>Sheet1!$B$2:$B$4</c:f>
              <c:numCache>
                <c:formatCode>General</c:formatCode>
                <c:ptCount val="3"/>
                <c:pt idx="0">
                  <c:v>0.5</c:v>
                </c:pt>
                <c:pt idx="1">
                  <c:v>0.5</c:v>
                </c:pt>
                <c:pt idx="2">
                  <c:v>0.9</c:v>
                </c:pt>
              </c:numCache>
            </c:numRef>
          </c:val>
          <c:smooth val="0"/>
          <c:extLst>
            <c:ext xmlns:c16="http://schemas.microsoft.com/office/drawing/2014/chart" uri="{C3380CC4-5D6E-409C-BE32-E72D297353CC}">
              <c16:uniqueId val="{00000006-362C-40CF-B7B7-262DD162B280}"/>
            </c:ext>
          </c:extLst>
        </c:ser>
        <c:dLbls>
          <c:showLegendKey val="0"/>
          <c:showVal val="0"/>
          <c:showCatName val="0"/>
          <c:showSerName val="0"/>
          <c:showPercent val="0"/>
          <c:showBubbleSize val="0"/>
        </c:dLbls>
        <c:marker val="1"/>
        <c:smooth val="0"/>
        <c:axId val="589694672"/>
        <c:axId val="589695152"/>
      </c:lineChart>
      <c:catAx>
        <c:axId val="589694672"/>
        <c:scaling>
          <c:orientation val="minMax"/>
        </c:scaling>
        <c:delete val="1"/>
        <c:axPos val="b"/>
        <c:numFmt formatCode="General" sourceLinked="1"/>
        <c:majorTickMark val="none"/>
        <c:minorTickMark val="none"/>
        <c:tickLblPos val="nextTo"/>
        <c:crossAx val="589695152"/>
        <c:crosses val="autoZero"/>
        <c:auto val="1"/>
        <c:lblAlgn val="ctr"/>
        <c:lblOffset val="100"/>
        <c:noMultiLvlLbl val="0"/>
      </c:catAx>
      <c:valAx>
        <c:axId val="589695152"/>
        <c:scaling>
          <c:orientation val="minMax"/>
          <c:max val="1"/>
          <c:min val="0"/>
        </c:scaling>
        <c:delete val="0"/>
        <c:axPos val="l"/>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lgn="ctr">
              <a:defRPr lang="en-US" sz="1000" b="0" i="0" u="none" strike="noStrike" kern="1200" baseline="0">
                <a:solidFill>
                  <a:schemeClr val="tx1"/>
                </a:solidFill>
                <a:latin typeface="Tahoma" panose="020B0604030504040204" pitchFamily="34" charset="0"/>
                <a:ea typeface="Tahoma" panose="020B0604030504040204" pitchFamily="34" charset="0"/>
                <a:cs typeface="Tahoma" panose="020B0604030504040204" pitchFamily="34" charset="0"/>
              </a:defRPr>
            </a:pPr>
            <a:endParaRPr lang="en-US"/>
          </a:p>
        </c:txPr>
        <c:crossAx val="589694672"/>
        <c:crosses val="autoZero"/>
        <c:crossBetween val="between"/>
        <c:majorUnit val="0.2"/>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lang="en-US" sz="1000" b="0" i="0" u="none" strike="noStrike" kern="1200" baseline="0">
          <a:solidFill>
            <a:schemeClr val="tx1"/>
          </a:solidFill>
          <a:latin typeface="Tahoma" panose="020B0604030504040204" pitchFamily="34" charset="0"/>
          <a:ea typeface="Tahoma" panose="020B0604030504040204" pitchFamily="34" charset="0"/>
          <a:cs typeface="Tahoma" panose="020B0604030504040204" pitchFamily="34" charset="0"/>
        </a:defRPr>
      </a:pPr>
      <a:endParaRPr lang="en-US"/>
    </a:p>
  </c:txPr>
  <c:externalData r:id="rId3">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lang="en-US" sz="1200" b="0" i="0" u="none" strike="noStrike" kern="1200" spc="0" baseline="0">
                <a:solidFill>
                  <a:srgbClr val="00249C"/>
                </a:solidFill>
                <a:latin typeface="Tahoma" panose="020B0604030504040204" pitchFamily="34" charset="0"/>
                <a:ea typeface="Tahoma" panose="020B0604030504040204" pitchFamily="34" charset="0"/>
                <a:cs typeface="Tahoma" panose="020B0604030504040204" pitchFamily="34" charset="0"/>
              </a:defRPr>
            </a:pPr>
            <a:r>
              <a:rPr lang="en-US" dirty="0"/>
              <a:t>Investigation Completed On Time</a:t>
            </a:r>
          </a:p>
        </c:rich>
      </c:tx>
      <c:layout>
        <c:manualLayout>
          <c:xMode val="edge"/>
          <c:yMode val="edge"/>
          <c:x val="0.22571192949462396"/>
          <c:y val="0"/>
        </c:manualLayout>
      </c:layout>
      <c:overlay val="0"/>
      <c:spPr>
        <a:noFill/>
        <a:ln>
          <a:noFill/>
        </a:ln>
        <a:effectLst/>
      </c:spPr>
      <c:txPr>
        <a:bodyPr rot="0" spcFirstLastPara="1" vertOverflow="ellipsis" vert="horz" wrap="square"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lang="en-US" sz="1200" b="0" i="0" u="none" strike="noStrike" kern="1200" spc="0" baseline="0">
              <a:solidFill>
                <a:srgbClr val="00249C"/>
              </a:solidFill>
              <a:latin typeface="Tahoma" panose="020B0604030504040204" pitchFamily="34" charset="0"/>
              <a:ea typeface="Tahoma" panose="020B0604030504040204" pitchFamily="34" charset="0"/>
              <a:cs typeface="Tahoma" panose="020B0604030504040204" pitchFamily="34" charset="0"/>
            </a:defRPr>
          </a:pPr>
          <a:endParaRPr lang="en-US"/>
        </a:p>
      </c:txPr>
    </c:title>
    <c:autoTitleDeleted val="0"/>
    <c:plotArea>
      <c:layout>
        <c:manualLayout>
          <c:layoutTarget val="inner"/>
          <c:xMode val="edge"/>
          <c:yMode val="edge"/>
          <c:x val="0.13616576164414254"/>
          <c:y val="0.19960598301183052"/>
          <c:w val="0.82818454242454165"/>
          <c:h val="0.55962543361654526"/>
        </c:manualLayout>
      </c:layout>
      <c:barChart>
        <c:barDir val="col"/>
        <c:grouping val="clustered"/>
        <c:varyColors val="0"/>
        <c:ser>
          <c:idx val="0"/>
          <c:order val="0"/>
          <c:tx>
            <c:strRef>
              <c:f>Sheet1!$B$1</c:f>
              <c:strCache>
                <c:ptCount val="1"/>
                <c:pt idx="0">
                  <c:v>Series 1</c:v>
                </c:pt>
              </c:strCache>
            </c:strRef>
          </c:tx>
          <c:spPr>
            <a:solidFill>
              <a:schemeClr val="accent1"/>
            </a:solidFill>
            <a:ln>
              <a:noFill/>
            </a:ln>
            <a:effectLst/>
          </c:spPr>
          <c:invertIfNegative val="0"/>
          <c:dPt>
            <c:idx val="0"/>
            <c:invertIfNegative val="0"/>
            <c:bubble3D val="0"/>
            <c:spPr>
              <a:solidFill>
                <a:srgbClr val="FFC000"/>
              </a:solidFill>
              <a:ln>
                <a:noFill/>
              </a:ln>
              <a:effectLst/>
            </c:spPr>
            <c:extLst>
              <c:ext xmlns:c16="http://schemas.microsoft.com/office/drawing/2014/chart" uri="{C3380CC4-5D6E-409C-BE32-E72D297353CC}">
                <c16:uniqueId val="{00000001-3629-480D-8E60-04C4FB5D9ABF}"/>
              </c:ext>
            </c:extLst>
          </c:dPt>
          <c:dPt>
            <c:idx val="1"/>
            <c:invertIfNegative val="0"/>
            <c:bubble3D val="0"/>
            <c:spPr>
              <a:solidFill>
                <a:srgbClr val="FFC000"/>
              </a:solidFill>
              <a:ln>
                <a:noFill/>
              </a:ln>
              <a:effectLst/>
            </c:spPr>
            <c:extLst>
              <c:ext xmlns:c16="http://schemas.microsoft.com/office/drawing/2014/chart" uri="{C3380CC4-5D6E-409C-BE32-E72D297353CC}">
                <c16:uniqueId val="{00000003-3629-480D-8E60-04C4FB5D9ABF}"/>
              </c:ext>
            </c:extLst>
          </c:dPt>
          <c:dPt>
            <c:idx val="2"/>
            <c:invertIfNegative val="0"/>
            <c:bubble3D val="0"/>
            <c:spPr>
              <a:solidFill>
                <a:srgbClr val="00249C"/>
              </a:solidFill>
              <a:ln>
                <a:noFill/>
              </a:ln>
              <a:effectLst/>
            </c:spPr>
            <c:extLst>
              <c:ext xmlns:c16="http://schemas.microsoft.com/office/drawing/2014/chart" uri="{C3380CC4-5D6E-409C-BE32-E72D297353CC}">
                <c16:uniqueId val="{00000005-3629-480D-8E60-04C4FB5D9ABF}"/>
              </c:ext>
            </c:extLst>
          </c:dPt>
          <c:dLbls>
            <c:numFmt formatCode="0%" sourceLinked="0"/>
            <c:spPr>
              <a:noFill/>
              <a:ln>
                <a:noFill/>
              </a:ln>
              <a:effectLst/>
            </c:spPr>
            <c:txPr>
              <a:bodyPr rot="0" spcFirstLastPara="1" vertOverflow="ellipsis" vert="horz" wrap="square" anchor="ctr" anchorCtr="1"/>
              <a:lstStyle/>
              <a:p>
                <a:pPr>
                  <a:defRPr lang="en-US" sz="1000" b="0" i="0" u="none" strike="noStrike" kern="1200" baseline="0">
                    <a:solidFill>
                      <a:schemeClr val="tx1"/>
                    </a:solidFill>
                    <a:latin typeface="Tahoma" panose="020B0604030504040204" pitchFamily="34" charset="0"/>
                    <a:ea typeface="Tahoma" panose="020B0604030504040204" pitchFamily="34" charset="0"/>
                    <a:cs typeface="Tahoma" panose="020B0604030504040204" pitchFamily="34" charset="0"/>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Sheet1!$A$2:$A$4</c:f>
              <c:strCache>
                <c:ptCount val="3"/>
                <c:pt idx="0">
                  <c:v>ADA</c:v>
                </c:pt>
                <c:pt idx="1">
                  <c:v>ADB</c:v>
                </c:pt>
                <c:pt idx="2">
                  <c:v>Campus Avg.</c:v>
                </c:pt>
              </c:strCache>
            </c:strRef>
          </c:cat>
          <c:val>
            <c:numRef>
              <c:f>Sheet1!$B$2:$B$4</c:f>
              <c:numCache>
                <c:formatCode>General</c:formatCode>
                <c:ptCount val="3"/>
                <c:pt idx="0">
                  <c:v>0</c:v>
                </c:pt>
                <c:pt idx="1">
                  <c:v>0</c:v>
                </c:pt>
                <c:pt idx="2">
                  <c:v>0.6</c:v>
                </c:pt>
              </c:numCache>
            </c:numRef>
          </c:val>
          <c:extLst>
            <c:ext xmlns:c16="http://schemas.microsoft.com/office/drawing/2014/chart" uri="{C3380CC4-5D6E-409C-BE32-E72D297353CC}">
              <c16:uniqueId val="{00000006-3629-480D-8E60-04C4FB5D9ABF}"/>
            </c:ext>
          </c:extLst>
        </c:ser>
        <c:dLbls>
          <c:showLegendKey val="0"/>
          <c:showVal val="1"/>
          <c:showCatName val="0"/>
          <c:showSerName val="0"/>
          <c:showPercent val="0"/>
          <c:showBubbleSize val="0"/>
        </c:dLbls>
        <c:gapWidth val="219"/>
        <c:axId val="589694672"/>
        <c:axId val="589695152"/>
      </c:barChart>
      <c:lineChart>
        <c:grouping val="standard"/>
        <c:varyColors val="0"/>
        <c:ser>
          <c:idx val="1"/>
          <c:order val="1"/>
          <c:tx>
            <c:strRef>
              <c:f>Sheet1!$B$1</c:f>
              <c:strCache>
                <c:ptCount val="1"/>
                <c:pt idx="0">
                  <c:v>Series 1</c:v>
                </c:pt>
              </c:strCache>
            </c:strRef>
          </c:tx>
          <c:spPr>
            <a:ln w="28575" cap="rnd">
              <a:solidFill>
                <a:schemeClr val="accent2"/>
              </a:solidFill>
              <a:round/>
            </a:ln>
            <a:effectLst/>
          </c:spPr>
          <c:marker>
            <c:symbol val="none"/>
          </c:marker>
          <c:cat>
            <c:strRef>
              <c:f>Sheet1!$A$2:$A$4</c:f>
              <c:strCache>
                <c:ptCount val="3"/>
                <c:pt idx="0">
                  <c:v>ADA</c:v>
                </c:pt>
                <c:pt idx="1">
                  <c:v>ADB</c:v>
                </c:pt>
                <c:pt idx="2">
                  <c:v>Campus Avg.</c:v>
                </c:pt>
              </c:strCache>
            </c:strRef>
          </c:cat>
          <c:val>
            <c:numRef>
              <c:f>Sheet1!$B$2:$B$4</c:f>
              <c:numCache>
                <c:formatCode>General</c:formatCode>
                <c:ptCount val="3"/>
                <c:pt idx="0">
                  <c:v>0</c:v>
                </c:pt>
                <c:pt idx="1">
                  <c:v>0</c:v>
                </c:pt>
                <c:pt idx="2">
                  <c:v>0.6</c:v>
                </c:pt>
              </c:numCache>
            </c:numRef>
          </c:val>
          <c:smooth val="0"/>
          <c:extLst>
            <c:ext xmlns:c16="http://schemas.microsoft.com/office/drawing/2014/chart" uri="{C3380CC4-5D6E-409C-BE32-E72D297353CC}">
              <c16:uniqueId val="{00000006-3629-480D-8E60-04C4FB5D9ABF}"/>
            </c:ext>
          </c:extLst>
        </c:ser>
        <c:dLbls>
          <c:showLegendKey val="0"/>
          <c:showVal val="0"/>
          <c:showCatName val="0"/>
          <c:showSerName val="0"/>
          <c:showPercent val="0"/>
          <c:showBubbleSize val="0"/>
        </c:dLbls>
        <c:marker val="1"/>
        <c:smooth val="0"/>
        <c:axId val="589694672"/>
        <c:axId val="589695152"/>
      </c:lineChart>
      <c:catAx>
        <c:axId val="589694672"/>
        <c:scaling>
          <c:orientation val="minMax"/>
        </c:scaling>
        <c:delete val="1"/>
        <c:axPos val="b"/>
        <c:numFmt formatCode="General" sourceLinked="1"/>
        <c:majorTickMark val="none"/>
        <c:minorTickMark val="none"/>
        <c:tickLblPos val="nextTo"/>
        <c:crossAx val="589695152"/>
        <c:crosses val="autoZero"/>
        <c:auto val="1"/>
        <c:lblAlgn val="ctr"/>
        <c:lblOffset val="100"/>
        <c:noMultiLvlLbl val="0"/>
      </c:catAx>
      <c:valAx>
        <c:axId val="589695152"/>
        <c:scaling>
          <c:orientation val="minMax"/>
          <c:max val="1"/>
          <c:min val="0"/>
        </c:scaling>
        <c:delete val="0"/>
        <c:axPos val="l"/>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lgn="ctr">
              <a:defRPr lang="en-US" sz="1000" b="0" i="0" u="none" strike="noStrike" kern="1200" baseline="0">
                <a:solidFill>
                  <a:schemeClr val="tx1"/>
                </a:solidFill>
                <a:latin typeface="Tahoma" panose="020B0604030504040204" pitchFamily="34" charset="0"/>
                <a:ea typeface="Tahoma" panose="020B0604030504040204" pitchFamily="34" charset="0"/>
                <a:cs typeface="Tahoma" panose="020B0604030504040204" pitchFamily="34" charset="0"/>
              </a:defRPr>
            </a:pPr>
            <a:endParaRPr lang="en-US"/>
          </a:p>
        </c:txPr>
        <c:crossAx val="589694672"/>
        <c:crosses val="autoZero"/>
        <c:crossBetween val="between"/>
        <c:majorUnit val="0.2"/>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lang="en-US" sz="1000" b="0" i="0" u="none" strike="noStrike" kern="1200" baseline="0">
          <a:solidFill>
            <a:schemeClr val="tx1"/>
          </a:solidFill>
          <a:latin typeface="Tahoma" panose="020B0604030504040204" pitchFamily="34" charset="0"/>
          <a:ea typeface="Tahoma" panose="020B0604030504040204" pitchFamily="34" charset="0"/>
          <a:cs typeface="Tahoma" panose="020B0604030504040204" pitchFamily="34" charset="0"/>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B584398-E3D8-47CD-89AD-77C86836705F}" type="datetimeFigureOut">
              <a:rPr lang="en-US" smtClean="0"/>
              <a:t>7/8/2026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65F12B-7EB0-406D-84EF-D640CC7DFF5A}" type="slidenum">
              <a:rPr lang="en-US" smtClean="0"/>
              <a:t>‹#›</a:t>
            </a:fld>
            <a:endParaRPr lang="en-US"/>
          </a:p>
        </p:txBody>
      </p:sp>
    </p:spTree>
    <p:extLst>
      <p:ext uri="{BB962C8B-B14F-4D97-AF65-F5344CB8AC3E}">
        <p14:creationId xmlns:p14="http://schemas.microsoft.com/office/powerpoint/2010/main" val="35578487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14D6A2-54AA-1D52-F3C7-9A468033FD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89FAB0-8113-F483-AC58-DA464952552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7467E89-B005-4CBE-74D3-1A18CB276998}"/>
              </a:ext>
            </a:extLst>
          </p:cNvPr>
          <p:cNvSpPr>
            <a:spLocks noGrp="1"/>
          </p:cNvSpPr>
          <p:nvPr>
            <p:ph type="body" idx="1"/>
          </p:nvPr>
        </p:nvSpPr>
        <p:spPr/>
        <p:txBody>
          <a:bodyPr/>
          <a:lstStyle/>
          <a:p>
            <a:endParaRPr lang="en-AE"/>
          </a:p>
        </p:txBody>
      </p:sp>
      <p:sp>
        <p:nvSpPr>
          <p:cNvPr id="4" name="Slide Number Placeholder 3">
            <a:extLst>
              <a:ext uri="{FF2B5EF4-FFF2-40B4-BE49-F238E27FC236}">
                <a16:creationId xmlns:a16="http://schemas.microsoft.com/office/drawing/2014/main" id="{229A1AEE-9619-1CE8-C0D0-283120F51644}"/>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7753AD3-AB46-6045-9BA1-BBC278F09B8C}" type="slidenum">
              <a:rPr kumimoji="0" lang="en-US" sz="1200" b="0" i="0" u="none" strike="noStrike" kern="1200" cap="none" spc="0" normalizeH="0" baseline="0" noProof="0" smtClean="0">
                <a:ln>
                  <a:noFill/>
                </a:ln>
                <a:solidFill>
                  <a:srgbClr val="00249C"/>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srgbClr val="00249C"/>
              </a:solidFill>
              <a:effectLst/>
              <a:uLnTx/>
              <a:uFillTx/>
              <a:latin typeface="Arial" panose="020B0604020202020204" pitchFamily="34" charset="0"/>
              <a:ea typeface="+mn-ea"/>
              <a:cs typeface="Arial" panose="020B0604020202020204" pitchFamily="34" charset="0"/>
            </a:endParaRPr>
          </a:p>
        </p:txBody>
      </p:sp>
    </p:spTree>
    <p:extLst>
      <p:ext uri="{BB962C8B-B14F-4D97-AF65-F5344CB8AC3E}">
        <p14:creationId xmlns:p14="http://schemas.microsoft.com/office/powerpoint/2010/main" val="147269650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2FD515-7305-BB6F-A3A1-2164EC2B11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00415E-026B-9B08-EBD2-AEFA29D6CE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58FCAD-AAE8-BAC7-7E35-6B1F5D18D62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CB3E538-4674-2218-9B8F-6880F3680875}"/>
              </a:ext>
            </a:extLst>
          </p:cNvPr>
          <p:cNvSpPr>
            <a:spLocks noGrp="1"/>
          </p:cNvSpPr>
          <p:nvPr>
            <p:ph type="sldNum" sz="quarter" idx="5"/>
          </p:nvPr>
        </p:nvSpPr>
        <p:spPr/>
        <p:txBody>
          <a:bodyPr/>
          <a:lstStyle/>
          <a:p>
            <a:fld id="{A665F12B-7EB0-406D-84EF-D640CC7DFF5A}" type="slidenum">
              <a:rPr lang="en-US" smtClean="0"/>
              <a:t>4</a:t>
            </a:fld>
            <a:endParaRPr lang="en-US"/>
          </a:p>
        </p:txBody>
      </p:sp>
    </p:spTree>
    <p:extLst>
      <p:ext uri="{BB962C8B-B14F-4D97-AF65-F5344CB8AC3E}">
        <p14:creationId xmlns:p14="http://schemas.microsoft.com/office/powerpoint/2010/main" val="3626578583"/>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jpeg"/><Relationship Id="rId1" Type="http://schemas.openxmlformats.org/officeDocument/2006/relationships/slideMaster" Target="../slideMasters/slideMaster1.xml"/><Relationship Id="rId4" Type="http://schemas.openxmlformats.org/officeDocument/2006/relationships/image" Target="../media/image7.sv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10.jpeg"/><Relationship Id="rId1" Type="http://schemas.openxmlformats.org/officeDocument/2006/relationships/slideMaster" Target="../slideMasters/slideMaster1.xml"/><Relationship Id="rId4" Type="http://schemas.openxmlformats.org/officeDocument/2006/relationships/image" Target="../media/image12.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3.sv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3.sv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3.sv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14.sv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16.jpeg"/><Relationship Id="rId1" Type="http://schemas.openxmlformats.org/officeDocument/2006/relationships/slideMaster" Target="../slideMasters/slideMaster1.xml"/><Relationship Id="rId6" Type="http://schemas.openxmlformats.org/officeDocument/2006/relationships/image" Target="../media/image19.svg"/><Relationship Id="rId5" Type="http://schemas.openxmlformats.org/officeDocument/2006/relationships/image" Target="../media/image18.svg"/><Relationship Id="rId4" Type="http://schemas.openxmlformats.org/officeDocument/2006/relationships/image" Target="../media/image17.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Devider Slides for Sessions">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2" name="Title 1">
            <a:extLst>
              <a:ext uri="{FF2B5EF4-FFF2-40B4-BE49-F238E27FC236}">
                <a16:creationId xmlns:a16="http://schemas.microsoft.com/office/drawing/2014/main" id="{70734C94-E5A8-F84D-A000-4D877B9CC8C2}"/>
              </a:ext>
            </a:extLst>
          </p:cNvPr>
          <p:cNvSpPr>
            <a:spLocks noGrp="1"/>
          </p:cNvSpPr>
          <p:nvPr>
            <p:ph type="ctrTitle" hasCustomPrompt="1"/>
          </p:nvPr>
        </p:nvSpPr>
        <p:spPr>
          <a:xfrm>
            <a:off x="957273" y="3713060"/>
            <a:ext cx="9143999" cy="1006475"/>
          </a:xfrm>
          <a:prstGeom prst="rect">
            <a:avLst/>
          </a:prstGeom>
        </p:spPr>
        <p:txBody>
          <a:bodyPr anchor="t" anchorCtr="0"/>
          <a:lstStyle>
            <a:lvl1pPr algn="l">
              <a:defRPr sz="4500" b="1">
                <a:solidFill>
                  <a:srgbClr val="00249C"/>
                </a:solidFill>
                <a:latin typeface="Tahoma" panose="020B0604030504040204" pitchFamily="34" charset="0"/>
                <a:ea typeface="Tahoma" panose="020B0604030504040204" pitchFamily="34" charset="0"/>
                <a:cs typeface="Tahoma" panose="020B0604030504040204" pitchFamily="34" charset="0"/>
              </a:defRPr>
            </a:lvl1pPr>
          </a:lstStyle>
          <a:p>
            <a:r>
              <a:rPr lang="en-US"/>
              <a:t>Click to Session title style</a:t>
            </a:r>
          </a:p>
        </p:txBody>
      </p:sp>
      <p:pic>
        <p:nvPicPr>
          <p:cNvPr id="25" name="Graphic 24">
            <a:extLst>
              <a:ext uri="{FF2B5EF4-FFF2-40B4-BE49-F238E27FC236}">
                <a16:creationId xmlns:a16="http://schemas.microsoft.com/office/drawing/2014/main" id="{4E4DC168-AD7A-524E-9D94-2B3F22C5AB1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288949" y="2051"/>
            <a:ext cx="236191" cy="6858000"/>
          </a:xfrm>
          <a:prstGeom prst="rect">
            <a:avLst/>
          </a:prstGeom>
        </p:spPr>
      </p:pic>
      <p:pic>
        <p:nvPicPr>
          <p:cNvPr id="26" name="Graphic 25">
            <a:extLst>
              <a:ext uri="{FF2B5EF4-FFF2-40B4-BE49-F238E27FC236}">
                <a16:creationId xmlns:a16="http://schemas.microsoft.com/office/drawing/2014/main" id="{8421EEAF-DF6B-B045-AEFE-F3CF6D659E5B}"/>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250206" y="250603"/>
            <a:ext cx="313679" cy="329298"/>
          </a:xfrm>
          <a:prstGeom prst="rect">
            <a:avLst/>
          </a:prstGeom>
        </p:spPr>
      </p:pic>
      <p:sp>
        <p:nvSpPr>
          <p:cNvPr id="28" name="Text Placeholder 27">
            <a:extLst>
              <a:ext uri="{FF2B5EF4-FFF2-40B4-BE49-F238E27FC236}">
                <a16:creationId xmlns:a16="http://schemas.microsoft.com/office/drawing/2014/main" id="{65C43E3D-0D26-234A-9592-5DAA63D12695}"/>
              </a:ext>
            </a:extLst>
          </p:cNvPr>
          <p:cNvSpPr>
            <a:spLocks noGrp="1"/>
          </p:cNvSpPr>
          <p:nvPr>
            <p:ph type="body" sz="quarter" idx="10" hasCustomPrompt="1"/>
          </p:nvPr>
        </p:nvSpPr>
        <p:spPr>
          <a:xfrm>
            <a:off x="957263" y="2962275"/>
            <a:ext cx="8056562" cy="395288"/>
          </a:xfrm>
        </p:spPr>
        <p:txBody>
          <a:bodyPr/>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sz="2500">
                <a:solidFill>
                  <a:schemeClr val="accent6"/>
                </a:solidFill>
              </a:defRPr>
            </a:lvl1pPr>
          </a:lstStyle>
          <a:p>
            <a:pPr lvl="0"/>
            <a:r>
              <a:rPr lang="en-US"/>
              <a:t>Click to edit Session Details</a:t>
            </a:r>
          </a:p>
          <a:p>
            <a:pPr lvl="0"/>
            <a:endParaRPr lang="en-AE"/>
          </a:p>
        </p:txBody>
      </p:sp>
    </p:spTree>
    <p:extLst>
      <p:ext uri="{BB962C8B-B14F-4D97-AF65-F5344CB8AC3E}">
        <p14:creationId xmlns:p14="http://schemas.microsoft.com/office/powerpoint/2010/main" val="31671789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ver and Title for the Presentation#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0" name="Date Placeholder 8">
            <a:extLst>
              <a:ext uri="{FF2B5EF4-FFF2-40B4-BE49-F238E27FC236}">
                <a16:creationId xmlns:a16="http://schemas.microsoft.com/office/drawing/2014/main" id="{2CFC90AB-DF59-D34A-9818-151D5C1D9CEE}"/>
              </a:ext>
            </a:extLst>
          </p:cNvPr>
          <p:cNvSpPr>
            <a:spLocks noGrp="1"/>
          </p:cNvSpPr>
          <p:nvPr>
            <p:ph type="dt" sz="half" idx="10"/>
          </p:nvPr>
        </p:nvSpPr>
        <p:spPr>
          <a:xfrm>
            <a:off x="955675" y="5981617"/>
            <a:ext cx="3138522" cy="365125"/>
          </a:xfrm>
        </p:spPr>
        <p:txBody>
          <a:bodyPr/>
          <a:lstStyle>
            <a:lvl1pPr>
              <a:defRPr sz="1500">
                <a:solidFill>
                  <a:schemeClr val="bg2"/>
                </a:solidFill>
              </a:defRPr>
            </a:lvl1pPr>
          </a:lstStyle>
          <a:p>
            <a:fld id="{9FB76777-9218-4188-BD26-CF1E318BE795}" type="datetime2">
              <a:rPr lang="en-US" smtClean="0"/>
              <a:pPr/>
              <a:t>Wednesday, July 8, 2026</a:t>
            </a:fld>
            <a:endParaRPr lang="en-AE"/>
          </a:p>
        </p:txBody>
      </p:sp>
      <p:pic>
        <p:nvPicPr>
          <p:cNvPr id="7" name="Graphic 6">
            <a:extLst>
              <a:ext uri="{FF2B5EF4-FFF2-40B4-BE49-F238E27FC236}">
                <a16:creationId xmlns:a16="http://schemas.microsoft.com/office/drawing/2014/main" id="{E0A69106-6879-3A4D-A621-50E8110948BA}"/>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284844" y="351663"/>
            <a:ext cx="3713566" cy="634596"/>
          </a:xfrm>
          <a:prstGeom prst="rect">
            <a:avLst/>
          </a:prstGeom>
        </p:spPr>
      </p:pic>
      <p:sp>
        <p:nvSpPr>
          <p:cNvPr id="8" name="Subtitle 2">
            <a:extLst>
              <a:ext uri="{FF2B5EF4-FFF2-40B4-BE49-F238E27FC236}">
                <a16:creationId xmlns:a16="http://schemas.microsoft.com/office/drawing/2014/main" id="{D8643B33-FF74-2B49-B6EB-01409F1D0D7F}"/>
              </a:ext>
            </a:extLst>
          </p:cNvPr>
          <p:cNvSpPr>
            <a:spLocks noGrp="1"/>
          </p:cNvSpPr>
          <p:nvPr>
            <p:ph type="subTitle" idx="1"/>
          </p:nvPr>
        </p:nvSpPr>
        <p:spPr>
          <a:xfrm>
            <a:off x="955675" y="3945603"/>
            <a:ext cx="9144000" cy="536329"/>
          </a:xfrm>
          <a:prstGeom prst="rect">
            <a:avLst/>
          </a:prstGeom>
        </p:spPr>
        <p:txBody>
          <a:bodyPr/>
          <a:lstStyle>
            <a:lvl1pPr marL="0" indent="0" algn="l">
              <a:buNone/>
              <a:defRPr sz="2500">
                <a:solidFill>
                  <a:schemeClr val="bg1">
                    <a:lumMod val="40000"/>
                    <a:lumOff val="60000"/>
                  </a:schemeClr>
                </a:solidFill>
                <a:latin typeface="Tahoma" panose="020B0604030504040204" pitchFamily="34" charset="0"/>
                <a:ea typeface="Tahoma" panose="020B0604030504040204" pitchFamily="34" charset="0"/>
                <a:cs typeface="Tahom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pic>
        <p:nvPicPr>
          <p:cNvPr id="13" name="Graphic 12">
            <a:extLst>
              <a:ext uri="{FF2B5EF4-FFF2-40B4-BE49-F238E27FC236}">
                <a16:creationId xmlns:a16="http://schemas.microsoft.com/office/drawing/2014/main" id="{8EF5330E-32F1-7B42-BB39-B2FFE8F8788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9516979" y="775699"/>
            <a:ext cx="2675021" cy="315139"/>
          </a:xfrm>
          <a:prstGeom prst="rect">
            <a:avLst/>
          </a:prstGeom>
        </p:spPr>
      </p:pic>
      <p:sp>
        <p:nvSpPr>
          <p:cNvPr id="14" name="Title 3">
            <a:extLst>
              <a:ext uri="{FF2B5EF4-FFF2-40B4-BE49-F238E27FC236}">
                <a16:creationId xmlns:a16="http://schemas.microsoft.com/office/drawing/2014/main" id="{591BC0ED-3260-F844-B525-B5B4D2CC78D0}"/>
              </a:ext>
            </a:extLst>
          </p:cNvPr>
          <p:cNvSpPr>
            <a:spLocks noGrp="1"/>
          </p:cNvSpPr>
          <p:nvPr>
            <p:ph type="title" hasCustomPrompt="1"/>
          </p:nvPr>
        </p:nvSpPr>
        <p:spPr>
          <a:xfrm>
            <a:off x="955675" y="3126852"/>
            <a:ext cx="9144000" cy="818751"/>
          </a:xfrm>
        </p:spPr>
        <p:txBody>
          <a:bodyPr anchor="t" anchorCtr="0"/>
          <a:lstStyle>
            <a:lvl1pPr algn="l">
              <a:defRPr>
                <a:solidFill>
                  <a:schemeClr val="bg2"/>
                </a:solidFill>
              </a:defRPr>
            </a:lvl1pPr>
          </a:lstStyle>
          <a:p>
            <a:r>
              <a:rPr lang="en-US"/>
              <a:t>Click to edit master title style</a:t>
            </a:r>
          </a:p>
        </p:txBody>
      </p:sp>
    </p:spTree>
    <p:extLst>
      <p:ext uri="{BB962C8B-B14F-4D97-AF65-F5344CB8AC3E}">
        <p14:creationId xmlns:p14="http://schemas.microsoft.com/office/powerpoint/2010/main" val="19175418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Cover and Title for the Presentation#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1" name="Subtitle 2">
            <a:extLst>
              <a:ext uri="{FF2B5EF4-FFF2-40B4-BE49-F238E27FC236}">
                <a16:creationId xmlns:a16="http://schemas.microsoft.com/office/drawing/2014/main" id="{E9241090-81F5-3947-93CB-6896CF7F94E5}"/>
              </a:ext>
            </a:extLst>
          </p:cNvPr>
          <p:cNvSpPr>
            <a:spLocks noGrp="1"/>
          </p:cNvSpPr>
          <p:nvPr>
            <p:ph type="subTitle" idx="1" hasCustomPrompt="1"/>
          </p:nvPr>
        </p:nvSpPr>
        <p:spPr>
          <a:xfrm>
            <a:off x="536339" y="5106074"/>
            <a:ext cx="6971077" cy="698499"/>
          </a:xfrm>
        </p:spPr>
        <p:txBody>
          <a:bodyPr>
            <a:noAutofit/>
          </a:bodyPr>
          <a:lstStyle>
            <a:lvl1pPr marL="0" indent="0" algn="l">
              <a:buNone/>
              <a:defRPr sz="2000">
                <a:solidFill>
                  <a:schemeClr val="accent6"/>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subtitle</a:t>
            </a:r>
          </a:p>
        </p:txBody>
      </p:sp>
      <p:sp>
        <p:nvSpPr>
          <p:cNvPr id="12" name="Title 3">
            <a:extLst>
              <a:ext uri="{FF2B5EF4-FFF2-40B4-BE49-F238E27FC236}">
                <a16:creationId xmlns:a16="http://schemas.microsoft.com/office/drawing/2014/main" id="{06DB1578-413F-2C4E-9D70-BBE3D7A5DBD3}"/>
              </a:ext>
            </a:extLst>
          </p:cNvPr>
          <p:cNvSpPr>
            <a:spLocks noGrp="1"/>
          </p:cNvSpPr>
          <p:nvPr>
            <p:ph type="title" hasCustomPrompt="1"/>
          </p:nvPr>
        </p:nvSpPr>
        <p:spPr>
          <a:xfrm>
            <a:off x="536339" y="3607860"/>
            <a:ext cx="5298020" cy="1498214"/>
          </a:xfrm>
        </p:spPr>
        <p:txBody>
          <a:bodyPr/>
          <a:lstStyle>
            <a:lvl1pPr algn="l">
              <a:defRPr>
                <a:solidFill>
                  <a:schemeClr val="tx1"/>
                </a:solidFill>
              </a:defRPr>
            </a:lvl1pPr>
          </a:lstStyle>
          <a:p>
            <a:r>
              <a:rPr lang="en-US"/>
              <a:t>Click to edit master title style</a:t>
            </a:r>
          </a:p>
        </p:txBody>
      </p:sp>
      <p:pic>
        <p:nvPicPr>
          <p:cNvPr id="3" name="Graphic 2">
            <a:extLst>
              <a:ext uri="{FF2B5EF4-FFF2-40B4-BE49-F238E27FC236}">
                <a16:creationId xmlns:a16="http://schemas.microsoft.com/office/drawing/2014/main" id="{7B5CCC4E-CABB-0A42-9BDE-60480B081EF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058490" y="1061074"/>
            <a:ext cx="3362305" cy="773864"/>
          </a:xfrm>
          <a:prstGeom prst="rect">
            <a:avLst/>
          </a:prstGeom>
        </p:spPr>
      </p:pic>
      <p:sp>
        <p:nvSpPr>
          <p:cNvPr id="10" name="Date Placeholder 8">
            <a:extLst>
              <a:ext uri="{FF2B5EF4-FFF2-40B4-BE49-F238E27FC236}">
                <a16:creationId xmlns:a16="http://schemas.microsoft.com/office/drawing/2014/main" id="{2CFC90AB-DF59-D34A-9818-151D5C1D9CEE}"/>
              </a:ext>
            </a:extLst>
          </p:cNvPr>
          <p:cNvSpPr>
            <a:spLocks noGrp="1"/>
          </p:cNvSpPr>
          <p:nvPr>
            <p:ph type="dt" sz="half" idx="10"/>
          </p:nvPr>
        </p:nvSpPr>
        <p:spPr>
          <a:xfrm>
            <a:off x="536339" y="6029515"/>
            <a:ext cx="3138522" cy="365125"/>
          </a:xfrm>
        </p:spPr>
        <p:txBody>
          <a:bodyPr/>
          <a:lstStyle>
            <a:lvl1pPr>
              <a:defRPr sz="1500">
                <a:solidFill>
                  <a:schemeClr val="accent6">
                    <a:lumMod val="75000"/>
                    <a:lumOff val="25000"/>
                  </a:schemeClr>
                </a:solidFill>
              </a:defRPr>
            </a:lvl1pPr>
          </a:lstStyle>
          <a:p>
            <a:fld id="{9FB76777-9218-4188-BD26-CF1E318BE795}" type="datetime2">
              <a:rPr lang="en-US" smtClean="0"/>
              <a:pPr/>
              <a:t>Wednesday, July 8, 2026</a:t>
            </a:fld>
            <a:endParaRPr lang="en-AE"/>
          </a:p>
        </p:txBody>
      </p:sp>
    </p:spTree>
    <p:extLst>
      <p:ext uri="{BB962C8B-B14F-4D97-AF65-F5344CB8AC3E}">
        <p14:creationId xmlns:p14="http://schemas.microsoft.com/office/powerpoint/2010/main" val="27684397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Cover and Title for the Presentation#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0" name="Date Placeholder 8">
            <a:extLst>
              <a:ext uri="{FF2B5EF4-FFF2-40B4-BE49-F238E27FC236}">
                <a16:creationId xmlns:a16="http://schemas.microsoft.com/office/drawing/2014/main" id="{2CFC90AB-DF59-D34A-9818-151D5C1D9CEE}"/>
              </a:ext>
            </a:extLst>
          </p:cNvPr>
          <p:cNvSpPr>
            <a:spLocks noGrp="1"/>
          </p:cNvSpPr>
          <p:nvPr>
            <p:ph type="dt" sz="half" idx="10"/>
          </p:nvPr>
        </p:nvSpPr>
        <p:spPr>
          <a:xfrm>
            <a:off x="956140" y="6029515"/>
            <a:ext cx="3138522" cy="365125"/>
          </a:xfrm>
        </p:spPr>
        <p:txBody>
          <a:bodyPr/>
          <a:lstStyle>
            <a:lvl1pPr>
              <a:defRPr sz="1500">
                <a:solidFill>
                  <a:schemeClr val="bg2"/>
                </a:solidFill>
              </a:defRPr>
            </a:lvl1pPr>
          </a:lstStyle>
          <a:p>
            <a:fld id="{9FB76777-9218-4188-BD26-CF1E318BE795}" type="datetime2">
              <a:rPr lang="en-US" smtClean="0"/>
              <a:pPr/>
              <a:t>Wednesday, July 8, 2026</a:t>
            </a:fld>
            <a:endParaRPr lang="en-AE"/>
          </a:p>
        </p:txBody>
      </p:sp>
      <p:pic>
        <p:nvPicPr>
          <p:cNvPr id="7" name="Graphic 6">
            <a:extLst>
              <a:ext uri="{FF2B5EF4-FFF2-40B4-BE49-F238E27FC236}">
                <a16:creationId xmlns:a16="http://schemas.microsoft.com/office/drawing/2014/main" id="{194BA4BA-37FC-574C-900D-E42453AEA51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957263" y="2371959"/>
            <a:ext cx="4078511" cy="938705"/>
          </a:xfrm>
          <a:prstGeom prst="rect">
            <a:avLst/>
          </a:prstGeom>
        </p:spPr>
      </p:pic>
      <p:sp>
        <p:nvSpPr>
          <p:cNvPr id="8" name="Title 1">
            <a:extLst>
              <a:ext uri="{FF2B5EF4-FFF2-40B4-BE49-F238E27FC236}">
                <a16:creationId xmlns:a16="http://schemas.microsoft.com/office/drawing/2014/main" id="{81495BEB-EE01-9F40-B42D-981879D2A4C3}"/>
              </a:ext>
            </a:extLst>
          </p:cNvPr>
          <p:cNvSpPr>
            <a:spLocks noGrp="1"/>
          </p:cNvSpPr>
          <p:nvPr>
            <p:ph type="ctrTitle"/>
          </p:nvPr>
        </p:nvSpPr>
        <p:spPr>
          <a:xfrm>
            <a:off x="957273" y="3853125"/>
            <a:ext cx="9143999" cy="660171"/>
          </a:xfrm>
          <a:prstGeom prst="rect">
            <a:avLst/>
          </a:prstGeom>
        </p:spPr>
        <p:txBody>
          <a:bodyPr anchor="t" anchorCtr="0"/>
          <a:lstStyle>
            <a:lvl1pPr algn="l">
              <a:defRPr sz="4500" b="1">
                <a:solidFill>
                  <a:schemeClr val="bg2"/>
                </a:solidFill>
                <a:latin typeface="Tahoma" panose="020B0604030504040204" pitchFamily="34" charset="0"/>
                <a:ea typeface="Tahoma" panose="020B0604030504040204" pitchFamily="34" charset="0"/>
                <a:cs typeface="Tahoma" panose="020B0604030504040204" pitchFamily="34" charset="0"/>
              </a:defRPr>
            </a:lvl1pPr>
          </a:lstStyle>
          <a:p>
            <a:r>
              <a:rPr lang="en-US"/>
              <a:t>Click to edit Master title style</a:t>
            </a:r>
          </a:p>
        </p:txBody>
      </p:sp>
      <p:pic>
        <p:nvPicPr>
          <p:cNvPr id="13" name="Graphic 12">
            <a:extLst>
              <a:ext uri="{FF2B5EF4-FFF2-40B4-BE49-F238E27FC236}">
                <a16:creationId xmlns:a16="http://schemas.microsoft.com/office/drawing/2014/main" id="{A0FB12DA-53D5-A041-A382-0D8BFE86F8C7}"/>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9516979" y="775699"/>
            <a:ext cx="2675021" cy="315139"/>
          </a:xfrm>
          <a:prstGeom prst="rect">
            <a:avLst/>
          </a:prstGeom>
        </p:spPr>
      </p:pic>
      <p:sp>
        <p:nvSpPr>
          <p:cNvPr id="14" name="Subtitle 2">
            <a:extLst>
              <a:ext uri="{FF2B5EF4-FFF2-40B4-BE49-F238E27FC236}">
                <a16:creationId xmlns:a16="http://schemas.microsoft.com/office/drawing/2014/main" id="{33EBC9D1-1DA5-1B44-9266-C53077B3DFFA}"/>
              </a:ext>
            </a:extLst>
          </p:cNvPr>
          <p:cNvSpPr>
            <a:spLocks noGrp="1"/>
          </p:cNvSpPr>
          <p:nvPr>
            <p:ph type="subTitle" idx="1"/>
          </p:nvPr>
        </p:nvSpPr>
        <p:spPr>
          <a:xfrm>
            <a:off x="956140" y="4519428"/>
            <a:ext cx="9144000" cy="536329"/>
          </a:xfrm>
          <a:prstGeom prst="rect">
            <a:avLst/>
          </a:prstGeom>
        </p:spPr>
        <p:txBody>
          <a:bodyPr/>
          <a:lstStyle>
            <a:lvl1pPr marL="0" indent="0" algn="l">
              <a:buNone/>
              <a:defRPr sz="2500">
                <a:solidFill>
                  <a:schemeClr val="bg1">
                    <a:lumMod val="40000"/>
                    <a:lumOff val="60000"/>
                  </a:schemeClr>
                </a:solidFill>
                <a:latin typeface="Tahoma" panose="020B0604030504040204" pitchFamily="34" charset="0"/>
                <a:ea typeface="Tahoma" panose="020B0604030504040204" pitchFamily="34" charset="0"/>
                <a:cs typeface="Tahom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5324442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ntent Slide  Option#1 with Image">
    <p:bg>
      <p:bgPr>
        <a:solidFill>
          <a:schemeClr val="bg2"/>
        </a:solidFill>
        <a:effectLst/>
      </p:bgPr>
    </p:bg>
    <p:spTree>
      <p:nvGrpSpPr>
        <p:cNvPr id="1" name=""/>
        <p:cNvGrpSpPr/>
        <p:nvPr/>
      </p:nvGrpSpPr>
      <p:grpSpPr>
        <a:xfrm>
          <a:off x="0" y="0"/>
          <a:ext cx="0" cy="0"/>
          <a:chOff x="0" y="0"/>
          <a:chExt cx="0" cy="0"/>
        </a:xfrm>
      </p:grpSpPr>
      <p:sp>
        <p:nvSpPr>
          <p:cNvPr id="5" name="Title 3">
            <a:extLst>
              <a:ext uri="{FF2B5EF4-FFF2-40B4-BE49-F238E27FC236}">
                <a16:creationId xmlns:a16="http://schemas.microsoft.com/office/drawing/2014/main" id="{26908BEE-A825-DA40-9969-1B02C84DEF7A}"/>
              </a:ext>
            </a:extLst>
          </p:cNvPr>
          <p:cNvSpPr>
            <a:spLocks noGrp="1"/>
          </p:cNvSpPr>
          <p:nvPr>
            <p:ph type="title" hasCustomPrompt="1"/>
          </p:nvPr>
        </p:nvSpPr>
        <p:spPr>
          <a:xfrm>
            <a:off x="704800" y="1207003"/>
            <a:ext cx="5874026" cy="557061"/>
          </a:xfrm>
        </p:spPr>
        <p:txBody>
          <a:bodyPr anchor="t">
            <a:normAutofit/>
          </a:bodyPr>
          <a:lstStyle>
            <a:lvl1pPr>
              <a:defRPr sz="3000">
                <a:solidFill>
                  <a:schemeClr val="tx1"/>
                </a:solidFill>
              </a:defRPr>
            </a:lvl1pPr>
          </a:lstStyle>
          <a:p>
            <a:r>
              <a:rPr lang="en-US"/>
              <a:t>Click to edit title style</a:t>
            </a:r>
          </a:p>
        </p:txBody>
      </p:sp>
      <p:sp>
        <p:nvSpPr>
          <p:cNvPr id="6" name="Subtitle 2">
            <a:extLst>
              <a:ext uri="{FF2B5EF4-FFF2-40B4-BE49-F238E27FC236}">
                <a16:creationId xmlns:a16="http://schemas.microsoft.com/office/drawing/2014/main" id="{B6746524-6D09-2F49-8A69-4823C3DCCD24}"/>
              </a:ext>
            </a:extLst>
          </p:cNvPr>
          <p:cNvSpPr>
            <a:spLocks noGrp="1"/>
          </p:cNvSpPr>
          <p:nvPr>
            <p:ph type="subTitle" idx="1" hasCustomPrompt="1"/>
          </p:nvPr>
        </p:nvSpPr>
        <p:spPr>
          <a:xfrm>
            <a:off x="5390087" y="314797"/>
            <a:ext cx="6120159" cy="315424"/>
          </a:xfrm>
        </p:spPr>
        <p:txBody>
          <a:bodyPr>
            <a:noAutofit/>
          </a:bodyPr>
          <a:lstStyle>
            <a:lvl1pPr marL="0" indent="0" algn="r">
              <a:buNone/>
              <a:defRPr sz="1200">
                <a:solidFill>
                  <a:schemeClr val="accent6"/>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Presentation Title</a:t>
            </a:r>
          </a:p>
        </p:txBody>
      </p:sp>
      <p:sp>
        <p:nvSpPr>
          <p:cNvPr id="7" name="Slide Number Placeholder 6">
            <a:extLst>
              <a:ext uri="{FF2B5EF4-FFF2-40B4-BE49-F238E27FC236}">
                <a16:creationId xmlns:a16="http://schemas.microsoft.com/office/drawing/2014/main" id="{03FFED15-3BC1-9A47-85CA-5740A1734EB2}"/>
              </a:ext>
            </a:extLst>
          </p:cNvPr>
          <p:cNvSpPr txBox="1">
            <a:spLocks/>
          </p:cNvSpPr>
          <p:nvPr userDrawn="1"/>
        </p:nvSpPr>
        <p:spPr>
          <a:xfrm>
            <a:off x="11377612" y="248602"/>
            <a:ext cx="814388" cy="365125"/>
          </a:xfrm>
          <a:prstGeom prst="rect">
            <a:avLst/>
          </a:prstGeom>
          <a:noFill/>
        </p:spPr>
        <p:txBody>
          <a:bodyPr vert="horz" lIns="91440" tIns="45720" rIns="91440" bIns="45720" rtlCol="0" anchor="ctr"/>
          <a:lstStyle>
            <a:defPPr>
              <a:defRPr lang="en-US"/>
            </a:defPPr>
            <a:lvl1pPr marL="0" algn="ctr" defTabSz="914400" rtl="0" eaLnBrk="1" latinLnBrk="0" hangingPunct="1">
              <a:defRPr sz="1600" b="0" i="0" kern="1200">
                <a:solidFill>
                  <a:schemeClr val="bg1"/>
                </a:solidFill>
                <a:latin typeface="Tahoma" panose="020B0604030504040204" pitchFamily="34" charset="0"/>
                <a:ea typeface="Tahoma" panose="020B0604030504040204" pitchFamily="34" charset="0"/>
                <a:cs typeface="Tahoma" panose="020B060403050404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91C39B3-71BA-C04A-8F90-02179B3D98C0}" type="slidenum">
              <a:rPr lang="en-US" smtClean="0"/>
              <a:pPr/>
              <a:t>‹#›</a:t>
            </a:fld>
            <a:endParaRPr lang="en-US"/>
          </a:p>
        </p:txBody>
      </p:sp>
      <p:pic>
        <p:nvPicPr>
          <p:cNvPr id="9" name="Graphic 8">
            <a:extLst>
              <a:ext uri="{FF2B5EF4-FFF2-40B4-BE49-F238E27FC236}">
                <a16:creationId xmlns:a16="http://schemas.microsoft.com/office/drawing/2014/main" id="{5893B466-AD85-BF49-A335-E853DA6FB0A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2001500" y="306705"/>
            <a:ext cx="177800" cy="248920"/>
          </a:xfrm>
          <a:prstGeom prst="rect">
            <a:avLst/>
          </a:prstGeom>
        </p:spPr>
      </p:pic>
      <p:pic>
        <p:nvPicPr>
          <p:cNvPr id="12" name="Graphic 11">
            <a:extLst>
              <a:ext uri="{FF2B5EF4-FFF2-40B4-BE49-F238E27FC236}">
                <a16:creationId xmlns:a16="http://schemas.microsoft.com/office/drawing/2014/main" id="{35B54686-6941-2541-B096-11C08B1BDE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288949" y="2051"/>
            <a:ext cx="236191" cy="6858000"/>
          </a:xfrm>
          <a:prstGeom prst="rect">
            <a:avLst/>
          </a:prstGeom>
        </p:spPr>
      </p:pic>
      <p:pic>
        <p:nvPicPr>
          <p:cNvPr id="13" name="Graphic 12">
            <a:extLst>
              <a:ext uri="{FF2B5EF4-FFF2-40B4-BE49-F238E27FC236}">
                <a16:creationId xmlns:a16="http://schemas.microsoft.com/office/drawing/2014/main" id="{A8808B5C-1859-104A-826C-D3A463154C6C}"/>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250206" y="250603"/>
            <a:ext cx="313679" cy="329298"/>
          </a:xfrm>
          <a:prstGeom prst="rect">
            <a:avLst/>
          </a:prstGeom>
        </p:spPr>
      </p:pic>
      <p:sp>
        <p:nvSpPr>
          <p:cNvPr id="3" name="Text Placeholder 2">
            <a:extLst>
              <a:ext uri="{FF2B5EF4-FFF2-40B4-BE49-F238E27FC236}">
                <a16:creationId xmlns:a16="http://schemas.microsoft.com/office/drawing/2014/main" id="{5B03E28E-79CD-8A43-B374-EF35B43959A1}"/>
              </a:ext>
            </a:extLst>
          </p:cNvPr>
          <p:cNvSpPr>
            <a:spLocks noGrp="1"/>
          </p:cNvSpPr>
          <p:nvPr>
            <p:ph type="body" sz="quarter" idx="10"/>
          </p:nvPr>
        </p:nvSpPr>
        <p:spPr>
          <a:xfrm>
            <a:off x="833439" y="1878013"/>
            <a:ext cx="5745388" cy="37544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E"/>
          </a:p>
        </p:txBody>
      </p:sp>
      <p:sp>
        <p:nvSpPr>
          <p:cNvPr id="14" name="Picture Placeholder 13">
            <a:extLst>
              <a:ext uri="{FF2B5EF4-FFF2-40B4-BE49-F238E27FC236}">
                <a16:creationId xmlns:a16="http://schemas.microsoft.com/office/drawing/2014/main" id="{83E722FE-E668-314D-A8DF-BAA81BA98D5B}"/>
              </a:ext>
            </a:extLst>
          </p:cNvPr>
          <p:cNvSpPr>
            <a:spLocks noGrp="1"/>
          </p:cNvSpPr>
          <p:nvPr>
            <p:ph type="pic" sz="quarter" idx="11"/>
          </p:nvPr>
        </p:nvSpPr>
        <p:spPr>
          <a:xfrm>
            <a:off x="6758486" y="1206500"/>
            <a:ext cx="4619127" cy="4445000"/>
          </a:xfrm>
        </p:spPr>
        <p:txBody>
          <a:bodyPr/>
          <a:lstStyle>
            <a:lvl1pPr marL="0" indent="0">
              <a:buNone/>
              <a:defRPr/>
            </a:lvl1pPr>
          </a:lstStyle>
          <a:p>
            <a:r>
              <a:rPr lang="en-US"/>
              <a:t>Click icon to add picture</a:t>
            </a:r>
            <a:endParaRPr lang="en-AE"/>
          </a:p>
        </p:txBody>
      </p:sp>
    </p:spTree>
    <p:extLst>
      <p:ext uri="{BB962C8B-B14F-4D97-AF65-F5344CB8AC3E}">
        <p14:creationId xmlns:p14="http://schemas.microsoft.com/office/powerpoint/2010/main" val="28438903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Content Slide  Option#2 with Graph /Data">
    <p:bg>
      <p:bgPr>
        <a:solidFill>
          <a:schemeClr val="bg2"/>
        </a:solidFill>
        <a:effectLst/>
      </p:bgPr>
    </p:bg>
    <p:spTree>
      <p:nvGrpSpPr>
        <p:cNvPr id="1" name=""/>
        <p:cNvGrpSpPr/>
        <p:nvPr/>
      </p:nvGrpSpPr>
      <p:grpSpPr>
        <a:xfrm>
          <a:off x="0" y="0"/>
          <a:ext cx="0" cy="0"/>
          <a:chOff x="0" y="0"/>
          <a:chExt cx="0" cy="0"/>
        </a:xfrm>
      </p:grpSpPr>
      <p:sp>
        <p:nvSpPr>
          <p:cNvPr id="5" name="Title 3">
            <a:extLst>
              <a:ext uri="{FF2B5EF4-FFF2-40B4-BE49-F238E27FC236}">
                <a16:creationId xmlns:a16="http://schemas.microsoft.com/office/drawing/2014/main" id="{26908BEE-A825-DA40-9969-1B02C84DEF7A}"/>
              </a:ext>
            </a:extLst>
          </p:cNvPr>
          <p:cNvSpPr>
            <a:spLocks noGrp="1"/>
          </p:cNvSpPr>
          <p:nvPr>
            <p:ph type="title" hasCustomPrompt="1"/>
          </p:nvPr>
        </p:nvSpPr>
        <p:spPr>
          <a:xfrm>
            <a:off x="704800" y="1207003"/>
            <a:ext cx="5874026" cy="557061"/>
          </a:xfrm>
        </p:spPr>
        <p:txBody>
          <a:bodyPr anchor="t">
            <a:normAutofit/>
          </a:bodyPr>
          <a:lstStyle>
            <a:lvl1pPr>
              <a:defRPr sz="3000">
                <a:solidFill>
                  <a:schemeClr val="tx1"/>
                </a:solidFill>
              </a:defRPr>
            </a:lvl1pPr>
          </a:lstStyle>
          <a:p>
            <a:r>
              <a:rPr lang="en-US"/>
              <a:t>Click to Add Graph/Data</a:t>
            </a:r>
          </a:p>
        </p:txBody>
      </p:sp>
      <p:sp>
        <p:nvSpPr>
          <p:cNvPr id="6" name="Subtitle 2">
            <a:extLst>
              <a:ext uri="{FF2B5EF4-FFF2-40B4-BE49-F238E27FC236}">
                <a16:creationId xmlns:a16="http://schemas.microsoft.com/office/drawing/2014/main" id="{B6746524-6D09-2F49-8A69-4823C3DCCD24}"/>
              </a:ext>
            </a:extLst>
          </p:cNvPr>
          <p:cNvSpPr>
            <a:spLocks noGrp="1"/>
          </p:cNvSpPr>
          <p:nvPr>
            <p:ph type="subTitle" idx="1" hasCustomPrompt="1"/>
          </p:nvPr>
        </p:nvSpPr>
        <p:spPr>
          <a:xfrm>
            <a:off x="5390087" y="314797"/>
            <a:ext cx="6120159" cy="315424"/>
          </a:xfrm>
        </p:spPr>
        <p:txBody>
          <a:bodyPr>
            <a:noAutofit/>
          </a:bodyPr>
          <a:lstStyle>
            <a:lvl1pPr marL="0" indent="0" algn="r">
              <a:buNone/>
              <a:defRPr sz="1200">
                <a:solidFill>
                  <a:schemeClr val="accent6"/>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Presentation Title</a:t>
            </a:r>
          </a:p>
        </p:txBody>
      </p:sp>
      <p:sp>
        <p:nvSpPr>
          <p:cNvPr id="7" name="Slide Number Placeholder 6">
            <a:extLst>
              <a:ext uri="{FF2B5EF4-FFF2-40B4-BE49-F238E27FC236}">
                <a16:creationId xmlns:a16="http://schemas.microsoft.com/office/drawing/2014/main" id="{03FFED15-3BC1-9A47-85CA-5740A1734EB2}"/>
              </a:ext>
            </a:extLst>
          </p:cNvPr>
          <p:cNvSpPr txBox="1">
            <a:spLocks/>
          </p:cNvSpPr>
          <p:nvPr userDrawn="1"/>
        </p:nvSpPr>
        <p:spPr>
          <a:xfrm>
            <a:off x="11377612" y="248602"/>
            <a:ext cx="814388" cy="365125"/>
          </a:xfrm>
          <a:prstGeom prst="rect">
            <a:avLst/>
          </a:prstGeom>
          <a:noFill/>
        </p:spPr>
        <p:txBody>
          <a:bodyPr vert="horz" lIns="91440" tIns="45720" rIns="91440" bIns="45720" rtlCol="0" anchor="ctr"/>
          <a:lstStyle>
            <a:defPPr>
              <a:defRPr lang="en-US"/>
            </a:defPPr>
            <a:lvl1pPr marL="0" algn="ctr" defTabSz="914400" rtl="0" eaLnBrk="1" latinLnBrk="0" hangingPunct="1">
              <a:defRPr sz="1600" b="0" i="0" kern="1200">
                <a:solidFill>
                  <a:schemeClr val="bg1"/>
                </a:solidFill>
                <a:latin typeface="Tahoma" panose="020B0604030504040204" pitchFamily="34" charset="0"/>
                <a:ea typeface="Tahoma" panose="020B0604030504040204" pitchFamily="34" charset="0"/>
                <a:cs typeface="Tahoma" panose="020B060403050404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91C39B3-71BA-C04A-8F90-02179B3D98C0}" type="slidenum">
              <a:rPr lang="en-US" smtClean="0"/>
              <a:pPr/>
              <a:t>‹#›</a:t>
            </a:fld>
            <a:endParaRPr lang="en-US"/>
          </a:p>
        </p:txBody>
      </p:sp>
      <p:pic>
        <p:nvPicPr>
          <p:cNvPr id="9" name="Graphic 8">
            <a:extLst>
              <a:ext uri="{FF2B5EF4-FFF2-40B4-BE49-F238E27FC236}">
                <a16:creationId xmlns:a16="http://schemas.microsoft.com/office/drawing/2014/main" id="{5893B466-AD85-BF49-A335-E853DA6FB0A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2001500" y="306705"/>
            <a:ext cx="177800" cy="248920"/>
          </a:xfrm>
          <a:prstGeom prst="rect">
            <a:avLst/>
          </a:prstGeom>
        </p:spPr>
      </p:pic>
      <p:pic>
        <p:nvPicPr>
          <p:cNvPr id="12" name="Graphic 11">
            <a:extLst>
              <a:ext uri="{FF2B5EF4-FFF2-40B4-BE49-F238E27FC236}">
                <a16:creationId xmlns:a16="http://schemas.microsoft.com/office/drawing/2014/main" id="{35B54686-6941-2541-B096-11C08B1BDE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288949" y="2051"/>
            <a:ext cx="236191" cy="6858000"/>
          </a:xfrm>
          <a:prstGeom prst="rect">
            <a:avLst/>
          </a:prstGeom>
        </p:spPr>
      </p:pic>
      <p:pic>
        <p:nvPicPr>
          <p:cNvPr id="13" name="Graphic 12">
            <a:extLst>
              <a:ext uri="{FF2B5EF4-FFF2-40B4-BE49-F238E27FC236}">
                <a16:creationId xmlns:a16="http://schemas.microsoft.com/office/drawing/2014/main" id="{A8808B5C-1859-104A-826C-D3A463154C6C}"/>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250206" y="250603"/>
            <a:ext cx="313679" cy="329298"/>
          </a:xfrm>
          <a:prstGeom prst="rect">
            <a:avLst/>
          </a:prstGeom>
        </p:spPr>
      </p:pic>
      <p:sp>
        <p:nvSpPr>
          <p:cNvPr id="3" name="Text Placeholder 2">
            <a:extLst>
              <a:ext uri="{FF2B5EF4-FFF2-40B4-BE49-F238E27FC236}">
                <a16:creationId xmlns:a16="http://schemas.microsoft.com/office/drawing/2014/main" id="{5B03E28E-79CD-8A43-B374-EF35B43959A1}"/>
              </a:ext>
            </a:extLst>
          </p:cNvPr>
          <p:cNvSpPr>
            <a:spLocks noGrp="1"/>
          </p:cNvSpPr>
          <p:nvPr>
            <p:ph type="body" sz="quarter" idx="10" hasCustomPrompt="1"/>
          </p:nvPr>
        </p:nvSpPr>
        <p:spPr>
          <a:xfrm>
            <a:off x="707473" y="1878013"/>
            <a:ext cx="4054150" cy="3754437"/>
          </a:xfrm>
        </p:spPr>
        <p:txBody>
          <a:bodyPr>
            <a:normAutofit/>
          </a:bodyPr>
          <a:lstStyle>
            <a:lvl1pPr marL="0" indent="0" algn="l">
              <a:lnSpc>
                <a:spcPct val="95000"/>
              </a:lnSpc>
              <a:buFontTx/>
              <a:buNone/>
              <a:defRPr sz="2000"/>
            </a:lvl1pPr>
            <a:lvl2pPr marL="457200" indent="0" algn="l">
              <a:buFontTx/>
              <a:buNone/>
              <a:defRPr/>
            </a:lvl2pPr>
            <a:lvl3pPr marL="914400" indent="0" algn="l">
              <a:buFontTx/>
              <a:buNone/>
              <a:defRPr/>
            </a:lvl3pPr>
            <a:lvl4pPr marL="1371600" indent="0" algn="l">
              <a:buFontTx/>
              <a:buNone/>
              <a:defRPr/>
            </a:lvl4pPr>
            <a:lvl5pPr marL="1828800" indent="0" algn="l">
              <a:buFontTx/>
              <a:buNone/>
              <a:defRPr/>
            </a:lvl5pPr>
          </a:lstStyle>
          <a:p>
            <a:pPr lvl="0"/>
            <a:r>
              <a:rPr lang="en-AE"/>
              <a:t>Add your </a:t>
            </a:r>
            <a:r>
              <a:rPr lang="en-US"/>
              <a:t>An analytical paragraph,  is a form of descriptive writing which is written on the basis of a given chart, graph, data, outline, clues, table etc.</a:t>
            </a:r>
            <a:endParaRPr lang="en-AE"/>
          </a:p>
        </p:txBody>
      </p:sp>
      <p:sp>
        <p:nvSpPr>
          <p:cNvPr id="4" name="Chart Placeholder 3">
            <a:extLst>
              <a:ext uri="{FF2B5EF4-FFF2-40B4-BE49-F238E27FC236}">
                <a16:creationId xmlns:a16="http://schemas.microsoft.com/office/drawing/2014/main" id="{62D93862-01E6-C24F-A335-F79089BEC504}"/>
              </a:ext>
            </a:extLst>
          </p:cNvPr>
          <p:cNvSpPr>
            <a:spLocks noGrp="1"/>
          </p:cNvSpPr>
          <p:nvPr>
            <p:ph type="chart" sz="quarter" idx="11"/>
          </p:nvPr>
        </p:nvSpPr>
        <p:spPr>
          <a:xfrm>
            <a:off x="5138738" y="1878013"/>
            <a:ext cx="6053137" cy="3754437"/>
          </a:xfrm>
        </p:spPr>
        <p:txBody>
          <a:bodyPr/>
          <a:lstStyle/>
          <a:p>
            <a:r>
              <a:rPr lang="en-US"/>
              <a:t>Click icon to add chart</a:t>
            </a:r>
            <a:endParaRPr lang="en-AE"/>
          </a:p>
        </p:txBody>
      </p:sp>
    </p:spTree>
    <p:extLst>
      <p:ext uri="{BB962C8B-B14F-4D97-AF65-F5344CB8AC3E}">
        <p14:creationId xmlns:p14="http://schemas.microsoft.com/office/powerpoint/2010/main" val="289576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_Content Slide  Option#3 with Table">
    <p:bg>
      <p:bgPr>
        <a:solidFill>
          <a:schemeClr val="bg2"/>
        </a:solidFill>
        <a:effectLst/>
      </p:bgPr>
    </p:bg>
    <p:spTree>
      <p:nvGrpSpPr>
        <p:cNvPr id="1" name=""/>
        <p:cNvGrpSpPr/>
        <p:nvPr/>
      </p:nvGrpSpPr>
      <p:grpSpPr>
        <a:xfrm>
          <a:off x="0" y="0"/>
          <a:ext cx="0" cy="0"/>
          <a:chOff x="0" y="0"/>
          <a:chExt cx="0" cy="0"/>
        </a:xfrm>
      </p:grpSpPr>
      <p:sp>
        <p:nvSpPr>
          <p:cNvPr id="5" name="Title 3">
            <a:extLst>
              <a:ext uri="{FF2B5EF4-FFF2-40B4-BE49-F238E27FC236}">
                <a16:creationId xmlns:a16="http://schemas.microsoft.com/office/drawing/2014/main" id="{26908BEE-A825-DA40-9969-1B02C84DEF7A}"/>
              </a:ext>
            </a:extLst>
          </p:cNvPr>
          <p:cNvSpPr>
            <a:spLocks noGrp="1"/>
          </p:cNvSpPr>
          <p:nvPr>
            <p:ph type="title" hasCustomPrompt="1"/>
          </p:nvPr>
        </p:nvSpPr>
        <p:spPr>
          <a:xfrm>
            <a:off x="704800" y="1207003"/>
            <a:ext cx="5874026" cy="557061"/>
          </a:xfrm>
        </p:spPr>
        <p:txBody>
          <a:bodyPr anchor="t">
            <a:normAutofit/>
          </a:bodyPr>
          <a:lstStyle>
            <a:lvl1pPr>
              <a:defRPr sz="3000">
                <a:solidFill>
                  <a:schemeClr val="tx1"/>
                </a:solidFill>
              </a:defRPr>
            </a:lvl1pPr>
          </a:lstStyle>
          <a:p>
            <a:r>
              <a:rPr lang="en-US"/>
              <a:t>Click to Table Title</a:t>
            </a:r>
          </a:p>
        </p:txBody>
      </p:sp>
      <p:sp>
        <p:nvSpPr>
          <p:cNvPr id="6" name="Subtitle 2">
            <a:extLst>
              <a:ext uri="{FF2B5EF4-FFF2-40B4-BE49-F238E27FC236}">
                <a16:creationId xmlns:a16="http://schemas.microsoft.com/office/drawing/2014/main" id="{B6746524-6D09-2F49-8A69-4823C3DCCD24}"/>
              </a:ext>
            </a:extLst>
          </p:cNvPr>
          <p:cNvSpPr>
            <a:spLocks noGrp="1"/>
          </p:cNvSpPr>
          <p:nvPr>
            <p:ph type="subTitle" idx="1" hasCustomPrompt="1"/>
          </p:nvPr>
        </p:nvSpPr>
        <p:spPr>
          <a:xfrm>
            <a:off x="5390087" y="314797"/>
            <a:ext cx="6120159" cy="315424"/>
          </a:xfrm>
        </p:spPr>
        <p:txBody>
          <a:bodyPr>
            <a:noAutofit/>
          </a:bodyPr>
          <a:lstStyle>
            <a:lvl1pPr marL="0" indent="0" algn="r">
              <a:buNone/>
              <a:defRPr sz="1200">
                <a:solidFill>
                  <a:schemeClr val="accent6"/>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Presentation Title</a:t>
            </a:r>
          </a:p>
        </p:txBody>
      </p:sp>
      <p:sp>
        <p:nvSpPr>
          <p:cNvPr id="7" name="Slide Number Placeholder 6">
            <a:extLst>
              <a:ext uri="{FF2B5EF4-FFF2-40B4-BE49-F238E27FC236}">
                <a16:creationId xmlns:a16="http://schemas.microsoft.com/office/drawing/2014/main" id="{03FFED15-3BC1-9A47-85CA-5740A1734EB2}"/>
              </a:ext>
            </a:extLst>
          </p:cNvPr>
          <p:cNvSpPr txBox="1">
            <a:spLocks/>
          </p:cNvSpPr>
          <p:nvPr userDrawn="1"/>
        </p:nvSpPr>
        <p:spPr>
          <a:xfrm>
            <a:off x="11377612" y="248602"/>
            <a:ext cx="814388" cy="365125"/>
          </a:xfrm>
          <a:prstGeom prst="rect">
            <a:avLst/>
          </a:prstGeom>
          <a:noFill/>
        </p:spPr>
        <p:txBody>
          <a:bodyPr vert="horz" lIns="91440" tIns="45720" rIns="91440" bIns="45720" rtlCol="0" anchor="ctr"/>
          <a:lstStyle>
            <a:defPPr>
              <a:defRPr lang="en-US"/>
            </a:defPPr>
            <a:lvl1pPr marL="0" algn="ctr" defTabSz="914400" rtl="0" eaLnBrk="1" latinLnBrk="0" hangingPunct="1">
              <a:defRPr sz="1600" b="0" i="0" kern="1200">
                <a:solidFill>
                  <a:schemeClr val="bg1"/>
                </a:solidFill>
                <a:latin typeface="Tahoma" panose="020B0604030504040204" pitchFamily="34" charset="0"/>
                <a:ea typeface="Tahoma" panose="020B0604030504040204" pitchFamily="34" charset="0"/>
                <a:cs typeface="Tahoma" panose="020B060403050404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91C39B3-71BA-C04A-8F90-02179B3D98C0}" type="slidenum">
              <a:rPr lang="en-US" smtClean="0"/>
              <a:pPr/>
              <a:t>‹#›</a:t>
            </a:fld>
            <a:endParaRPr lang="en-US"/>
          </a:p>
        </p:txBody>
      </p:sp>
      <p:pic>
        <p:nvPicPr>
          <p:cNvPr id="9" name="Graphic 8">
            <a:extLst>
              <a:ext uri="{FF2B5EF4-FFF2-40B4-BE49-F238E27FC236}">
                <a16:creationId xmlns:a16="http://schemas.microsoft.com/office/drawing/2014/main" id="{5893B466-AD85-BF49-A335-E853DA6FB0A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2001500" y="306705"/>
            <a:ext cx="177800" cy="248920"/>
          </a:xfrm>
          <a:prstGeom prst="rect">
            <a:avLst/>
          </a:prstGeom>
        </p:spPr>
      </p:pic>
      <p:pic>
        <p:nvPicPr>
          <p:cNvPr id="12" name="Graphic 11">
            <a:extLst>
              <a:ext uri="{FF2B5EF4-FFF2-40B4-BE49-F238E27FC236}">
                <a16:creationId xmlns:a16="http://schemas.microsoft.com/office/drawing/2014/main" id="{35B54686-6941-2541-B096-11C08B1BDE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288949" y="2051"/>
            <a:ext cx="236191" cy="6858000"/>
          </a:xfrm>
          <a:prstGeom prst="rect">
            <a:avLst/>
          </a:prstGeom>
        </p:spPr>
      </p:pic>
      <p:pic>
        <p:nvPicPr>
          <p:cNvPr id="13" name="Graphic 12">
            <a:extLst>
              <a:ext uri="{FF2B5EF4-FFF2-40B4-BE49-F238E27FC236}">
                <a16:creationId xmlns:a16="http://schemas.microsoft.com/office/drawing/2014/main" id="{A8808B5C-1859-104A-826C-D3A463154C6C}"/>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250206" y="250603"/>
            <a:ext cx="313679" cy="329298"/>
          </a:xfrm>
          <a:prstGeom prst="rect">
            <a:avLst/>
          </a:prstGeom>
        </p:spPr>
      </p:pic>
      <p:sp>
        <p:nvSpPr>
          <p:cNvPr id="3" name="Text Placeholder 2">
            <a:extLst>
              <a:ext uri="{FF2B5EF4-FFF2-40B4-BE49-F238E27FC236}">
                <a16:creationId xmlns:a16="http://schemas.microsoft.com/office/drawing/2014/main" id="{5B03E28E-79CD-8A43-B374-EF35B43959A1}"/>
              </a:ext>
            </a:extLst>
          </p:cNvPr>
          <p:cNvSpPr>
            <a:spLocks noGrp="1"/>
          </p:cNvSpPr>
          <p:nvPr>
            <p:ph type="body" sz="quarter" idx="10" hasCustomPrompt="1"/>
          </p:nvPr>
        </p:nvSpPr>
        <p:spPr>
          <a:xfrm>
            <a:off x="704800" y="1878013"/>
            <a:ext cx="4054150" cy="3754437"/>
          </a:xfrm>
        </p:spPr>
        <p:txBody>
          <a:bodyPr>
            <a:noAutofit/>
          </a:bodyPr>
          <a:lstStyle>
            <a:lvl1pPr marL="0" indent="0" algn="l">
              <a:lnSpc>
                <a:spcPct val="95000"/>
              </a:lnSpc>
              <a:buFontTx/>
              <a:buNone/>
              <a:defRPr lang="en-US" sz="2000" b="0" i="0" smtClean="0">
                <a:effectLst/>
              </a:defRPr>
            </a:lvl1pPr>
            <a:lvl2pPr marL="457200" indent="0" algn="l">
              <a:buFontTx/>
              <a:buNone/>
              <a:defRPr/>
            </a:lvl2pPr>
            <a:lvl3pPr marL="914400" indent="0" algn="l">
              <a:buFontTx/>
              <a:buNone/>
              <a:defRPr/>
            </a:lvl3pPr>
            <a:lvl4pPr marL="1371600" indent="0" algn="l">
              <a:buFontTx/>
              <a:buNone/>
              <a:defRPr/>
            </a:lvl4pPr>
            <a:lvl5pPr marL="1828800" indent="0" algn="l">
              <a:buFontTx/>
              <a:buNone/>
              <a:defRPr/>
            </a:lvl5pPr>
          </a:lstStyle>
          <a:p>
            <a:pPr lvl="0"/>
            <a:r>
              <a:rPr lang="en-US"/>
              <a:t>A Table refers to any data which is presented in orderly rows across and/or down the page, often enclosed within borders. A Figure refers to any other form of presentation such as a bar or pie chart, a graph, a diagram, a map, a photograph, a line drawing or a sample of material.</a:t>
            </a:r>
            <a:endParaRPr lang="en-AE"/>
          </a:p>
        </p:txBody>
      </p:sp>
      <p:sp>
        <p:nvSpPr>
          <p:cNvPr id="8" name="Table Placeholder 7">
            <a:extLst>
              <a:ext uri="{FF2B5EF4-FFF2-40B4-BE49-F238E27FC236}">
                <a16:creationId xmlns:a16="http://schemas.microsoft.com/office/drawing/2014/main" id="{78A247DE-41CC-5245-986E-449D869DC74D}"/>
              </a:ext>
            </a:extLst>
          </p:cNvPr>
          <p:cNvSpPr>
            <a:spLocks noGrp="1"/>
          </p:cNvSpPr>
          <p:nvPr>
            <p:ph type="tbl" sz="quarter" idx="11"/>
          </p:nvPr>
        </p:nvSpPr>
        <p:spPr>
          <a:xfrm>
            <a:off x="5154613" y="1878013"/>
            <a:ext cx="6356350" cy="3754437"/>
          </a:xfrm>
        </p:spPr>
        <p:txBody>
          <a:bodyPr/>
          <a:lstStyle/>
          <a:p>
            <a:r>
              <a:rPr lang="en-US"/>
              <a:t>Click icon to add table</a:t>
            </a:r>
            <a:endParaRPr lang="en-AE"/>
          </a:p>
        </p:txBody>
      </p:sp>
    </p:spTree>
    <p:extLst>
      <p:ext uri="{BB962C8B-B14F-4D97-AF65-F5344CB8AC3E}">
        <p14:creationId xmlns:p14="http://schemas.microsoft.com/office/powerpoint/2010/main" val="5008924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 Slide Option#4 with Infographic">
    <p:bg>
      <p:bgPr>
        <a:solidFill>
          <a:schemeClr val="bg2"/>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3C46900-ACA7-B546-8A78-DFF39C7FE4BE}"/>
              </a:ext>
            </a:extLst>
          </p:cNvPr>
          <p:cNvSpPr>
            <a:spLocks noGrp="1"/>
          </p:cNvSpPr>
          <p:nvPr>
            <p:ph type="title" hasCustomPrompt="1"/>
          </p:nvPr>
        </p:nvSpPr>
        <p:spPr>
          <a:xfrm>
            <a:off x="704800" y="1207004"/>
            <a:ext cx="9770717" cy="597928"/>
          </a:xfrm>
        </p:spPr>
        <p:txBody>
          <a:bodyPr anchor="t">
            <a:normAutofit/>
          </a:bodyPr>
          <a:lstStyle>
            <a:lvl1pPr>
              <a:defRPr sz="3000">
                <a:solidFill>
                  <a:schemeClr val="tx1"/>
                </a:solidFill>
              </a:defRPr>
            </a:lvl1pPr>
          </a:lstStyle>
          <a:p>
            <a:r>
              <a:rPr lang="en-US"/>
              <a:t>Click to Add Icons/Infographics Title</a:t>
            </a:r>
          </a:p>
        </p:txBody>
      </p:sp>
      <p:pic>
        <p:nvPicPr>
          <p:cNvPr id="10" name="Graphic 9">
            <a:extLst>
              <a:ext uri="{FF2B5EF4-FFF2-40B4-BE49-F238E27FC236}">
                <a16:creationId xmlns:a16="http://schemas.microsoft.com/office/drawing/2014/main" id="{C71104D3-4DE6-8346-AD98-5A101FEABA6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rot="16200000" flipH="1">
            <a:off x="11501786" y="73025"/>
            <a:ext cx="406400" cy="260350"/>
          </a:xfrm>
          <a:prstGeom prst="rect">
            <a:avLst/>
          </a:prstGeom>
        </p:spPr>
      </p:pic>
      <p:sp>
        <p:nvSpPr>
          <p:cNvPr id="11" name="Slide Number Placeholder 6">
            <a:extLst>
              <a:ext uri="{FF2B5EF4-FFF2-40B4-BE49-F238E27FC236}">
                <a16:creationId xmlns:a16="http://schemas.microsoft.com/office/drawing/2014/main" id="{7957831C-872D-CF44-8DFE-BC74ADA53052}"/>
              </a:ext>
            </a:extLst>
          </p:cNvPr>
          <p:cNvSpPr>
            <a:spLocks noGrp="1"/>
          </p:cNvSpPr>
          <p:nvPr>
            <p:ph type="sldNum" sz="quarter" idx="12"/>
          </p:nvPr>
        </p:nvSpPr>
        <p:spPr>
          <a:xfrm>
            <a:off x="11297792" y="406400"/>
            <a:ext cx="814388" cy="365125"/>
          </a:xfrm>
          <a:noFill/>
        </p:spPr>
        <p:txBody>
          <a:bodyPr/>
          <a:lstStyle>
            <a:lvl1pPr algn="ctr">
              <a:defRPr sz="1600">
                <a:solidFill>
                  <a:schemeClr val="bg1"/>
                </a:solidFill>
              </a:defRPr>
            </a:lvl1pPr>
          </a:lstStyle>
          <a:p>
            <a:fld id="{A91C39B3-71BA-C04A-8F90-02179B3D98C0}" type="slidenum">
              <a:rPr lang="en-US" smtClean="0"/>
              <a:pPr/>
              <a:t>‹#›</a:t>
            </a:fld>
            <a:endParaRPr lang="en-US"/>
          </a:p>
        </p:txBody>
      </p:sp>
      <p:pic>
        <p:nvPicPr>
          <p:cNvPr id="12" name="Picture 5">
            <a:extLst>
              <a:ext uri="{FF2B5EF4-FFF2-40B4-BE49-F238E27FC236}">
                <a16:creationId xmlns:a16="http://schemas.microsoft.com/office/drawing/2014/main" id="{810453EF-472B-6940-A88C-A88100363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9982275" y="5759451"/>
            <a:ext cx="2209725" cy="1098549"/>
          </a:xfrm>
          <a:prstGeom prst="rect">
            <a:avLst/>
          </a:prstGeom>
        </p:spPr>
      </p:pic>
      <p:pic>
        <p:nvPicPr>
          <p:cNvPr id="13" name="Graphic 12">
            <a:extLst>
              <a:ext uri="{FF2B5EF4-FFF2-40B4-BE49-F238E27FC236}">
                <a16:creationId xmlns:a16="http://schemas.microsoft.com/office/drawing/2014/main" id="{7051FCF3-192E-C34F-AAE3-E07D038D817C}"/>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11310248" y="6030989"/>
            <a:ext cx="529126" cy="555472"/>
          </a:xfrm>
          <a:prstGeom prst="rect">
            <a:avLst/>
          </a:prstGeom>
        </p:spPr>
      </p:pic>
      <p:sp>
        <p:nvSpPr>
          <p:cNvPr id="8" name="Text Placeholder 2">
            <a:extLst>
              <a:ext uri="{FF2B5EF4-FFF2-40B4-BE49-F238E27FC236}">
                <a16:creationId xmlns:a16="http://schemas.microsoft.com/office/drawing/2014/main" id="{9F5D8C5A-4EF8-D744-8722-B704B694B773}"/>
              </a:ext>
            </a:extLst>
          </p:cNvPr>
          <p:cNvSpPr>
            <a:spLocks noGrp="1"/>
          </p:cNvSpPr>
          <p:nvPr>
            <p:ph type="body" sz="quarter" idx="10" hasCustomPrompt="1"/>
          </p:nvPr>
        </p:nvSpPr>
        <p:spPr>
          <a:xfrm>
            <a:off x="704800" y="1804931"/>
            <a:ext cx="4441187" cy="4423024"/>
          </a:xfrm>
        </p:spPr>
        <p:txBody>
          <a:bodyPr>
            <a:normAutofit/>
          </a:bodyPr>
          <a:lstStyle>
            <a:lvl1pPr marL="0" marR="0" indent="0" algn="l" defTabSz="914400" rtl="0" eaLnBrk="1" fontAlgn="auto" latinLnBrk="0" hangingPunct="1">
              <a:lnSpc>
                <a:spcPct val="95000"/>
              </a:lnSpc>
              <a:spcBef>
                <a:spcPts val="1000"/>
              </a:spcBef>
              <a:spcAft>
                <a:spcPts val="0"/>
              </a:spcAft>
              <a:buClrTx/>
              <a:buSzTx/>
              <a:buFontTx/>
              <a:buNone/>
              <a:tabLst/>
              <a:defRPr lang="en-US" sz="2000" b="0" i="0" smtClean="0">
                <a:effectLst/>
              </a:defRPr>
            </a:lvl1pPr>
            <a:lvl2pPr marL="457200" indent="0" algn="l">
              <a:buFontTx/>
              <a:buNone/>
              <a:defRPr/>
            </a:lvl2pPr>
            <a:lvl3pPr marL="914400" indent="0" algn="l">
              <a:buFontTx/>
              <a:buNone/>
              <a:defRPr/>
            </a:lvl3pPr>
            <a:lvl4pPr marL="1371600" indent="0" algn="l">
              <a:buFontTx/>
              <a:buNone/>
              <a:defRPr/>
            </a:lvl4pPr>
            <a:lvl5pPr marL="1828800" indent="0" algn="l">
              <a:buFontTx/>
              <a:buNone/>
              <a:defRPr/>
            </a:lvl5pPr>
          </a:lstStyle>
          <a:p>
            <a:pPr marL="0" marR="0" lvl="0" indent="0" algn="l" defTabSz="914400" rtl="0" eaLnBrk="1" fontAlgn="auto" latinLnBrk="0" hangingPunct="1">
              <a:lnSpc>
                <a:spcPct val="90000"/>
              </a:lnSpc>
              <a:spcBef>
                <a:spcPts val="1000"/>
              </a:spcBef>
              <a:spcAft>
                <a:spcPts val="0"/>
              </a:spcAft>
              <a:buClrTx/>
              <a:buSzTx/>
              <a:buFontTx/>
              <a:buNone/>
              <a:tabLst/>
              <a:defRPr/>
            </a:pPr>
            <a:r>
              <a:rPr lang="en-AE"/>
              <a:t>Add your </a:t>
            </a:r>
            <a:r>
              <a:rPr lang="en-US"/>
              <a:t>standard icons or infographics. Which are graphic visual representations of information, data, or knowledge intended to present information quickly and clearly. They can improve cognition by utilizing graphics to enhance the human visual system's ability to see patterns and trends.</a:t>
            </a:r>
            <a:endParaRPr lang="en-AE"/>
          </a:p>
        </p:txBody>
      </p:sp>
    </p:spTree>
    <p:extLst>
      <p:ext uri="{BB962C8B-B14F-4D97-AF65-F5344CB8AC3E}">
        <p14:creationId xmlns:p14="http://schemas.microsoft.com/office/powerpoint/2010/main" val="227197488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losing Pag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70C30162-B6ED-7641-A0EB-BA573B76DA6D}"/>
              </a:ext>
            </a:extLst>
          </p:cNvPr>
          <p:cNvSpPr>
            <a:spLocks noGrp="1"/>
          </p:cNvSpPr>
          <p:nvPr>
            <p:ph type="ctrTitle" hasCustomPrompt="1"/>
          </p:nvPr>
        </p:nvSpPr>
        <p:spPr>
          <a:xfrm>
            <a:off x="0" y="3258981"/>
            <a:ext cx="12192000" cy="1006475"/>
          </a:xfrm>
          <a:prstGeom prst="rect">
            <a:avLst/>
          </a:prstGeom>
        </p:spPr>
        <p:txBody>
          <a:bodyPr anchor="ctr" anchorCtr="0">
            <a:noAutofit/>
          </a:bodyPr>
          <a:lstStyle>
            <a:lvl1pPr algn="ctr">
              <a:defRPr sz="7200" b="1">
                <a:solidFill>
                  <a:schemeClr val="bg2"/>
                </a:solidFill>
                <a:latin typeface="Tahoma" panose="020B0604030504040204" pitchFamily="34" charset="0"/>
                <a:ea typeface="Tahoma" panose="020B0604030504040204" pitchFamily="34" charset="0"/>
                <a:cs typeface="Tahoma" panose="020B0604030504040204" pitchFamily="34" charset="0"/>
              </a:defRPr>
            </a:lvl1pPr>
          </a:lstStyle>
          <a:p>
            <a:r>
              <a:rPr lang="en-US"/>
              <a:t>Thank You</a:t>
            </a:r>
          </a:p>
        </p:txBody>
      </p:sp>
      <p:pic>
        <p:nvPicPr>
          <p:cNvPr id="14" name="Graphic 13">
            <a:extLst>
              <a:ext uri="{FF2B5EF4-FFF2-40B4-BE49-F238E27FC236}">
                <a16:creationId xmlns:a16="http://schemas.microsoft.com/office/drawing/2014/main" id="{C698337F-7DD8-7B42-AE9F-1C15A834B6E1}"/>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32578" y="1380677"/>
            <a:ext cx="4126844" cy="949829"/>
          </a:xfrm>
          <a:prstGeom prst="rect">
            <a:avLst/>
          </a:prstGeom>
        </p:spPr>
      </p:pic>
      <p:grpSp>
        <p:nvGrpSpPr>
          <p:cNvPr id="3" name="Group 2">
            <a:extLst>
              <a:ext uri="{FF2B5EF4-FFF2-40B4-BE49-F238E27FC236}">
                <a16:creationId xmlns:a16="http://schemas.microsoft.com/office/drawing/2014/main" id="{A15B8D55-1D7F-D740-8AB9-DB23116BE410}"/>
              </a:ext>
            </a:extLst>
          </p:cNvPr>
          <p:cNvGrpSpPr/>
          <p:nvPr userDrawn="1"/>
        </p:nvGrpSpPr>
        <p:grpSpPr>
          <a:xfrm>
            <a:off x="1963849" y="5952904"/>
            <a:ext cx="8456037" cy="400326"/>
            <a:chOff x="1896939" y="5952904"/>
            <a:chExt cx="8456037" cy="400326"/>
          </a:xfrm>
        </p:grpSpPr>
        <p:sp>
          <p:nvSpPr>
            <p:cNvPr id="10" name="TextBox 9">
              <a:extLst>
                <a:ext uri="{FF2B5EF4-FFF2-40B4-BE49-F238E27FC236}">
                  <a16:creationId xmlns:a16="http://schemas.microsoft.com/office/drawing/2014/main" id="{7B799641-4B53-2B4F-86DB-18C35E61614E}"/>
                </a:ext>
              </a:extLst>
            </p:cNvPr>
            <p:cNvSpPr txBox="1"/>
            <p:nvPr userDrawn="1"/>
          </p:nvSpPr>
          <p:spPr>
            <a:xfrm>
              <a:off x="2188374" y="5964056"/>
              <a:ext cx="2659052" cy="353045"/>
            </a:xfrm>
            <a:prstGeom prst="rect">
              <a:avLst/>
            </a:prstGeom>
            <a:noFill/>
          </p:spPr>
          <p:txBody>
            <a:bodyPr wrap="square" rtlCol="0">
              <a:spAutoFit/>
            </a:bodyPr>
            <a:lstStyle/>
            <a:p>
              <a:pPr lvl="0">
                <a:lnSpc>
                  <a:spcPts val="2300"/>
                </a:lnSpc>
              </a:pPr>
              <a:r>
                <a:rPr lang="en-US" sz="1500" b="1">
                  <a:solidFill>
                    <a:schemeClr val="bg2"/>
                  </a:solidFill>
                  <a:latin typeface="Tahoma" panose="020B0604030504040204" pitchFamily="34" charset="0"/>
                  <a:ea typeface="Tahoma" panose="020B0604030504040204" pitchFamily="34" charset="0"/>
                  <a:cs typeface="Tahoma" panose="020B0604030504040204" pitchFamily="34" charset="0"/>
                </a:rPr>
                <a:t>800 </a:t>
              </a:r>
              <a:r>
                <a:rPr lang="en-US" sz="1500" b="1" err="1">
                  <a:solidFill>
                    <a:schemeClr val="bg2"/>
                  </a:solidFill>
                  <a:latin typeface="Tahoma" panose="020B0604030504040204" pitchFamily="34" charset="0"/>
                  <a:ea typeface="Tahoma" panose="020B0604030504040204" pitchFamily="34" charset="0"/>
                  <a:cs typeface="Tahoma" panose="020B0604030504040204" pitchFamily="34" charset="0"/>
                </a:rPr>
                <a:t>MyHCT</a:t>
              </a:r>
              <a:r>
                <a:rPr lang="en-US" sz="1500" b="1">
                  <a:solidFill>
                    <a:schemeClr val="bg2"/>
                  </a:solidFill>
                  <a:latin typeface="Tahoma" panose="020B0604030504040204" pitchFamily="34" charset="0"/>
                  <a:ea typeface="Tahoma" panose="020B0604030504040204" pitchFamily="34" charset="0"/>
                  <a:cs typeface="Tahoma" panose="020B0604030504040204" pitchFamily="34" charset="0"/>
                </a:rPr>
                <a:t> (800 69428)</a:t>
              </a:r>
            </a:p>
          </p:txBody>
        </p:sp>
        <p:pic>
          <p:nvPicPr>
            <p:cNvPr id="11" name="Graphic 10">
              <a:extLst>
                <a:ext uri="{FF2B5EF4-FFF2-40B4-BE49-F238E27FC236}">
                  <a16:creationId xmlns:a16="http://schemas.microsoft.com/office/drawing/2014/main" id="{2334549F-B791-094D-904B-02DFE9589DAE}"/>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5002299" y="6003908"/>
              <a:ext cx="273124" cy="273124"/>
            </a:xfrm>
            <a:prstGeom prst="rect">
              <a:avLst/>
            </a:prstGeom>
          </p:spPr>
        </p:pic>
        <p:pic>
          <p:nvPicPr>
            <p:cNvPr id="16" name="Graphic 15">
              <a:extLst>
                <a:ext uri="{FF2B5EF4-FFF2-40B4-BE49-F238E27FC236}">
                  <a16:creationId xmlns:a16="http://schemas.microsoft.com/office/drawing/2014/main" id="{B95E0A5D-6B5A-574A-952B-5CCC36F42487}"/>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rcRect/>
            <a:stretch/>
          </p:blipFill>
          <p:spPr>
            <a:xfrm>
              <a:off x="1896939" y="6065869"/>
              <a:ext cx="276096" cy="184064"/>
            </a:xfrm>
            <a:prstGeom prst="rect">
              <a:avLst/>
            </a:prstGeom>
          </p:spPr>
        </p:pic>
        <p:sp>
          <p:nvSpPr>
            <p:cNvPr id="17" name="TextBox 16">
              <a:extLst>
                <a:ext uri="{FF2B5EF4-FFF2-40B4-BE49-F238E27FC236}">
                  <a16:creationId xmlns:a16="http://schemas.microsoft.com/office/drawing/2014/main" id="{B2A00D36-E1AC-D74E-998F-CC798B2ACD8B}"/>
                </a:ext>
              </a:extLst>
            </p:cNvPr>
            <p:cNvSpPr txBox="1"/>
            <p:nvPr userDrawn="1"/>
          </p:nvSpPr>
          <p:spPr>
            <a:xfrm>
              <a:off x="5293734" y="5952904"/>
              <a:ext cx="2659052" cy="353045"/>
            </a:xfrm>
            <a:prstGeom prst="rect">
              <a:avLst/>
            </a:prstGeom>
            <a:noFill/>
          </p:spPr>
          <p:txBody>
            <a:bodyPr wrap="square" rtlCol="0">
              <a:spAutoFit/>
            </a:bodyPr>
            <a:lstStyle/>
            <a:p>
              <a:pPr lvl="0">
                <a:lnSpc>
                  <a:spcPts val="2300"/>
                </a:lnSpc>
              </a:pPr>
              <a:r>
                <a:rPr lang="en-US" sz="1500" b="1" err="1">
                  <a:solidFill>
                    <a:schemeClr val="bg2"/>
                  </a:solidFill>
                  <a:latin typeface="Tahoma" panose="020B0604030504040204" pitchFamily="34" charset="0"/>
                  <a:ea typeface="Tahoma" panose="020B0604030504040204" pitchFamily="34" charset="0"/>
                  <a:cs typeface="Tahoma" panose="020B0604030504040204" pitchFamily="34" charset="0"/>
                </a:rPr>
                <a:t>www.hct.ac.ae</a:t>
              </a:r>
              <a:endParaRPr lang="en-US" sz="1500" b="1">
                <a:solidFill>
                  <a:schemeClr val="bg2"/>
                </a:solidFill>
                <a:latin typeface="Tahoma" panose="020B0604030504040204" pitchFamily="34" charset="0"/>
                <a:ea typeface="Tahoma" panose="020B0604030504040204" pitchFamily="34" charset="0"/>
                <a:cs typeface="Tahoma" panose="020B0604030504040204" pitchFamily="34" charset="0"/>
              </a:endParaRPr>
            </a:p>
          </p:txBody>
        </p:sp>
        <p:pic>
          <p:nvPicPr>
            <p:cNvPr id="13" name="Graphic 12">
              <a:extLst>
                <a:ext uri="{FF2B5EF4-FFF2-40B4-BE49-F238E27FC236}">
                  <a16:creationId xmlns:a16="http://schemas.microsoft.com/office/drawing/2014/main" id="{BCEE45B5-14AA-FB49-B39F-4EEAEEE0834E}"/>
                </a:ext>
              </a:extLst>
            </p:cNvPr>
            <p:cNvPicPr>
              <a:picLocks noChangeAspect="1"/>
            </p:cNvPicPr>
            <p:nvPr userDrawn="1"/>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7191430" y="5976856"/>
              <a:ext cx="3161546" cy="376374"/>
            </a:xfrm>
            <a:prstGeom prst="rect">
              <a:avLst/>
            </a:prstGeom>
          </p:spPr>
        </p:pic>
      </p:grpSp>
    </p:spTree>
    <p:extLst>
      <p:ext uri="{BB962C8B-B14F-4D97-AF65-F5344CB8AC3E}">
        <p14:creationId xmlns:p14="http://schemas.microsoft.com/office/powerpoint/2010/main" val="948808612"/>
      </p:ext>
    </p:extLst>
  </p:cSld>
  <p:clrMapOvr>
    <a:masterClrMapping/>
  </p:clrMapOvr>
  <p:hf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1252A1A-53F2-9E44-9217-EF55FD212434}"/>
              </a:ext>
            </a:extLst>
          </p:cNvPr>
          <p:cNvSpPr>
            <a:spLocks noGrp="1"/>
          </p:cNvSpPr>
          <p:nvPr>
            <p:ph type="title"/>
          </p:nvPr>
        </p:nvSpPr>
        <p:spPr>
          <a:xfrm>
            <a:off x="356840" y="365125"/>
            <a:ext cx="11471616" cy="1190627"/>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BEEBABE-8E1F-FD45-BACB-85DFCD7888BA}"/>
              </a:ext>
            </a:extLst>
          </p:cNvPr>
          <p:cNvSpPr>
            <a:spLocks noGrp="1"/>
          </p:cNvSpPr>
          <p:nvPr>
            <p:ph type="body" idx="1"/>
          </p:nvPr>
        </p:nvSpPr>
        <p:spPr>
          <a:xfrm>
            <a:off x="356839" y="1825625"/>
            <a:ext cx="11471617"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22EEEB-82E9-5B41-A455-E99055A3997A}"/>
              </a:ext>
            </a:extLst>
          </p:cNvPr>
          <p:cNvSpPr>
            <a:spLocks noGrp="1"/>
          </p:cNvSpPr>
          <p:nvPr>
            <p:ph type="dt" sz="half" idx="2"/>
          </p:nvPr>
        </p:nvSpPr>
        <p:spPr>
          <a:xfrm>
            <a:off x="1430790" y="6356350"/>
            <a:ext cx="1633538" cy="365125"/>
          </a:xfrm>
          <a:prstGeom prst="rect">
            <a:avLst/>
          </a:prstGeom>
        </p:spPr>
        <p:txBody>
          <a:bodyPr vert="horz" lIns="91440" tIns="45720" rIns="91440" bIns="45720" rtlCol="0" anchor="ctr"/>
          <a:lstStyle>
            <a:lvl1pPr algn="l">
              <a:defRPr sz="1200" b="0" i="0">
                <a:solidFill>
                  <a:schemeClr val="tx2"/>
                </a:solidFill>
                <a:latin typeface="Tahoma" panose="020B0604030504040204" pitchFamily="34" charset="0"/>
                <a:ea typeface="Tahoma" panose="020B0604030504040204" pitchFamily="34" charset="0"/>
                <a:cs typeface="Tahoma" panose="020B0604030504040204" pitchFamily="34" charset="0"/>
              </a:defRPr>
            </a:lvl1pPr>
          </a:lstStyle>
          <a:p>
            <a:fld id="{4FFDA522-F4CE-F942-9609-C40C1E1F3554}" type="datetime1">
              <a:rPr lang="en-US" smtClean="0"/>
              <a:t>7/8/2026</a:t>
            </a:fld>
            <a:endParaRPr lang="en-US"/>
          </a:p>
        </p:txBody>
      </p:sp>
      <p:sp>
        <p:nvSpPr>
          <p:cNvPr id="5" name="Footer Placeholder 4">
            <a:extLst>
              <a:ext uri="{FF2B5EF4-FFF2-40B4-BE49-F238E27FC236}">
                <a16:creationId xmlns:a16="http://schemas.microsoft.com/office/drawing/2014/main" id="{CEF76DFF-6753-9D4F-95EE-BAA691F44C16}"/>
              </a:ext>
            </a:extLst>
          </p:cNvPr>
          <p:cNvSpPr>
            <a:spLocks noGrp="1"/>
          </p:cNvSpPr>
          <p:nvPr>
            <p:ph type="ftr" sz="quarter" idx="3"/>
          </p:nvPr>
        </p:nvSpPr>
        <p:spPr>
          <a:xfrm>
            <a:off x="3319119" y="6356350"/>
            <a:ext cx="5148000" cy="365125"/>
          </a:xfrm>
          <a:prstGeom prst="rect">
            <a:avLst/>
          </a:prstGeom>
        </p:spPr>
        <p:txBody>
          <a:bodyPr vert="horz" lIns="91440" tIns="45720" rIns="91440" bIns="45720" rtlCol="0" anchor="ctr"/>
          <a:lstStyle>
            <a:lvl1pPr algn="l">
              <a:defRPr sz="1200" b="0" i="0">
                <a:solidFill>
                  <a:schemeClr val="tx2"/>
                </a:solidFill>
                <a:latin typeface="Tahoma" panose="020B0604030504040204" pitchFamily="34" charset="0"/>
                <a:ea typeface="Tahoma" panose="020B0604030504040204" pitchFamily="34" charset="0"/>
                <a:cs typeface="Tahoma" panose="020B0604030504040204" pitchFamily="34" charset="0"/>
              </a:defRPr>
            </a:lvl1pPr>
          </a:lstStyle>
          <a:p>
            <a:r>
              <a:rPr lang="en-US"/>
              <a:t>Footer goes here</a:t>
            </a:r>
          </a:p>
        </p:txBody>
      </p:sp>
      <p:sp>
        <p:nvSpPr>
          <p:cNvPr id="6" name="Slide Number Placeholder 5">
            <a:extLst>
              <a:ext uri="{FF2B5EF4-FFF2-40B4-BE49-F238E27FC236}">
                <a16:creationId xmlns:a16="http://schemas.microsoft.com/office/drawing/2014/main" id="{86E950D9-1D75-D24F-9D65-E9F8AAA0ADE9}"/>
              </a:ext>
            </a:extLst>
          </p:cNvPr>
          <p:cNvSpPr>
            <a:spLocks noGrp="1"/>
          </p:cNvSpPr>
          <p:nvPr>
            <p:ph type="sldNum" sz="quarter" idx="4"/>
          </p:nvPr>
        </p:nvSpPr>
        <p:spPr>
          <a:xfrm>
            <a:off x="356839" y="6356350"/>
            <a:ext cx="814388" cy="365125"/>
          </a:xfrm>
          <a:prstGeom prst="rect">
            <a:avLst/>
          </a:prstGeom>
        </p:spPr>
        <p:txBody>
          <a:bodyPr vert="horz" lIns="91440" tIns="45720" rIns="91440" bIns="45720" rtlCol="0" anchor="ctr"/>
          <a:lstStyle>
            <a:lvl1pPr algn="l">
              <a:defRPr sz="1200" b="0" i="0">
                <a:solidFill>
                  <a:schemeClr val="tx2"/>
                </a:solidFill>
                <a:latin typeface="Tahoma" panose="020B0604030504040204" pitchFamily="34" charset="0"/>
                <a:ea typeface="Tahoma" panose="020B0604030504040204" pitchFamily="34" charset="0"/>
                <a:cs typeface="Tahoma" panose="020B0604030504040204" pitchFamily="34" charset="0"/>
              </a:defRPr>
            </a:lvl1pPr>
          </a:lstStyle>
          <a:p>
            <a:fld id="{A91C39B3-71BA-C04A-8F90-02179B3D98C0}" type="slidenum">
              <a:rPr lang="en-US" smtClean="0"/>
              <a:pPr/>
              <a:t>‹#›</a:t>
            </a:fld>
            <a:endParaRPr lang="en-US"/>
          </a:p>
        </p:txBody>
      </p:sp>
      <p:pic>
        <p:nvPicPr>
          <p:cNvPr id="8" name="Picture 7">
            <a:extLst>
              <a:ext uri="{FF2B5EF4-FFF2-40B4-BE49-F238E27FC236}">
                <a16:creationId xmlns:a16="http://schemas.microsoft.com/office/drawing/2014/main" id="{7FAA968D-3E7E-6787-F0E5-FD50B7DD0955}"/>
              </a:ext>
            </a:extLst>
          </p:cNvPr>
          <p:cNvPicPr>
            <a:picLocks noChangeAspect="1"/>
          </p:cNvPicPr>
          <p:nvPr userDrawn="1"/>
        </p:nvPicPr>
        <p:blipFill>
          <a:blip r:embed="rId11"/>
          <a:stretch>
            <a:fillRect/>
          </a:stretch>
        </p:blipFill>
        <p:spPr>
          <a:xfrm>
            <a:off x="-1884218" y="-104461"/>
            <a:ext cx="1810327" cy="3036593"/>
          </a:xfrm>
          <a:prstGeom prst="rect">
            <a:avLst/>
          </a:prstGeom>
        </p:spPr>
      </p:pic>
    </p:spTree>
    <p:extLst>
      <p:ext uri="{BB962C8B-B14F-4D97-AF65-F5344CB8AC3E}">
        <p14:creationId xmlns:p14="http://schemas.microsoft.com/office/powerpoint/2010/main" val="2467174432"/>
      </p:ext>
    </p:extLst>
  </p:cSld>
  <p:clrMap bg1="lt1" tx1="dk1" bg2="lt2" tx2="dk2" accent1="accent1" accent2="accent2" accent3="accent3" accent4="accent4" accent5="accent5" accent6="accent6" hlink="hlink" folHlink="folHlink"/>
  <p:sldLayoutIdLst>
    <p:sldLayoutId id="2147483664" r:id="rId1"/>
    <p:sldLayoutId id="2147483665" r:id="rId2"/>
    <p:sldLayoutId id="2147483666" r:id="rId3"/>
    <p:sldLayoutId id="2147483667" r:id="rId4"/>
    <p:sldLayoutId id="2147483668" r:id="rId5"/>
    <p:sldLayoutId id="2147483669" r:id="rId6"/>
    <p:sldLayoutId id="2147483670" r:id="rId7"/>
    <p:sldLayoutId id="2147483671" r:id="rId8"/>
    <p:sldLayoutId id="2147483672" r:id="rId9"/>
  </p:sldLayoutIdLst>
  <p:hf hdr="0"/>
  <p:txStyles>
    <p:titleStyle>
      <a:lvl1pPr algn="l" defTabSz="914400" rtl="0" eaLnBrk="1" latinLnBrk="0" hangingPunct="1">
        <a:lnSpc>
          <a:spcPct val="90000"/>
        </a:lnSpc>
        <a:spcBef>
          <a:spcPct val="0"/>
        </a:spcBef>
        <a:buNone/>
        <a:defRPr sz="4400" b="1" kern="1200">
          <a:solidFill>
            <a:schemeClr val="tx2"/>
          </a:solidFill>
          <a:latin typeface="Tahoma" panose="020B0604030504040204" pitchFamily="34" charset="0"/>
          <a:ea typeface="Tahoma" panose="020B0604030504040204" pitchFamily="34" charset="0"/>
          <a:cs typeface="Tahoma" panose="020B060403050404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chart" Target="../charts/chart2.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chart" Target="../charts/chart4.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chart" Target="../charts/chart6.xml"/><Relationship Id="rId1" Type="http://schemas.openxmlformats.org/officeDocument/2006/relationships/slideLayout" Target="../slideLayouts/slideLayout6.xml"/><Relationship Id="rId4" Type="http://schemas.openxmlformats.org/officeDocument/2006/relationships/chart" Target="../charts/chart8.xml"/></Relationships>
</file>

<file path=ppt/slides/_rels/slide8.xml.rels><?xml version="1.0" encoding="UTF-8" standalone="yes"?>
<Relationships xmlns="http://schemas.openxmlformats.org/package/2006/relationships"><Relationship Id="rId3" Type="http://schemas.openxmlformats.org/officeDocument/2006/relationships/chart" Target="../charts/chart9.xml"/><Relationship Id="rId2" Type="http://schemas.openxmlformats.org/officeDocument/2006/relationships/slideLayout" Target="../slideLayouts/slideLayout6.xml"/><Relationship Id="rId1" Type="http://schemas.openxmlformats.org/officeDocument/2006/relationships/themeOverride" Target="../theme/themeOverride2.xml"/></Relationships>
</file>

<file path=ppt/slides/_rels/slide9.xml.rels><?xml version="1.0" encoding="UTF-8" standalone="yes"?>
<Relationships xmlns="http://schemas.openxmlformats.org/package/2006/relationships"><Relationship Id="rId3" Type="http://schemas.openxmlformats.org/officeDocument/2006/relationships/chart" Target="../charts/chart11.xml"/><Relationship Id="rId2" Type="http://schemas.openxmlformats.org/officeDocument/2006/relationships/chart" Target="../charts/chart10.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chart" Target="../charts/chart13.xml"/><Relationship Id="rId2" Type="http://schemas.openxmlformats.org/officeDocument/2006/relationships/chart" Target="../charts/chart12.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chart" Target="../charts/chart15.xml"/><Relationship Id="rId2" Type="http://schemas.openxmlformats.org/officeDocument/2006/relationships/chart" Target="../charts/chart14.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chart" Target="../charts/chart17.xml"/><Relationship Id="rId2" Type="http://schemas.openxmlformats.org/officeDocument/2006/relationships/chart" Target="../charts/chart16.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8BD85ED-066A-F1BC-38E5-F4C8C64E1178}"/>
              </a:ext>
            </a:extLst>
          </p:cNvPr>
          <p:cNvSpPr>
            <a:spLocks noGrp="1"/>
          </p:cNvSpPr>
          <p:nvPr>
            <p:ph type="dt" sz="half" idx="10"/>
          </p:nvPr>
        </p:nvSpPr>
        <p:spPr/>
        <p:txBody>
          <a:bodyPr/>
          <a:lstStyle/>
          <a:p>
            <a:r>
              <a:rPr lang="en-US" dirty="0"/>
              <a:t>Date: XXXX</a:t>
            </a:r>
            <a:endParaRPr lang="en-AE" dirty="0"/>
          </a:p>
        </p:txBody>
      </p:sp>
      <p:sp>
        <p:nvSpPr>
          <p:cNvPr id="3" name="Subtitle 2">
            <a:extLst>
              <a:ext uri="{FF2B5EF4-FFF2-40B4-BE49-F238E27FC236}">
                <a16:creationId xmlns:a16="http://schemas.microsoft.com/office/drawing/2014/main" id="{03E5333C-65B7-CE2E-504F-859AF9D7ED07}"/>
              </a:ext>
            </a:extLst>
          </p:cNvPr>
          <p:cNvSpPr>
            <a:spLocks noGrp="1"/>
          </p:cNvSpPr>
          <p:nvPr>
            <p:ph type="subTitle" idx="1"/>
          </p:nvPr>
        </p:nvSpPr>
        <p:spPr/>
        <p:txBody>
          <a:bodyPr/>
          <a:lstStyle/>
          <a:p>
            <a:r>
              <a:rPr lang="en-US" dirty="0"/>
              <a:t>XXXX</a:t>
            </a:r>
          </a:p>
        </p:txBody>
      </p:sp>
      <p:sp>
        <p:nvSpPr>
          <p:cNvPr id="4" name="Title 3">
            <a:extLst>
              <a:ext uri="{FF2B5EF4-FFF2-40B4-BE49-F238E27FC236}">
                <a16:creationId xmlns:a16="http://schemas.microsoft.com/office/drawing/2014/main" id="{9AC55BC0-EFDB-4FAE-63AF-800DC4706298}"/>
              </a:ext>
            </a:extLst>
          </p:cNvPr>
          <p:cNvSpPr>
            <a:spLocks noGrp="1"/>
          </p:cNvSpPr>
          <p:nvPr>
            <p:ph type="title"/>
          </p:nvPr>
        </p:nvSpPr>
        <p:spPr>
          <a:xfrm>
            <a:off x="955674" y="2786385"/>
            <a:ext cx="9915525" cy="818751"/>
          </a:xfrm>
        </p:spPr>
        <p:txBody>
          <a:bodyPr>
            <a:normAutofit fontScale="90000"/>
          </a:bodyPr>
          <a:lstStyle/>
          <a:p>
            <a:r>
              <a:rPr lang="en-US" dirty="0"/>
              <a:t>EHS Committee Meeting June 2026</a:t>
            </a:r>
          </a:p>
        </p:txBody>
      </p:sp>
    </p:spTree>
    <p:extLst>
      <p:ext uri="{BB962C8B-B14F-4D97-AF65-F5344CB8AC3E}">
        <p14:creationId xmlns:p14="http://schemas.microsoft.com/office/powerpoint/2010/main" val="257413299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9E0101-3D17-4E82-41CA-EF4FE7E88453}"/>
            </a:ext>
          </a:extLst>
        </p:cNvPr>
        <p:cNvGrpSpPr/>
        <p:nvPr/>
      </p:nvGrpSpPr>
      <p:grpSpPr>
        <a:xfrm>
          <a:off x="0" y="0"/>
          <a:ext cx="0" cy="0"/>
          <a:chOff x="0" y="0"/>
          <a:chExt cx="0" cy="0"/>
        </a:xfrm>
      </p:grpSpPr>
      <p:sp>
        <p:nvSpPr>
          <p:cNvPr id="24" name="Title 1">
            <a:extLst>
              <a:ext uri="{FF2B5EF4-FFF2-40B4-BE49-F238E27FC236}">
                <a16:creationId xmlns:a16="http://schemas.microsoft.com/office/drawing/2014/main" id="{88FF79D9-1B51-6633-5EF3-455E1F0B669D}"/>
              </a:ext>
            </a:extLst>
          </p:cNvPr>
          <p:cNvSpPr txBox="1">
            <a:spLocks/>
          </p:cNvSpPr>
          <p:nvPr/>
        </p:nvSpPr>
        <p:spPr>
          <a:xfrm>
            <a:off x="680720" y="0"/>
            <a:ext cx="10150301" cy="557061"/>
          </a:xfrm>
          <a:prstGeom prst="rect">
            <a:avLst/>
          </a:prstGeom>
        </p:spPr>
        <p:txBody>
          <a:bodyPr vert="horz" lIns="91440" tIns="45720" rIns="91440" bIns="45720" rtlCol="0" anchor="ctr" anchorCtr="0">
            <a:normAutofit/>
          </a:bodyPr>
          <a:lstStyle>
            <a:lvl1pPr algn="l" defTabSz="914400" rtl="0" eaLnBrk="1" latinLnBrk="0" hangingPunct="1">
              <a:lnSpc>
                <a:spcPct val="90000"/>
              </a:lnSpc>
              <a:spcBef>
                <a:spcPct val="0"/>
              </a:spcBef>
              <a:buNone/>
              <a:defRPr sz="4500" b="1" kern="1200">
                <a:solidFill>
                  <a:srgbClr val="00249C"/>
                </a:solidFill>
                <a:latin typeface="Tahoma" panose="020B0604030504040204" pitchFamily="34" charset="0"/>
                <a:ea typeface="Tahoma" panose="020B0604030504040204" pitchFamily="34" charset="0"/>
                <a:cs typeface="Tahoma" panose="020B0604030504040204" pitchFamily="34" charset="0"/>
              </a:defRPr>
            </a:lvl1pPr>
          </a:lstStyle>
          <a:p>
            <a:r>
              <a:rPr lang="en-US" sz="3000" dirty="0"/>
              <a:t>Agenda</a:t>
            </a:r>
          </a:p>
        </p:txBody>
      </p:sp>
      <p:sp>
        <p:nvSpPr>
          <p:cNvPr id="62" name="TextBox 61">
            <a:extLst>
              <a:ext uri="{FF2B5EF4-FFF2-40B4-BE49-F238E27FC236}">
                <a16:creationId xmlns:a16="http://schemas.microsoft.com/office/drawing/2014/main" id="{4E471528-9CBB-6568-41E6-D2AF7AA2740A}"/>
              </a:ext>
            </a:extLst>
          </p:cNvPr>
          <p:cNvSpPr txBox="1"/>
          <p:nvPr/>
        </p:nvSpPr>
        <p:spPr>
          <a:xfrm>
            <a:off x="538480" y="557061"/>
            <a:ext cx="11379199" cy="5632311"/>
          </a:xfrm>
          <a:prstGeom prst="rect">
            <a:avLst/>
          </a:prstGeom>
          <a:noFill/>
        </p:spPr>
        <p:txBody>
          <a:bodyPr wrap="square" rtlCol="0">
            <a:spAutoFit/>
          </a:bodyPr>
          <a:lstStyle/>
          <a:p>
            <a:pPr marL="342900" indent="-342900">
              <a:lnSpc>
                <a:spcPct val="150000"/>
              </a:lnSpc>
              <a:buFont typeface="+mj-lt"/>
              <a:buAutoNum type="arabicPeriod"/>
            </a:pPr>
            <a:r>
              <a:rPr lang="en-US" dirty="0"/>
              <a:t>Welcome, apologies</a:t>
            </a:r>
          </a:p>
          <a:p>
            <a:pPr marL="342900" indent="-342900">
              <a:lnSpc>
                <a:spcPct val="150000"/>
              </a:lnSpc>
              <a:buFont typeface="+mj-lt"/>
              <a:buAutoNum type="arabicPeriod"/>
            </a:pPr>
            <a:r>
              <a:rPr lang="en-US" dirty="0"/>
              <a:t>EHS KPI dashboard</a:t>
            </a:r>
          </a:p>
          <a:p>
            <a:pPr marL="342900" indent="-342900">
              <a:lnSpc>
                <a:spcPct val="150000"/>
              </a:lnSpc>
              <a:buFont typeface="+mj-lt"/>
              <a:buAutoNum type="arabicPeriod"/>
            </a:pPr>
            <a:r>
              <a:rPr lang="en-US" dirty="0"/>
              <a:t>Summary of decisions and actions</a:t>
            </a:r>
          </a:p>
          <a:p>
            <a:pPr marL="342900" indent="-342900">
              <a:lnSpc>
                <a:spcPct val="150000"/>
              </a:lnSpc>
              <a:buFont typeface="+mj-lt"/>
              <a:buAutoNum type="arabicPeriod"/>
            </a:pPr>
            <a:r>
              <a:rPr lang="en-US" dirty="0"/>
              <a:t>Incident and near miss review</a:t>
            </a:r>
          </a:p>
          <a:p>
            <a:pPr marL="342900" indent="-342900">
              <a:lnSpc>
                <a:spcPct val="150000"/>
              </a:lnSpc>
              <a:buFont typeface="+mj-lt"/>
              <a:buAutoNum type="arabicPeriod"/>
            </a:pPr>
            <a:r>
              <a:rPr lang="en-US" dirty="0"/>
              <a:t>Risk assessments and rectification plans</a:t>
            </a:r>
          </a:p>
          <a:p>
            <a:pPr marL="342900" indent="-342900">
              <a:lnSpc>
                <a:spcPct val="150000"/>
              </a:lnSpc>
              <a:buFont typeface="+mj-lt"/>
              <a:buAutoNum type="arabicPeriod"/>
            </a:pPr>
            <a:r>
              <a:rPr lang="en-US" dirty="0"/>
              <a:t>Audit updates (internal/external/regulatory)</a:t>
            </a:r>
          </a:p>
          <a:p>
            <a:pPr marL="342900" indent="-342900">
              <a:lnSpc>
                <a:spcPct val="150000"/>
              </a:lnSpc>
              <a:buFont typeface="+mj-lt"/>
              <a:buAutoNum type="arabicPeriod"/>
            </a:pPr>
            <a:r>
              <a:rPr lang="en-US" dirty="0"/>
              <a:t>Inspection findings and CAPA status</a:t>
            </a:r>
          </a:p>
          <a:p>
            <a:pPr marL="342900" indent="-342900">
              <a:lnSpc>
                <a:spcPct val="150000"/>
              </a:lnSpc>
              <a:buFont typeface="+mj-lt"/>
              <a:buAutoNum type="arabicPeriod"/>
            </a:pPr>
            <a:r>
              <a:rPr lang="en-US" dirty="0"/>
              <a:t>Training, competency and awareness and feedback</a:t>
            </a:r>
          </a:p>
          <a:p>
            <a:pPr marL="342900" indent="-342900">
              <a:lnSpc>
                <a:spcPct val="150000"/>
              </a:lnSpc>
              <a:buFont typeface="+mj-lt"/>
              <a:buAutoNum type="arabicPeriod"/>
            </a:pPr>
            <a:r>
              <a:rPr lang="en-US" dirty="0"/>
              <a:t>Emergency preparedness and drills</a:t>
            </a:r>
          </a:p>
          <a:p>
            <a:pPr marL="342900" indent="-342900">
              <a:lnSpc>
                <a:spcPct val="150000"/>
              </a:lnSpc>
              <a:buFont typeface="+mj-lt"/>
              <a:buAutoNum type="arabicPeriod"/>
            </a:pPr>
            <a:r>
              <a:rPr lang="en-US" dirty="0"/>
              <a:t>Environmental/waste management performance</a:t>
            </a:r>
          </a:p>
          <a:p>
            <a:pPr marL="342900" indent="-342900">
              <a:lnSpc>
                <a:spcPct val="150000"/>
              </a:lnSpc>
              <a:buFont typeface="+mj-lt"/>
              <a:buAutoNum type="arabicPeriod"/>
            </a:pPr>
            <a:r>
              <a:rPr lang="en-US" dirty="0"/>
              <a:t>Review, update and approval of previous minutes</a:t>
            </a:r>
          </a:p>
          <a:p>
            <a:pPr marL="342900" indent="-342900">
              <a:lnSpc>
                <a:spcPct val="150000"/>
              </a:lnSpc>
              <a:buFont typeface="+mj-lt"/>
              <a:buAutoNum type="arabicPeriod"/>
            </a:pPr>
            <a:r>
              <a:rPr lang="en-US" dirty="0"/>
              <a:t>Legal/compliance updates</a:t>
            </a:r>
          </a:p>
          <a:p>
            <a:pPr marL="342900" indent="-342900">
              <a:buFont typeface="+mj-lt"/>
              <a:buAutoNum type="arabicPeriod"/>
            </a:pPr>
            <a:r>
              <a:rPr lang="en-US"/>
              <a:t>Next </a:t>
            </a:r>
            <a:r>
              <a:rPr lang="en-US" dirty="0"/>
              <a:t>meeting (Proposed date/time and venue)</a:t>
            </a:r>
            <a:endParaRPr lang="en-US" sz="2000" dirty="0">
              <a:latin typeface="Tahoma" panose="020B0604030504040204" pitchFamily="34" charset="0"/>
              <a:ea typeface="Tahoma" panose="020B0604030504040204" pitchFamily="34" charset="0"/>
              <a:cs typeface="Tahoma" panose="020B0604030504040204" pitchFamily="34" charset="0"/>
            </a:endParaRPr>
          </a:p>
          <a:p>
            <a:endParaRPr lang="en-US" dirty="0">
              <a:latin typeface="Tahoma" panose="020B0604030504040204" pitchFamily="34" charset="0"/>
              <a:ea typeface="Tahoma" panose="020B0604030504040204" pitchFamily="34" charset="0"/>
              <a:cs typeface="Tahoma" panose="020B0604030504040204" pitchFamily="34" charset="0"/>
            </a:endParaRPr>
          </a:p>
        </p:txBody>
      </p:sp>
    </p:spTree>
    <p:extLst>
      <p:ext uri="{BB962C8B-B14F-4D97-AF65-F5344CB8AC3E}">
        <p14:creationId xmlns:p14="http://schemas.microsoft.com/office/powerpoint/2010/main" val="20576608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E27DCC-5E00-0635-43F5-6B252E573325}"/>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A37879D8-A518-75F7-338E-597F2C4C7D25}"/>
              </a:ext>
            </a:extLst>
          </p:cNvPr>
          <p:cNvSpPr txBox="1">
            <a:spLocks/>
          </p:cNvSpPr>
          <p:nvPr/>
        </p:nvSpPr>
        <p:spPr>
          <a:xfrm>
            <a:off x="731785" y="223762"/>
            <a:ext cx="10150301" cy="986177"/>
          </a:xfrm>
          <a:prstGeom prst="rect">
            <a:avLst/>
          </a:prstGeom>
        </p:spPr>
        <p:txBody>
          <a:bodyPr vert="horz" lIns="91440" tIns="45720" rIns="91440" bIns="45720" rtlCol="0" anchor="ctr" anchorCtr="0">
            <a:normAutofit fontScale="92500" lnSpcReduction="20000"/>
          </a:bodyPr>
          <a:lstStyle>
            <a:lvl1pPr algn="l" defTabSz="914400" rtl="0" eaLnBrk="1" latinLnBrk="0" hangingPunct="1">
              <a:lnSpc>
                <a:spcPct val="90000"/>
              </a:lnSpc>
              <a:spcBef>
                <a:spcPct val="0"/>
              </a:spcBef>
              <a:buNone/>
              <a:defRPr sz="4500" b="1" kern="1200">
                <a:solidFill>
                  <a:srgbClr val="00249C"/>
                </a:solidFill>
                <a:latin typeface="Tahoma" panose="020B0604030504040204" pitchFamily="34" charset="0"/>
                <a:ea typeface="Tahoma" panose="020B0604030504040204" pitchFamily="34" charset="0"/>
                <a:cs typeface="Tahoma" panose="020B0604030504040204" pitchFamily="34" charset="0"/>
              </a:defRPr>
            </a:lvl1pPr>
          </a:lstStyle>
          <a:p>
            <a:r>
              <a:rPr lang="en-US" sz="3000" dirty="0"/>
              <a:t>2. </a:t>
            </a:r>
            <a:r>
              <a:rPr lang="en-US" sz="3200" dirty="0"/>
              <a:t>EHS KPI Dashboard</a:t>
            </a:r>
          </a:p>
          <a:p>
            <a:endParaRPr lang="en-US" sz="3000" dirty="0"/>
          </a:p>
          <a:p>
            <a:r>
              <a:rPr lang="en-US" sz="2400" b="0" dirty="0"/>
              <a:t>Campus KPI Scoring Breakdown</a:t>
            </a:r>
          </a:p>
        </p:txBody>
      </p:sp>
      <p:graphicFrame>
        <p:nvGraphicFramePr>
          <p:cNvPr id="13" name="Chart 12">
            <a:extLst>
              <a:ext uri="{FF2B5EF4-FFF2-40B4-BE49-F238E27FC236}">
                <a16:creationId xmlns:a16="http://schemas.microsoft.com/office/drawing/2014/main" id="{270BB58F-3E87-E938-A921-3DDE6303E9EA}"/>
              </a:ext>
            </a:extLst>
          </p:cNvPr>
          <p:cNvGraphicFramePr>
            <a:graphicFrameLocks/>
          </p:cNvGraphicFramePr>
          <p:nvPr/>
        </p:nvGraphicFramePr>
        <p:xfrm>
          <a:off x="1852646" y="1209939"/>
          <a:ext cx="8486707" cy="5536301"/>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4278065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952324-451F-D0B8-57F6-026148947624}"/>
            </a:ext>
          </a:extLst>
        </p:cNvPr>
        <p:cNvGrpSpPr/>
        <p:nvPr/>
      </p:nvGrpSpPr>
      <p:grpSpPr>
        <a:xfrm>
          <a:off x="0" y="0"/>
          <a:ext cx="0" cy="0"/>
          <a:chOff x="0" y="0"/>
          <a:chExt cx="0" cy="0"/>
        </a:xfrm>
      </p:grpSpPr>
      <p:sp>
        <p:nvSpPr>
          <p:cNvPr id="5" name="Text 11">
            <a:extLst>
              <a:ext uri="{FF2B5EF4-FFF2-40B4-BE49-F238E27FC236}">
                <a16:creationId xmlns:a16="http://schemas.microsoft.com/office/drawing/2014/main" id="{3F55F258-627E-C342-6D0B-0A85728E5409}"/>
              </a:ext>
            </a:extLst>
          </p:cNvPr>
          <p:cNvSpPr/>
          <p:nvPr/>
        </p:nvSpPr>
        <p:spPr>
          <a:xfrm>
            <a:off x="998202" y="2020357"/>
            <a:ext cx="2938864" cy="640080"/>
          </a:xfrm>
          <a:prstGeom prst="rect">
            <a:avLst/>
          </a:prstGeom>
          <a:solidFill>
            <a:srgbClr val="00249C"/>
          </a:solidFill>
          <a:ln>
            <a:solidFill>
              <a:srgbClr val="00249C"/>
            </a:solidFill>
          </a:ln>
        </p:spPr>
        <p:style>
          <a:lnRef idx="2">
            <a:schemeClr val="accent1"/>
          </a:lnRef>
          <a:fillRef idx="1">
            <a:schemeClr val="lt1"/>
          </a:fillRef>
          <a:effectRef idx="0">
            <a:schemeClr val="accent1"/>
          </a:effectRef>
          <a:fontRef idx="minor">
            <a:schemeClr val="dk1"/>
          </a:fontRef>
        </p:style>
        <p:txBody>
          <a:bodyPr wrap="square" lIns="0" tIns="0" rIns="0" bIns="0" rtlCol="0" anchor="ctr"/>
          <a:lstStyle/>
          <a:p>
            <a:pPr marL="0" indent="0" algn="ctr">
              <a:buNone/>
            </a:pPr>
            <a:r>
              <a:rPr lang="en-US" sz="1200" b="1" dirty="0">
                <a:solidFill>
                  <a:schemeClr val="bg2"/>
                </a:solidFill>
                <a:latin typeface="Tahoma" panose="020B0604030504040204" pitchFamily="34" charset="0"/>
                <a:ea typeface="Tahoma" panose="020B0604030504040204" pitchFamily="34" charset="0"/>
                <a:cs typeface="Tahoma" panose="020B0604030504040204" pitchFamily="34" charset="0"/>
              </a:rPr>
              <a:t>1. Leadership, Accountability &amp; Engagement (20%)</a:t>
            </a:r>
          </a:p>
        </p:txBody>
      </p:sp>
      <p:sp>
        <p:nvSpPr>
          <p:cNvPr id="6" name="Shape 12">
            <a:extLst>
              <a:ext uri="{FF2B5EF4-FFF2-40B4-BE49-F238E27FC236}">
                <a16:creationId xmlns:a16="http://schemas.microsoft.com/office/drawing/2014/main" id="{C06D5E10-AB68-9754-5AF4-A9ECBEB80A1A}"/>
              </a:ext>
            </a:extLst>
          </p:cNvPr>
          <p:cNvSpPr/>
          <p:nvPr/>
        </p:nvSpPr>
        <p:spPr>
          <a:xfrm>
            <a:off x="4409537" y="2236239"/>
            <a:ext cx="1463040" cy="201168"/>
          </a:xfrm>
          <a:prstGeom prst="rect">
            <a:avLst/>
          </a:prstGeom>
          <a:solidFill>
            <a:schemeClr val="bg2"/>
          </a:solidFill>
          <a:ln w="12700">
            <a:solidFill>
              <a:srgbClr val="1E3A4A"/>
            </a:solidFill>
            <a:prstDash val="solid"/>
          </a:ln>
        </p:spPr>
        <p:txBody>
          <a:bodyPr/>
          <a:lstStyle/>
          <a:p>
            <a:endParaRPr lang="en-US" dirty="0"/>
          </a:p>
        </p:txBody>
      </p:sp>
      <p:sp>
        <p:nvSpPr>
          <p:cNvPr id="7" name="Shape 13">
            <a:extLst>
              <a:ext uri="{FF2B5EF4-FFF2-40B4-BE49-F238E27FC236}">
                <a16:creationId xmlns:a16="http://schemas.microsoft.com/office/drawing/2014/main" id="{7C5B943F-16FF-C711-37D4-7D6F94F64EC2}"/>
              </a:ext>
            </a:extLst>
          </p:cNvPr>
          <p:cNvSpPr/>
          <p:nvPr/>
        </p:nvSpPr>
        <p:spPr>
          <a:xfrm>
            <a:off x="4409537" y="2236239"/>
            <a:ext cx="1442139" cy="201168"/>
          </a:xfrm>
          <a:prstGeom prst="rect">
            <a:avLst/>
          </a:prstGeom>
          <a:solidFill>
            <a:srgbClr val="00249C"/>
          </a:solidFill>
          <a:ln w="12700">
            <a:solidFill>
              <a:srgbClr val="C0DD97"/>
            </a:solidFill>
            <a:prstDash val="solid"/>
          </a:ln>
        </p:spPr>
        <p:txBody>
          <a:bodyPr/>
          <a:lstStyle/>
          <a:p>
            <a:endParaRPr lang="en-US" dirty="0"/>
          </a:p>
        </p:txBody>
      </p:sp>
      <p:sp>
        <p:nvSpPr>
          <p:cNvPr id="16" name="Text 14">
            <a:extLst>
              <a:ext uri="{FF2B5EF4-FFF2-40B4-BE49-F238E27FC236}">
                <a16:creationId xmlns:a16="http://schemas.microsoft.com/office/drawing/2014/main" id="{752B5F82-3B5D-4CED-B410-8BF3D74D3644}"/>
              </a:ext>
            </a:extLst>
          </p:cNvPr>
          <p:cNvSpPr/>
          <p:nvPr/>
        </p:nvSpPr>
        <p:spPr>
          <a:xfrm>
            <a:off x="4409537" y="2035071"/>
            <a:ext cx="1463040" cy="201168"/>
          </a:xfrm>
          <a:prstGeom prst="rect">
            <a:avLst/>
          </a:prstGeom>
          <a:noFill/>
          <a:ln/>
        </p:spPr>
        <p:txBody>
          <a:bodyPr wrap="square" lIns="0" tIns="0" rIns="0" bIns="0" rtlCol="0" anchor="ctr"/>
          <a:lstStyle/>
          <a:p>
            <a:pPr marL="0" indent="0" algn="ctr">
              <a:buNone/>
            </a:pPr>
            <a:r>
              <a:rPr lang="en-US" sz="1400" b="1" dirty="0">
                <a:solidFill>
                  <a:schemeClr val="tx1">
                    <a:lumMod val="75000"/>
                  </a:schemeClr>
                </a:solidFill>
                <a:latin typeface="Calibri" pitchFamily="34" charset="0"/>
                <a:ea typeface="Calibri" pitchFamily="34" charset="-122"/>
                <a:cs typeface="Calibri" pitchFamily="34" charset="-120"/>
              </a:rPr>
              <a:t>99%</a:t>
            </a:r>
            <a:endParaRPr lang="en-US" sz="1400" dirty="0">
              <a:solidFill>
                <a:schemeClr val="tx1">
                  <a:lumMod val="75000"/>
                </a:schemeClr>
              </a:solidFill>
            </a:endParaRPr>
          </a:p>
        </p:txBody>
      </p:sp>
      <p:sp>
        <p:nvSpPr>
          <p:cNvPr id="24" name="Shape 15">
            <a:extLst>
              <a:ext uri="{FF2B5EF4-FFF2-40B4-BE49-F238E27FC236}">
                <a16:creationId xmlns:a16="http://schemas.microsoft.com/office/drawing/2014/main" id="{AEE15EB6-F47F-6F38-F0EA-91CDF1FFFC84}"/>
              </a:ext>
            </a:extLst>
          </p:cNvPr>
          <p:cNvSpPr/>
          <p:nvPr/>
        </p:nvSpPr>
        <p:spPr>
          <a:xfrm>
            <a:off x="6564959" y="2236239"/>
            <a:ext cx="1316736" cy="201168"/>
          </a:xfrm>
          <a:prstGeom prst="rect">
            <a:avLst/>
          </a:prstGeom>
          <a:solidFill>
            <a:schemeClr val="bg2"/>
          </a:solidFill>
          <a:ln w="12700">
            <a:solidFill>
              <a:srgbClr val="2A1A0A"/>
            </a:solidFill>
            <a:prstDash val="solid"/>
          </a:ln>
        </p:spPr>
        <p:txBody>
          <a:bodyPr/>
          <a:lstStyle/>
          <a:p>
            <a:endParaRPr lang="en-US"/>
          </a:p>
        </p:txBody>
      </p:sp>
      <p:sp>
        <p:nvSpPr>
          <p:cNvPr id="32" name="Shape 16">
            <a:extLst>
              <a:ext uri="{FF2B5EF4-FFF2-40B4-BE49-F238E27FC236}">
                <a16:creationId xmlns:a16="http://schemas.microsoft.com/office/drawing/2014/main" id="{B6650983-EAA8-9A33-9361-7A7E630E5B61}"/>
              </a:ext>
            </a:extLst>
          </p:cNvPr>
          <p:cNvSpPr/>
          <p:nvPr/>
        </p:nvSpPr>
        <p:spPr>
          <a:xfrm>
            <a:off x="6564959" y="2236239"/>
            <a:ext cx="1297925" cy="201168"/>
          </a:xfrm>
          <a:prstGeom prst="rect">
            <a:avLst/>
          </a:prstGeom>
          <a:solidFill>
            <a:srgbClr val="00249C"/>
          </a:solidFill>
          <a:ln w="12700">
            <a:solidFill>
              <a:srgbClr val="C0DD97"/>
            </a:solidFill>
            <a:prstDash val="solid"/>
          </a:ln>
        </p:spPr>
        <p:txBody>
          <a:bodyPr/>
          <a:lstStyle/>
          <a:p>
            <a:endParaRPr lang="en-US"/>
          </a:p>
        </p:txBody>
      </p:sp>
      <p:sp>
        <p:nvSpPr>
          <p:cNvPr id="40" name="Text 17">
            <a:extLst>
              <a:ext uri="{FF2B5EF4-FFF2-40B4-BE49-F238E27FC236}">
                <a16:creationId xmlns:a16="http://schemas.microsoft.com/office/drawing/2014/main" id="{ACD0D2E3-CD3A-D539-C9D0-47D2352CFAA2}"/>
              </a:ext>
            </a:extLst>
          </p:cNvPr>
          <p:cNvSpPr/>
          <p:nvPr/>
        </p:nvSpPr>
        <p:spPr>
          <a:xfrm>
            <a:off x="6564959" y="2035071"/>
            <a:ext cx="1316736" cy="201168"/>
          </a:xfrm>
          <a:prstGeom prst="rect">
            <a:avLst/>
          </a:prstGeom>
          <a:noFill/>
          <a:ln/>
        </p:spPr>
        <p:txBody>
          <a:bodyPr wrap="square" lIns="0" tIns="0" rIns="0" bIns="0" rtlCol="0" anchor="ctr"/>
          <a:lstStyle/>
          <a:p>
            <a:pPr marL="0" indent="0" algn="ctr">
              <a:buNone/>
            </a:pPr>
            <a:r>
              <a:rPr lang="en-US" sz="1400" b="1" dirty="0">
                <a:solidFill>
                  <a:schemeClr val="tx1">
                    <a:lumMod val="75000"/>
                  </a:schemeClr>
                </a:solidFill>
                <a:latin typeface="Calibri" pitchFamily="34" charset="0"/>
                <a:ea typeface="Calibri" pitchFamily="34" charset="-122"/>
                <a:cs typeface="Calibri" pitchFamily="34" charset="-120"/>
              </a:rPr>
              <a:t>99%</a:t>
            </a:r>
            <a:endParaRPr lang="en-US" sz="1400" dirty="0">
              <a:solidFill>
                <a:schemeClr val="tx1">
                  <a:lumMod val="75000"/>
                </a:schemeClr>
              </a:solidFill>
            </a:endParaRPr>
          </a:p>
        </p:txBody>
      </p:sp>
      <p:sp>
        <p:nvSpPr>
          <p:cNvPr id="57" name="Text 18">
            <a:extLst>
              <a:ext uri="{FF2B5EF4-FFF2-40B4-BE49-F238E27FC236}">
                <a16:creationId xmlns:a16="http://schemas.microsoft.com/office/drawing/2014/main" id="{A3C7168E-F4F7-4A66-D258-D673834E9AA6}"/>
              </a:ext>
            </a:extLst>
          </p:cNvPr>
          <p:cNvSpPr/>
          <p:nvPr/>
        </p:nvSpPr>
        <p:spPr>
          <a:xfrm>
            <a:off x="9076660" y="2160300"/>
            <a:ext cx="731520" cy="411480"/>
          </a:xfrm>
          <a:prstGeom prst="rect">
            <a:avLst/>
          </a:prstGeom>
          <a:solidFill>
            <a:schemeClr val="accent4">
              <a:lumMod val="60000"/>
              <a:lumOff val="40000"/>
            </a:schemeClr>
          </a:solidFill>
          <a:ln/>
        </p:spPr>
        <p:txBody>
          <a:bodyPr wrap="square" lIns="0" tIns="0" rIns="0" bIns="0" rtlCol="0" anchor="ctr"/>
          <a:lstStyle/>
          <a:p>
            <a:pPr marL="0" indent="0" algn="ctr">
              <a:buNone/>
            </a:pPr>
            <a:r>
              <a:rPr lang="en-US" sz="1400" dirty="0">
                <a:solidFill>
                  <a:schemeClr val="tx1">
                    <a:lumMod val="75000"/>
                  </a:schemeClr>
                </a:solidFill>
                <a:latin typeface="Calibri" pitchFamily="34" charset="0"/>
                <a:ea typeface="Calibri" pitchFamily="34" charset="-122"/>
                <a:cs typeface="Calibri" pitchFamily="34" charset="-120"/>
              </a:rPr>
              <a:t>96%</a:t>
            </a:r>
            <a:endParaRPr lang="en-US" sz="1400" dirty="0">
              <a:solidFill>
                <a:schemeClr val="tx1">
                  <a:lumMod val="75000"/>
                </a:schemeClr>
              </a:solidFill>
            </a:endParaRPr>
          </a:p>
        </p:txBody>
      </p:sp>
      <p:sp>
        <p:nvSpPr>
          <p:cNvPr id="58" name="Shape 23">
            <a:extLst>
              <a:ext uri="{FF2B5EF4-FFF2-40B4-BE49-F238E27FC236}">
                <a16:creationId xmlns:a16="http://schemas.microsoft.com/office/drawing/2014/main" id="{97ADCB36-D4B7-4612-6078-1953767AA242}"/>
              </a:ext>
            </a:extLst>
          </p:cNvPr>
          <p:cNvSpPr/>
          <p:nvPr/>
        </p:nvSpPr>
        <p:spPr>
          <a:xfrm>
            <a:off x="4409537" y="2998292"/>
            <a:ext cx="1463040" cy="201168"/>
          </a:xfrm>
          <a:prstGeom prst="rect">
            <a:avLst/>
          </a:prstGeom>
          <a:solidFill>
            <a:srgbClr val="1E3A4A"/>
          </a:solidFill>
          <a:ln w="12700">
            <a:solidFill>
              <a:srgbClr val="1E3A4A"/>
            </a:solidFill>
            <a:prstDash val="solid"/>
          </a:ln>
        </p:spPr>
        <p:txBody>
          <a:bodyPr/>
          <a:lstStyle/>
          <a:p>
            <a:endParaRPr lang="en-US"/>
          </a:p>
        </p:txBody>
      </p:sp>
      <p:sp>
        <p:nvSpPr>
          <p:cNvPr id="60" name="Shape 24">
            <a:extLst>
              <a:ext uri="{FF2B5EF4-FFF2-40B4-BE49-F238E27FC236}">
                <a16:creationId xmlns:a16="http://schemas.microsoft.com/office/drawing/2014/main" id="{E229C519-03FB-884B-C2A8-1A83E96A514D}"/>
              </a:ext>
            </a:extLst>
          </p:cNvPr>
          <p:cNvSpPr/>
          <p:nvPr/>
        </p:nvSpPr>
        <p:spPr>
          <a:xfrm>
            <a:off x="4409537" y="2998292"/>
            <a:ext cx="1463040" cy="230807"/>
          </a:xfrm>
          <a:prstGeom prst="rect">
            <a:avLst/>
          </a:prstGeom>
          <a:solidFill>
            <a:srgbClr val="00249C"/>
          </a:solidFill>
          <a:ln w="12700">
            <a:solidFill>
              <a:srgbClr val="C0DD97"/>
            </a:solidFill>
            <a:prstDash val="solid"/>
          </a:ln>
        </p:spPr>
        <p:txBody>
          <a:bodyPr/>
          <a:lstStyle/>
          <a:p>
            <a:endParaRPr lang="en-US" dirty="0"/>
          </a:p>
        </p:txBody>
      </p:sp>
      <p:sp>
        <p:nvSpPr>
          <p:cNvPr id="61" name="Text 25">
            <a:extLst>
              <a:ext uri="{FF2B5EF4-FFF2-40B4-BE49-F238E27FC236}">
                <a16:creationId xmlns:a16="http://schemas.microsoft.com/office/drawing/2014/main" id="{7D3E2696-1C7D-E887-C8A6-7B5E664FC0B9}"/>
              </a:ext>
            </a:extLst>
          </p:cNvPr>
          <p:cNvSpPr/>
          <p:nvPr/>
        </p:nvSpPr>
        <p:spPr>
          <a:xfrm>
            <a:off x="4409537" y="2797124"/>
            <a:ext cx="1463040" cy="201168"/>
          </a:xfrm>
          <a:prstGeom prst="rect">
            <a:avLst/>
          </a:prstGeom>
          <a:noFill/>
          <a:ln/>
        </p:spPr>
        <p:txBody>
          <a:bodyPr wrap="square" lIns="0" tIns="0" rIns="0" bIns="0" rtlCol="0" anchor="ctr"/>
          <a:lstStyle/>
          <a:p>
            <a:pPr marL="0" indent="0" algn="ctr">
              <a:buNone/>
            </a:pPr>
            <a:r>
              <a:rPr lang="en-US" sz="1400" b="1" dirty="0">
                <a:solidFill>
                  <a:schemeClr val="tx1">
                    <a:lumMod val="75000"/>
                  </a:schemeClr>
                </a:solidFill>
                <a:latin typeface="Calibri" pitchFamily="34" charset="0"/>
                <a:ea typeface="Calibri" pitchFamily="34" charset="-122"/>
                <a:cs typeface="Calibri" pitchFamily="34" charset="-120"/>
              </a:rPr>
              <a:t>100%</a:t>
            </a:r>
            <a:endParaRPr lang="en-US" sz="1400" dirty="0">
              <a:solidFill>
                <a:schemeClr val="tx1">
                  <a:lumMod val="75000"/>
                </a:schemeClr>
              </a:solidFill>
            </a:endParaRPr>
          </a:p>
        </p:txBody>
      </p:sp>
      <p:sp>
        <p:nvSpPr>
          <p:cNvPr id="62" name="Shape 26">
            <a:extLst>
              <a:ext uri="{FF2B5EF4-FFF2-40B4-BE49-F238E27FC236}">
                <a16:creationId xmlns:a16="http://schemas.microsoft.com/office/drawing/2014/main" id="{477B2D49-C06E-3204-0FD8-897075906B95}"/>
              </a:ext>
            </a:extLst>
          </p:cNvPr>
          <p:cNvSpPr/>
          <p:nvPr/>
        </p:nvSpPr>
        <p:spPr>
          <a:xfrm>
            <a:off x="6564959" y="2998292"/>
            <a:ext cx="1316736" cy="201168"/>
          </a:xfrm>
          <a:prstGeom prst="rect">
            <a:avLst/>
          </a:prstGeom>
          <a:solidFill>
            <a:schemeClr val="bg2"/>
          </a:solidFill>
          <a:ln w="12700">
            <a:solidFill>
              <a:srgbClr val="2A1A0A"/>
            </a:solidFill>
            <a:prstDash val="solid"/>
          </a:ln>
        </p:spPr>
        <p:txBody>
          <a:bodyPr/>
          <a:lstStyle/>
          <a:p>
            <a:endParaRPr lang="en-US"/>
          </a:p>
        </p:txBody>
      </p:sp>
      <p:sp>
        <p:nvSpPr>
          <p:cNvPr id="63" name="Shape 27">
            <a:extLst>
              <a:ext uri="{FF2B5EF4-FFF2-40B4-BE49-F238E27FC236}">
                <a16:creationId xmlns:a16="http://schemas.microsoft.com/office/drawing/2014/main" id="{6C635BCA-F263-5450-502D-CE63C0214550}"/>
              </a:ext>
            </a:extLst>
          </p:cNvPr>
          <p:cNvSpPr/>
          <p:nvPr/>
        </p:nvSpPr>
        <p:spPr>
          <a:xfrm>
            <a:off x="6564959" y="2998292"/>
            <a:ext cx="1277234" cy="201168"/>
          </a:xfrm>
          <a:prstGeom prst="rect">
            <a:avLst/>
          </a:prstGeom>
          <a:solidFill>
            <a:srgbClr val="FFC000"/>
          </a:solidFill>
          <a:ln w="12700">
            <a:solidFill>
              <a:srgbClr val="C0DD97"/>
            </a:solidFill>
            <a:prstDash val="solid"/>
          </a:ln>
        </p:spPr>
        <p:txBody>
          <a:bodyPr/>
          <a:lstStyle/>
          <a:p>
            <a:endParaRPr lang="en-US"/>
          </a:p>
        </p:txBody>
      </p:sp>
      <p:sp>
        <p:nvSpPr>
          <p:cNvPr id="64" name="Text 28">
            <a:extLst>
              <a:ext uri="{FF2B5EF4-FFF2-40B4-BE49-F238E27FC236}">
                <a16:creationId xmlns:a16="http://schemas.microsoft.com/office/drawing/2014/main" id="{5F7C0F9F-D9CD-DD83-5F75-017B43BCB500}"/>
              </a:ext>
            </a:extLst>
          </p:cNvPr>
          <p:cNvSpPr/>
          <p:nvPr/>
        </p:nvSpPr>
        <p:spPr>
          <a:xfrm>
            <a:off x="6564959" y="2797124"/>
            <a:ext cx="1316736" cy="201168"/>
          </a:xfrm>
          <a:prstGeom prst="rect">
            <a:avLst/>
          </a:prstGeom>
          <a:noFill/>
          <a:ln/>
        </p:spPr>
        <p:txBody>
          <a:bodyPr wrap="square" lIns="0" tIns="0" rIns="0" bIns="0" rtlCol="0" anchor="ctr"/>
          <a:lstStyle/>
          <a:p>
            <a:pPr marL="0" indent="0" algn="ctr">
              <a:buNone/>
            </a:pPr>
            <a:r>
              <a:rPr lang="en-US" sz="1400" b="1" dirty="0">
                <a:solidFill>
                  <a:schemeClr val="tx1">
                    <a:lumMod val="75000"/>
                  </a:schemeClr>
                </a:solidFill>
                <a:latin typeface="Calibri" pitchFamily="34" charset="0"/>
                <a:ea typeface="Calibri" pitchFamily="34" charset="-122"/>
                <a:cs typeface="Calibri" pitchFamily="34" charset="-120"/>
              </a:rPr>
              <a:t>97%</a:t>
            </a:r>
            <a:endParaRPr lang="en-US" sz="1400" dirty="0">
              <a:solidFill>
                <a:schemeClr val="tx1">
                  <a:lumMod val="75000"/>
                </a:schemeClr>
              </a:solidFill>
            </a:endParaRPr>
          </a:p>
        </p:txBody>
      </p:sp>
      <p:sp>
        <p:nvSpPr>
          <p:cNvPr id="65" name="Text 29">
            <a:extLst>
              <a:ext uri="{FF2B5EF4-FFF2-40B4-BE49-F238E27FC236}">
                <a16:creationId xmlns:a16="http://schemas.microsoft.com/office/drawing/2014/main" id="{FC4FA658-F281-1852-ABCB-2B9E53858B4B}"/>
              </a:ext>
            </a:extLst>
          </p:cNvPr>
          <p:cNvSpPr/>
          <p:nvPr/>
        </p:nvSpPr>
        <p:spPr>
          <a:xfrm>
            <a:off x="9076660" y="2911059"/>
            <a:ext cx="731520" cy="411480"/>
          </a:xfrm>
          <a:prstGeom prst="rect">
            <a:avLst/>
          </a:prstGeom>
          <a:solidFill>
            <a:schemeClr val="accent4">
              <a:lumMod val="60000"/>
              <a:lumOff val="40000"/>
            </a:schemeClr>
          </a:solidFill>
          <a:ln/>
        </p:spPr>
        <p:txBody>
          <a:bodyPr wrap="square" lIns="0" tIns="0" rIns="0" bIns="0" rtlCol="0" anchor="ctr"/>
          <a:lstStyle/>
          <a:p>
            <a:pPr marL="0" indent="0" algn="ctr">
              <a:buNone/>
            </a:pPr>
            <a:r>
              <a:rPr lang="en-US" sz="1400" dirty="0">
                <a:solidFill>
                  <a:schemeClr val="tx1">
                    <a:lumMod val="75000"/>
                  </a:schemeClr>
                </a:solidFill>
                <a:latin typeface="Calibri" pitchFamily="34" charset="0"/>
                <a:ea typeface="Calibri" pitchFamily="34" charset="-122"/>
                <a:cs typeface="Calibri" pitchFamily="34" charset="-120"/>
              </a:rPr>
              <a:t>99%</a:t>
            </a:r>
            <a:endParaRPr lang="en-US" sz="1400" dirty="0">
              <a:solidFill>
                <a:schemeClr val="tx1">
                  <a:lumMod val="75000"/>
                </a:schemeClr>
              </a:solidFill>
            </a:endParaRPr>
          </a:p>
        </p:txBody>
      </p:sp>
      <p:sp>
        <p:nvSpPr>
          <p:cNvPr id="66" name="Shape 34">
            <a:extLst>
              <a:ext uri="{FF2B5EF4-FFF2-40B4-BE49-F238E27FC236}">
                <a16:creationId xmlns:a16="http://schemas.microsoft.com/office/drawing/2014/main" id="{61F34F27-6FAD-DA29-8AE4-E43586B41147}"/>
              </a:ext>
            </a:extLst>
          </p:cNvPr>
          <p:cNvSpPr/>
          <p:nvPr/>
        </p:nvSpPr>
        <p:spPr>
          <a:xfrm>
            <a:off x="4409537" y="3719086"/>
            <a:ext cx="1463040" cy="201168"/>
          </a:xfrm>
          <a:prstGeom prst="rect">
            <a:avLst/>
          </a:prstGeom>
          <a:solidFill>
            <a:schemeClr val="bg2"/>
          </a:solidFill>
          <a:ln w="12700">
            <a:solidFill>
              <a:srgbClr val="1E3A4A"/>
            </a:solidFill>
            <a:prstDash val="solid"/>
          </a:ln>
        </p:spPr>
        <p:txBody>
          <a:bodyPr/>
          <a:lstStyle/>
          <a:p>
            <a:endParaRPr lang="en-US"/>
          </a:p>
        </p:txBody>
      </p:sp>
      <p:sp>
        <p:nvSpPr>
          <p:cNvPr id="67" name="Shape 35">
            <a:extLst>
              <a:ext uri="{FF2B5EF4-FFF2-40B4-BE49-F238E27FC236}">
                <a16:creationId xmlns:a16="http://schemas.microsoft.com/office/drawing/2014/main" id="{D08D1D90-1BCB-ED87-C828-968E7B8CF13F}"/>
              </a:ext>
            </a:extLst>
          </p:cNvPr>
          <p:cNvSpPr/>
          <p:nvPr/>
        </p:nvSpPr>
        <p:spPr>
          <a:xfrm>
            <a:off x="4409537" y="3719086"/>
            <a:ext cx="1463040" cy="201168"/>
          </a:xfrm>
          <a:prstGeom prst="rect">
            <a:avLst/>
          </a:prstGeom>
          <a:solidFill>
            <a:srgbClr val="00249C"/>
          </a:solidFill>
          <a:ln w="12700">
            <a:solidFill>
              <a:srgbClr val="F7C1C1"/>
            </a:solidFill>
            <a:prstDash val="solid"/>
          </a:ln>
        </p:spPr>
        <p:txBody>
          <a:bodyPr/>
          <a:lstStyle/>
          <a:p>
            <a:endParaRPr lang="en-US"/>
          </a:p>
        </p:txBody>
      </p:sp>
      <p:sp>
        <p:nvSpPr>
          <p:cNvPr id="68" name="Text 36">
            <a:extLst>
              <a:ext uri="{FF2B5EF4-FFF2-40B4-BE49-F238E27FC236}">
                <a16:creationId xmlns:a16="http://schemas.microsoft.com/office/drawing/2014/main" id="{30C476F7-DAE0-A2F9-356C-0D443B75B487}"/>
              </a:ext>
            </a:extLst>
          </p:cNvPr>
          <p:cNvSpPr/>
          <p:nvPr/>
        </p:nvSpPr>
        <p:spPr>
          <a:xfrm>
            <a:off x="4409537" y="3517918"/>
            <a:ext cx="1463040" cy="201168"/>
          </a:xfrm>
          <a:prstGeom prst="rect">
            <a:avLst/>
          </a:prstGeom>
          <a:noFill/>
          <a:ln/>
        </p:spPr>
        <p:txBody>
          <a:bodyPr wrap="square" lIns="0" tIns="0" rIns="0" bIns="0" rtlCol="0" anchor="ctr"/>
          <a:lstStyle/>
          <a:p>
            <a:pPr marL="0" indent="0" algn="ctr">
              <a:buNone/>
            </a:pPr>
            <a:r>
              <a:rPr lang="en-US" sz="1400" b="1" dirty="0">
                <a:solidFill>
                  <a:schemeClr val="tx1">
                    <a:lumMod val="75000"/>
                  </a:schemeClr>
                </a:solidFill>
                <a:latin typeface="Calibri" pitchFamily="34" charset="0"/>
                <a:ea typeface="Calibri" pitchFamily="34" charset="-122"/>
                <a:cs typeface="Calibri" pitchFamily="34" charset="-120"/>
              </a:rPr>
              <a:t>100%</a:t>
            </a:r>
            <a:endParaRPr lang="en-US" sz="1400" dirty="0">
              <a:solidFill>
                <a:schemeClr val="tx1">
                  <a:lumMod val="75000"/>
                </a:schemeClr>
              </a:solidFill>
            </a:endParaRPr>
          </a:p>
        </p:txBody>
      </p:sp>
      <p:sp>
        <p:nvSpPr>
          <p:cNvPr id="69" name="Shape 37">
            <a:extLst>
              <a:ext uri="{FF2B5EF4-FFF2-40B4-BE49-F238E27FC236}">
                <a16:creationId xmlns:a16="http://schemas.microsoft.com/office/drawing/2014/main" id="{26365B79-35D5-0C07-B7F7-E345FBDA90C3}"/>
              </a:ext>
            </a:extLst>
          </p:cNvPr>
          <p:cNvSpPr/>
          <p:nvPr/>
        </p:nvSpPr>
        <p:spPr>
          <a:xfrm>
            <a:off x="6564959" y="3719086"/>
            <a:ext cx="1316736" cy="201168"/>
          </a:xfrm>
          <a:prstGeom prst="rect">
            <a:avLst/>
          </a:prstGeom>
          <a:solidFill>
            <a:schemeClr val="bg2"/>
          </a:solidFill>
          <a:ln w="12700">
            <a:solidFill>
              <a:srgbClr val="2A1A0A"/>
            </a:solidFill>
            <a:prstDash val="solid"/>
          </a:ln>
        </p:spPr>
        <p:txBody>
          <a:bodyPr/>
          <a:lstStyle/>
          <a:p>
            <a:endParaRPr lang="en-US"/>
          </a:p>
        </p:txBody>
      </p:sp>
      <p:sp>
        <p:nvSpPr>
          <p:cNvPr id="70" name="Shape 38">
            <a:extLst>
              <a:ext uri="{FF2B5EF4-FFF2-40B4-BE49-F238E27FC236}">
                <a16:creationId xmlns:a16="http://schemas.microsoft.com/office/drawing/2014/main" id="{79E2A930-C51E-B5CD-72F7-12AF9147F652}"/>
              </a:ext>
            </a:extLst>
          </p:cNvPr>
          <p:cNvSpPr/>
          <p:nvPr/>
        </p:nvSpPr>
        <p:spPr>
          <a:xfrm>
            <a:off x="6564959" y="3719086"/>
            <a:ext cx="1316736" cy="201168"/>
          </a:xfrm>
          <a:prstGeom prst="rect">
            <a:avLst/>
          </a:prstGeom>
          <a:solidFill>
            <a:srgbClr val="00249C"/>
          </a:solidFill>
          <a:ln w="12700">
            <a:solidFill>
              <a:srgbClr val="F7C1C1"/>
            </a:solidFill>
            <a:prstDash val="solid"/>
          </a:ln>
        </p:spPr>
        <p:txBody>
          <a:bodyPr/>
          <a:lstStyle/>
          <a:p>
            <a:endParaRPr lang="en-US"/>
          </a:p>
        </p:txBody>
      </p:sp>
      <p:sp>
        <p:nvSpPr>
          <p:cNvPr id="71" name="Text 39">
            <a:extLst>
              <a:ext uri="{FF2B5EF4-FFF2-40B4-BE49-F238E27FC236}">
                <a16:creationId xmlns:a16="http://schemas.microsoft.com/office/drawing/2014/main" id="{469FCAB6-937E-6D60-4424-9C8141132417}"/>
              </a:ext>
            </a:extLst>
          </p:cNvPr>
          <p:cNvSpPr/>
          <p:nvPr/>
        </p:nvSpPr>
        <p:spPr>
          <a:xfrm>
            <a:off x="6615326" y="3508177"/>
            <a:ext cx="1316736" cy="201168"/>
          </a:xfrm>
          <a:prstGeom prst="rect">
            <a:avLst/>
          </a:prstGeom>
          <a:noFill/>
          <a:ln/>
        </p:spPr>
        <p:txBody>
          <a:bodyPr wrap="square" lIns="0" tIns="0" rIns="0" bIns="0" rtlCol="0" anchor="ctr"/>
          <a:lstStyle/>
          <a:p>
            <a:pPr marL="0" indent="0" algn="ctr">
              <a:buNone/>
            </a:pPr>
            <a:r>
              <a:rPr lang="en-US" sz="1400" b="1" dirty="0">
                <a:solidFill>
                  <a:schemeClr val="tx1">
                    <a:lumMod val="75000"/>
                  </a:schemeClr>
                </a:solidFill>
                <a:latin typeface="Calibri" pitchFamily="34" charset="0"/>
                <a:ea typeface="Calibri" pitchFamily="34" charset="-122"/>
                <a:cs typeface="Calibri" pitchFamily="34" charset="-120"/>
              </a:rPr>
              <a:t>100%</a:t>
            </a:r>
            <a:endParaRPr lang="en-US" sz="1400" dirty="0">
              <a:solidFill>
                <a:schemeClr val="tx1">
                  <a:lumMod val="75000"/>
                </a:schemeClr>
              </a:solidFill>
            </a:endParaRPr>
          </a:p>
        </p:txBody>
      </p:sp>
      <p:sp>
        <p:nvSpPr>
          <p:cNvPr id="72" name="Text 40">
            <a:extLst>
              <a:ext uri="{FF2B5EF4-FFF2-40B4-BE49-F238E27FC236}">
                <a16:creationId xmlns:a16="http://schemas.microsoft.com/office/drawing/2014/main" id="{4A2C479A-2749-80D7-F7B8-CB82A41E95E7}"/>
              </a:ext>
            </a:extLst>
          </p:cNvPr>
          <p:cNvSpPr/>
          <p:nvPr/>
        </p:nvSpPr>
        <p:spPr>
          <a:xfrm>
            <a:off x="9076660" y="3614106"/>
            <a:ext cx="731520" cy="411480"/>
          </a:xfrm>
          <a:prstGeom prst="rect">
            <a:avLst/>
          </a:prstGeom>
          <a:solidFill>
            <a:schemeClr val="accent4">
              <a:lumMod val="60000"/>
              <a:lumOff val="40000"/>
            </a:schemeClr>
          </a:solidFill>
          <a:ln/>
        </p:spPr>
        <p:txBody>
          <a:bodyPr wrap="square" lIns="0" tIns="0" rIns="0" bIns="0" rtlCol="0" anchor="ctr"/>
          <a:lstStyle/>
          <a:p>
            <a:pPr marL="0" indent="0" algn="ctr">
              <a:buNone/>
            </a:pPr>
            <a:r>
              <a:rPr lang="en-US" sz="1400" dirty="0">
                <a:solidFill>
                  <a:schemeClr val="tx1">
                    <a:lumMod val="75000"/>
                  </a:schemeClr>
                </a:solidFill>
                <a:latin typeface="Calibri" pitchFamily="34" charset="0"/>
                <a:ea typeface="Calibri" pitchFamily="34" charset="-122"/>
                <a:cs typeface="Calibri" pitchFamily="34" charset="-120"/>
              </a:rPr>
              <a:t>100%</a:t>
            </a:r>
            <a:endParaRPr lang="en-US" sz="1400" dirty="0">
              <a:solidFill>
                <a:schemeClr val="tx1">
                  <a:lumMod val="75000"/>
                </a:schemeClr>
              </a:solidFill>
            </a:endParaRPr>
          </a:p>
        </p:txBody>
      </p:sp>
      <p:sp>
        <p:nvSpPr>
          <p:cNvPr id="73" name="Shape 45">
            <a:extLst>
              <a:ext uri="{FF2B5EF4-FFF2-40B4-BE49-F238E27FC236}">
                <a16:creationId xmlns:a16="http://schemas.microsoft.com/office/drawing/2014/main" id="{69B39C9B-0F8B-78DA-355A-C9709C587F93}"/>
              </a:ext>
            </a:extLst>
          </p:cNvPr>
          <p:cNvSpPr/>
          <p:nvPr/>
        </p:nvSpPr>
        <p:spPr>
          <a:xfrm>
            <a:off x="4409537" y="4410241"/>
            <a:ext cx="1463040" cy="201168"/>
          </a:xfrm>
          <a:prstGeom prst="rect">
            <a:avLst/>
          </a:prstGeom>
          <a:solidFill>
            <a:schemeClr val="bg2"/>
          </a:solidFill>
          <a:ln w="12700">
            <a:solidFill>
              <a:srgbClr val="1E3A4A"/>
            </a:solidFill>
            <a:prstDash val="solid"/>
          </a:ln>
        </p:spPr>
        <p:txBody>
          <a:bodyPr/>
          <a:lstStyle/>
          <a:p>
            <a:endParaRPr lang="en-US"/>
          </a:p>
        </p:txBody>
      </p:sp>
      <p:sp>
        <p:nvSpPr>
          <p:cNvPr id="74" name="Shape 46">
            <a:extLst>
              <a:ext uri="{FF2B5EF4-FFF2-40B4-BE49-F238E27FC236}">
                <a16:creationId xmlns:a16="http://schemas.microsoft.com/office/drawing/2014/main" id="{41E4B394-1A07-1E7D-D80C-08A58E1835F4}"/>
              </a:ext>
            </a:extLst>
          </p:cNvPr>
          <p:cNvSpPr/>
          <p:nvPr/>
        </p:nvSpPr>
        <p:spPr>
          <a:xfrm>
            <a:off x="4409536" y="4410241"/>
            <a:ext cx="1463040" cy="201168"/>
          </a:xfrm>
          <a:prstGeom prst="rect">
            <a:avLst/>
          </a:prstGeom>
          <a:solidFill>
            <a:srgbClr val="00249C"/>
          </a:solidFill>
          <a:ln w="12700">
            <a:solidFill>
              <a:srgbClr val="C0DD97"/>
            </a:solidFill>
            <a:prstDash val="solid"/>
          </a:ln>
        </p:spPr>
        <p:txBody>
          <a:bodyPr/>
          <a:lstStyle/>
          <a:p>
            <a:endParaRPr lang="en-US"/>
          </a:p>
        </p:txBody>
      </p:sp>
      <p:sp>
        <p:nvSpPr>
          <p:cNvPr id="75" name="Text 47">
            <a:extLst>
              <a:ext uri="{FF2B5EF4-FFF2-40B4-BE49-F238E27FC236}">
                <a16:creationId xmlns:a16="http://schemas.microsoft.com/office/drawing/2014/main" id="{50B1D3C1-444C-2099-C9E4-B27A564B7059}"/>
              </a:ext>
            </a:extLst>
          </p:cNvPr>
          <p:cNvSpPr/>
          <p:nvPr/>
        </p:nvSpPr>
        <p:spPr>
          <a:xfrm>
            <a:off x="4409537" y="4209073"/>
            <a:ext cx="1463040" cy="201168"/>
          </a:xfrm>
          <a:prstGeom prst="rect">
            <a:avLst/>
          </a:prstGeom>
          <a:noFill/>
          <a:ln/>
        </p:spPr>
        <p:txBody>
          <a:bodyPr wrap="square" lIns="0" tIns="0" rIns="0" bIns="0" rtlCol="0" anchor="ctr"/>
          <a:lstStyle/>
          <a:p>
            <a:pPr marL="0" indent="0" algn="ctr">
              <a:buNone/>
            </a:pPr>
            <a:r>
              <a:rPr lang="en-US" sz="1400" b="1" dirty="0">
                <a:solidFill>
                  <a:schemeClr val="tx1">
                    <a:lumMod val="75000"/>
                  </a:schemeClr>
                </a:solidFill>
                <a:latin typeface="Calibri" pitchFamily="34" charset="0"/>
                <a:ea typeface="Calibri" pitchFamily="34" charset="-122"/>
                <a:cs typeface="Calibri" pitchFamily="34" charset="-120"/>
              </a:rPr>
              <a:t>100%</a:t>
            </a:r>
            <a:endParaRPr lang="en-US" sz="1400" dirty="0">
              <a:solidFill>
                <a:schemeClr val="tx1">
                  <a:lumMod val="75000"/>
                </a:schemeClr>
              </a:solidFill>
            </a:endParaRPr>
          </a:p>
        </p:txBody>
      </p:sp>
      <p:sp>
        <p:nvSpPr>
          <p:cNvPr id="76" name="Shape 48">
            <a:extLst>
              <a:ext uri="{FF2B5EF4-FFF2-40B4-BE49-F238E27FC236}">
                <a16:creationId xmlns:a16="http://schemas.microsoft.com/office/drawing/2014/main" id="{68CE2CAD-EC87-780D-125D-7EAC58DBB473}"/>
              </a:ext>
            </a:extLst>
          </p:cNvPr>
          <p:cNvSpPr/>
          <p:nvPr/>
        </p:nvSpPr>
        <p:spPr>
          <a:xfrm>
            <a:off x="6564959" y="4410241"/>
            <a:ext cx="1316736" cy="201168"/>
          </a:xfrm>
          <a:prstGeom prst="rect">
            <a:avLst/>
          </a:prstGeom>
          <a:solidFill>
            <a:schemeClr val="bg2"/>
          </a:solidFill>
          <a:ln w="12700">
            <a:solidFill>
              <a:srgbClr val="2A1A0A"/>
            </a:solidFill>
            <a:prstDash val="solid"/>
          </a:ln>
        </p:spPr>
        <p:txBody>
          <a:bodyPr/>
          <a:lstStyle/>
          <a:p>
            <a:endParaRPr lang="en-US"/>
          </a:p>
        </p:txBody>
      </p:sp>
      <p:sp>
        <p:nvSpPr>
          <p:cNvPr id="77" name="Shape 49">
            <a:extLst>
              <a:ext uri="{FF2B5EF4-FFF2-40B4-BE49-F238E27FC236}">
                <a16:creationId xmlns:a16="http://schemas.microsoft.com/office/drawing/2014/main" id="{F799BC8F-C149-BFFE-939C-686F6532FFE1}"/>
              </a:ext>
            </a:extLst>
          </p:cNvPr>
          <p:cNvSpPr/>
          <p:nvPr/>
        </p:nvSpPr>
        <p:spPr>
          <a:xfrm>
            <a:off x="6564959" y="4410241"/>
            <a:ext cx="1316736" cy="201168"/>
          </a:xfrm>
          <a:prstGeom prst="rect">
            <a:avLst/>
          </a:prstGeom>
          <a:solidFill>
            <a:srgbClr val="00249C"/>
          </a:solidFill>
          <a:ln w="12700">
            <a:solidFill>
              <a:srgbClr val="C0DD97"/>
            </a:solidFill>
            <a:prstDash val="solid"/>
          </a:ln>
        </p:spPr>
        <p:txBody>
          <a:bodyPr/>
          <a:lstStyle/>
          <a:p>
            <a:endParaRPr lang="en-US"/>
          </a:p>
        </p:txBody>
      </p:sp>
      <p:sp>
        <p:nvSpPr>
          <p:cNvPr id="78" name="Text 50">
            <a:extLst>
              <a:ext uri="{FF2B5EF4-FFF2-40B4-BE49-F238E27FC236}">
                <a16:creationId xmlns:a16="http://schemas.microsoft.com/office/drawing/2014/main" id="{CC3F8160-8295-4FD1-5C99-5896053FACBF}"/>
              </a:ext>
            </a:extLst>
          </p:cNvPr>
          <p:cNvSpPr/>
          <p:nvPr/>
        </p:nvSpPr>
        <p:spPr>
          <a:xfrm>
            <a:off x="6564959" y="4209073"/>
            <a:ext cx="1316736" cy="201168"/>
          </a:xfrm>
          <a:prstGeom prst="rect">
            <a:avLst/>
          </a:prstGeom>
          <a:noFill/>
          <a:ln/>
        </p:spPr>
        <p:txBody>
          <a:bodyPr wrap="square" lIns="0" tIns="0" rIns="0" bIns="0" rtlCol="0" anchor="ctr"/>
          <a:lstStyle/>
          <a:p>
            <a:pPr marL="0" indent="0" algn="ctr">
              <a:buNone/>
            </a:pPr>
            <a:r>
              <a:rPr lang="en-US" sz="1400" b="1" dirty="0">
                <a:solidFill>
                  <a:schemeClr val="tx1">
                    <a:lumMod val="75000"/>
                  </a:schemeClr>
                </a:solidFill>
                <a:latin typeface="Calibri" pitchFamily="34" charset="0"/>
                <a:ea typeface="Calibri" pitchFamily="34" charset="-122"/>
                <a:cs typeface="Calibri" pitchFamily="34" charset="-120"/>
              </a:rPr>
              <a:t>100%</a:t>
            </a:r>
            <a:endParaRPr lang="en-US" sz="1400" dirty="0">
              <a:solidFill>
                <a:schemeClr val="tx1">
                  <a:lumMod val="75000"/>
                </a:schemeClr>
              </a:solidFill>
            </a:endParaRPr>
          </a:p>
        </p:txBody>
      </p:sp>
      <p:sp>
        <p:nvSpPr>
          <p:cNvPr id="79" name="Text 51">
            <a:extLst>
              <a:ext uri="{FF2B5EF4-FFF2-40B4-BE49-F238E27FC236}">
                <a16:creationId xmlns:a16="http://schemas.microsoft.com/office/drawing/2014/main" id="{4A4F5897-6C14-39EE-3703-A1235A3C886B}"/>
              </a:ext>
            </a:extLst>
          </p:cNvPr>
          <p:cNvSpPr/>
          <p:nvPr/>
        </p:nvSpPr>
        <p:spPr>
          <a:xfrm>
            <a:off x="9076660" y="4306636"/>
            <a:ext cx="731520" cy="411480"/>
          </a:xfrm>
          <a:prstGeom prst="rect">
            <a:avLst/>
          </a:prstGeom>
          <a:solidFill>
            <a:schemeClr val="accent4">
              <a:lumMod val="60000"/>
              <a:lumOff val="40000"/>
            </a:schemeClr>
          </a:solidFill>
          <a:ln/>
        </p:spPr>
        <p:txBody>
          <a:bodyPr wrap="square" lIns="0" tIns="0" rIns="0" bIns="0" rtlCol="0" anchor="ctr"/>
          <a:lstStyle/>
          <a:p>
            <a:pPr marL="0" indent="0" algn="ctr">
              <a:buNone/>
            </a:pPr>
            <a:r>
              <a:rPr lang="en-US" sz="1400" dirty="0">
                <a:solidFill>
                  <a:schemeClr val="tx1">
                    <a:lumMod val="75000"/>
                  </a:schemeClr>
                </a:solidFill>
                <a:latin typeface="Calibri" pitchFamily="34" charset="0"/>
                <a:ea typeface="Calibri" pitchFamily="34" charset="-122"/>
                <a:cs typeface="Calibri" pitchFamily="34" charset="-120"/>
              </a:rPr>
              <a:t>99%</a:t>
            </a:r>
            <a:endParaRPr lang="en-US" sz="1400" dirty="0">
              <a:solidFill>
                <a:schemeClr val="tx1">
                  <a:lumMod val="75000"/>
                </a:schemeClr>
              </a:solidFill>
            </a:endParaRPr>
          </a:p>
        </p:txBody>
      </p:sp>
      <p:sp>
        <p:nvSpPr>
          <p:cNvPr id="80" name="Shape 56">
            <a:extLst>
              <a:ext uri="{FF2B5EF4-FFF2-40B4-BE49-F238E27FC236}">
                <a16:creationId xmlns:a16="http://schemas.microsoft.com/office/drawing/2014/main" id="{A8989166-20AE-A56B-BB14-6B4BA81E880D}"/>
              </a:ext>
            </a:extLst>
          </p:cNvPr>
          <p:cNvSpPr/>
          <p:nvPr/>
        </p:nvSpPr>
        <p:spPr>
          <a:xfrm>
            <a:off x="4409538" y="5151026"/>
            <a:ext cx="1463040" cy="201168"/>
          </a:xfrm>
          <a:prstGeom prst="rect">
            <a:avLst/>
          </a:prstGeom>
          <a:solidFill>
            <a:schemeClr val="bg2"/>
          </a:solidFill>
          <a:ln w="12700">
            <a:solidFill>
              <a:srgbClr val="1E3A4A"/>
            </a:solidFill>
            <a:prstDash val="solid"/>
          </a:ln>
        </p:spPr>
        <p:txBody>
          <a:bodyPr/>
          <a:lstStyle/>
          <a:p>
            <a:endParaRPr lang="en-US"/>
          </a:p>
        </p:txBody>
      </p:sp>
      <p:sp>
        <p:nvSpPr>
          <p:cNvPr id="81" name="Shape 57">
            <a:extLst>
              <a:ext uri="{FF2B5EF4-FFF2-40B4-BE49-F238E27FC236}">
                <a16:creationId xmlns:a16="http://schemas.microsoft.com/office/drawing/2014/main" id="{0B06808D-3535-90C9-D5A5-1EE0021CD71D}"/>
              </a:ext>
            </a:extLst>
          </p:cNvPr>
          <p:cNvSpPr/>
          <p:nvPr/>
        </p:nvSpPr>
        <p:spPr>
          <a:xfrm>
            <a:off x="4409538" y="5151026"/>
            <a:ext cx="1024128" cy="201168"/>
          </a:xfrm>
          <a:prstGeom prst="rect">
            <a:avLst/>
          </a:prstGeom>
          <a:solidFill>
            <a:srgbClr val="FFC000"/>
          </a:solidFill>
          <a:ln w="12700">
            <a:solidFill>
              <a:srgbClr val="F7C1C1"/>
            </a:solidFill>
            <a:prstDash val="solid"/>
          </a:ln>
        </p:spPr>
        <p:txBody>
          <a:bodyPr/>
          <a:lstStyle/>
          <a:p>
            <a:endParaRPr lang="en-US"/>
          </a:p>
        </p:txBody>
      </p:sp>
      <p:sp>
        <p:nvSpPr>
          <p:cNvPr id="82" name="Text 58">
            <a:extLst>
              <a:ext uri="{FF2B5EF4-FFF2-40B4-BE49-F238E27FC236}">
                <a16:creationId xmlns:a16="http://schemas.microsoft.com/office/drawing/2014/main" id="{1FEACE66-747E-3DA6-B004-A02E95301C59}"/>
              </a:ext>
            </a:extLst>
          </p:cNvPr>
          <p:cNvSpPr/>
          <p:nvPr/>
        </p:nvSpPr>
        <p:spPr>
          <a:xfrm>
            <a:off x="4409538" y="4949858"/>
            <a:ext cx="1463040" cy="201168"/>
          </a:xfrm>
          <a:prstGeom prst="rect">
            <a:avLst/>
          </a:prstGeom>
          <a:noFill/>
          <a:ln/>
        </p:spPr>
        <p:txBody>
          <a:bodyPr wrap="square" lIns="0" tIns="0" rIns="0" bIns="0" rtlCol="0" anchor="ctr"/>
          <a:lstStyle/>
          <a:p>
            <a:pPr marL="0" indent="0" algn="ctr">
              <a:buNone/>
            </a:pPr>
            <a:r>
              <a:rPr lang="en-US" sz="1400" b="1" dirty="0">
                <a:solidFill>
                  <a:schemeClr val="tx1">
                    <a:lumMod val="75000"/>
                  </a:schemeClr>
                </a:solidFill>
                <a:latin typeface="Calibri" pitchFamily="34" charset="0"/>
                <a:ea typeface="Calibri" pitchFamily="34" charset="-122"/>
                <a:cs typeface="Calibri" pitchFamily="34" charset="-120"/>
              </a:rPr>
              <a:t>70%</a:t>
            </a:r>
            <a:endParaRPr lang="en-US" sz="1400" dirty="0">
              <a:solidFill>
                <a:schemeClr val="tx1">
                  <a:lumMod val="75000"/>
                </a:schemeClr>
              </a:solidFill>
            </a:endParaRPr>
          </a:p>
        </p:txBody>
      </p:sp>
      <p:sp>
        <p:nvSpPr>
          <p:cNvPr id="83" name="Shape 59">
            <a:extLst>
              <a:ext uri="{FF2B5EF4-FFF2-40B4-BE49-F238E27FC236}">
                <a16:creationId xmlns:a16="http://schemas.microsoft.com/office/drawing/2014/main" id="{7BFCC5D1-D0CB-047D-A133-3F217E5F89B1}"/>
              </a:ext>
            </a:extLst>
          </p:cNvPr>
          <p:cNvSpPr/>
          <p:nvPr/>
        </p:nvSpPr>
        <p:spPr>
          <a:xfrm>
            <a:off x="6564960" y="5151026"/>
            <a:ext cx="1316736" cy="201168"/>
          </a:xfrm>
          <a:prstGeom prst="rect">
            <a:avLst/>
          </a:prstGeom>
          <a:solidFill>
            <a:schemeClr val="bg2"/>
          </a:solidFill>
          <a:ln w="12700">
            <a:solidFill>
              <a:srgbClr val="2A1A0A"/>
            </a:solidFill>
            <a:prstDash val="solid"/>
          </a:ln>
        </p:spPr>
        <p:txBody>
          <a:bodyPr/>
          <a:lstStyle/>
          <a:p>
            <a:endParaRPr lang="en-US"/>
          </a:p>
        </p:txBody>
      </p:sp>
      <p:sp>
        <p:nvSpPr>
          <p:cNvPr id="84" name="Shape 60">
            <a:extLst>
              <a:ext uri="{FF2B5EF4-FFF2-40B4-BE49-F238E27FC236}">
                <a16:creationId xmlns:a16="http://schemas.microsoft.com/office/drawing/2014/main" id="{ABD24DCA-17EA-C8D1-2B67-308309075D0C}"/>
              </a:ext>
            </a:extLst>
          </p:cNvPr>
          <p:cNvSpPr/>
          <p:nvPr/>
        </p:nvSpPr>
        <p:spPr>
          <a:xfrm>
            <a:off x="6564960" y="5151026"/>
            <a:ext cx="855878" cy="201168"/>
          </a:xfrm>
          <a:prstGeom prst="rect">
            <a:avLst/>
          </a:prstGeom>
          <a:solidFill>
            <a:srgbClr val="FFC000"/>
          </a:solidFill>
          <a:ln w="12700">
            <a:solidFill>
              <a:srgbClr val="F7C1C1"/>
            </a:solidFill>
            <a:prstDash val="solid"/>
          </a:ln>
        </p:spPr>
        <p:txBody>
          <a:bodyPr/>
          <a:lstStyle/>
          <a:p>
            <a:endParaRPr lang="en-US"/>
          </a:p>
        </p:txBody>
      </p:sp>
      <p:sp>
        <p:nvSpPr>
          <p:cNvPr id="85" name="Text 61">
            <a:extLst>
              <a:ext uri="{FF2B5EF4-FFF2-40B4-BE49-F238E27FC236}">
                <a16:creationId xmlns:a16="http://schemas.microsoft.com/office/drawing/2014/main" id="{EB6684DE-5CE5-E2C2-94F5-7397A99093DA}"/>
              </a:ext>
            </a:extLst>
          </p:cNvPr>
          <p:cNvSpPr/>
          <p:nvPr/>
        </p:nvSpPr>
        <p:spPr>
          <a:xfrm>
            <a:off x="6564960" y="4949858"/>
            <a:ext cx="1316736" cy="201168"/>
          </a:xfrm>
          <a:prstGeom prst="rect">
            <a:avLst/>
          </a:prstGeom>
          <a:noFill/>
          <a:ln/>
        </p:spPr>
        <p:txBody>
          <a:bodyPr wrap="square" lIns="0" tIns="0" rIns="0" bIns="0" rtlCol="0" anchor="ctr"/>
          <a:lstStyle/>
          <a:p>
            <a:pPr marL="0" indent="0" algn="ctr">
              <a:buNone/>
            </a:pPr>
            <a:r>
              <a:rPr lang="en-US" sz="1400" b="1" dirty="0">
                <a:solidFill>
                  <a:schemeClr val="tx1">
                    <a:lumMod val="75000"/>
                  </a:schemeClr>
                </a:solidFill>
                <a:latin typeface="Calibri" pitchFamily="34" charset="0"/>
                <a:ea typeface="Calibri" pitchFamily="34" charset="-122"/>
                <a:cs typeface="Calibri" pitchFamily="34" charset="-120"/>
              </a:rPr>
              <a:t>65%</a:t>
            </a:r>
            <a:endParaRPr lang="en-US" sz="1400" dirty="0">
              <a:solidFill>
                <a:schemeClr val="tx1">
                  <a:lumMod val="75000"/>
                </a:schemeClr>
              </a:solidFill>
            </a:endParaRPr>
          </a:p>
        </p:txBody>
      </p:sp>
      <p:sp>
        <p:nvSpPr>
          <p:cNvPr id="86" name="Text 62">
            <a:extLst>
              <a:ext uri="{FF2B5EF4-FFF2-40B4-BE49-F238E27FC236}">
                <a16:creationId xmlns:a16="http://schemas.microsoft.com/office/drawing/2014/main" id="{C844CE18-33A1-23A6-4FF9-2B2099AA500C}"/>
              </a:ext>
            </a:extLst>
          </p:cNvPr>
          <p:cNvSpPr/>
          <p:nvPr/>
        </p:nvSpPr>
        <p:spPr>
          <a:xfrm>
            <a:off x="9076661" y="5057253"/>
            <a:ext cx="731520" cy="411480"/>
          </a:xfrm>
          <a:prstGeom prst="rect">
            <a:avLst/>
          </a:prstGeom>
          <a:solidFill>
            <a:schemeClr val="accent4">
              <a:lumMod val="60000"/>
              <a:lumOff val="40000"/>
            </a:schemeClr>
          </a:solidFill>
          <a:ln/>
        </p:spPr>
        <p:txBody>
          <a:bodyPr wrap="square" lIns="0" tIns="0" rIns="0" bIns="0" rtlCol="0" anchor="ctr"/>
          <a:lstStyle/>
          <a:p>
            <a:pPr marL="0" indent="0" algn="ctr">
              <a:buNone/>
            </a:pPr>
            <a:r>
              <a:rPr lang="en-US" sz="1400" dirty="0">
                <a:solidFill>
                  <a:schemeClr val="tx1">
                    <a:lumMod val="75000"/>
                  </a:schemeClr>
                </a:solidFill>
                <a:latin typeface="Calibri" pitchFamily="34" charset="0"/>
                <a:ea typeface="Calibri" pitchFamily="34" charset="-122"/>
                <a:cs typeface="Calibri" pitchFamily="34" charset="-120"/>
              </a:rPr>
              <a:t>84%</a:t>
            </a:r>
            <a:endParaRPr lang="en-US" sz="1400" dirty="0">
              <a:solidFill>
                <a:schemeClr val="tx1">
                  <a:lumMod val="75000"/>
                </a:schemeClr>
              </a:solidFill>
            </a:endParaRPr>
          </a:p>
        </p:txBody>
      </p:sp>
      <p:sp>
        <p:nvSpPr>
          <p:cNvPr id="87" name="Text 11">
            <a:extLst>
              <a:ext uri="{FF2B5EF4-FFF2-40B4-BE49-F238E27FC236}">
                <a16:creationId xmlns:a16="http://schemas.microsoft.com/office/drawing/2014/main" id="{917D5CD2-EEF6-C0AE-3008-6D3CAC039BF5}"/>
              </a:ext>
            </a:extLst>
          </p:cNvPr>
          <p:cNvSpPr/>
          <p:nvPr/>
        </p:nvSpPr>
        <p:spPr>
          <a:xfrm>
            <a:off x="998202" y="2745183"/>
            <a:ext cx="2938864" cy="640080"/>
          </a:xfrm>
          <a:prstGeom prst="rect">
            <a:avLst/>
          </a:prstGeom>
          <a:solidFill>
            <a:srgbClr val="00249C"/>
          </a:solidFill>
          <a:ln>
            <a:solidFill>
              <a:srgbClr val="00249C"/>
            </a:solidFill>
          </a:ln>
        </p:spPr>
        <p:style>
          <a:lnRef idx="2">
            <a:schemeClr val="accent1"/>
          </a:lnRef>
          <a:fillRef idx="1">
            <a:schemeClr val="lt1"/>
          </a:fillRef>
          <a:effectRef idx="0">
            <a:schemeClr val="accent1"/>
          </a:effectRef>
          <a:fontRef idx="minor">
            <a:schemeClr val="dk1"/>
          </a:fontRef>
        </p:style>
        <p:txBody>
          <a:bodyPr wrap="square" lIns="0" tIns="0" rIns="0" bIns="0" rtlCol="0" anchor="ctr"/>
          <a:lstStyle/>
          <a:p>
            <a:pPr algn="ctr"/>
            <a:r>
              <a:rPr lang="en-US" sz="1200" b="1" dirty="0">
                <a:solidFill>
                  <a:schemeClr val="bg2"/>
                </a:solidFill>
                <a:latin typeface="Tahoma" panose="020B0604030504040204" pitchFamily="34" charset="0"/>
                <a:ea typeface="Tahoma" panose="020B0604030504040204" pitchFamily="34" charset="0"/>
                <a:cs typeface="Tahoma" panose="020B0604030504040204" pitchFamily="34" charset="0"/>
              </a:rPr>
              <a:t>2. Risk Management &amp; Planning (20%)</a:t>
            </a:r>
          </a:p>
        </p:txBody>
      </p:sp>
      <p:sp>
        <p:nvSpPr>
          <p:cNvPr id="88" name="Text 11">
            <a:extLst>
              <a:ext uri="{FF2B5EF4-FFF2-40B4-BE49-F238E27FC236}">
                <a16:creationId xmlns:a16="http://schemas.microsoft.com/office/drawing/2014/main" id="{7F86E6F3-81BB-01AF-2D9F-6A1991D63281}"/>
              </a:ext>
            </a:extLst>
          </p:cNvPr>
          <p:cNvSpPr/>
          <p:nvPr/>
        </p:nvSpPr>
        <p:spPr>
          <a:xfrm>
            <a:off x="998202" y="3479437"/>
            <a:ext cx="2938864" cy="640080"/>
          </a:xfrm>
          <a:prstGeom prst="rect">
            <a:avLst/>
          </a:prstGeom>
          <a:solidFill>
            <a:srgbClr val="00249C"/>
          </a:solidFill>
          <a:ln>
            <a:solidFill>
              <a:srgbClr val="00249C"/>
            </a:solidFill>
          </a:ln>
        </p:spPr>
        <p:style>
          <a:lnRef idx="2">
            <a:schemeClr val="accent1"/>
          </a:lnRef>
          <a:fillRef idx="1">
            <a:schemeClr val="lt1"/>
          </a:fillRef>
          <a:effectRef idx="0">
            <a:schemeClr val="accent1"/>
          </a:effectRef>
          <a:fontRef idx="minor">
            <a:schemeClr val="dk1"/>
          </a:fontRef>
        </p:style>
        <p:txBody>
          <a:bodyPr wrap="square" lIns="0" tIns="0" rIns="0" bIns="0" rtlCol="0" anchor="ctr"/>
          <a:lstStyle/>
          <a:p>
            <a:pPr algn="ctr"/>
            <a:r>
              <a:rPr lang="en-US" sz="1200" b="1" dirty="0">
                <a:solidFill>
                  <a:schemeClr val="bg2"/>
                </a:solidFill>
                <a:latin typeface="Tahoma" panose="020B0604030504040204" pitchFamily="34" charset="0"/>
                <a:ea typeface="Tahoma" panose="020B0604030504040204" pitchFamily="34" charset="0"/>
                <a:cs typeface="Tahoma" panose="020B0604030504040204" pitchFamily="34" charset="0"/>
              </a:rPr>
              <a:t>3. Training &amp; Awareness (10%)</a:t>
            </a:r>
          </a:p>
        </p:txBody>
      </p:sp>
      <p:sp>
        <p:nvSpPr>
          <p:cNvPr id="89" name="Text 11">
            <a:extLst>
              <a:ext uri="{FF2B5EF4-FFF2-40B4-BE49-F238E27FC236}">
                <a16:creationId xmlns:a16="http://schemas.microsoft.com/office/drawing/2014/main" id="{FBBB0DA6-AC6E-CF5B-16A3-16D32590C3AA}"/>
              </a:ext>
            </a:extLst>
          </p:cNvPr>
          <p:cNvSpPr/>
          <p:nvPr/>
        </p:nvSpPr>
        <p:spPr>
          <a:xfrm>
            <a:off x="998202" y="4207826"/>
            <a:ext cx="2938864" cy="640080"/>
          </a:xfrm>
          <a:prstGeom prst="rect">
            <a:avLst/>
          </a:prstGeom>
          <a:solidFill>
            <a:srgbClr val="00249C"/>
          </a:solidFill>
          <a:ln>
            <a:solidFill>
              <a:srgbClr val="00249C"/>
            </a:solidFill>
          </a:ln>
        </p:spPr>
        <p:style>
          <a:lnRef idx="2">
            <a:schemeClr val="accent1"/>
          </a:lnRef>
          <a:fillRef idx="1">
            <a:schemeClr val="lt1"/>
          </a:fillRef>
          <a:effectRef idx="0">
            <a:schemeClr val="accent1"/>
          </a:effectRef>
          <a:fontRef idx="minor">
            <a:schemeClr val="dk1"/>
          </a:fontRef>
        </p:style>
        <p:txBody>
          <a:bodyPr wrap="square" lIns="0" tIns="0" rIns="0" bIns="0" rtlCol="0" anchor="ctr"/>
          <a:lstStyle/>
          <a:p>
            <a:pPr algn="ctr"/>
            <a:r>
              <a:rPr lang="en-US" sz="1200" b="1" dirty="0">
                <a:solidFill>
                  <a:schemeClr val="bg2"/>
                </a:solidFill>
                <a:latin typeface="Tahoma" panose="020B0604030504040204" pitchFamily="34" charset="0"/>
                <a:ea typeface="Tahoma" panose="020B0604030504040204" pitchFamily="34" charset="0"/>
                <a:cs typeface="Tahoma" panose="020B0604030504040204" pitchFamily="34" charset="0"/>
              </a:rPr>
              <a:t>4. Operational Control &amp; Emergency Preparedness (25%)</a:t>
            </a:r>
          </a:p>
        </p:txBody>
      </p:sp>
      <p:sp>
        <p:nvSpPr>
          <p:cNvPr id="90" name="Text 11">
            <a:extLst>
              <a:ext uri="{FF2B5EF4-FFF2-40B4-BE49-F238E27FC236}">
                <a16:creationId xmlns:a16="http://schemas.microsoft.com/office/drawing/2014/main" id="{24DE36AD-FE9C-9906-C01C-1D9E5DC42CDD}"/>
              </a:ext>
            </a:extLst>
          </p:cNvPr>
          <p:cNvSpPr/>
          <p:nvPr/>
        </p:nvSpPr>
        <p:spPr>
          <a:xfrm>
            <a:off x="998202" y="4939856"/>
            <a:ext cx="2938864" cy="640080"/>
          </a:xfrm>
          <a:prstGeom prst="rect">
            <a:avLst/>
          </a:prstGeom>
          <a:solidFill>
            <a:srgbClr val="00249C"/>
          </a:solidFill>
          <a:ln>
            <a:solidFill>
              <a:srgbClr val="00249C"/>
            </a:solidFill>
          </a:ln>
        </p:spPr>
        <p:style>
          <a:lnRef idx="2">
            <a:schemeClr val="accent1"/>
          </a:lnRef>
          <a:fillRef idx="1">
            <a:schemeClr val="lt1"/>
          </a:fillRef>
          <a:effectRef idx="0">
            <a:schemeClr val="accent1"/>
          </a:effectRef>
          <a:fontRef idx="minor">
            <a:schemeClr val="dk1"/>
          </a:fontRef>
        </p:style>
        <p:txBody>
          <a:bodyPr wrap="square" lIns="0" tIns="0" rIns="0" bIns="0" rtlCol="0" anchor="ctr"/>
          <a:lstStyle/>
          <a:p>
            <a:pPr algn="ctr"/>
            <a:r>
              <a:rPr lang="en-US" sz="1200" b="1" dirty="0">
                <a:solidFill>
                  <a:schemeClr val="bg2"/>
                </a:solidFill>
                <a:latin typeface="Tahoma" panose="020B0604030504040204" pitchFamily="34" charset="0"/>
                <a:ea typeface="Tahoma" panose="020B0604030504040204" pitchFamily="34" charset="0"/>
                <a:cs typeface="Tahoma" panose="020B0604030504040204" pitchFamily="34" charset="0"/>
              </a:rPr>
              <a:t>5. Performance Evaluation &amp; Continuous Improvement (25%)</a:t>
            </a:r>
          </a:p>
        </p:txBody>
      </p:sp>
      <p:sp>
        <p:nvSpPr>
          <p:cNvPr id="91" name="Text 3">
            <a:extLst>
              <a:ext uri="{FF2B5EF4-FFF2-40B4-BE49-F238E27FC236}">
                <a16:creationId xmlns:a16="http://schemas.microsoft.com/office/drawing/2014/main" id="{4F70E5BA-29BD-30FB-2776-2823F9A26413}"/>
              </a:ext>
            </a:extLst>
          </p:cNvPr>
          <p:cNvSpPr/>
          <p:nvPr/>
        </p:nvSpPr>
        <p:spPr>
          <a:xfrm>
            <a:off x="998201" y="1577237"/>
            <a:ext cx="2938863" cy="296249"/>
          </a:xfrm>
          <a:prstGeom prst="rect">
            <a:avLst/>
          </a:prstGeom>
          <a:noFill/>
          <a:ln/>
        </p:spPr>
        <p:txBody>
          <a:bodyPr wrap="square" lIns="0" tIns="0" rIns="0" bIns="0" rtlCol="0" anchor="ctr"/>
          <a:lstStyle/>
          <a:p>
            <a:pPr marL="0" indent="0" algn="ctr">
              <a:buNone/>
            </a:pPr>
            <a:r>
              <a:rPr lang="en-US" sz="1600" dirty="0">
                <a:solidFill>
                  <a:srgbClr val="00249C"/>
                </a:solidFill>
                <a:latin typeface="Calibri" pitchFamily="34" charset="0"/>
                <a:ea typeface="Calibri" pitchFamily="34" charset="-122"/>
                <a:cs typeface="Calibri" pitchFamily="34" charset="-120"/>
              </a:rPr>
              <a:t>Pillar</a:t>
            </a:r>
            <a:endParaRPr lang="en-US" sz="1600" dirty="0">
              <a:solidFill>
                <a:srgbClr val="00249C"/>
              </a:solidFill>
            </a:endParaRPr>
          </a:p>
        </p:txBody>
      </p:sp>
      <p:sp>
        <p:nvSpPr>
          <p:cNvPr id="92" name="Text 4">
            <a:extLst>
              <a:ext uri="{FF2B5EF4-FFF2-40B4-BE49-F238E27FC236}">
                <a16:creationId xmlns:a16="http://schemas.microsoft.com/office/drawing/2014/main" id="{D7A36F8B-6D54-086E-C3F8-C1347A7D3E6C}"/>
              </a:ext>
            </a:extLst>
          </p:cNvPr>
          <p:cNvSpPr/>
          <p:nvPr/>
        </p:nvSpPr>
        <p:spPr>
          <a:xfrm>
            <a:off x="4164458" y="1571795"/>
            <a:ext cx="1831378" cy="248846"/>
          </a:xfrm>
          <a:prstGeom prst="rect">
            <a:avLst/>
          </a:prstGeom>
          <a:noFill/>
          <a:ln/>
        </p:spPr>
        <p:txBody>
          <a:bodyPr wrap="square" lIns="0" tIns="0" rIns="0" bIns="0" rtlCol="0" anchor="ctr"/>
          <a:lstStyle/>
          <a:p>
            <a:pPr marL="0" indent="0" algn="ctr">
              <a:buNone/>
            </a:pPr>
            <a:r>
              <a:rPr lang="en-US" sz="1600" dirty="0">
                <a:solidFill>
                  <a:srgbClr val="00249C"/>
                </a:solidFill>
                <a:latin typeface="Calibri" pitchFamily="34" charset="0"/>
                <a:ea typeface="Calibri" pitchFamily="34" charset="-122"/>
                <a:cs typeface="Calibri" pitchFamily="34" charset="-120"/>
              </a:rPr>
              <a:t>Campus X</a:t>
            </a:r>
            <a:endParaRPr lang="en-US" sz="1600" dirty="0">
              <a:solidFill>
                <a:srgbClr val="00249C"/>
              </a:solidFill>
            </a:endParaRPr>
          </a:p>
        </p:txBody>
      </p:sp>
      <p:sp>
        <p:nvSpPr>
          <p:cNvPr id="93" name="Text 5">
            <a:extLst>
              <a:ext uri="{FF2B5EF4-FFF2-40B4-BE49-F238E27FC236}">
                <a16:creationId xmlns:a16="http://schemas.microsoft.com/office/drawing/2014/main" id="{F852F043-5104-652E-EADA-52E6968D0F19}"/>
              </a:ext>
            </a:extLst>
          </p:cNvPr>
          <p:cNvSpPr/>
          <p:nvPr/>
        </p:nvSpPr>
        <p:spPr>
          <a:xfrm>
            <a:off x="6336148" y="1592923"/>
            <a:ext cx="1774358" cy="251945"/>
          </a:xfrm>
          <a:prstGeom prst="rect">
            <a:avLst/>
          </a:prstGeom>
          <a:noFill/>
          <a:ln/>
        </p:spPr>
        <p:txBody>
          <a:bodyPr wrap="square" lIns="0" tIns="0" rIns="0" bIns="0" rtlCol="0" anchor="ctr"/>
          <a:lstStyle/>
          <a:p>
            <a:pPr algn="ctr"/>
            <a:br>
              <a:rPr lang="en-US" sz="1600" dirty="0">
                <a:solidFill>
                  <a:srgbClr val="00249C"/>
                </a:solidFill>
                <a:latin typeface="Calibri" pitchFamily="34" charset="0"/>
                <a:ea typeface="Calibri" pitchFamily="34" charset="-122"/>
                <a:cs typeface="Calibri" pitchFamily="34" charset="-120"/>
              </a:rPr>
            </a:br>
            <a:r>
              <a:rPr lang="en-US" sz="1600" dirty="0">
                <a:solidFill>
                  <a:srgbClr val="00249C"/>
                </a:solidFill>
                <a:latin typeface="Calibri" pitchFamily="34" charset="0"/>
                <a:ea typeface="Calibri" pitchFamily="34" charset="-122"/>
                <a:cs typeface="Calibri" pitchFamily="34" charset="-120"/>
              </a:rPr>
              <a:t>Campus Y</a:t>
            </a:r>
            <a:endParaRPr lang="en-US" sz="1600" dirty="0">
              <a:solidFill>
                <a:srgbClr val="00249C"/>
              </a:solidFill>
            </a:endParaRPr>
          </a:p>
          <a:p>
            <a:pPr marL="0" indent="0" algn="ctr">
              <a:buNone/>
            </a:pPr>
            <a:endParaRPr lang="en-US" sz="1600" dirty="0">
              <a:solidFill>
                <a:srgbClr val="00249C"/>
              </a:solidFill>
              <a:latin typeface="Calibri" pitchFamily="34" charset="0"/>
              <a:ea typeface="Calibri" pitchFamily="34" charset="-122"/>
              <a:cs typeface="Calibri" pitchFamily="34" charset="-120"/>
            </a:endParaRPr>
          </a:p>
        </p:txBody>
      </p:sp>
      <p:sp>
        <p:nvSpPr>
          <p:cNvPr id="94" name="Text 6">
            <a:extLst>
              <a:ext uri="{FF2B5EF4-FFF2-40B4-BE49-F238E27FC236}">
                <a16:creationId xmlns:a16="http://schemas.microsoft.com/office/drawing/2014/main" id="{1E43C59F-9345-7D15-5069-F608DAE42EE6}"/>
              </a:ext>
            </a:extLst>
          </p:cNvPr>
          <p:cNvSpPr/>
          <p:nvPr/>
        </p:nvSpPr>
        <p:spPr>
          <a:xfrm>
            <a:off x="8450818" y="1595450"/>
            <a:ext cx="2124260" cy="246889"/>
          </a:xfrm>
          <a:prstGeom prst="rect">
            <a:avLst/>
          </a:prstGeom>
          <a:noFill/>
          <a:ln/>
        </p:spPr>
        <p:txBody>
          <a:bodyPr wrap="square" lIns="0" tIns="0" rIns="0" bIns="0" rtlCol="0" anchor="ctr"/>
          <a:lstStyle/>
          <a:p>
            <a:pPr marL="0" indent="0" algn="ctr">
              <a:buNone/>
            </a:pPr>
            <a:r>
              <a:rPr lang="en-US" sz="1600" dirty="0">
                <a:solidFill>
                  <a:srgbClr val="00249C"/>
                </a:solidFill>
                <a:latin typeface="Calibri" pitchFamily="34" charset="0"/>
                <a:ea typeface="Calibri" pitchFamily="34" charset="-122"/>
                <a:cs typeface="Calibri" pitchFamily="34" charset="-120"/>
              </a:rPr>
              <a:t>Avg Across Campuses </a:t>
            </a:r>
            <a:endParaRPr lang="en-US" sz="1600" dirty="0">
              <a:solidFill>
                <a:srgbClr val="00249C"/>
              </a:solidFill>
            </a:endParaRPr>
          </a:p>
        </p:txBody>
      </p:sp>
      <p:cxnSp>
        <p:nvCxnSpPr>
          <p:cNvPr id="95" name="Straight Connector 94">
            <a:extLst>
              <a:ext uri="{FF2B5EF4-FFF2-40B4-BE49-F238E27FC236}">
                <a16:creationId xmlns:a16="http://schemas.microsoft.com/office/drawing/2014/main" id="{42D10289-80BB-B0EA-E1D3-66ED48D5518F}"/>
              </a:ext>
            </a:extLst>
          </p:cNvPr>
          <p:cNvCxnSpPr/>
          <p:nvPr/>
        </p:nvCxnSpPr>
        <p:spPr>
          <a:xfrm>
            <a:off x="998202" y="1932032"/>
            <a:ext cx="9604942" cy="0"/>
          </a:xfrm>
          <a:prstGeom prst="line">
            <a:avLst/>
          </a:prstGeom>
          <a:ln>
            <a:solidFill>
              <a:srgbClr val="00249C"/>
            </a:solidFill>
          </a:ln>
        </p:spPr>
        <p:style>
          <a:lnRef idx="1">
            <a:schemeClr val="accent1"/>
          </a:lnRef>
          <a:fillRef idx="0">
            <a:schemeClr val="accent1"/>
          </a:fillRef>
          <a:effectRef idx="0">
            <a:schemeClr val="accent1"/>
          </a:effectRef>
          <a:fontRef idx="minor">
            <a:schemeClr val="tx1"/>
          </a:fontRef>
        </p:style>
      </p:cxnSp>
      <p:sp>
        <p:nvSpPr>
          <p:cNvPr id="2" name="Shape 3">
            <a:extLst>
              <a:ext uri="{FF2B5EF4-FFF2-40B4-BE49-F238E27FC236}">
                <a16:creationId xmlns:a16="http://schemas.microsoft.com/office/drawing/2014/main" id="{20B80BA5-F304-C2A3-8802-DC97E50A4ED0}"/>
              </a:ext>
            </a:extLst>
          </p:cNvPr>
          <p:cNvSpPr/>
          <p:nvPr/>
        </p:nvSpPr>
        <p:spPr>
          <a:xfrm>
            <a:off x="4405066" y="5656773"/>
            <a:ext cx="2011680" cy="1143000"/>
          </a:xfrm>
          <a:prstGeom prst="roundRect">
            <a:avLst>
              <a:gd name="adj" fmla="val 6400"/>
            </a:avLst>
          </a:prstGeom>
          <a:solidFill>
            <a:srgbClr val="FFFFFF"/>
          </a:solidFill>
          <a:ln w="8890">
            <a:solidFill>
              <a:srgbClr val="DDE6F3"/>
            </a:solidFill>
            <a:prstDash val="solid"/>
          </a:ln>
        </p:spPr>
        <p:txBody>
          <a:bodyPr/>
          <a:lstStyle/>
          <a:p>
            <a:endParaRPr lang="en-US">
              <a:latin typeface="Tahoma" panose="020B0604030504040204" pitchFamily="34" charset="0"/>
              <a:ea typeface="Tahoma" panose="020B0604030504040204" pitchFamily="34" charset="0"/>
              <a:cs typeface="Tahoma" panose="020B0604030504040204" pitchFamily="34" charset="0"/>
            </a:endParaRPr>
          </a:p>
        </p:txBody>
      </p:sp>
      <p:sp>
        <p:nvSpPr>
          <p:cNvPr id="3" name="Shape 4">
            <a:extLst>
              <a:ext uri="{FF2B5EF4-FFF2-40B4-BE49-F238E27FC236}">
                <a16:creationId xmlns:a16="http://schemas.microsoft.com/office/drawing/2014/main" id="{A29C7D7B-77B4-22D1-782D-3E48EA43A63E}"/>
              </a:ext>
            </a:extLst>
          </p:cNvPr>
          <p:cNvSpPr/>
          <p:nvPr/>
        </p:nvSpPr>
        <p:spPr>
          <a:xfrm>
            <a:off x="4412015" y="5656773"/>
            <a:ext cx="73152" cy="1143000"/>
          </a:xfrm>
          <a:prstGeom prst="rect">
            <a:avLst/>
          </a:prstGeom>
          <a:solidFill>
            <a:srgbClr val="B5D4F4"/>
          </a:solidFill>
          <a:ln w="12700">
            <a:solidFill>
              <a:srgbClr val="B5D4F4"/>
            </a:solidFill>
            <a:prstDash val="solid"/>
          </a:ln>
        </p:spPr>
        <p:txBody>
          <a:bodyPr/>
          <a:lstStyle/>
          <a:p>
            <a:endParaRPr lang="en-US">
              <a:latin typeface="Tahoma" panose="020B0604030504040204" pitchFamily="34" charset="0"/>
              <a:ea typeface="Tahoma" panose="020B0604030504040204" pitchFamily="34" charset="0"/>
              <a:cs typeface="Tahoma" panose="020B0604030504040204" pitchFamily="34" charset="0"/>
            </a:endParaRPr>
          </a:p>
        </p:txBody>
      </p:sp>
      <p:sp>
        <p:nvSpPr>
          <p:cNvPr id="4" name="Text 5">
            <a:extLst>
              <a:ext uri="{FF2B5EF4-FFF2-40B4-BE49-F238E27FC236}">
                <a16:creationId xmlns:a16="http://schemas.microsoft.com/office/drawing/2014/main" id="{CC5A3054-ECB2-4DC3-FFBD-C7D890E4F142}"/>
              </a:ext>
            </a:extLst>
          </p:cNvPr>
          <p:cNvSpPr/>
          <p:nvPr/>
        </p:nvSpPr>
        <p:spPr>
          <a:xfrm>
            <a:off x="4606234" y="5803077"/>
            <a:ext cx="1691640" cy="201168"/>
          </a:xfrm>
          <a:prstGeom prst="rect">
            <a:avLst/>
          </a:prstGeom>
          <a:noFill/>
          <a:ln/>
        </p:spPr>
        <p:txBody>
          <a:bodyPr wrap="square" lIns="0" tIns="0" rIns="0" bIns="0" rtlCol="0" anchor="ctr">
            <a:normAutofit/>
          </a:bodyPr>
          <a:lstStyle/>
          <a:p>
            <a:r>
              <a:rPr lang="en-US" sz="900" dirty="0">
                <a:solidFill>
                  <a:srgbClr val="00249C"/>
                </a:solidFill>
                <a:latin typeface="Calibri" pitchFamily="34" charset="0"/>
                <a:ea typeface="Calibri" pitchFamily="34" charset="-122"/>
                <a:cs typeface="Calibri" pitchFamily="34" charset="-120"/>
              </a:rPr>
              <a:t>Campus X </a:t>
            </a:r>
            <a:r>
              <a:rPr lang="en-US" sz="850" b="1" dirty="0">
                <a:solidFill>
                  <a:srgbClr val="00249C"/>
                </a:solidFill>
                <a:latin typeface="Tahoma" panose="020B0604030504040204" pitchFamily="34" charset="0"/>
                <a:ea typeface="Tahoma" panose="020B0604030504040204" pitchFamily="34" charset="0"/>
                <a:cs typeface="Tahoma" panose="020B0604030504040204" pitchFamily="34" charset="0"/>
              </a:rPr>
              <a:t>Total Score</a:t>
            </a:r>
            <a:endParaRPr lang="en-US" sz="850" dirty="0">
              <a:solidFill>
                <a:srgbClr val="00249C"/>
              </a:solidFill>
              <a:latin typeface="Tahoma" panose="020B0604030504040204" pitchFamily="34" charset="0"/>
              <a:ea typeface="Tahoma" panose="020B0604030504040204" pitchFamily="34" charset="0"/>
              <a:cs typeface="Tahoma" panose="020B0604030504040204" pitchFamily="34" charset="0"/>
            </a:endParaRPr>
          </a:p>
        </p:txBody>
      </p:sp>
      <p:sp>
        <p:nvSpPr>
          <p:cNvPr id="8" name="Text 6">
            <a:extLst>
              <a:ext uri="{FF2B5EF4-FFF2-40B4-BE49-F238E27FC236}">
                <a16:creationId xmlns:a16="http://schemas.microsoft.com/office/drawing/2014/main" id="{23838B55-691B-071B-E85E-A6B74C8CCFBF}"/>
              </a:ext>
            </a:extLst>
          </p:cNvPr>
          <p:cNvSpPr/>
          <p:nvPr/>
        </p:nvSpPr>
        <p:spPr>
          <a:xfrm>
            <a:off x="4606234" y="6068253"/>
            <a:ext cx="1691640" cy="384048"/>
          </a:xfrm>
          <a:prstGeom prst="rect">
            <a:avLst/>
          </a:prstGeom>
          <a:noFill/>
          <a:ln/>
        </p:spPr>
        <p:txBody>
          <a:bodyPr wrap="square" lIns="0" tIns="0" rIns="0" bIns="0" rtlCol="0" anchor="ctr"/>
          <a:lstStyle/>
          <a:p>
            <a:pPr marL="0" indent="0">
              <a:buNone/>
            </a:pPr>
            <a:r>
              <a:rPr lang="en-US" sz="2400" b="1" dirty="0">
                <a:solidFill>
                  <a:srgbClr val="4F9D3D"/>
                </a:solidFill>
                <a:latin typeface="Tahoma" panose="020B0604030504040204" pitchFamily="34" charset="0"/>
                <a:ea typeface="Tahoma" panose="020B0604030504040204" pitchFamily="34" charset="0"/>
                <a:cs typeface="Tahoma" panose="020B0604030504040204" pitchFamily="34" charset="0"/>
              </a:rPr>
              <a:t>92%</a:t>
            </a:r>
            <a:endParaRPr lang="en-US" sz="2400" dirty="0">
              <a:solidFill>
                <a:srgbClr val="C0DD97"/>
              </a:solidFill>
              <a:latin typeface="Tahoma" panose="020B0604030504040204" pitchFamily="34" charset="0"/>
              <a:ea typeface="Tahoma" panose="020B0604030504040204" pitchFamily="34" charset="0"/>
              <a:cs typeface="Tahoma" panose="020B0604030504040204" pitchFamily="34" charset="0"/>
            </a:endParaRPr>
          </a:p>
        </p:txBody>
      </p:sp>
      <p:sp>
        <p:nvSpPr>
          <p:cNvPr id="9" name="Text 7">
            <a:extLst>
              <a:ext uri="{FF2B5EF4-FFF2-40B4-BE49-F238E27FC236}">
                <a16:creationId xmlns:a16="http://schemas.microsoft.com/office/drawing/2014/main" id="{8F485DFD-C27F-DE27-6A11-1CBB09C4CED7}"/>
              </a:ext>
            </a:extLst>
          </p:cNvPr>
          <p:cNvSpPr/>
          <p:nvPr/>
        </p:nvSpPr>
        <p:spPr>
          <a:xfrm>
            <a:off x="4606234" y="6498021"/>
            <a:ext cx="1691640" cy="228600"/>
          </a:xfrm>
          <a:prstGeom prst="rect">
            <a:avLst/>
          </a:prstGeom>
          <a:noFill/>
          <a:ln/>
        </p:spPr>
        <p:txBody>
          <a:bodyPr wrap="square" lIns="0" tIns="0" rIns="0" bIns="0" rtlCol="0" anchor="ctr">
            <a:normAutofit/>
          </a:bodyPr>
          <a:lstStyle/>
          <a:p>
            <a:pPr marL="0" indent="0">
              <a:buNone/>
            </a:pPr>
            <a:r>
              <a:rPr lang="en-US" sz="800" dirty="0">
                <a:solidFill>
                  <a:srgbClr val="00249C"/>
                </a:solidFill>
                <a:latin typeface="Tahoma" panose="020B0604030504040204" pitchFamily="34" charset="0"/>
                <a:ea typeface="Tahoma" panose="020B0604030504040204" pitchFamily="34" charset="0"/>
                <a:cs typeface="Tahoma" panose="020B0604030504040204" pitchFamily="34" charset="0"/>
              </a:rPr>
              <a:t>Target: 100%</a:t>
            </a:r>
          </a:p>
        </p:txBody>
      </p:sp>
      <p:sp>
        <p:nvSpPr>
          <p:cNvPr id="10" name="Shape 8">
            <a:extLst>
              <a:ext uri="{FF2B5EF4-FFF2-40B4-BE49-F238E27FC236}">
                <a16:creationId xmlns:a16="http://schemas.microsoft.com/office/drawing/2014/main" id="{D490E1E8-506F-A5B9-A4CC-784E98FE5337}"/>
              </a:ext>
            </a:extLst>
          </p:cNvPr>
          <p:cNvSpPr/>
          <p:nvPr/>
        </p:nvSpPr>
        <p:spPr>
          <a:xfrm>
            <a:off x="6558010" y="5656773"/>
            <a:ext cx="2011680" cy="1143000"/>
          </a:xfrm>
          <a:prstGeom prst="roundRect">
            <a:avLst>
              <a:gd name="adj" fmla="val 6400"/>
            </a:avLst>
          </a:prstGeom>
          <a:solidFill>
            <a:srgbClr val="FFFFFF"/>
          </a:solidFill>
          <a:ln w="8890">
            <a:solidFill>
              <a:srgbClr val="DDE6F3"/>
            </a:solidFill>
            <a:prstDash val="solid"/>
          </a:ln>
        </p:spPr>
        <p:txBody>
          <a:bodyPr/>
          <a:lstStyle/>
          <a:p>
            <a:endParaRPr lang="en-US" dirty="0">
              <a:latin typeface="Tahoma" panose="020B0604030504040204" pitchFamily="34" charset="0"/>
              <a:ea typeface="Tahoma" panose="020B0604030504040204" pitchFamily="34" charset="0"/>
              <a:cs typeface="Tahoma" panose="020B0604030504040204" pitchFamily="34" charset="0"/>
            </a:endParaRPr>
          </a:p>
        </p:txBody>
      </p:sp>
      <p:sp>
        <p:nvSpPr>
          <p:cNvPr id="11" name="Shape 9">
            <a:extLst>
              <a:ext uri="{FF2B5EF4-FFF2-40B4-BE49-F238E27FC236}">
                <a16:creationId xmlns:a16="http://schemas.microsoft.com/office/drawing/2014/main" id="{DE9DDCEF-95FE-FC55-11BB-730BFF4CE7E0}"/>
              </a:ext>
            </a:extLst>
          </p:cNvPr>
          <p:cNvSpPr/>
          <p:nvPr/>
        </p:nvSpPr>
        <p:spPr>
          <a:xfrm>
            <a:off x="6564959" y="5656773"/>
            <a:ext cx="73152" cy="1143000"/>
          </a:xfrm>
          <a:prstGeom prst="rect">
            <a:avLst/>
          </a:prstGeom>
          <a:solidFill>
            <a:srgbClr val="B5D4F4"/>
          </a:solidFill>
          <a:ln w="12700">
            <a:solidFill>
              <a:srgbClr val="B5D4F4"/>
            </a:solidFill>
            <a:prstDash val="solid"/>
          </a:ln>
        </p:spPr>
        <p:txBody>
          <a:bodyPr/>
          <a:lstStyle/>
          <a:p>
            <a:endParaRPr lang="en-US">
              <a:latin typeface="Tahoma" panose="020B0604030504040204" pitchFamily="34" charset="0"/>
              <a:ea typeface="Tahoma" panose="020B0604030504040204" pitchFamily="34" charset="0"/>
              <a:cs typeface="Tahoma" panose="020B0604030504040204" pitchFamily="34" charset="0"/>
            </a:endParaRPr>
          </a:p>
        </p:txBody>
      </p:sp>
      <p:sp>
        <p:nvSpPr>
          <p:cNvPr id="12" name="Text 10">
            <a:extLst>
              <a:ext uri="{FF2B5EF4-FFF2-40B4-BE49-F238E27FC236}">
                <a16:creationId xmlns:a16="http://schemas.microsoft.com/office/drawing/2014/main" id="{F94524AF-AAB9-6972-CCEF-22D6F85BB006}"/>
              </a:ext>
            </a:extLst>
          </p:cNvPr>
          <p:cNvSpPr/>
          <p:nvPr/>
        </p:nvSpPr>
        <p:spPr>
          <a:xfrm>
            <a:off x="6759178" y="5803077"/>
            <a:ext cx="1691640" cy="201168"/>
          </a:xfrm>
          <a:prstGeom prst="rect">
            <a:avLst/>
          </a:prstGeom>
          <a:noFill/>
          <a:ln/>
        </p:spPr>
        <p:txBody>
          <a:bodyPr wrap="square" lIns="0" tIns="0" rIns="0" bIns="0" rtlCol="0" anchor="ctr">
            <a:normAutofit/>
          </a:bodyPr>
          <a:lstStyle/>
          <a:p>
            <a:r>
              <a:rPr lang="en-US" sz="900" dirty="0">
                <a:solidFill>
                  <a:srgbClr val="00249C"/>
                </a:solidFill>
                <a:latin typeface="Calibri" pitchFamily="34" charset="0"/>
                <a:ea typeface="Calibri" pitchFamily="34" charset="-122"/>
                <a:cs typeface="Calibri" pitchFamily="34" charset="-120"/>
              </a:rPr>
              <a:t>Campus Y</a:t>
            </a:r>
            <a:r>
              <a:rPr lang="en-US" sz="850" b="1" dirty="0">
                <a:solidFill>
                  <a:srgbClr val="00249C"/>
                </a:solidFill>
                <a:latin typeface="Tahoma" panose="020B0604030504040204" pitchFamily="34" charset="0"/>
                <a:ea typeface="Tahoma" panose="020B0604030504040204" pitchFamily="34" charset="0"/>
                <a:cs typeface="Tahoma" panose="020B0604030504040204" pitchFamily="34" charset="0"/>
              </a:rPr>
              <a:t> Total Score</a:t>
            </a:r>
            <a:endParaRPr lang="en-US" sz="850" dirty="0">
              <a:solidFill>
                <a:srgbClr val="00249C"/>
              </a:solidFill>
              <a:latin typeface="Tahoma" panose="020B0604030504040204" pitchFamily="34" charset="0"/>
              <a:ea typeface="Tahoma" panose="020B0604030504040204" pitchFamily="34" charset="0"/>
              <a:cs typeface="Tahoma" panose="020B0604030504040204" pitchFamily="34" charset="0"/>
            </a:endParaRPr>
          </a:p>
        </p:txBody>
      </p:sp>
      <p:sp>
        <p:nvSpPr>
          <p:cNvPr id="13" name="Text 11">
            <a:extLst>
              <a:ext uri="{FF2B5EF4-FFF2-40B4-BE49-F238E27FC236}">
                <a16:creationId xmlns:a16="http://schemas.microsoft.com/office/drawing/2014/main" id="{AB5F7F04-7F88-D15D-9522-74A54C148186}"/>
              </a:ext>
            </a:extLst>
          </p:cNvPr>
          <p:cNvSpPr/>
          <p:nvPr/>
        </p:nvSpPr>
        <p:spPr>
          <a:xfrm>
            <a:off x="6759178" y="6068253"/>
            <a:ext cx="1691640" cy="384048"/>
          </a:xfrm>
          <a:prstGeom prst="rect">
            <a:avLst/>
          </a:prstGeom>
          <a:noFill/>
          <a:ln/>
        </p:spPr>
        <p:txBody>
          <a:bodyPr wrap="square" lIns="0" tIns="0" rIns="0" bIns="0" rtlCol="0" anchor="ctr"/>
          <a:lstStyle/>
          <a:p>
            <a:pPr marL="0" indent="0">
              <a:buNone/>
            </a:pPr>
            <a:r>
              <a:rPr lang="en-US" sz="2400" b="1" dirty="0">
                <a:solidFill>
                  <a:srgbClr val="D64545"/>
                </a:solidFill>
                <a:latin typeface="Tahoma" panose="020B0604030504040204" pitchFamily="34" charset="0"/>
                <a:ea typeface="Tahoma" panose="020B0604030504040204" pitchFamily="34" charset="0"/>
                <a:cs typeface="Tahoma" panose="020B0604030504040204" pitchFamily="34" charset="0"/>
              </a:rPr>
              <a:t>90%</a:t>
            </a:r>
            <a:endParaRPr lang="en-US" sz="2400" dirty="0">
              <a:solidFill>
                <a:srgbClr val="F7C1C1"/>
              </a:solidFill>
              <a:latin typeface="Tahoma" panose="020B0604030504040204" pitchFamily="34" charset="0"/>
              <a:ea typeface="Tahoma" panose="020B0604030504040204" pitchFamily="34" charset="0"/>
              <a:cs typeface="Tahoma" panose="020B0604030504040204" pitchFamily="34" charset="0"/>
            </a:endParaRPr>
          </a:p>
        </p:txBody>
      </p:sp>
      <p:sp>
        <p:nvSpPr>
          <p:cNvPr id="14" name="Text 12">
            <a:extLst>
              <a:ext uri="{FF2B5EF4-FFF2-40B4-BE49-F238E27FC236}">
                <a16:creationId xmlns:a16="http://schemas.microsoft.com/office/drawing/2014/main" id="{C38DF26B-7C62-9920-49B6-52D3654044D0}"/>
              </a:ext>
            </a:extLst>
          </p:cNvPr>
          <p:cNvSpPr/>
          <p:nvPr/>
        </p:nvSpPr>
        <p:spPr>
          <a:xfrm>
            <a:off x="6759178" y="6498021"/>
            <a:ext cx="1691640" cy="228600"/>
          </a:xfrm>
          <a:prstGeom prst="rect">
            <a:avLst/>
          </a:prstGeom>
          <a:noFill/>
          <a:ln/>
        </p:spPr>
        <p:txBody>
          <a:bodyPr wrap="square" lIns="0" tIns="0" rIns="0" bIns="0" rtlCol="0" anchor="ctr">
            <a:normAutofit/>
          </a:bodyPr>
          <a:lstStyle/>
          <a:p>
            <a:pPr marL="0" indent="0">
              <a:buNone/>
            </a:pPr>
            <a:r>
              <a:rPr lang="en-US" sz="800" dirty="0">
                <a:solidFill>
                  <a:srgbClr val="00249C"/>
                </a:solidFill>
                <a:latin typeface="Tahoma" panose="020B0604030504040204" pitchFamily="34" charset="0"/>
                <a:ea typeface="Tahoma" panose="020B0604030504040204" pitchFamily="34" charset="0"/>
                <a:cs typeface="Tahoma" panose="020B0604030504040204" pitchFamily="34" charset="0"/>
              </a:rPr>
              <a:t>Target: 100%</a:t>
            </a:r>
          </a:p>
        </p:txBody>
      </p:sp>
      <p:sp>
        <p:nvSpPr>
          <p:cNvPr id="15" name="Shape 13">
            <a:extLst>
              <a:ext uri="{FF2B5EF4-FFF2-40B4-BE49-F238E27FC236}">
                <a16:creationId xmlns:a16="http://schemas.microsoft.com/office/drawing/2014/main" id="{85582E47-FDA5-7BD3-9993-ACA0D7136A1C}"/>
              </a:ext>
            </a:extLst>
          </p:cNvPr>
          <p:cNvSpPr/>
          <p:nvPr/>
        </p:nvSpPr>
        <p:spPr>
          <a:xfrm>
            <a:off x="8710954" y="5663225"/>
            <a:ext cx="2011680" cy="1143000"/>
          </a:xfrm>
          <a:prstGeom prst="roundRect">
            <a:avLst>
              <a:gd name="adj" fmla="val 6400"/>
            </a:avLst>
          </a:prstGeom>
          <a:solidFill>
            <a:srgbClr val="FFFFFF"/>
          </a:solidFill>
          <a:ln w="8890">
            <a:solidFill>
              <a:srgbClr val="DDE6F3"/>
            </a:solidFill>
            <a:prstDash val="solid"/>
          </a:ln>
        </p:spPr>
        <p:txBody>
          <a:bodyPr/>
          <a:lstStyle/>
          <a:p>
            <a:endParaRPr lang="en-US" dirty="0">
              <a:latin typeface="Tahoma" panose="020B0604030504040204" pitchFamily="34" charset="0"/>
              <a:ea typeface="Tahoma" panose="020B0604030504040204" pitchFamily="34" charset="0"/>
              <a:cs typeface="Tahoma" panose="020B0604030504040204" pitchFamily="34" charset="0"/>
            </a:endParaRPr>
          </a:p>
        </p:txBody>
      </p:sp>
      <p:sp>
        <p:nvSpPr>
          <p:cNvPr id="17" name="Shape 14">
            <a:extLst>
              <a:ext uri="{FF2B5EF4-FFF2-40B4-BE49-F238E27FC236}">
                <a16:creationId xmlns:a16="http://schemas.microsoft.com/office/drawing/2014/main" id="{360916A7-3E42-58AE-F5C2-8C3004CBCB12}"/>
              </a:ext>
            </a:extLst>
          </p:cNvPr>
          <p:cNvSpPr/>
          <p:nvPr/>
        </p:nvSpPr>
        <p:spPr>
          <a:xfrm>
            <a:off x="8710954" y="5663225"/>
            <a:ext cx="73152" cy="1143000"/>
          </a:xfrm>
          <a:prstGeom prst="rect">
            <a:avLst/>
          </a:prstGeom>
          <a:solidFill>
            <a:srgbClr val="B5D4F4"/>
          </a:solidFill>
          <a:ln w="12700">
            <a:solidFill>
              <a:srgbClr val="B5D4F4"/>
            </a:solidFill>
            <a:prstDash val="solid"/>
          </a:ln>
        </p:spPr>
        <p:txBody>
          <a:bodyPr/>
          <a:lstStyle/>
          <a:p>
            <a:endParaRPr lang="en-US">
              <a:latin typeface="Tahoma" panose="020B0604030504040204" pitchFamily="34" charset="0"/>
              <a:ea typeface="Tahoma" panose="020B0604030504040204" pitchFamily="34" charset="0"/>
              <a:cs typeface="Tahoma" panose="020B0604030504040204" pitchFamily="34" charset="0"/>
            </a:endParaRPr>
          </a:p>
        </p:txBody>
      </p:sp>
      <p:sp>
        <p:nvSpPr>
          <p:cNvPr id="18" name="Text 15">
            <a:extLst>
              <a:ext uri="{FF2B5EF4-FFF2-40B4-BE49-F238E27FC236}">
                <a16:creationId xmlns:a16="http://schemas.microsoft.com/office/drawing/2014/main" id="{4B09F206-B6DA-38C5-5B9A-AE66D7E02895}"/>
              </a:ext>
            </a:extLst>
          </p:cNvPr>
          <p:cNvSpPr/>
          <p:nvPr/>
        </p:nvSpPr>
        <p:spPr>
          <a:xfrm>
            <a:off x="8912122" y="5809529"/>
            <a:ext cx="1691640" cy="201168"/>
          </a:xfrm>
          <a:prstGeom prst="rect">
            <a:avLst/>
          </a:prstGeom>
          <a:noFill/>
          <a:ln/>
        </p:spPr>
        <p:txBody>
          <a:bodyPr wrap="square" lIns="0" tIns="0" rIns="0" bIns="0" rtlCol="0" anchor="ctr">
            <a:normAutofit/>
          </a:bodyPr>
          <a:lstStyle/>
          <a:p>
            <a:pPr marL="0" indent="0">
              <a:buNone/>
            </a:pPr>
            <a:r>
              <a:rPr lang="en-US" sz="850" b="1" dirty="0">
                <a:solidFill>
                  <a:srgbClr val="00249C"/>
                </a:solidFill>
                <a:latin typeface="Tahoma" panose="020B0604030504040204" pitchFamily="34" charset="0"/>
                <a:ea typeface="Tahoma" panose="020B0604030504040204" pitchFamily="34" charset="0"/>
                <a:cs typeface="Tahoma" panose="020B0604030504040204" pitchFamily="34" charset="0"/>
              </a:rPr>
              <a:t>Avg Across Campuses</a:t>
            </a:r>
            <a:endParaRPr lang="en-US" sz="850" dirty="0">
              <a:solidFill>
                <a:srgbClr val="00249C"/>
              </a:solidFill>
              <a:latin typeface="Tahoma" panose="020B0604030504040204" pitchFamily="34" charset="0"/>
              <a:ea typeface="Tahoma" panose="020B0604030504040204" pitchFamily="34" charset="0"/>
              <a:cs typeface="Tahoma" panose="020B0604030504040204" pitchFamily="34" charset="0"/>
            </a:endParaRPr>
          </a:p>
        </p:txBody>
      </p:sp>
      <p:sp>
        <p:nvSpPr>
          <p:cNvPr id="19" name="Text 16">
            <a:extLst>
              <a:ext uri="{FF2B5EF4-FFF2-40B4-BE49-F238E27FC236}">
                <a16:creationId xmlns:a16="http://schemas.microsoft.com/office/drawing/2014/main" id="{36836A9C-BE22-08D0-60CB-84A1FDB6FE39}"/>
              </a:ext>
            </a:extLst>
          </p:cNvPr>
          <p:cNvSpPr/>
          <p:nvPr/>
        </p:nvSpPr>
        <p:spPr>
          <a:xfrm>
            <a:off x="8912122" y="6074705"/>
            <a:ext cx="1691640" cy="384048"/>
          </a:xfrm>
          <a:prstGeom prst="rect">
            <a:avLst/>
          </a:prstGeom>
          <a:noFill/>
          <a:ln/>
        </p:spPr>
        <p:txBody>
          <a:bodyPr wrap="square" lIns="0" tIns="0" rIns="0" bIns="0" rtlCol="0" anchor="ctr"/>
          <a:lstStyle/>
          <a:p>
            <a:pPr marL="0" indent="0">
              <a:buNone/>
            </a:pPr>
            <a:r>
              <a:rPr lang="en-US" sz="2400" b="1" dirty="0">
                <a:solidFill>
                  <a:srgbClr val="2F6FB0"/>
                </a:solidFill>
                <a:latin typeface="Tahoma" panose="020B0604030504040204" pitchFamily="34" charset="0"/>
                <a:ea typeface="Tahoma" panose="020B0604030504040204" pitchFamily="34" charset="0"/>
                <a:cs typeface="Tahoma" panose="020B0604030504040204" pitchFamily="34" charset="0"/>
              </a:rPr>
              <a:t>95%</a:t>
            </a:r>
            <a:endParaRPr lang="en-US" sz="2400" dirty="0">
              <a:solidFill>
                <a:srgbClr val="B5D4F4"/>
              </a:solidFill>
              <a:latin typeface="Tahoma" panose="020B0604030504040204" pitchFamily="34" charset="0"/>
              <a:ea typeface="Tahoma" panose="020B0604030504040204" pitchFamily="34" charset="0"/>
              <a:cs typeface="Tahoma" panose="020B0604030504040204" pitchFamily="34" charset="0"/>
            </a:endParaRPr>
          </a:p>
        </p:txBody>
      </p:sp>
      <p:sp>
        <p:nvSpPr>
          <p:cNvPr id="20" name="Text 17">
            <a:extLst>
              <a:ext uri="{FF2B5EF4-FFF2-40B4-BE49-F238E27FC236}">
                <a16:creationId xmlns:a16="http://schemas.microsoft.com/office/drawing/2014/main" id="{7624AC58-4425-0C3E-F731-43A967488991}"/>
              </a:ext>
            </a:extLst>
          </p:cNvPr>
          <p:cNvSpPr/>
          <p:nvPr/>
        </p:nvSpPr>
        <p:spPr>
          <a:xfrm>
            <a:off x="8912122" y="6504473"/>
            <a:ext cx="1691640" cy="228600"/>
          </a:xfrm>
          <a:prstGeom prst="rect">
            <a:avLst/>
          </a:prstGeom>
          <a:noFill/>
          <a:ln/>
        </p:spPr>
        <p:txBody>
          <a:bodyPr wrap="square" lIns="0" tIns="0" rIns="0" bIns="0" rtlCol="0" anchor="ctr">
            <a:normAutofit/>
          </a:bodyPr>
          <a:lstStyle/>
          <a:p>
            <a:pPr marL="0" indent="0">
              <a:buNone/>
            </a:pPr>
            <a:r>
              <a:rPr lang="en-US" sz="800" dirty="0">
                <a:solidFill>
                  <a:srgbClr val="00249C"/>
                </a:solidFill>
                <a:latin typeface="Tahoma" panose="020B0604030504040204" pitchFamily="34" charset="0"/>
                <a:ea typeface="Tahoma" panose="020B0604030504040204" pitchFamily="34" charset="0"/>
                <a:cs typeface="Tahoma" panose="020B0604030504040204" pitchFamily="34" charset="0"/>
              </a:rPr>
              <a:t>Benchmark comparison</a:t>
            </a:r>
          </a:p>
        </p:txBody>
      </p:sp>
      <p:sp>
        <p:nvSpPr>
          <p:cNvPr id="22" name="Title 1">
            <a:extLst>
              <a:ext uri="{FF2B5EF4-FFF2-40B4-BE49-F238E27FC236}">
                <a16:creationId xmlns:a16="http://schemas.microsoft.com/office/drawing/2014/main" id="{CD5AC918-06A5-5101-85FB-F4BB67E22D83}"/>
              </a:ext>
            </a:extLst>
          </p:cNvPr>
          <p:cNvSpPr txBox="1">
            <a:spLocks/>
          </p:cNvSpPr>
          <p:nvPr/>
        </p:nvSpPr>
        <p:spPr>
          <a:xfrm>
            <a:off x="572333" y="99680"/>
            <a:ext cx="10150301" cy="986177"/>
          </a:xfrm>
          <a:prstGeom prst="rect">
            <a:avLst/>
          </a:prstGeom>
        </p:spPr>
        <p:txBody>
          <a:bodyPr vert="horz" lIns="91440" tIns="45720" rIns="91440" bIns="45720" rtlCol="0" anchor="ctr" anchorCtr="0">
            <a:normAutofit/>
          </a:bodyPr>
          <a:lstStyle>
            <a:lvl1pPr algn="l" defTabSz="914400" rtl="0" eaLnBrk="1" latinLnBrk="0" hangingPunct="1">
              <a:lnSpc>
                <a:spcPct val="90000"/>
              </a:lnSpc>
              <a:spcBef>
                <a:spcPct val="0"/>
              </a:spcBef>
              <a:buNone/>
              <a:defRPr sz="4500" b="1" kern="1200">
                <a:solidFill>
                  <a:srgbClr val="00249C"/>
                </a:solidFill>
                <a:latin typeface="Tahoma" panose="020B0604030504040204" pitchFamily="34" charset="0"/>
                <a:ea typeface="Tahoma" panose="020B0604030504040204" pitchFamily="34" charset="0"/>
                <a:cs typeface="Tahoma" panose="020B0604030504040204" pitchFamily="34" charset="0"/>
              </a:defRPr>
            </a:lvl1pPr>
          </a:lstStyle>
          <a:p>
            <a:r>
              <a:rPr lang="en-US" sz="3000" dirty="0"/>
              <a:t>2. EHS KPI Dashboard</a:t>
            </a:r>
          </a:p>
          <a:p>
            <a:r>
              <a:rPr lang="en-US" sz="2400" b="0" dirty="0"/>
              <a:t>	</a:t>
            </a:r>
          </a:p>
        </p:txBody>
      </p:sp>
    </p:spTree>
    <p:extLst>
      <p:ext uri="{BB962C8B-B14F-4D97-AF65-F5344CB8AC3E}">
        <p14:creationId xmlns:p14="http://schemas.microsoft.com/office/powerpoint/2010/main" val="7737803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BD99B9-3820-B971-B1D7-620DEE0071F1}"/>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C48238A1-D318-D613-6F89-40EEC84EF164}"/>
              </a:ext>
            </a:extLst>
          </p:cNvPr>
          <p:cNvSpPr>
            <a:spLocks noGrp="1"/>
          </p:cNvSpPr>
          <p:nvPr>
            <p:ph type="body" sz="quarter" idx="10"/>
          </p:nvPr>
        </p:nvSpPr>
        <p:spPr>
          <a:xfrm>
            <a:off x="659213" y="4915569"/>
            <a:ext cx="7123819" cy="1724717"/>
          </a:xfrm>
        </p:spPr>
        <p:txBody>
          <a:bodyPr>
            <a:normAutofit/>
          </a:bodyPr>
          <a:lstStyle/>
          <a:p>
            <a:r>
              <a:rPr lang="en-US" sz="1400" b="1" dirty="0"/>
              <a:t>Key Observations:</a:t>
            </a:r>
          </a:p>
          <a:p>
            <a:r>
              <a:rPr lang="en-US" sz="1200" dirty="0"/>
              <a:t>Explanation by Campus EHS Specialists </a:t>
            </a:r>
          </a:p>
        </p:txBody>
      </p:sp>
      <p:sp>
        <p:nvSpPr>
          <p:cNvPr id="9" name="Rectangle 8">
            <a:extLst>
              <a:ext uri="{FF2B5EF4-FFF2-40B4-BE49-F238E27FC236}">
                <a16:creationId xmlns:a16="http://schemas.microsoft.com/office/drawing/2014/main" id="{8F898888-EAF2-DFE9-83D9-1D6C461018AA}"/>
              </a:ext>
            </a:extLst>
          </p:cNvPr>
          <p:cNvSpPr/>
          <p:nvPr/>
        </p:nvSpPr>
        <p:spPr>
          <a:xfrm>
            <a:off x="4618039" y="2077298"/>
            <a:ext cx="3454707" cy="153390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1400" dirty="0">
                <a:solidFill>
                  <a:srgbClr val="002060"/>
                </a:solidFill>
                <a:latin typeface="Tahoma" panose="020B0604030504040204" pitchFamily="34" charset="0"/>
                <a:ea typeface="Tahoma" panose="020B0604030504040204" pitchFamily="34" charset="0"/>
                <a:cs typeface="Tahoma" panose="020B0604030504040204" pitchFamily="34" charset="0"/>
              </a:rPr>
              <a:t>External Audit</a:t>
            </a:r>
          </a:p>
          <a:p>
            <a:endParaRPr lang="en-US" sz="1400" dirty="0">
              <a:solidFill>
                <a:srgbClr val="002060"/>
              </a:solidFill>
              <a:latin typeface="Tahoma" panose="020B0604030504040204" pitchFamily="34" charset="0"/>
              <a:ea typeface="Tahoma" panose="020B0604030504040204" pitchFamily="34" charset="0"/>
              <a:cs typeface="Tahoma" panose="020B0604030504040204" pitchFamily="34" charset="0"/>
            </a:endParaRPr>
          </a:p>
          <a:p>
            <a:pPr marL="285750" indent="-285750">
              <a:buFont typeface="Arial" panose="020B0604020202020204" pitchFamily="34" charset="0"/>
              <a:buChar char="•"/>
            </a:pPr>
            <a:r>
              <a:rPr lang="en-US" sz="1400" dirty="0">
                <a:solidFill>
                  <a:srgbClr val="002060"/>
                </a:solidFill>
                <a:latin typeface="Tahoma" panose="020B0604030504040204" pitchFamily="34" charset="0"/>
                <a:ea typeface="Tahoma" panose="020B0604030504040204" pitchFamily="34" charset="0"/>
                <a:cs typeface="Tahoma" panose="020B0604030504040204" pitchFamily="34" charset="0"/>
              </a:rPr>
              <a:t>No items to report for this quarter</a:t>
            </a:r>
          </a:p>
        </p:txBody>
      </p:sp>
      <p:sp>
        <p:nvSpPr>
          <p:cNvPr id="5" name="Title 1">
            <a:extLst>
              <a:ext uri="{FF2B5EF4-FFF2-40B4-BE49-F238E27FC236}">
                <a16:creationId xmlns:a16="http://schemas.microsoft.com/office/drawing/2014/main" id="{F0CA8B27-2052-82D9-14D5-4BBDD783CF5D}"/>
              </a:ext>
            </a:extLst>
          </p:cNvPr>
          <p:cNvSpPr txBox="1">
            <a:spLocks/>
          </p:cNvSpPr>
          <p:nvPr/>
        </p:nvSpPr>
        <p:spPr>
          <a:xfrm>
            <a:off x="659213" y="144976"/>
            <a:ext cx="10150301" cy="986177"/>
          </a:xfrm>
          <a:prstGeom prst="rect">
            <a:avLst/>
          </a:prstGeom>
        </p:spPr>
        <p:txBody>
          <a:bodyPr vert="horz" lIns="91440" tIns="45720" rIns="91440" bIns="45720" rtlCol="0" anchor="ctr" anchorCtr="0">
            <a:normAutofit/>
          </a:bodyPr>
          <a:lstStyle>
            <a:lvl1pPr algn="l" defTabSz="914400" rtl="0" eaLnBrk="1" latinLnBrk="0" hangingPunct="1">
              <a:lnSpc>
                <a:spcPct val="90000"/>
              </a:lnSpc>
              <a:spcBef>
                <a:spcPct val="0"/>
              </a:spcBef>
              <a:buNone/>
              <a:defRPr sz="4500" b="1" kern="1200">
                <a:solidFill>
                  <a:srgbClr val="00249C"/>
                </a:solidFill>
                <a:latin typeface="Tahoma" panose="020B0604030504040204" pitchFamily="34" charset="0"/>
                <a:ea typeface="Tahoma" panose="020B0604030504040204" pitchFamily="34" charset="0"/>
                <a:cs typeface="Tahoma" panose="020B0604030504040204" pitchFamily="34" charset="0"/>
              </a:defRPr>
            </a:lvl1pPr>
          </a:lstStyle>
          <a:p>
            <a:r>
              <a:rPr lang="en-US" sz="2800" dirty="0"/>
              <a:t>2. EHS KPI Dashboard</a:t>
            </a:r>
          </a:p>
          <a:p>
            <a:r>
              <a:rPr lang="en-US" sz="2400" b="0" dirty="0"/>
              <a:t>1. Leadership, Accountability &amp; Engagement - </a:t>
            </a:r>
            <a:r>
              <a:rPr lang="en-US" sz="2400" b="0" i="1" dirty="0"/>
              <a:t>Accountability</a:t>
            </a:r>
          </a:p>
        </p:txBody>
      </p:sp>
      <p:graphicFrame>
        <p:nvGraphicFramePr>
          <p:cNvPr id="8" name="Chart 7">
            <a:extLst>
              <a:ext uri="{FF2B5EF4-FFF2-40B4-BE49-F238E27FC236}">
                <a16:creationId xmlns:a16="http://schemas.microsoft.com/office/drawing/2014/main" id="{998A801F-965E-8AF5-3D82-28FEE87070DB}"/>
              </a:ext>
            </a:extLst>
          </p:cNvPr>
          <p:cNvGraphicFramePr/>
          <p:nvPr>
            <p:extLst>
              <p:ext uri="{D42A27DB-BD31-4B8C-83A1-F6EECF244321}">
                <p14:modId xmlns:p14="http://schemas.microsoft.com/office/powerpoint/2010/main" val="438454270"/>
              </p:ext>
            </p:extLst>
          </p:nvPr>
        </p:nvGraphicFramePr>
        <p:xfrm>
          <a:off x="1031357" y="1942432"/>
          <a:ext cx="3729099" cy="2196353"/>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2" name="Chart 11">
            <a:extLst>
              <a:ext uri="{FF2B5EF4-FFF2-40B4-BE49-F238E27FC236}">
                <a16:creationId xmlns:a16="http://schemas.microsoft.com/office/drawing/2014/main" id="{5FF326FB-2CC1-18F7-D4A2-2E078F7AC456}"/>
              </a:ext>
            </a:extLst>
          </p:cNvPr>
          <p:cNvGraphicFramePr/>
          <p:nvPr>
            <p:extLst>
              <p:ext uri="{D42A27DB-BD31-4B8C-83A1-F6EECF244321}">
                <p14:modId xmlns:p14="http://schemas.microsoft.com/office/powerpoint/2010/main" val="1037233065"/>
              </p:ext>
            </p:extLst>
          </p:nvPr>
        </p:nvGraphicFramePr>
        <p:xfrm>
          <a:off x="7783033" y="1942431"/>
          <a:ext cx="3891221" cy="2196353"/>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4626795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AA4CD-1E57-C9A4-DB22-BF3E48579D75}"/>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7DBF19E5-0524-21F8-FF1E-47A61DA7EA1F}"/>
              </a:ext>
            </a:extLst>
          </p:cNvPr>
          <p:cNvSpPr>
            <a:spLocks noGrp="1"/>
          </p:cNvSpPr>
          <p:nvPr>
            <p:ph type="body" sz="quarter" idx="10"/>
          </p:nvPr>
        </p:nvSpPr>
        <p:spPr>
          <a:xfrm>
            <a:off x="627319" y="4871298"/>
            <a:ext cx="8102011" cy="1724717"/>
          </a:xfrm>
        </p:spPr>
        <p:txBody>
          <a:bodyPr>
            <a:normAutofit/>
          </a:bodyPr>
          <a:lstStyle/>
          <a:p>
            <a:r>
              <a:rPr lang="en-US" sz="1400" b="1" dirty="0"/>
              <a:t>Key Observations: </a:t>
            </a:r>
          </a:p>
          <a:p>
            <a:r>
              <a:rPr lang="en-US" sz="1200" dirty="0"/>
              <a:t>Explanation by Campus EHS Specialists </a:t>
            </a:r>
          </a:p>
        </p:txBody>
      </p:sp>
      <p:sp>
        <p:nvSpPr>
          <p:cNvPr id="5" name="Title 1">
            <a:extLst>
              <a:ext uri="{FF2B5EF4-FFF2-40B4-BE49-F238E27FC236}">
                <a16:creationId xmlns:a16="http://schemas.microsoft.com/office/drawing/2014/main" id="{A3E015FF-C9AB-9D7B-9D92-48500A7C48B7}"/>
              </a:ext>
            </a:extLst>
          </p:cNvPr>
          <p:cNvSpPr txBox="1">
            <a:spLocks/>
          </p:cNvSpPr>
          <p:nvPr/>
        </p:nvSpPr>
        <p:spPr>
          <a:xfrm>
            <a:off x="721625" y="192797"/>
            <a:ext cx="10150301" cy="986177"/>
          </a:xfrm>
          <a:prstGeom prst="rect">
            <a:avLst/>
          </a:prstGeom>
        </p:spPr>
        <p:txBody>
          <a:bodyPr vert="horz" lIns="91440" tIns="45720" rIns="91440" bIns="45720" rtlCol="0" anchor="ctr" anchorCtr="0">
            <a:normAutofit/>
          </a:bodyPr>
          <a:lstStyle>
            <a:lvl1pPr algn="l" defTabSz="914400" rtl="0" eaLnBrk="1" latinLnBrk="0" hangingPunct="1">
              <a:lnSpc>
                <a:spcPct val="90000"/>
              </a:lnSpc>
              <a:spcBef>
                <a:spcPct val="0"/>
              </a:spcBef>
              <a:buNone/>
              <a:defRPr sz="4500" b="1" kern="1200">
                <a:solidFill>
                  <a:srgbClr val="00249C"/>
                </a:solidFill>
                <a:latin typeface="Tahoma" panose="020B0604030504040204" pitchFamily="34" charset="0"/>
                <a:ea typeface="Tahoma" panose="020B0604030504040204" pitchFamily="34" charset="0"/>
                <a:cs typeface="Tahoma" panose="020B0604030504040204" pitchFamily="34" charset="0"/>
              </a:defRPr>
            </a:lvl1pPr>
          </a:lstStyle>
          <a:p>
            <a:r>
              <a:rPr lang="en-US" sz="3000" dirty="0"/>
              <a:t>2. EHS KPI Dashboard</a:t>
            </a:r>
          </a:p>
          <a:p>
            <a:r>
              <a:rPr lang="en-US" sz="2400" b="0" dirty="0"/>
              <a:t>1. Leadership, Accountability &amp; Engagement – </a:t>
            </a:r>
            <a:r>
              <a:rPr lang="en-US" sz="2400" b="0" i="1" dirty="0"/>
              <a:t>Leadership Engagement</a:t>
            </a:r>
          </a:p>
        </p:txBody>
      </p:sp>
      <p:graphicFrame>
        <p:nvGraphicFramePr>
          <p:cNvPr id="9" name="Chart 8">
            <a:extLst>
              <a:ext uri="{FF2B5EF4-FFF2-40B4-BE49-F238E27FC236}">
                <a16:creationId xmlns:a16="http://schemas.microsoft.com/office/drawing/2014/main" id="{B7768753-BF2A-DA9D-47FD-667D71695908}"/>
              </a:ext>
            </a:extLst>
          </p:cNvPr>
          <p:cNvGraphicFramePr/>
          <p:nvPr>
            <p:extLst>
              <p:ext uri="{D42A27DB-BD31-4B8C-83A1-F6EECF244321}">
                <p14:modId xmlns:p14="http://schemas.microsoft.com/office/powerpoint/2010/main" val="627601906"/>
              </p:ext>
            </p:extLst>
          </p:nvPr>
        </p:nvGraphicFramePr>
        <p:xfrm>
          <a:off x="627320" y="2200802"/>
          <a:ext cx="3883249" cy="2332617"/>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2" name="Chart 11">
            <a:extLst>
              <a:ext uri="{FF2B5EF4-FFF2-40B4-BE49-F238E27FC236}">
                <a16:creationId xmlns:a16="http://schemas.microsoft.com/office/drawing/2014/main" id="{E9591459-A4B3-4D98-B316-4579A05903C4}"/>
              </a:ext>
            </a:extLst>
          </p:cNvPr>
          <p:cNvGraphicFramePr/>
          <p:nvPr>
            <p:extLst>
              <p:ext uri="{D42A27DB-BD31-4B8C-83A1-F6EECF244321}">
                <p14:modId xmlns:p14="http://schemas.microsoft.com/office/powerpoint/2010/main" val="2457679997"/>
              </p:ext>
            </p:extLst>
          </p:nvPr>
        </p:nvGraphicFramePr>
        <p:xfrm>
          <a:off x="4631848" y="1841002"/>
          <a:ext cx="4097483" cy="2692417"/>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36710722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74DA79F2-0212-3EA4-ED2F-8B8E9CE8E498}"/>
              </a:ext>
            </a:extLst>
          </p:cNvPr>
          <p:cNvSpPr>
            <a:spLocks noGrp="1"/>
          </p:cNvSpPr>
          <p:nvPr>
            <p:ph type="body" sz="quarter" idx="10"/>
          </p:nvPr>
        </p:nvSpPr>
        <p:spPr>
          <a:xfrm>
            <a:off x="833384" y="4455723"/>
            <a:ext cx="3599521" cy="1008375"/>
          </a:xfrm>
        </p:spPr>
        <p:txBody>
          <a:bodyPr>
            <a:normAutofit/>
          </a:bodyPr>
          <a:lstStyle/>
          <a:p>
            <a:r>
              <a:rPr lang="en-US" sz="1200" i="1" dirty="0"/>
              <a:t>Note: Each month, a sample of 3 risk assessments shall be reviewed, with 10 control measures evaluated for each assessment, totaling 30 control measures per month.</a:t>
            </a:r>
          </a:p>
        </p:txBody>
      </p:sp>
      <p:sp>
        <p:nvSpPr>
          <p:cNvPr id="14" name="Text Placeholder 3">
            <a:extLst>
              <a:ext uri="{FF2B5EF4-FFF2-40B4-BE49-F238E27FC236}">
                <a16:creationId xmlns:a16="http://schemas.microsoft.com/office/drawing/2014/main" id="{0D11CDD3-336E-D945-1CC1-C3A4C8E623BE}"/>
              </a:ext>
            </a:extLst>
          </p:cNvPr>
          <p:cNvSpPr txBox="1">
            <a:spLocks/>
          </p:cNvSpPr>
          <p:nvPr/>
        </p:nvSpPr>
        <p:spPr>
          <a:xfrm>
            <a:off x="4432907" y="4455723"/>
            <a:ext cx="3749039" cy="1008375"/>
          </a:xfrm>
          <a:prstGeom prst="rect">
            <a:avLst/>
          </a:prstGeom>
        </p:spPr>
        <p:txBody>
          <a:bodyPr vert="horz" lIns="91440" tIns="45720" rIns="91440" bIns="45720" rtlCol="0">
            <a:normAutofit/>
          </a:bodyPr>
          <a:lstStyle>
            <a:lvl1pPr marL="0" indent="0" algn="l" defTabSz="914400" rtl="0" eaLnBrk="1" latinLnBrk="0" hangingPunct="1">
              <a:lnSpc>
                <a:spcPct val="95000"/>
              </a:lnSpc>
              <a:spcBef>
                <a:spcPts val="1000"/>
              </a:spcBef>
              <a:buFontTx/>
              <a:buNone/>
              <a:defRPr sz="20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1pPr>
            <a:lvl2pPr marL="457200" indent="0" algn="l" defTabSz="914400" rtl="0" eaLnBrk="1" latinLnBrk="0" hangingPunct="1">
              <a:lnSpc>
                <a:spcPct val="90000"/>
              </a:lnSpc>
              <a:spcBef>
                <a:spcPts val="500"/>
              </a:spcBef>
              <a:buFontTx/>
              <a:buNone/>
              <a:defRPr sz="24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2pPr>
            <a:lvl3pPr marL="914400" indent="0" algn="l" defTabSz="914400" rtl="0" eaLnBrk="1" latinLnBrk="0" hangingPunct="1">
              <a:lnSpc>
                <a:spcPct val="90000"/>
              </a:lnSpc>
              <a:spcBef>
                <a:spcPts val="500"/>
              </a:spcBef>
              <a:buFontTx/>
              <a:buNone/>
              <a:defRPr sz="20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3pPr>
            <a:lvl4pPr marL="1371600" indent="0" algn="l" defTabSz="914400" rtl="0" eaLnBrk="1" latinLnBrk="0" hangingPunct="1">
              <a:lnSpc>
                <a:spcPct val="90000"/>
              </a:lnSpc>
              <a:spcBef>
                <a:spcPts val="500"/>
              </a:spcBef>
              <a:buFontTx/>
              <a:buNone/>
              <a:defRPr sz="18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4pPr>
            <a:lvl5pPr marL="1828800" indent="0" algn="l" defTabSz="914400" rtl="0" eaLnBrk="1" latinLnBrk="0" hangingPunct="1">
              <a:lnSpc>
                <a:spcPct val="90000"/>
              </a:lnSpc>
              <a:spcBef>
                <a:spcPts val="500"/>
              </a:spcBef>
              <a:buFontTx/>
              <a:buNone/>
              <a:defRPr sz="18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200" i="1" dirty="0"/>
              <a:t>Note: Total number of risk assessments recorded in the Risk Register, including the count of those currently valid based on their next scheduled review date.</a:t>
            </a:r>
          </a:p>
        </p:txBody>
      </p:sp>
      <p:sp>
        <p:nvSpPr>
          <p:cNvPr id="15" name="Text Placeholder 3">
            <a:extLst>
              <a:ext uri="{FF2B5EF4-FFF2-40B4-BE49-F238E27FC236}">
                <a16:creationId xmlns:a16="http://schemas.microsoft.com/office/drawing/2014/main" id="{30C15310-4A42-2CAC-108B-A89BF9CFBE19}"/>
              </a:ext>
            </a:extLst>
          </p:cNvPr>
          <p:cNvSpPr txBox="1">
            <a:spLocks/>
          </p:cNvSpPr>
          <p:nvPr/>
        </p:nvSpPr>
        <p:spPr>
          <a:xfrm>
            <a:off x="8181946" y="4455723"/>
            <a:ext cx="3749038" cy="1008375"/>
          </a:xfrm>
          <a:prstGeom prst="rect">
            <a:avLst/>
          </a:prstGeom>
        </p:spPr>
        <p:txBody>
          <a:bodyPr vert="horz" lIns="91440" tIns="45720" rIns="91440" bIns="45720" rtlCol="0">
            <a:normAutofit/>
          </a:bodyPr>
          <a:lstStyle>
            <a:lvl1pPr marL="0" indent="0" algn="l" defTabSz="914400" rtl="0" eaLnBrk="1" latinLnBrk="0" hangingPunct="1">
              <a:lnSpc>
                <a:spcPct val="95000"/>
              </a:lnSpc>
              <a:spcBef>
                <a:spcPts val="1000"/>
              </a:spcBef>
              <a:buFontTx/>
              <a:buNone/>
              <a:defRPr sz="20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1pPr>
            <a:lvl2pPr marL="457200" indent="0" algn="l" defTabSz="914400" rtl="0" eaLnBrk="1" latinLnBrk="0" hangingPunct="1">
              <a:lnSpc>
                <a:spcPct val="90000"/>
              </a:lnSpc>
              <a:spcBef>
                <a:spcPts val="500"/>
              </a:spcBef>
              <a:buFontTx/>
              <a:buNone/>
              <a:defRPr sz="24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2pPr>
            <a:lvl3pPr marL="914400" indent="0" algn="l" defTabSz="914400" rtl="0" eaLnBrk="1" latinLnBrk="0" hangingPunct="1">
              <a:lnSpc>
                <a:spcPct val="90000"/>
              </a:lnSpc>
              <a:spcBef>
                <a:spcPts val="500"/>
              </a:spcBef>
              <a:buFontTx/>
              <a:buNone/>
              <a:defRPr sz="20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3pPr>
            <a:lvl4pPr marL="1371600" indent="0" algn="l" defTabSz="914400" rtl="0" eaLnBrk="1" latinLnBrk="0" hangingPunct="1">
              <a:lnSpc>
                <a:spcPct val="90000"/>
              </a:lnSpc>
              <a:spcBef>
                <a:spcPts val="500"/>
              </a:spcBef>
              <a:buFontTx/>
              <a:buNone/>
              <a:defRPr sz="18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4pPr>
            <a:lvl5pPr marL="1828800" indent="0" algn="l" defTabSz="914400" rtl="0" eaLnBrk="1" latinLnBrk="0" hangingPunct="1">
              <a:lnSpc>
                <a:spcPct val="90000"/>
              </a:lnSpc>
              <a:spcBef>
                <a:spcPts val="500"/>
              </a:spcBef>
              <a:buFontTx/>
              <a:buNone/>
              <a:defRPr sz="18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200" i="1" dirty="0"/>
              <a:t>Note: Comparison of the total number of new risk assessments planned for inclusion in the Risk Register versus the number of risk assessments completed and added.</a:t>
            </a:r>
          </a:p>
        </p:txBody>
      </p:sp>
      <p:sp>
        <p:nvSpPr>
          <p:cNvPr id="5" name="Title 1">
            <a:extLst>
              <a:ext uri="{FF2B5EF4-FFF2-40B4-BE49-F238E27FC236}">
                <a16:creationId xmlns:a16="http://schemas.microsoft.com/office/drawing/2014/main" id="{3797ABFA-DAB7-9613-394A-E9B024961208}"/>
              </a:ext>
            </a:extLst>
          </p:cNvPr>
          <p:cNvSpPr txBox="1">
            <a:spLocks/>
          </p:cNvSpPr>
          <p:nvPr/>
        </p:nvSpPr>
        <p:spPr>
          <a:xfrm>
            <a:off x="620025" y="0"/>
            <a:ext cx="10150301" cy="986177"/>
          </a:xfrm>
          <a:prstGeom prst="rect">
            <a:avLst/>
          </a:prstGeom>
        </p:spPr>
        <p:txBody>
          <a:bodyPr vert="horz" lIns="91440" tIns="45720" rIns="91440" bIns="45720" rtlCol="0" anchor="ctr" anchorCtr="0">
            <a:normAutofit/>
          </a:bodyPr>
          <a:lstStyle>
            <a:lvl1pPr algn="l" defTabSz="914400" rtl="0" eaLnBrk="1" latinLnBrk="0" hangingPunct="1">
              <a:lnSpc>
                <a:spcPct val="90000"/>
              </a:lnSpc>
              <a:spcBef>
                <a:spcPct val="0"/>
              </a:spcBef>
              <a:buNone/>
              <a:defRPr sz="4500" b="1" kern="1200">
                <a:solidFill>
                  <a:srgbClr val="00249C"/>
                </a:solidFill>
                <a:latin typeface="Tahoma" panose="020B0604030504040204" pitchFamily="34" charset="0"/>
                <a:ea typeface="Tahoma" panose="020B0604030504040204" pitchFamily="34" charset="0"/>
                <a:cs typeface="Tahoma" panose="020B0604030504040204" pitchFamily="34" charset="0"/>
              </a:defRPr>
            </a:lvl1pPr>
          </a:lstStyle>
          <a:p>
            <a:r>
              <a:rPr lang="en-US" sz="3000" dirty="0"/>
              <a:t>2. EHS KPI Dashboard</a:t>
            </a:r>
          </a:p>
          <a:p>
            <a:r>
              <a:rPr lang="en-US" sz="2400" b="0" dirty="0"/>
              <a:t>2. Risk Management &amp; Planning</a:t>
            </a:r>
            <a:endParaRPr lang="en-US" sz="2400" b="0" i="1" dirty="0"/>
          </a:p>
        </p:txBody>
      </p:sp>
      <p:sp>
        <p:nvSpPr>
          <p:cNvPr id="9" name="Text Placeholder 3">
            <a:extLst>
              <a:ext uri="{FF2B5EF4-FFF2-40B4-BE49-F238E27FC236}">
                <a16:creationId xmlns:a16="http://schemas.microsoft.com/office/drawing/2014/main" id="{55E216D3-0548-661D-FEDF-457BB9830479}"/>
              </a:ext>
            </a:extLst>
          </p:cNvPr>
          <p:cNvSpPr txBox="1">
            <a:spLocks/>
          </p:cNvSpPr>
          <p:nvPr/>
        </p:nvSpPr>
        <p:spPr>
          <a:xfrm>
            <a:off x="833384" y="5584240"/>
            <a:ext cx="10728696" cy="1056046"/>
          </a:xfrm>
          <a:prstGeom prst="rect">
            <a:avLst/>
          </a:prstGeom>
        </p:spPr>
        <p:txBody>
          <a:bodyPr vert="horz" lIns="91440" tIns="45720" rIns="91440" bIns="45720" rtlCol="0">
            <a:normAutofit/>
          </a:bodyPr>
          <a:lstStyle>
            <a:lvl1pPr marL="0" indent="0" algn="l" defTabSz="914400" rtl="0" eaLnBrk="1" latinLnBrk="0" hangingPunct="1">
              <a:lnSpc>
                <a:spcPct val="95000"/>
              </a:lnSpc>
              <a:spcBef>
                <a:spcPts val="1000"/>
              </a:spcBef>
              <a:buFontTx/>
              <a:buNone/>
              <a:defRPr sz="20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1pPr>
            <a:lvl2pPr marL="457200" indent="0" algn="l" defTabSz="914400" rtl="0" eaLnBrk="1" latinLnBrk="0" hangingPunct="1">
              <a:lnSpc>
                <a:spcPct val="90000"/>
              </a:lnSpc>
              <a:spcBef>
                <a:spcPts val="500"/>
              </a:spcBef>
              <a:buFontTx/>
              <a:buNone/>
              <a:defRPr sz="24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2pPr>
            <a:lvl3pPr marL="914400" indent="0" algn="l" defTabSz="914400" rtl="0" eaLnBrk="1" latinLnBrk="0" hangingPunct="1">
              <a:lnSpc>
                <a:spcPct val="90000"/>
              </a:lnSpc>
              <a:spcBef>
                <a:spcPts val="500"/>
              </a:spcBef>
              <a:buFontTx/>
              <a:buNone/>
              <a:defRPr sz="20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3pPr>
            <a:lvl4pPr marL="1371600" indent="0" algn="l" defTabSz="914400" rtl="0" eaLnBrk="1" latinLnBrk="0" hangingPunct="1">
              <a:lnSpc>
                <a:spcPct val="90000"/>
              </a:lnSpc>
              <a:spcBef>
                <a:spcPts val="500"/>
              </a:spcBef>
              <a:buFontTx/>
              <a:buNone/>
              <a:defRPr sz="18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4pPr>
            <a:lvl5pPr marL="1828800" indent="0" algn="l" defTabSz="914400" rtl="0" eaLnBrk="1" latinLnBrk="0" hangingPunct="1">
              <a:lnSpc>
                <a:spcPct val="90000"/>
              </a:lnSpc>
              <a:spcBef>
                <a:spcPts val="500"/>
              </a:spcBef>
              <a:buFontTx/>
              <a:buNone/>
              <a:defRPr sz="18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400" b="1" dirty="0"/>
              <a:t>Key Observations:</a:t>
            </a:r>
          </a:p>
          <a:p>
            <a:r>
              <a:rPr lang="en-US" sz="1200" dirty="0"/>
              <a:t>Explanation by Campus EHS Specialists </a:t>
            </a:r>
          </a:p>
          <a:p>
            <a:endParaRPr lang="en-US" sz="1400" dirty="0"/>
          </a:p>
        </p:txBody>
      </p:sp>
      <p:graphicFrame>
        <p:nvGraphicFramePr>
          <p:cNvPr id="3" name="Chart 2">
            <a:extLst>
              <a:ext uri="{FF2B5EF4-FFF2-40B4-BE49-F238E27FC236}">
                <a16:creationId xmlns:a16="http://schemas.microsoft.com/office/drawing/2014/main" id="{00B72CEB-A181-ABC5-290A-776D24A68B85}"/>
              </a:ext>
            </a:extLst>
          </p:cNvPr>
          <p:cNvGraphicFramePr/>
          <p:nvPr>
            <p:extLst>
              <p:ext uri="{D42A27DB-BD31-4B8C-83A1-F6EECF244321}">
                <p14:modId xmlns:p14="http://schemas.microsoft.com/office/powerpoint/2010/main" val="2504508418"/>
              </p:ext>
            </p:extLst>
          </p:nvPr>
        </p:nvGraphicFramePr>
        <p:xfrm>
          <a:off x="541684" y="1928054"/>
          <a:ext cx="3891221" cy="2196353"/>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6">
            <a:extLst>
              <a:ext uri="{FF2B5EF4-FFF2-40B4-BE49-F238E27FC236}">
                <a16:creationId xmlns:a16="http://schemas.microsoft.com/office/drawing/2014/main" id="{9068B047-347B-7049-D055-BC230F63ADFD}"/>
              </a:ext>
            </a:extLst>
          </p:cNvPr>
          <p:cNvGraphicFramePr/>
          <p:nvPr>
            <p:extLst>
              <p:ext uri="{D42A27DB-BD31-4B8C-83A1-F6EECF244321}">
                <p14:modId xmlns:p14="http://schemas.microsoft.com/office/powerpoint/2010/main" val="1270863994"/>
              </p:ext>
            </p:extLst>
          </p:nvPr>
        </p:nvGraphicFramePr>
        <p:xfrm>
          <a:off x="4432905" y="1928053"/>
          <a:ext cx="3891221" cy="2196353"/>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1" name="Chart 10">
            <a:extLst>
              <a:ext uri="{FF2B5EF4-FFF2-40B4-BE49-F238E27FC236}">
                <a16:creationId xmlns:a16="http://schemas.microsoft.com/office/drawing/2014/main" id="{91A3E834-DB64-E70E-F09B-C815FE1A7FB3}"/>
              </a:ext>
            </a:extLst>
          </p:cNvPr>
          <p:cNvGraphicFramePr/>
          <p:nvPr>
            <p:extLst>
              <p:ext uri="{D42A27DB-BD31-4B8C-83A1-F6EECF244321}">
                <p14:modId xmlns:p14="http://schemas.microsoft.com/office/powerpoint/2010/main" val="2579808757"/>
              </p:ext>
            </p:extLst>
          </p:nvPr>
        </p:nvGraphicFramePr>
        <p:xfrm>
          <a:off x="8039763" y="1859028"/>
          <a:ext cx="3891221" cy="2196353"/>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31011874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00181E45-EE28-8639-6952-C4C9C7E4C8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088CA5-25ED-25B8-0604-F703B959ED40}"/>
              </a:ext>
            </a:extLst>
          </p:cNvPr>
          <p:cNvSpPr txBox="1">
            <a:spLocks/>
          </p:cNvSpPr>
          <p:nvPr/>
        </p:nvSpPr>
        <p:spPr>
          <a:xfrm>
            <a:off x="659214" y="111461"/>
            <a:ext cx="10150301" cy="986177"/>
          </a:xfrm>
          <a:prstGeom prst="rect">
            <a:avLst/>
          </a:prstGeom>
        </p:spPr>
        <p:txBody>
          <a:bodyPr vert="horz" lIns="91440" tIns="45720" rIns="91440" bIns="45720" rtlCol="0" anchor="ctr" anchorCtr="0">
            <a:normAutofit/>
          </a:bodyPr>
          <a:lstStyle>
            <a:lvl1pPr algn="l" defTabSz="914400" rtl="0" eaLnBrk="1" latinLnBrk="0" hangingPunct="1">
              <a:lnSpc>
                <a:spcPct val="90000"/>
              </a:lnSpc>
              <a:spcBef>
                <a:spcPct val="0"/>
              </a:spcBef>
              <a:buNone/>
              <a:defRPr sz="4500" b="1" kern="1200">
                <a:solidFill>
                  <a:srgbClr val="00249C"/>
                </a:solidFill>
                <a:latin typeface="Tahoma" panose="020B0604030504040204" pitchFamily="34" charset="0"/>
                <a:ea typeface="Tahoma" panose="020B0604030504040204" pitchFamily="34" charset="0"/>
                <a:cs typeface="Tahoma" panose="020B0604030504040204" pitchFamily="34" charset="0"/>
              </a:defRPr>
            </a:lvl1pPr>
          </a:lstStyle>
          <a:p>
            <a:r>
              <a:rPr lang="en-US" sz="3000" dirty="0"/>
              <a:t>2. EHS KPI Dashboard</a:t>
            </a:r>
          </a:p>
          <a:p>
            <a:r>
              <a:rPr lang="en-US" sz="2400" b="0" dirty="0"/>
              <a:t>3. Training &amp; Awareness</a:t>
            </a:r>
            <a:endParaRPr lang="en-US" sz="2400" b="0" i="1" dirty="0"/>
          </a:p>
        </p:txBody>
      </p:sp>
      <p:sp>
        <p:nvSpPr>
          <p:cNvPr id="11" name="Rectangle 10">
            <a:extLst>
              <a:ext uri="{FF2B5EF4-FFF2-40B4-BE49-F238E27FC236}">
                <a16:creationId xmlns:a16="http://schemas.microsoft.com/office/drawing/2014/main" id="{54CB0C96-09D1-4DBC-EFD3-C955EC179076}"/>
              </a:ext>
            </a:extLst>
          </p:cNvPr>
          <p:cNvSpPr/>
          <p:nvPr/>
        </p:nvSpPr>
        <p:spPr>
          <a:xfrm>
            <a:off x="4618039" y="2077298"/>
            <a:ext cx="3454707" cy="153390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1400" dirty="0">
                <a:solidFill>
                  <a:srgbClr val="002060"/>
                </a:solidFill>
              </a:rPr>
              <a:t>Awareness &amp; Communication</a:t>
            </a:r>
          </a:p>
          <a:p>
            <a:endParaRPr lang="en-US" sz="1400" dirty="0">
              <a:solidFill>
                <a:srgbClr val="002060"/>
              </a:solidFill>
            </a:endParaRPr>
          </a:p>
          <a:p>
            <a:pPr marL="285750" indent="-285750">
              <a:buFont typeface="Arial" panose="020B0604020202020204" pitchFamily="34" charset="0"/>
              <a:buChar char="•"/>
            </a:pPr>
            <a:r>
              <a:rPr lang="en-US" sz="1400" dirty="0">
                <a:solidFill>
                  <a:srgbClr val="002060"/>
                </a:solidFill>
              </a:rPr>
              <a:t>No items to report for this quarter.</a:t>
            </a:r>
          </a:p>
        </p:txBody>
      </p:sp>
      <p:sp>
        <p:nvSpPr>
          <p:cNvPr id="12" name="Text Placeholder 3">
            <a:extLst>
              <a:ext uri="{FF2B5EF4-FFF2-40B4-BE49-F238E27FC236}">
                <a16:creationId xmlns:a16="http://schemas.microsoft.com/office/drawing/2014/main" id="{C6AF7444-2941-9B38-313D-7B308D77BE39}"/>
              </a:ext>
            </a:extLst>
          </p:cNvPr>
          <p:cNvSpPr>
            <a:spLocks noGrp="1"/>
          </p:cNvSpPr>
          <p:nvPr>
            <p:ph type="body" sz="quarter" idx="10"/>
          </p:nvPr>
        </p:nvSpPr>
        <p:spPr>
          <a:xfrm>
            <a:off x="659214" y="4915569"/>
            <a:ext cx="7413532" cy="1724717"/>
          </a:xfrm>
        </p:spPr>
        <p:txBody>
          <a:bodyPr>
            <a:normAutofit/>
          </a:bodyPr>
          <a:lstStyle/>
          <a:p>
            <a:r>
              <a:rPr lang="en-US" sz="1400" b="1" dirty="0"/>
              <a:t>Key Observations:</a:t>
            </a:r>
          </a:p>
          <a:p>
            <a:r>
              <a:rPr lang="en-US" sz="1200" dirty="0"/>
              <a:t>Explanation by Campus EHS Specialists </a:t>
            </a:r>
          </a:p>
          <a:p>
            <a:endParaRPr lang="en-US" sz="1100" dirty="0"/>
          </a:p>
        </p:txBody>
      </p:sp>
      <p:graphicFrame>
        <p:nvGraphicFramePr>
          <p:cNvPr id="4" name="Chart 3">
            <a:extLst>
              <a:ext uri="{FF2B5EF4-FFF2-40B4-BE49-F238E27FC236}">
                <a16:creationId xmlns:a16="http://schemas.microsoft.com/office/drawing/2014/main" id="{E5A3284C-36A1-FA6C-74C4-F4993A4A20F5}"/>
              </a:ext>
            </a:extLst>
          </p:cNvPr>
          <p:cNvGraphicFramePr/>
          <p:nvPr>
            <p:extLst>
              <p:ext uri="{D42A27DB-BD31-4B8C-83A1-F6EECF244321}">
                <p14:modId xmlns:p14="http://schemas.microsoft.com/office/powerpoint/2010/main" val="3303746942"/>
              </p:ext>
            </p:extLst>
          </p:nvPr>
        </p:nvGraphicFramePr>
        <p:xfrm>
          <a:off x="833385" y="1746073"/>
          <a:ext cx="3891221" cy="2196353"/>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2098505776"/>
      </p:ext>
    </p:extLst>
  </p:cSld>
  <p:clrMapOvr>
    <a:overrideClrMapping bg1="lt1" tx1="dk1" bg2="lt2" tx2="dk2" accent1="accent1" accent2="accent2" accent3="accent3" accent4="accent4" accent5="accent5" accent6="accent6" hlink="hlink" folHlink="folHlink"/>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142C9E53-0198-9672-5698-D316A6CC6F60}"/>
              </a:ext>
            </a:extLst>
          </p:cNvPr>
          <p:cNvSpPr txBox="1">
            <a:spLocks/>
          </p:cNvSpPr>
          <p:nvPr/>
        </p:nvSpPr>
        <p:spPr>
          <a:xfrm>
            <a:off x="647879" y="71327"/>
            <a:ext cx="10150301" cy="986177"/>
          </a:xfrm>
          <a:prstGeom prst="rect">
            <a:avLst/>
          </a:prstGeom>
        </p:spPr>
        <p:txBody>
          <a:bodyPr vert="horz" lIns="91440" tIns="45720" rIns="91440" bIns="45720" rtlCol="0" anchor="ctr" anchorCtr="0">
            <a:normAutofit/>
          </a:bodyPr>
          <a:lstStyle>
            <a:lvl1pPr algn="l" defTabSz="914400" rtl="0" eaLnBrk="1" latinLnBrk="0" hangingPunct="1">
              <a:lnSpc>
                <a:spcPct val="90000"/>
              </a:lnSpc>
              <a:spcBef>
                <a:spcPct val="0"/>
              </a:spcBef>
              <a:buNone/>
              <a:defRPr sz="4500" b="1" kern="1200">
                <a:solidFill>
                  <a:srgbClr val="00249C"/>
                </a:solidFill>
                <a:latin typeface="Tahoma" panose="020B0604030504040204" pitchFamily="34" charset="0"/>
                <a:ea typeface="Tahoma" panose="020B0604030504040204" pitchFamily="34" charset="0"/>
                <a:cs typeface="Tahoma" panose="020B0604030504040204" pitchFamily="34" charset="0"/>
              </a:defRPr>
            </a:lvl1pPr>
          </a:lstStyle>
          <a:p>
            <a:r>
              <a:rPr lang="en-US" sz="2800" dirty="0"/>
              <a:t>2. EHS KPI Dashboard</a:t>
            </a:r>
          </a:p>
          <a:p>
            <a:r>
              <a:rPr lang="en-US" sz="2400" b="0" dirty="0"/>
              <a:t>4. Operational Control &amp; Emergency Preparedness</a:t>
            </a:r>
          </a:p>
        </p:txBody>
      </p:sp>
      <p:sp>
        <p:nvSpPr>
          <p:cNvPr id="11" name="Text Placeholder 3">
            <a:extLst>
              <a:ext uri="{FF2B5EF4-FFF2-40B4-BE49-F238E27FC236}">
                <a16:creationId xmlns:a16="http://schemas.microsoft.com/office/drawing/2014/main" id="{0564378A-04EC-649A-0CF5-5D10B79A706B}"/>
              </a:ext>
            </a:extLst>
          </p:cNvPr>
          <p:cNvSpPr>
            <a:spLocks noGrp="1"/>
          </p:cNvSpPr>
          <p:nvPr>
            <p:ph type="body" sz="quarter" idx="10"/>
          </p:nvPr>
        </p:nvSpPr>
        <p:spPr>
          <a:xfrm>
            <a:off x="647879" y="4519520"/>
            <a:ext cx="3783331" cy="1008375"/>
          </a:xfrm>
        </p:spPr>
        <p:txBody>
          <a:bodyPr>
            <a:normAutofit/>
          </a:bodyPr>
          <a:lstStyle/>
          <a:p>
            <a:r>
              <a:rPr lang="en-US" sz="1200" i="1" dirty="0"/>
              <a:t>Note: Select 2 Operational Control Procedures (OCPs) each month and review a sample of 10 procedures / requirements within each, totaling 20 procedures / requirements per month.</a:t>
            </a:r>
          </a:p>
        </p:txBody>
      </p:sp>
      <p:sp>
        <p:nvSpPr>
          <p:cNvPr id="15" name="Text Placeholder 3">
            <a:extLst>
              <a:ext uri="{FF2B5EF4-FFF2-40B4-BE49-F238E27FC236}">
                <a16:creationId xmlns:a16="http://schemas.microsoft.com/office/drawing/2014/main" id="{F0A69AEF-6CFB-F786-343F-7D06C5D07DA1}"/>
              </a:ext>
            </a:extLst>
          </p:cNvPr>
          <p:cNvSpPr txBox="1">
            <a:spLocks/>
          </p:cNvSpPr>
          <p:nvPr/>
        </p:nvSpPr>
        <p:spPr>
          <a:xfrm>
            <a:off x="647879" y="5408105"/>
            <a:ext cx="8776731" cy="1227230"/>
          </a:xfrm>
          <a:prstGeom prst="rect">
            <a:avLst/>
          </a:prstGeom>
        </p:spPr>
        <p:txBody>
          <a:bodyPr vert="horz" lIns="91440" tIns="45720" rIns="91440" bIns="45720" rtlCol="0">
            <a:normAutofit/>
          </a:bodyPr>
          <a:lstStyle>
            <a:lvl1pPr marL="0" indent="0" algn="l" defTabSz="914400" rtl="0" eaLnBrk="1" latinLnBrk="0" hangingPunct="1">
              <a:lnSpc>
                <a:spcPct val="95000"/>
              </a:lnSpc>
              <a:spcBef>
                <a:spcPts val="1000"/>
              </a:spcBef>
              <a:buFontTx/>
              <a:buNone/>
              <a:defRPr sz="20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1pPr>
            <a:lvl2pPr marL="457200" indent="0" algn="l" defTabSz="914400" rtl="0" eaLnBrk="1" latinLnBrk="0" hangingPunct="1">
              <a:lnSpc>
                <a:spcPct val="90000"/>
              </a:lnSpc>
              <a:spcBef>
                <a:spcPts val="500"/>
              </a:spcBef>
              <a:buFontTx/>
              <a:buNone/>
              <a:defRPr sz="24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2pPr>
            <a:lvl3pPr marL="914400" indent="0" algn="l" defTabSz="914400" rtl="0" eaLnBrk="1" latinLnBrk="0" hangingPunct="1">
              <a:lnSpc>
                <a:spcPct val="90000"/>
              </a:lnSpc>
              <a:spcBef>
                <a:spcPts val="500"/>
              </a:spcBef>
              <a:buFontTx/>
              <a:buNone/>
              <a:defRPr sz="20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3pPr>
            <a:lvl4pPr marL="1371600" indent="0" algn="l" defTabSz="914400" rtl="0" eaLnBrk="1" latinLnBrk="0" hangingPunct="1">
              <a:lnSpc>
                <a:spcPct val="90000"/>
              </a:lnSpc>
              <a:spcBef>
                <a:spcPts val="500"/>
              </a:spcBef>
              <a:buFontTx/>
              <a:buNone/>
              <a:defRPr sz="18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4pPr>
            <a:lvl5pPr marL="1828800" indent="0" algn="l" defTabSz="914400" rtl="0" eaLnBrk="1" latinLnBrk="0" hangingPunct="1">
              <a:lnSpc>
                <a:spcPct val="90000"/>
              </a:lnSpc>
              <a:spcBef>
                <a:spcPts val="500"/>
              </a:spcBef>
              <a:buFontTx/>
              <a:buNone/>
              <a:defRPr sz="18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600" b="1" dirty="0"/>
              <a:t>Key Observations:</a:t>
            </a:r>
          </a:p>
          <a:p>
            <a:r>
              <a:rPr lang="en-US" sz="1200" dirty="0"/>
              <a:t>Explanation by Campus EHS Specialists </a:t>
            </a:r>
          </a:p>
          <a:p>
            <a:r>
              <a:rPr lang="en-US" sz="1600" b="1" dirty="0"/>
              <a:t> </a:t>
            </a:r>
          </a:p>
        </p:txBody>
      </p:sp>
      <p:graphicFrame>
        <p:nvGraphicFramePr>
          <p:cNvPr id="3" name="Chart 2">
            <a:extLst>
              <a:ext uri="{FF2B5EF4-FFF2-40B4-BE49-F238E27FC236}">
                <a16:creationId xmlns:a16="http://schemas.microsoft.com/office/drawing/2014/main" id="{9D2C5744-11B0-4155-A41D-5385BBA67BCD}"/>
              </a:ext>
            </a:extLst>
          </p:cNvPr>
          <p:cNvGraphicFramePr/>
          <p:nvPr>
            <p:extLst>
              <p:ext uri="{D42A27DB-BD31-4B8C-83A1-F6EECF244321}">
                <p14:modId xmlns:p14="http://schemas.microsoft.com/office/powerpoint/2010/main" val="801303868"/>
              </p:ext>
            </p:extLst>
          </p:nvPr>
        </p:nvGraphicFramePr>
        <p:xfrm>
          <a:off x="539989" y="2104312"/>
          <a:ext cx="3891221" cy="2196353"/>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5" name="Chart 4">
            <a:extLst>
              <a:ext uri="{FF2B5EF4-FFF2-40B4-BE49-F238E27FC236}">
                <a16:creationId xmlns:a16="http://schemas.microsoft.com/office/drawing/2014/main" id="{6E50D5BD-D519-47EC-E1DF-401173E6034A}"/>
              </a:ext>
            </a:extLst>
          </p:cNvPr>
          <p:cNvGraphicFramePr/>
          <p:nvPr>
            <p:extLst>
              <p:ext uri="{D42A27DB-BD31-4B8C-83A1-F6EECF244321}">
                <p14:modId xmlns:p14="http://schemas.microsoft.com/office/powerpoint/2010/main" val="1289238041"/>
              </p:ext>
            </p:extLst>
          </p:nvPr>
        </p:nvGraphicFramePr>
        <p:xfrm>
          <a:off x="4556284" y="2077298"/>
          <a:ext cx="3891221" cy="2196353"/>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32446006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5184A6D8-A2DE-2807-E45F-2D1BDC29A312}"/>
              </a:ext>
            </a:extLst>
          </p:cNvPr>
          <p:cNvSpPr txBox="1">
            <a:spLocks/>
          </p:cNvSpPr>
          <p:nvPr/>
        </p:nvSpPr>
        <p:spPr>
          <a:xfrm>
            <a:off x="648881" y="76269"/>
            <a:ext cx="10150301" cy="986177"/>
          </a:xfrm>
          <a:prstGeom prst="rect">
            <a:avLst/>
          </a:prstGeom>
        </p:spPr>
        <p:txBody>
          <a:bodyPr vert="horz" lIns="91440" tIns="45720" rIns="91440" bIns="45720" rtlCol="0" anchor="ctr" anchorCtr="0">
            <a:normAutofit fontScale="92500"/>
          </a:bodyPr>
          <a:lstStyle>
            <a:lvl1pPr algn="l" defTabSz="914400" rtl="0" eaLnBrk="1" latinLnBrk="0" hangingPunct="1">
              <a:lnSpc>
                <a:spcPct val="90000"/>
              </a:lnSpc>
              <a:spcBef>
                <a:spcPct val="0"/>
              </a:spcBef>
              <a:buNone/>
              <a:defRPr sz="4500" b="1" kern="1200">
                <a:solidFill>
                  <a:srgbClr val="00249C"/>
                </a:solidFill>
                <a:latin typeface="Tahoma" panose="020B0604030504040204" pitchFamily="34" charset="0"/>
                <a:ea typeface="Tahoma" panose="020B0604030504040204" pitchFamily="34" charset="0"/>
                <a:cs typeface="Tahoma" panose="020B0604030504040204" pitchFamily="34" charset="0"/>
              </a:defRPr>
            </a:lvl1pPr>
          </a:lstStyle>
          <a:p>
            <a:r>
              <a:rPr lang="en-US" sz="3000" dirty="0"/>
              <a:t>2. EHS KPI Dashboard</a:t>
            </a:r>
          </a:p>
          <a:p>
            <a:r>
              <a:rPr lang="en-US" sz="2400" b="0" dirty="0"/>
              <a:t>4. Operational Control &amp; Emergency Preparedness – </a:t>
            </a:r>
            <a:r>
              <a:rPr lang="en-US" sz="2400" b="0" i="1" dirty="0"/>
              <a:t>Contractor Management</a:t>
            </a:r>
          </a:p>
        </p:txBody>
      </p:sp>
      <p:sp>
        <p:nvSpPr>
          <p:cNvPr id="13" name="Text Placeholder 3">
            <a:extLst>
              <a:ext uri="{FF2B5EF4-FFF2-40B4-BE49-F238E27FC236}">
                <a16:creationId xmlns:a16="http://schemas.microsoft.com/office/drawing/2014/main" id="{3CF39BF5-B213-A5B5-AC7C-99BDC5EB171A}"/>
              </a:ext>
            </a:extLst>
          </p:cNvPr>
          <p:cNvSpPr txBox="1">
            <a:spLocks/>
          </p:cNvSpPr>
          <p:nvPr/>
        </p:nvSpPr>
        <p:spPr>
          <a:xfrm>
            <a:off x="648881" y="4624702"/>
            <a:ext cx="7773759" cy="1898018"/>
          </a:xfrm>
          <a:prstGeom prst="rect">
            <a:avLst/>
          </a:prstGeom>
        </p:spPr>
        <p:txBody>
          <a:bodyPr vert="horz" lIns="91440" tIns="45720" rIns="91440" bIns="45720" rtlCol="0">
            <a:normAutofit/>
          </a:bodyPr>
          <a:lstStyle>
            <a:lvl1pPr marL="0" indent="0" algn="l" defTabSz="914400" rtl="0" eaLnBrk="1" latinLnBrk="0" hangingPunct="1">
              <a:lnSpc>
                <a:spcPct val="95000"/>
              </a:lnSpc>
              <a:spcBef>
                <a:spcPts val="1000"/>
              </a:spcBef>
              <a:buFontTx/>
              <a:buNone/>
              <a:defRPr sz="20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1pPr>
            <a:lvl2pPr marL="457200" indent="0" algn="l" defTabSz="914400" rtl="0" eaLnBrk="1" latinLnBrk="0" hangingPunct="1">
              <a:lnSpc>
                <a:spcPct val="90000"/>
              </a:lnSpc>
              <a:spcBef>
                <a:spcPts val="500"/>
              </a:spcBef>
              <a:buFontTx/>
              <a:buNone/>
              <a:defRPr sz="24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2pPr>
            <a:lvl3pPr marL="914400" indent="0" algn="l" defTabSz="914400" rtl="0" eaLnBrk="1" latinLnBrk="0" hangingPunct="1">
              <a:lnSpc>
                <a:spcPct val="90000"/>
              </a:lnSpc>
              <a:spcBef>
                <a:spcPts val="500"/>
              </a:spcBef>
              <a:buFontTx/>
              <a:buNone/>
              <a:defRPr sz="20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3pPr>
            <a:lvl4pPr marL="1371600" indent="0" algn="l" defTabSz="914400" rtl="0" eaLnBrk="1" latinLnBrk="0" hangingPunct="1">
              <a:lnSpc>
                <a:spcPct val="90000"/>
              </a:lnSpc>
              <a:spcBef>
                <a:spcPts val="500"/>
              </a:spcBef>
              <a:buFontTx/>
              <a:buNone/>
              <a:defRPr sz="18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4pPr>
            <a:lvl5pPr marL="1828800" indent="0" algn="l" defTabSz="914400" rtl="0" eaLnBrk="1" latinLnBrk="0" hangingPunct="1">
              <a:lnSpc>
                <a:spcPct val="90000"/>
              </a:lnSpc>
              <a:spcBef>
                <a:spcPts val="500"/>
              </a:spcBef>
              <a:buFontTx/>
              <a:buNone/>
              <a:defRPr sz="18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600" b="1" dirty="0"/>
              <a:t>Key Observations: </a:t>
            </a:r>
          </a:p>
          <a:p>
            <a:r>
              <a:rPr lang="en-US" sz="1200" dirty="0"/>
              <a:t>Explanation by Campus EHS Specialists </a:t>
            </a:r>
          </a:p>
          <a:p>
            <a:endParaRPr lang="en-US" sz="1400" dirty="0"/>
          </a:p>
        </p:txBody>
      </p:sp>
      <p:graphicFrame>
        <p:nvGraphicFramePr>
          <p:cNvPr id="3" name="Chart 2">
            <a:extLst>
              <a:ext uri="{FF2B5EF4-FFF2-40B4-BE49-F238E27FC236}">
                <a16:creationId xmlns:a16="http://schemas.microsoft.com/office/drawing/2014/main" id="{F23FE170-2F9A-9DA2-06BF-F395DF2446B3}"/>
              </a:ext>
            </a:extLst>
          </p:cNvPr>
          <p:cNvGraphicFramePr/>
          <p:nvPr>
            <p:extLst>
              <p:ext uri="{D42A27DB-BD31-4B8C-83A1-F6EECF244321}">
                <p14:modId xmlns:p14="http://schemas.microsoft.com/office/powerpoint/2010/main" val="1592569529"/>
              </p:ext>
            </p:extLst>
          </p:nvPr>
        </p:nvGraphicFramePr>
        <p:xfrm>
          <a:off x="648881" y="2349823"/>
          <a:ext cx="3891221" cy="2196353"/>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5" name="Chart 4">
            <a:extLst>
              <a:ext uri="{FF2B5EF4-FFF2-40B4-BE49-F238E27FC236}">
                <a16:creationId xmlns:a16="http://schemas.microsoft.com/office/drawing/2014/main" id="{940826D0-25B5-CD46-4D87-A1035D150A0A}"/>
              </a:ext>
            </a:extLst>
          </p:cNvPr>
          <p:cNvGraphicFramePr/>
          <p:nvPr>
            <p:extLst>
              <p:ext uri="{D42A27DB-BD31-4B8C-83A1-F6EECF244321}">
                <p14:modId xmlns:p14="http://schemas.microsoft.com/office/powerpoint/2010/main" val="3947632832"/>
              </p:ext>
            </p:extLst>
          </p:nvPr>
        </p:nvGraphicFramePr>
        <p:xfrm>
          <a:off x="4610730" y="2330823"/>
          <a:ext cx="3891221" cy="2196353"/>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288507143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AEF55A08-F697-3A45-E43B-FA6FC37B68CE}"/>
              </a:ext>
            </a:extLst>
          </p:cNvPr>
          <p:cNvSpPr txBox="1">
            <a:spLocks/>
          </p:cNvSpPr>
          <p:nvPr/>
        </p:nvSpPr>
        <p:spPr>
          <a:xfrm>
            <a:off x="659213" y="0"/>
            <a:ext cx="10150301" cy="986177"/>
          </a:xfrm>
          <a:prstGeom prst="rect">
            <a:avLst/>
          </a:prstGeom>
        </p:spPr>
        <p:txBody>
          <a:bodyPr vert="horz" lIns="91440" tIns="45720" rIns="91440" bIns="45720" rtlCol="0" anchor="ctr" anchorCtr="0">
            <a:normAutofit/>
          </a:bodyPr>
          <a:lstStyle>
            <a:lvl1pPr algn="l" defTabSz="914400" rtl="0" eaLnBrk="1" latinLnBrk="0" hangingPunct="1">
              <a:lnSpc>
                <a:spcPct val="90000"/>
              </a:lnSpc>
              <a:spcBef>
                <a:spcPct val="0"/>
              </a:spcBef>
              <a:buNone/>
              <a:defRPr sz="4500" b="1" kern="1200">
                <a:solidFill>
                  <a:srgbClr val="00249C"/>
                </a:solidFill>
                <a:latin typeface="Tahoma" panose="020B0604030504040204" pitchFamily="34" charset="0"/>
                <a:ea typeface="Tahoma" panose="020B0604030504040204" pitchFamily="34" charset="0"/>
                <a:cs typeface="Tahoma" panose="020B0604030504040204" pitchFamily="34" charset="0"/>
              </a:defRPr>
            </a:lvl1pPr>
          </a:lstStyle>
          <a:p>
            <a:r>
              <a:rPr lang="en-US" sz="3000" dirty="0"/>
              <a:t>2. EHS KPI Dashboard</a:t>
            </a:r>
          </a:p>
          <a:p>
            <a:r>
              <a:rPr lang="en-US" sz="2400" b="0" dirty="0"/>
              <a:t>5. Performance Evaluation &amp; Continual Improvement - </a:t>
            </a:r>
            <a:r>
              <a:rPr lang="en-US" sz="2400" b="0" i="1" dirty="0"/>
              <a:t>Inspection</a:t>
            </a:r>
          </a:p>
        </p:txBody>
      </p:sp>
      <p:sp>
        <p:nvSpPr>
          <p:cNvPr id="10" name="Text Placeholder 3">
            <a:extLst>
              <a:ext uri="{FF2B5EF4-FFF2-40B4-BE49-F238E27FC236}">
                <a16:creationId xmlns:a16="http://schemas.microsoft.com/office/drawing/2014/main" id="{76DA7A01-CF93-C9A8-5ACE-6910AAFFCDBA}"/>
              </a:ext>
            </a:extLst>
          </p:cNvPr>
          <p:cNvSpPr>
            <a:spLocks noGrp="1"/>
          </p:cNvSpPr>
          <p:nvPr>
            <p:ph type="body" sz="quarter" idx="10"/>
          </p:nvPr>
        </p:nvSpPr>
        <p:spPr>
          <a:xfrm>
            <a:off x="659213" y="4915569"/>
            <a:ext cx="7981007" cy="1724717"/>
          </a:xfrm>
        </p:spPr>
        <p:txBody>
          <a:bodyPr>
            <a:normAutofit/>
          </a:bodyPr>
          <a:lstStyle/>
          <a:p>
            <a:r>
              <a:rPr lang="en-US" sz="1400" b="1" dirty="0"/>
              <a:t>Key Observations: </a:t>
            </a:r>
            <a:endParaRPr lang="en-US" sz="1100" b="1" dirty="0"/>
          </a:p>
          <a:p>
            <a:r>
              <a:rPr lang="en-US" sz="1200" dirty="0"/>
              <a:t>Explanation by Campus EHS Specialists </a:t>
            </a:r>
          </a:p>
          <a:p>
            <a:endParaRPr lang="en-US" sz="1400" dirty="0"/>
          </a:p>
          <a:p>
            <a:endParaRPr lang="en-US" sz="1400" b="1" dirty="0"/>
          </a:p>
        </p:txBody>
      </p:sp>
      <p:graphicFrame>
        <p:nvGraphicFramePr>
          <p:cNvPr id="3" name="Chart 2">
            <a:extLst>
              <a:ext uri="{FF2B5EF4-FFF2-40B4-BE49-F238E27FC236}">
                <a16:creationId xmlns:a16="http://schemas.microsoft.com/office/drawing/2014/main" id="{73A4CE0F-E630-2A03-13A4-68EA0BCDEA03}"/>
              </a:ext>
            </a:extLst>
          </p:cNvPr>
          <p:cNvGraphicFramePr/>
          <p:nvPr>
            <p:extLst>
              <p:ext uri="{D42A27DB-BD31-4B8C-83A1-F6EECF244321}">
                <p14:modId xmlns:p14="http://schemas.microsoft.com/office/powerpoint/2010/main" val="3733423826"/>
              </p:ext>
            </p:extLst>
          </p:nvPr>
        </p:nvGraphicFramePr>
        <p:xfrm>
          <a:off x="703392" y="2124415"/>
          <a:ext cx="3891221" cy="2196353"/>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5" name="Chart 4">
            <a:extLst>
              <a:ext uri="{FF2B5EF4-FFF2-40B4-BE49-F238E27FC236}">
                <a16:creationId xmlns:a16="http://schemas.microsoft.com/office/drawing/2014/main" id="{D5EE6D26-5BDD-8B90-5A83-65934333BC35}"/>
              </a:ext>
            </a:extLst>
          </p:cNvPr>
          <p:cNvGraphicFramePr/>
          <p:nvPr>
            <p:extLst>
              <p:ext uri="{D42A27DB-BD31-4B8C-83A1-F6EECF244321}">
                <p14:modId xmlns:p14="http://schemas.microsoft.com/office/powerpoint/2010/main" val="3042017739"/>
              </p:ext>
            </p:extLst>
          </p:nvPr>
        </p:nvGraphicFramePr>
        <p:xfrm>
          <a:off x="4749000" y="2124415"/>
          <a:ext cx="3891221" cy="2196353"/>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37307969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B144D033-06C2-3F95-4417-5E6D9DD59579}"/>
              </a:ext>
            </a:extLst>
          </p:cNvPr>
          <p:cNvSpPr txBox="1">
            <a:spLocks/>
          </p:cNvSpPr>
          <p:nvPr/>
        </p:nvSpPr>
        <p:spPr>
          <a:xfrm>
            <a:off x="659213" y="76269"/>
            <a:ext cx="11358615" cy="986177"/>
          </a:xfrm>
          <a:prstGeom prst="rect">
            <a:avLst/>
          </a:prstGeom>
        </p:spPr>
        <p:txBody>
          <a:bodyPr vert="horz" lIns="91440" tIns="45720" rIns="91440" bIns="45720" rtlCol="0" anchor="ctr" anchorCtr="0">
            <a:normAutofit fontScale="92500"/>
          </a:bodyPr>
          <a:lstStyle>
            <a:lvl1pPr algn="l" defTabSz="914400" rtl="0" eaLnBrk="1" latinLnBrk="0" hangingPunct="1">
              <a:lnSpc>
                <a:spcPct val="90000"/>
              </a:lnSpc>
              <a:spcBef>
                <a:spcPct val="0"/>
              </a:spcBef>
              <a:buNone/>
              <a:defRPr sz="4500" b="1" kern="1200">
                <a:solidFill>
                  <a:srgbClr val="00249C"/>
                </a:solidFill>
                <a:latin typeface="Tahoma" panose="020B0604030504040204" pitchFamily="34" charset="0"/>
                <a:ea typeface="Tahoma" panose="020B0604030504040204" pitchFamily="34" charset="0"/>
                <a:cs typeface="Tahoma" panose="020B0604030504040204" pitchFamily="34" charset="0"/>
              </a:defRPr>
            </a:lvl1pPr>
          </a:lstStyle>
          <a:p>
            <a:r>
              <a:rPr lang="en-US" sz="3000" dirty="0"/>
              <a:t>2. EHS KPI Dashboard</a:t>
            </a:r>
          </a:p>
          <a:p>
            <a:r>
              <a:rPr lang="en-US" sz="2400" b="0" dirty="0"/>
              <a:t>5. Performance Evaluation &amp; Continual Improvement – </a:t>
            </a:r>
            <a:r>
              <a:rPr lang="en-US" sz="2400" b="0" i="1" dirty="0"/>
              <a:t>Incident Reporting &amp; Investigation</a:t>
            </a:r>
          </a:p>
        </p:txBody>
      </p:sp>
      <p:sp>
        <p:nvSpPr>
          <p:cNvPr id="13" name="Text Placeholder 3">
            <a:extLst>
              <a:ext uri="{FF2B5EF4-FFF2-40B4-BE49-F238E27FC236}">
                <a16:creationId xmlns:a16="http://schemas.microsoft.com/office/drawing/2014/main" id="{B44FB447-6FD5-9467-FC86-70A152BB085F}"/>
              </a:ext>
            </a:extLst>
          </p:cNvPr>
          <p:cNvSpPr>
            <a:spLocks noGrp="1"/>
          </p:cNvSpPr>
          <p:nvPr>
            <p:ph type="body" sz="quarter" idx="10"/>
          </p:nvPr>
        </p:nvSpPr>
        <p:spPr>
          <a:xfrm>
            <a:off x="659214" y="4915569"/>
            <a:ext cx="8020198" cy="1724717"/>
          </a:xfrm>
        </p:spPr>
        <p:txBody>
          <a:bodyPr>
            <a:normAutofit/>
          </a:bodyPr>
          <a:lstStyle/>
          <a:p>
            <a:r>
              <a:rPr lang="en-US" sz="1400" b="1" dirty="0"/>
              <a:t>Key Observations: </a:t>
            </a:r>
          </a:p>
          <a:p>
            <a:r>
              <a:rPr lang="en-US" sz="1200" dirty="0"/>
              <a:t>Explanation by Campus EHS Specialists </a:t>
            </a:r>
          </a:p>
          <a:p>
            <a:endParaRPr lang="en-US" sz="1400" dirty="0"/>
          </a:p>
          <a:p>
            <a:endParaRPr lang="en-US" sz="1400" dirty="0"/>
          </a:p>
          <a:p>
            <a:endParaRPr lang="en-US" sz="1400" dirty="0"/>
          </a:p>
        </p:txBody>
      </p:sp>
      <p:graphicFrame>
        <p:nvGraphicFramePr>
          <p:cNvPr id="3" name="Chart 2">
            <a:extLst>
              <a:ext uri="{FF2B5EF4-FFF2-40B4-BE49-F238E27FC236}">
                <a16:creationId xmlns:a16="http://schemas.microsoft.com/office/drawing/2014/main" id="{4E07165A-AF93-1A17-D5D1-6E06E9317A93}"/>
              </a:ext>
            </a:extLst>
          </p:cNvPr>
          <p:cNvGraphicFramePr/>
          <p:nvPr>
            <p:extLst>
              <p:ext uri="{D42A27DB-BD31-4B8C-83A1-F6EECF244321}">
                <p14:modId xmlns:p14="http://schemas.microsoft.com/office/powerpoint/2010/main" val="3538508877"/>
              </p:ext>
            </p:extLst>
          </p:nvPr>
        </p:nvGraphicFramePr>
        <p:xfrm>
          <a:off x="659213" y="2218225"/>
          <a:ext cx="3891221" cy="2196353"/>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5" name="Chart 4">
            <a:extLst>
              <a:ext uri="{FF2B5EF4-FFF2-40B4-BE49-F238E27FC236}">
                <a16:creationId xmlns:a16="http://schemas.microsoft.com/office/drawing/2014/main" id="{691AD59B-9452-2B67-D87D-86759B46F6B8}"/>
              </a:ext>
            </a:extLst>
          </p:cNvPr>
          <p:cNvGraphicFramePr/>
          <p:nvPr>
            <p:extLst>
              <p:ext uri="{D42A27DB-BD31-4B8C-83A1-F6EECF244321}">
                <p14:modId xmlns:p14="http://schemas.microsoft.com/office/powerpoint/2010/main" val="1525516123"/>
              </p:ext>
            </p:extLst>
          </p:nvPr>
        </p:nvGraphicFramePr>
        <p:xfrm>
          <a:off x="4788190" y="2218225"/>
          <a:ext cx="3891221" cy="2196353"/>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282990698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8C182EB-ACBA-E746-28B0-D4C21B8FF75C}"/>
              </a:ext>
            </a:extLst>
          </p:cNvPr>
          <p:cNvSpPr txBox="1">
            <a:spLocks/>
          </p:cNvSpPr>
          <p:nvPr/>
        </p:nvSpPr>
        <p:spPr>
          <a:xfrm>
            <a:off x="589545" y="-76131"/>
            <a:ext cx="10150301" cy="986177"/>
          </a:xfrm>
          <a:prstGeom prst="rect">
            <a:avLst/>
          </a:prstGeom>
        </p:spPr>
        <p:txBody>
          <a:bodyPr vert="horz" lIns="91440" tIns="45720" rIns="91440" bIns="45720" rtlCol="0" anchor="ctr" anchorCtr="0">
            <a:normAutofit/>
          </a:bodyPr>
          <a:lstStyle>
            <a:lvl1pPr algn="l" defTabSz="914400" rtl="0" eaLnBrk="1" latinLnBrk="0" hangingPunct="1">
              <a:lnSpc>
                <a:spcPct val="90000"/>
              </a:lnSpc>
              <a:spcBef>
                <a:spcPct val="0"/>
              </a:spcBef>
              <a:buNone/>
              <a:defRPr sz="4500" b="1" kern="1200">
                <a:solidFill>
                  <a:srgbClr val="00249C"/>
                </a:solidFill>
                <a:latin typeface="Tahoma" panose="020B0604030504040204" pitchFamily="34" charset="0"/>
                <a:ea typeface="Tahoma" panose="020B0604030504040204" pitchFamily="34" charset="0"/>
                <a:cs typeface="Tahoma" panose="020B0604030504040204" pitchFamily="34" charset="0"/>
              </a:defRPr>
            </a:lvl1pPr>
          </a:lstStyle>
          <a:p>
            <a:r>
              <a:rPr lang="en-US" sz="3000" dirty="0"/>
              <a:t>3. Summary of Decisions and Actions</a:t>
            </a:r>
            <a:endParaRPr lang="en-US" sz="2400" b="0" i="1" dirty="0"/>
          </a:p>
        </p:txBody>
      </p:sp>
      <p:graphicFrame>
        <p:nvGraphicFramePr>
          <p:cNvPr id="2" name="Table 1">
            <a:extLst>
              <a:ext uri="{FF2B5EF4-FFF2-40B4-BE49-F238E27FC236}">
                <a16:creationId xmlns:a16="http://schemas.microsoft.com/office/drawing/2014/main" id="{AFBB3CA4-063C-BD2A-CF99-415AC915C9E3}"/>
              </a:ext>
            </a:extLst>
          </p:cNvPr>
          <p:cNvGraphicFramePr>
            <a:graphicFrameLocks noGrp="1"/>
          </p:cNvGraphicFramePr>
          <p:nvPr>
            <p:extLst>
              <p:ext uri="{D42A27DB-BD31-4B8C-83A1-F6EECF244321}">
                <p14:modId xmlns:p14="http://schemas.microsoft.com/office/powerpoint/2010/main" val="1031804904"/>
              </p:ext>
            </p:extLst>
          </p:nvPr>
        </p:nvGraphicFramePr>
        <p:xfrm>
          <a:off x="1026159" y="719666"/>
          <a:ext cx="10576293" cy="5400040"/>
        </p:xfrm>
        <a:graphic>
          <a:graphicData uri="http://schemas.openxmlformats.org/drawingml/2006/table">
            <a:tbl>
              <a:tblPr firstRow="1" bandRow="1">
                <a:tableStyleId>{5C22544A-7EE6-4342-B048-85BDC9FD1C3A}</a:tableStyleId>
              </a:tblPr>
              <a:tblGrid>
                <a:gridCol w="1510899">
                  <a:extLst>
                    <a:ext uri="{9D8B030D-6E8A-4147-A177-3AD203B41FA5}">
                      <a16:colId xmlns:a16="http://schemas.microsoft.com/office/drawing/2014/main" val="2246145420"/>
                    </a:ext>
                  </a:extLst>
                </a:gridCol>
                <a:gridCol w="1510899">
                  <a:extLst>
                    <a:ext uri="{9D8B030D-6E8A-4147-A177-3AD203B41FA5}">
                      <a16:colId xmlns:a16="http://schemas.microsoft.com/office/drawing/2014/main" val="876729999"/>
                    </a:ext>
                  </a:extLst>
                </a:gridCol>
                <a:gridCol w="1510899">
                  <a:extLst>
                    <a:ext uri="{9D8B030D-6E8A-4147-A177-3AD203B41FA5}">
                      <a16:colId xmlns:a16="http://schemas.microsoft.com/office/drawing/2014/main" val="2075662073"/>
                    </a:ext>
                  </a:extLst>
                </a:gridCol>
                <a:gridCol w="1510899">
                  <a:extLst>
                    <a:ext uri="{9D8B030D-6E8A-4147-A177-3AD203B41FA5}">
                      <a16:colId xmlns:a16="http://schemas.microsoft.com/office/drawing/2014/main" val="483095837"/>
                    </a:ext>
                  </a:extLst>
                </a:gridCol>
                <a:gridCol w="1510899">
                  <a:extLst>
                    <a:ext uri="{9D8B030D-6E8A-4147-A177-3AD203B41FA5}">
                      <a16:colId xmlns:a16="http://schemas.microsoft.com/office/drawing/2014/main" val="1300932443"/>
                    </a:ext>
                  </a:extLst>
                </a:gridCol>
                <a:gridCol w="1510899">
                  <a:extLst>
                    <a:ext uri="{9D8B030D-6E8A-4147-A177-3AD203B41FA5}">
                      <a16:colId xmlns:a16="http://schemas.microsoft.com/office/drawing/2014/main" val="901963811"/>
                    </a:ext>
                  </a:extLst>
                </a:gridCol>
                <a:gridCol w="1510899">
                  <a:extLst>
                    <a:ext uri="{9D8B030D-6E8A-4147-A177-3AD203B41FA5}">
                      <a16:colId xmlns:a16="http://schemas.microsoft.com/office/drawing/2014/main" val="3711049632"/>
                    </a:ext>
                  </a:extLst>
                </a:gridCol>
              </a:tblGrid>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AU" sz="1600" dirty="0">
                          <a:solidFill>
                            <a:schemeClr val="bg2"/>
                          </a:solidFill>
                          <a:latin typeface="+mn-lt"/>
                          <a:ea typeface="Tahoma" panose="020B0604030504040204" pitchFamily="34" charset="0"/>
                          <a:cs typeface="Tahoma" panose="020B0604030504040204" pitchFamily="34" charset="0"/>
                        </a:rPr>
                        <a:t>#</a:t>
                      </a:r>
                    </a:p>
                    <a:p>
                      <a:endParaRPr lang="en-US" sz="1600" dirty="0">
                        <a:solidFill>
                          <a:schemeClr val="bg2"/>
                        </a:solidFill>
                        <a:latin typeface="+mn-lt"/>
                      </a:endParaRPr>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tx1"/>
                    </a:solidFill>
                  </a:tcPr>
                </a:tc>
                <a:tc>
                  <a:txBody>
                    <a:bodyPr/>
                    <a:lstStyle/>
                    <a:p>
                      <a:r>
                        <a:rPr lang="en-US" sz="1600" dirty="0">
                          <a:solidFill>
                            <a:schemeClr val="bg2"/>
                          </a:solidFill>
                          <a:latin typeface="+mn-lt"/>
                        </a:rPr>
                        <a:t>Type</a:t>
                      </a:r>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tx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AU" sz="1600" dirty="0">
                          <a:solidFill>
                            <a:schemeClr val="bg2"/>
                          </a:solidFill>
                          <a:latin typeface="+mn-lt"/>
                          <a:ea typeface="Tahoma" panose="020B0604030504040204" pitchFamily="34" charset="0"/>
                          <a:cs typeface="Tahoma" panose="020B0604030504040204" pitchFamily="34" charset="0"/>
                        </a:rPr>
                        <a:t>Status</a:t>
                      </a:r>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tx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AU" sz="1600" dirty="0">
                          <a:solidFill>
                            <a:schemeClr val="bg2"/>
                          </a:solidFill>
                          <a:latin typeface="+mn-lt"/>
                          <a:ea typeface="Tahoma" panose="020B0604030504040204" pitchFamily="34" charset="0"/>
                          <a:cs typeface="Tahoma" panose="020B0604030504040204" pitchFamily="34" charset="0"/>
                        </a:rPr>
                        <a:t>Discussion Points</a:t>
                      </a:r>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tx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AU" sz="1600" dirty="0">
                          <a:solidFill>
                            <a:schemeClr val="bg2"/>
                          </a:solidFill>
                          <a:latin typeface="+mn-lt"/>
                          <a:ea typeface="Tahoma" panose="020B0604030504040204" pitchFamily="34" charset="0"/>
                          <a:cs typeface="Tahoma" panose="020B0604030504040204" pitchFamily="34" charset="0"/>
                        </a:rPr>
                        <a:t>Action Required</a:t>
                      </a:r>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tx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AU" sz="1600" dirty="0">
                          <a:solidFill>
                            <a:schemeClr val="bg2"/>
                          </a:solidFill>
                          <a:latin typeface="+mn-lt"/>
                          <a:ea typeface="Tahoma" panose="020B0604030504040204" pitchFamily="34" charset="0"/>
                          <a:cs typeface="Tahoma" panose="020B0604030504040204" pitchFamily="34" charset="0"/>
                        </a:rPr>
                        <a:t>Target Date</a:t>
                      </a:r>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tx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AU" sz="1600" dirty="0">
                          <a:solidFill>
                            <a:schemeClr val="bg2"/>
                          </a:solidFill>
                          <a:latin typeface="+mn-lt"/>
                          <a:ea typeface="Tahoma" panose="020B0604030504040204" pitchFamily="34" charset="0"/>
                          <a:cs typeface="Tahoma" panose="020B0604030504040204" pitchFamily="34" charset="0"/>
                        </a:rPr>
                        <a:t>Owner </a:t>
                      </a:r>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tx1"/>
                    </a:solidFill>
                  </a:tcPr>
                </a:tc>
                <a:extLst>
                  <a:ext uri="{0D108BD9-81ED-4DB2-BD59-A6C34878D82A}">
                    <a16:rowId xmlns:a16="http://schemas.microsoft.com/office/drawing/2014/main" val="1226965156"/>
                  </a:ext>
                </a:extLst>
              </a:tr>
              <a:tr h="370840">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extLst>
                  <a:ext uri="{0D108BD9-81ED-4DB2-BD59-A6C34878D82A}">
                    <a16:rowId xmlns:a16="http://schemas.microsoft.com/office/drawing/2014/main" val="2899601372"/>
                  </a:ext>
                </a:extLst>
              </a:tr>
              <a:tr h="370840">
                <a:tc>
                  <a:txBody>
                    <a:bodyPr/>
                    <a:lstStyle/>
                    <a:p>
                      <a:endParaRPr lang="en-US"/>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extLst>
                  <a:ext uri="{0D108BD9-81ED-4DB2-BD59-A6C34878D82A}">
                    <a16:rowId xmlns:a16="http://schemas.microsoft.com/office/drawing/2014/main" val="135040718"/>
                  </a:ext>
                </a:extLst>
              </a:tr>
              <a:tr h="370840">
                <a:tc>
                  <a:txBody>
                    <a:bodyPr/>
                    <a:lstStyle/>
                    <a:p>
                      <a:endParaRPr lang="en-US"/>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extLst>
                  <a:ext uri="{0D108BD9-81ED-4DB2-BD59-A6C34878D82A}">
                    <a16:rowId xmlns:a16="http://schemas.microsoft.com/office/drawing/2014/main" val="2207541846"/>
                  </a:ext>
                </a:extLst>
              </a:tr>
              <a:tr h="370840">
                <a:tc>
                  <a:txBody>
                    <a:bodyPr/>
                    <a:lstStyle/>
                    <a:p>
                      <a:endParaRPr lang="en-US"/>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extLst>
                  <a:ext uri="{0D108BD9-81ED-4DB2-BD59-A6C34878D82A}">
                    <a16:rowId xmlns:a16="http://schemas.microsoft.com/office/drawing/2014/main" val="1687376168"/>
                  </a:ext>
                </a:extLst>
              </a:tr>
              <a:tr h="370840">
                <a:tc>
                  <a:txBody>
                    <a:bodyPr/>
                    <a:lstStyle/>
                    <a:p>
                      <a:endParaRPr lang="en-US"/>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extLst>
                  <a:ext uri="{0D108BD9-81ED-4DB2-BD59-A6C34878D82A}">
                    <a16:rowId xmlns:a16="http://schemas.microsoft.com/office/drawing/2014/main" val="2352880616"/>
                  </a:ext>
                </a:extLst>
              </a:tr>
              <a:tr h="370840">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extLst>
                  <a:ext uri="{0D108BD9-81ED-4DB2-BD59-A6C34878D82A}">
                    <a16:rowId xmlns:a16="http://schemas.microsoft.com/office/drawing/2014/main" val="3114824503"/>
                  </a:ext>
                </a:extLst>
              </a:tr>
              <a:tr h="370840">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extLst>
                  <a:ext uri="{0D108BD9-81ED-4DB2-BD59-A6C34878D82A}">
                    <a16:rowId xmlns:a16="http://schemas.microsoft.com/office/drawing/2014/main" val="4024034780"/>
                  </a:ext>
                </a:extLst>
              </a:tr>
              <a:tr h="370840">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extLst>
                  <a:ext uri="{0D108BD9-81ED-4DB2-BD59-A6C34878D82A}">
                    <a16:rowId xmlns:a16="http://schemas.microsoft.com/office/drawing/2014/main" val="2900625144"/>
                  </a:ext>
                </a:extLst>
              </a:tr>
              <a:tr h="370840">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extLst>
                  <a:ext uri="{0D108BD9-81ED-4DB2-BD59-A6C34878D82A}">
                    <a16:rowId xmlns:a16="http://schemas.microsoft.com/office/drawing/2014/main" val="3277630296"/>
                  </a:ext>
                </a:extLst>
              </a:tr>
              <a:tr h="370840">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extLst>
                  <a:ext uri="{0D108BD9-81ED-4DB2-BD59-A6C34878D82A}">
                    <a16:rowId xmlns:a16="http://schemas.microsoft.com/office/drawing/2014/main" val="1871092944"/>
                  </a:ext>
                </a:extLst>
              </a:tr>
              <a:tr h="370840">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extLst>
                  <a:ext uri="{0D108BD9-81ED-4DB2-BD59-A6C34878D82A}">
                    <a16:rowId xmlns:a16="http://schemas.microsoft.com/office/drawing/2014/main" val="275340408"/>
                  </a:ext>
                </a:extLst>
              </a:tr>
              <a:tr h="370840">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extLst>
                  <a:ext uri="{0D108BD9-81ED-4DB2-BD59-A6C34878D82A}">
                    <a16:rowId xmlns:a16="http://schemas.microsoft.com/office/drawing/2014/main" val="1766348699"/>
                  </a:ext>
                </a:extLst>
              </a:tr>
              <a:tr h="370840">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tc>
                  <a:txBody>
                    <a:bodyPr/>
                    <a:lstStyle/>
                    <a:p>
                      <a:endParaRPr lang="en-US" dirty="0"/>
                    </a:p>
                  </a:txBody>
                  <a:tcPr>
                    <a:lnL w="12700" cap="flat" cmpd="sng" algn="ctr">
                      <a:solidFill>
                        <a:srgbClr val="00249C"/>
                      </a:solidFill>
                      <a:prstDash val="solid"/>
                      <a:round/>
                      <a:headEnd type="none" w="med" len="med"/>
                      <a:tailEnd type="none" w="med" len="med"/>
                    </a:lnL>
                    <a:lnR w="12700" cap="flat" cmpd="sng" algn="ctr">
                      <a:solidFill>
                        <a:srgbClr val="00249C"/>
                      </a:solidFill>
                      <a:prstDash val="solid"/>
                      <a:round/>
                      <a:headEnd type="none" w="med" len="med"/>
                      <a:tailEnd type="none" w="med" len="med"/>
                    </a:lnR>
                    <a:lnT w="12700" cap="flat" cmpd="sng" algn="ctr">
                      <a:solidFill>
                        <a:srgbClr val="00249C"/>
                      </a:solidFill>
                      <a:prstDash val="solid"/>
                      <a:round/>
                      <a:headEnd type="none" w="med" len="med"/>
                      <a:tailEnd type="none" w="med" len="med"/>
                    </a:lnT>
                    <a:lnB w="12700" cap="flat" cmpd="sng" algn="ctr">
                      <a:solidFill>
                        <a:srgbClr val="00249C"/>
                      </a:solidFill>
                      <a:prstDash val="solid"/>
                      <a:round/>
                      <a:headEnd type="none" w="med" len="med"/>
                      <a:tailEnd type="none" w="med" len="med"/>
                    </a:lnB>
                    <a:solidFill>
                      <a:schemeClr val="bg2"/>
                    </a:solidFill>
                  </a:tcPr>
                </a:tc>
                <a:extLst>
                  <a:ext uri="{0D108BD9-81ED-4DB2-BD59-A6C34878D82A}">
                    <a16:rowId xmlns:a16="http://schemas.microsoft.com/office/drawing/2014/main" val="1499162646"/>
                  </a:ext>
                </a:extLst>
              </a:tr>
            </a:tbl>
          </a:graphicData>
        </a:graphic>
      </p:graphicFrame>
      <p:sp>
        <p:nvSpPr>
          <p:cNvPr id="5" name="TextBox 4">
            <a:extLst>
              <a:ext uri="{FF2B5EF4-FFF2-40B4-BE49-F238E27FC236}">
                <a16:creationId xmlns:a16="http://schemas.microsoft.com/office/drawing/2014/main" id="{4D067AE5-8949-1503-A2C4-87D0BF9076C4}"/>
              </a:ext>
            </a:extLst>
          </p:cNvPr>
          <p:cNvSpPr txBox="1"/>
          <p:nvPr/>
        </p:nvSpPr>
        <p:spPr>
          <a:xfrm>
            <a:off x="1638300" y="3239701"/>
            <a:ext cx="7035800" cy="276999"/>
          </a:xfrm>
          <a:prstGeom prst="rect">
            <a:avLst/>
          </a:prstGeom>
          <a:noFill/>
        </p:spPr>
        <p:txBody>
          <a:bodyPr wrap="square">
            <a:spAutoFit/>
          </a:bodyPr>
          <a:lstStyle/>
          <a:p>
            <a:pPr algn="ctr"/>
            <a:r>
              <a:rPr lang="en-AU" sz="1200" dirty="0">
                <a:solidFill>
                  <a:schemeClr val="bg2"/>
                </a:solidFill>
                <a:latin typeface="Tahoma" panose="020B0604030504040204" pitchFamily="34" charset="0"/>
                <a:ea typeface="Tahoma" panose="020B0604030504040204" pitchFamily="34" charset="0"/>
                <a:cs typeface="Tahoma" panose="020B0604030504040204" pitchFamily="34" charset="0"/>
              </a:rPr>
              <a:t>#</a:t>
            </a:r>
          </a:p>
        </p:txBody>
      </p:sp>
    </p:spTree>
    <p:extLst>
      <p:ext uri="{BB962C8B-B14F-4D97-AF65-F5344CB8AC3E}">
        <p14:creationId xmlns:p14="http://schemas.microsoft.com/office/powerpoint/2010/main" val="22048150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02AA6A-C66A-3E80-93F8-E6D106FEDADF}"/>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960E4AD0-35A9-AD18-2915-8D19E4B6A12D}"/>
              </a:ext>
            </a:extLst>
          </p:cNvPr>
          <p:cNvSpPr txBox="1">
            <a:spLocks/>
          </p:cNvSpPr>
          <p:nvPr/>
        </p:nvSpPr>
        <p:spPr>
          <a:xfrm>
            <a:off x="659213" y="91440"/>
            <a:ext cx="11358615" cy="737326"/>
          </a:xfrm>
          <a:prstGeom prst="rect">
            <a:avLst/>
          </a:prstGeom>
        </p:spPr>
        <p:txBody>
          <a:bodyPr vert="horz" lIns="91440" tIns="45720" rIns="91440" bIns="45720" rtlCol="0" anchor="ctr" anchorCtr="0">
            <a:normAutofit/>
          </a:bodyPr>
          <a:lstStyle>
            <a:lvl1pPr algn="l" defTabSz="914400" rtl="0" eaLnBrk="1" latinLnBrk="0" hangingPunct="1">
              <a:lnSpc>
                <a:spcPct val="90000"/>
              </a:lnSpc>
              <a:spcBef>
                <a:spcPct val="0"/>
              </a:spcBef>
              <a:buNone/>
              <a:defRPr sz="4500" b="1" kern="1200">
                <a:solidFill>
                  <a:srgbClr val="00249C"/>
                </a:solidFill>
                <a:latin typeface="Tahoma" panose="020B0604030504040204" pitchFamily="34" charset="0"/>
                <a:ea typeface="Tahoma" panose="020B0604030504040204" pitchFamily="34" charset="0"/>
                <a:cs typeface="Tahoma" panose="020B0604030504040204" pitchFamily="34" charset="0"/>
              </a:defRPr>
            </a:lvl1pPr>
          </a:lstStyle>
          <a:p>
            <a:r>
              <a:rPr lang="en-US" sz="3000" dirty="0"/>
              <a:t>4. Incident and Near Miss Review</a:t>
            </a:r>
          </a:p>
        </p:txBody>
      </p:sp>
      <p:sp>
        <p:nvSpPr>
          <p:cNvPr id="13" name="Text Placeholder 3">
            <a:extLst>
              <a:ext uri="{FF2B5EF4-FFF2-40B4-BE49-F238E27FC236}">
                <a16:creationId xmlns:a16="http://schemas.microsoft.com/office/drawing/2014/main" id="{7F10BB4D-90A9-225D-EBE1-AE93559676DE}"/>
              </a:ext>
            </a:extLst>
          </p:cNvPr>
          <p:cNvSpPr>
            <a:spLocks noGrp="1"/>
          </p:cNvSpPr>
          <p:nvPr>
            <p:ph type="body" sz="quarter" idx="10"/>
          </p:nvPr>
        </p:nvSpPr>
        <p:spPr>
          <a:xfrm>
            <a:off x="659214" y="4915569"/>
            <a:ext cx="8020198" cy="1724717"/>
          </a:xfrm>
        </p:spPr>
        <p:txBody>
          <a:bodyPr>
            <a:normAutofit/>
          </a:bodyPr>
          <a:lstStyle/>
          <a:p>
            <a:r>
              <a:rPr lang="en-US" sz="1400" b="1" dirty="0"/>
              <a:t>Key Observations: </a:t>
            </a:r>
          </a:p>
          <a:p>
            <a:r>
              <a:rPr lang="en-US" sz="1200" dirty="0"/>
              <a:t>By Campus EHS Specialists </a:t>
            </a:r>
          </a:p>
          <a:p>
            <a:endParaRPr lang="en-US" sz="1400" dirty="0"/>
          </a:p>
          <a:p>
            <a:endParaRPr lang="en-US" sz="1400" dirty="0"/>
          </a:p>
        </p:txBody>
      </p:sp>
    </p:spTree>
    <p:extLst>
      <p:ext uri="{BB962C8B-B14F-4D97-AF65-F5344CB8AC3E}">
        <p14:creationId xmlns:p14="http://schemas.microsoft.com/office/powerpoint/2010/main" val="155008854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1FE2A3-FC7E-B6BA-AE34-6D9174D51C8C}"/>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3BC71534-F3EB-F535-1AFA-C302C1F68971}"/>
              </a:ext>
            </a:extLst>
          </p:cNvPr>
          <p:cNvSpPr txBox="1">
            <a:spLocks/>
          </p:cNvSpPr>
          <p:nvPr/>
        </p:nvSpPr>
        <p:spPr>
          <a:xfrm>
            <a:off x="659213" y="91440"/>
            <a:ext cx="11358615" cy="737326"/>
          </a:xfrm>
          <a:prstGeom prst="rect">
            <a:avLst/>
          </a:prstGeom>
        </p:spPr>
        <p:txBody>
          <a:bodyPr vert="horz" lIns="91440" tIns="45720" rIns="91440" bIns="45720" rtlCol="0" anchor="ctr" anchorCtr="0">
            <a:normAutofit/>
          </a:bodyPr>
          <a:lstStyle>
            <a:lvl1pPr algn="l" defTabSz="914400" rtl="0" eaLnBrk="1" latinLnBrk="0" hangingPunct="1">
              <a:lnSpc>
                <a:spcPct val="90000"/>
              </a:lnSpc>
              <a:spcBef>
                <a:spcPct val="0"/>
              </a:spcBef>
              <a:buNone/>
              <a:defRPr sz="4500" b="1" kern="1200">
                <a:solidFill>
                  <a:srgbClr val="00249C"/>
                </a:solidFill>
                <a:latin typeface="Tahoma" panose="020B0604030504040204" pitchFamily="34" charset="0"/>
                <a:ea typeface="Tahoma" panose="020B0604030504040204" pitchFamily="34" charset="0"/>
                <a:cs typeface="Tahoma" panose="020B0604030504040204" pitchFamily="34" charset="0"/>
              </a:defRPr>
            </a:lvl1pPr>
          </a:lstStyle>
          <a:p>
            <a:r>
              <a:rPr lang="en-US" sz="3000" dirty="0"/>
              <a:t>5. Risk Assessments and Rectification Plans</a:t>
            </a:r>
          </a:p>
        </p:txBody>
      </p:sp>
      <p:sp>
        <p:nvSpPr>
          <p:cNvPr id="13" name="Text Placeholder 3">
            <a:extLst>
              <a:ext uri="{FF2B5EF4-FFF2-40B4-BE49-F238E27FC236}">
                <a16:creationId xmlns:a16="http://schemas.microsoft.com/office/drawing/2014/main" id="{48468371-BC90-87BC-A153-A70ED62F2170}"/>
              </a:ext>
            </a:extLst>
          </p:cNvPr>
          <p:cNvSpPr>
            <a:spLocks noGrp="1"/>
          </p:cNvSpPr>
          <p:nvPr>
            <p:ph type="body" sz="quarter" idx="10"/>
          </p:nvPr>
        </p:nvSpPr>
        <p:spPr>
          <a:xfrm>
            <a:off x="659214" y="4915569"/>
            <a:ext cx="8020198" cy="1724717"/>
          </a:xfrm>
        </p:spPr>
        <p:txBody>
          <a:bodyPr>
            <a:normAutofit/>
          </a:bodyPr>
          <a:lstStyle/>
          <a:p>
            <a:r>
              <a:rPr lang="en-US" sz="1400" b="1" dirty="0"/>
              <a:t>Key Observations: </a:t>
            </a:r>
          </a:p>
          <a:p>
            <a:r>
              <a:rPr lang="en-US" sz="1200" dirty="0"/>
              <a:t>By Campus EHS Specialists </a:t>
            </a:r>
          </a:p>
          <a:p>
            <a:endParaRPr lang="en-US" sz="1400" dirty="0"/>
          </a:p>
          <a:p>
            <a:endParaRPr lang="en-US" sz="1400" dirty="0"/>
          </a:p>
          <a:p>
            <a:endParaRPr lang="en-US" sz="1400" dirty="0"/>
          </a:p>
          <a:p>
            <a:endParaRPr lang="en-US" sz="1400" dirty="0"/>
          </a:p>
        </p:txBody>
      </p:sp>
    </p:spTree>
    <p:extLst>
      <p:ext uri="{BB962C8B-B14F-4D97-AF65-F5344CB8AC3E}">
        <p14:creationId xmlns:p14="http://schemas.microsoft.com/office/powerpoint/2010/main" val="377466173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2341E7-F77A-A58B-193B-305ACE933273}"/>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B6B212B0-211F-C6DF-64FC-DF27DE344A32}"/>
              </a:ext>
            </a:extLst>
          </p:cNvPr>
          <p:cNvSpPr txBox="1">
            <a:spLocks/>
          </p:cNvSpPr>
          <p:nvPr/>
        </p:nvSpPr>
        <p:spPr>
          <a:xfrm>
            <a:off x="659213" y="91440"/>
            <a:ext cx="11358615" cy="737326"/>
          </a:xfrm>
          <a:prstGeom prst="rect">
            <a:avLst/>
          </a:prstGeom>
        </p:spPr>
        <p:txBody>
          <a:bodyPr vert="horz" lIns="91440" tIns="45720" rIns="91440" bIns="45720" rtlCol="0" anchor="ctr" anchorCtr="0">
            <a:normAutofit/>
          </a:bodyPr>
          <a:lstStyle>
            <a:lvl1pPr algn="l" defTabSz="914400" rtl="0" eaLnBrk="1" latinLnBrk="0" hangingPunct="1">
              <a:lnSpc>
                <a:spcPct val="90000"/>
              </a:lnSpc>
              <a:spcBef>
                <a:spcPct val="0"/>
              </a:spcBef>
              <a:buNone/>
              <a:defRPr sz="4500" b="1" kern="1200">
                <a:solidFill>
                  <a:srgbClr val="00249C"/>
                </a:solidFill>
                <a:latin typeface="Tahoma" panose="020B0604030504040204" pitchFamily="34" charset="0"/>
                <a:ea typeface="Tahoma" panose="020B0604030504040204" pitchFamily="34" charset="0"/>
                <a:cs typeface="Tahoma" panose="020B0604030504040204" pitchFamily="34" charset="0"/>
              </a:defRPr>
            </a:lvl1pPr>
          </a:lstStyle>
          <a:p>
            <a:r>
              <a:rPr lang="en-US" sz="3000" dirty="0"/>
              <a:t>6. Audit Updates (Internal/External/Regulatory)</a:t>
            </a:r>
          </a:p>
        </p:txBody>
      </p:sp>
      <p:sp>
        <p:nvSpPr>
          <p:cNvPr id="13" name="Text Placeholder 3">
            <a:extLst>
              <a:ext uri="{FF2B5EF4-FFF2-40B4-BE49-F238E27FC236}">
                <a16:creationId xmlns:a16="http://schemas.microsoft.com/office/drawing/2014/main" id="{855C5857-0A59-9B71-B939-170A87D075F3}"/>
              </a:ext>
            </a:extLst>
          </p:cNvPr>
          <p:cNvSpPr>
            <a:spLocks noGrp="1"/>
          </p:cNvSpPr>
          <p:nvPr>
            <p:ph type="body" sz="quarter" idx="10"/>
          </p:nvPr>
        </p:nvSpPr>
        <p:spPr>
          <a:xfrm>
            <a:off x="659214" y="4915569"/>
            <a:ext cx="8020198" cy="1724717"/>
          </a:xfrm>
        </p:spPr>
        <p:txBody>
          <a:bodyPr>
            <a:normAutofit/>
          </a:bodyPr>
          <a:lstStyle/>
          <a:p>
            <a:r>
              <a:rPr lang="en-US" sz="1400" b="1" dirty="0"/>
              <a:t>Key Observations: </a:t>
            </a:r>
          </a:p>
          <a:p>
            <a:r>
              <a:rPr lang="en-US" sz="1200" dirty="0"/>
              <a:t>By Campus EHS Specialists </a:t>
            </a:r>
          </a:p>
          <a:p>
            <a:endParaRPr lang="en-US" sz="1400" dirty="0"/>
          </a:p>
          <a:p>
            <a:endParaRPr lang="en-US" sz="1400" dirty="0"/>
          </a:p>
          <a:p>
            <a:endParaRPr lang="en-US" sz="1400" dirty="0"/>
          </a:p>
        </p:txBody>
      </p:sp>
    </p:spTree>
    <p:extLst>
      <p:ext uri="{BB962C8B-B14F-4D97-AF65-F5344CB8AC3E}">
        <p14:creationId xmlns:p14="http://schemas.microsoft.com/office/powerpoint/2010/main" val="187993068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32251-02A2-62F0-BC2E-A07DDA5B9B17}"/>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80266443-C7A2-CA38-3509-E3CF2DFEDEFD}"/>
              </a:ext>
            </a:extLst>
          </p:cNvPr>
          <p:cNvSpPr txBox="1">
            <a:spLocks/>
          </p:cNvSpPr>
          <p:nvPr/>
        </p:nvSpPr>
        <p:spPr>
          <a:xfrm>
            <a:off x="659213" y="91440"/>
            <a:ext cx="11358615" cy="737326"/>
          </a:xfrm>
          <a:prstGeom prst="rect">
            <a:avLst/>
          </a:prstGeom>
        </p:spPr>
        <p:txBody>
          <a:bodyPr vert="horz" lIns="91440" tIns="45720" rIns="91440" bIns="45720" rtlCol="0" anchor="ctr" anchorCtr="0">
            <a:normAutofit/>
          </a:bodyPr>
          <a:lstStyle>
            <a:lvl1pPr algn="l" defTabSz="914400" rtl="0" eaLnBrk="1" latinLnBrk="0" hangingPunct="1">
              <a:lnSpc>
                <a:spcPct val="90000"/>
              </a:lnSpc>
              <a:spcBef>
                <a:spcPct val="0"/>
              </a:spcBef>
              <a:buNone/>
              <a:defRPr sz="4500" b="1" kern="1200">
                <a:solidFill>
                  <a:srgbClr val="00249C"/>
                </a:solidFill>
                <a:latin typeface="Tahoma" panose="020B0604030504040204" pitchFamily="34" charset="0"/>
                <a:ea typeface="Tahoma" panose="020B0604030504040204" pitchFamily="34" charset="0"/>
                <a:cs typeface="Tahoma" panose="020B0604030504040204" pitchFamily="34" charset="0"/>
              </a:defRPr>
            </a:lvl1pPr>
          </a:lstStyle>
          <a:p>
            <a:r>
              <a:rPr lang="en-US" sz="3000" dirty="0"/>
              <a:t>7. Inspection Findings and CAPA status</a:t>
            </a:r>
          </a:p>
        </p:txBody>
      </p:sp>
      <p:graphicFrame>
        <p:nvGraphicFramePr>
          <p:cNvPr id="6" name="Table 5">
            <a:extLst>
              <a:ext uri="{FF2B5EF4-FFF2-40B4-BE49-F238E27FC236}">
                <a16:creationId xmlns:a16="http://schemas.microsoft.com/office/drawing/2014/main" id="{B97482A6-6C2B-E790-7F30-E339D65E0701}"/>
              </a:ext>
            </a:extLst>
          </p:cNvPr>
          <p:cNvGraphicFramePr>
            <a:graphicFrameLocks noGrp="1"/>
          </p:cNvGraphicFramePr>
          <p:nvPr>
            <p:extLst>
              <p:ext uri="{D42A27DB-BD31-4B8C-83A1-F6EECF244321}">
                <p14:modId xmlns:p14="http://schemas.microsoft.com/office/powerpoint/2010/main" val="1271392884"/>
              </p:ext>
            </p:extLst>
          </p:nvPr>
        </p:nvGraphicFramePr>
        <p:xfrm>
          <a:off x="659213" y="828766"/>
          <a:ext cx="11360067" cy="4797838"/>
        </p:xfrm>
        <a:graphic>
          <a:graphicData uri="http://schemas.openxmlformats.org/drawingml/2006/table">
            <a:tbl>
              <a:tblPr firstRow="1" bandRow="1">
                <a:tableStyleId>{7E9639D4-E3E2-4D34-9284-5A2195B3D0D7}</a:tableStyleId>
              </a:tblPr>
              <a:tblGrid>
                <a:gridCol w="1344759">
                  <a:extLst>
                    <a:ext uri="{9D8B030D-6E8A-4147-A177-3AD203B41FA5}">
                      <a16:colId xmlns:a16="http://schemas.microsoft.com/office/drawing/2014/main" val="3007617848"/>
                    </a:ext>
                  </a:extLst>
                </a:gridCol>
                <a:gridCol w="8125548">
                  <a:extLst>
                    <a:ext uri="{9D8B030D-6E8A-4147-A177-3AD203B41FA5}">
                      <a16:colId xmlns:a16="http://schemas.microsoft.com/office/drawing/2014/main" val="862515432"/>
                    </a:ext>
                  </a:extLst>
                </a:gridCol>
                <a:gridCol w="1889760">
                  <a:extLst>
                    <a:ext uri="{9D8B030D-6E8A-4147-A177-3AD203B41FA5}">
                      <a16:colId xmlns:a16="http://schemas.microsoft.com/office/drawing/2014/main" val="3360428314"/>
                    </a:ext>
                  </a:extLst>
                </a:gridCol>
              </a:tblGrid>
              <a:tr h="361244">
                <a:tc gridSpan="2">
                  <a:txBody>
                    <a:bodyPr/>
                    <a:lstStyle/>
                    <a:p>
                      <a:r>
                        <a:rPr lang="en-US" sz="1600" dirty="0">
                          <a:solidFill>
                            <a:schemeClr val="bg2"/>
                          </a:solidFill>
                        </a:rPr>
                        <a:t>Discussion Points:</a:t>
                      </a:r>
                      <a:endParaRPr lang="en-US" sz="1600" dirty="0">
                        <a:solidFill>
                          <a:schemeClr val="bg2"/>
                        </a:solidFill>
                        <a:latin typeface="Tahoma" panose="020B0604030504040204" pitchFamily="34" charset="0"/>
                        <a:ea typeface="Tahoma" panose="020B0604030504040204" pitchFamily="34" charset="0"/>
                        <a:cs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dirty="0"/>
                    </a:p>
                  </a:txBody>
                  <a:tcPr/>
                </a:tc>
                <a:tc>
                  <a:txBody>
                    <a:bodyPr/>
                    <a:lstStyle/>
                    <a:p>
                      <a:endParaRPr lang="en-US" sz="1600" dirty="0">
                        <a:solidFill>
                          <a:schemeClr val="bg2"/>
                        </a:solidFill>
                        <a:latin typeface="Tahoma" panose="020B0604030504040204" pitchFamily="34" charset="0"/>
                        <a:ea typeface="Tahoma" panose="020B0604030504040204" pitchFamily="34" charset="0"/>
                        <a:cs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14244739"/>
                  </a:ext>
                </a:extLst>
              </a:tr>
              <a:tr h="361244">
                <a:tc>
                  <a:txBody>
                    <a:bodyPr/>
                    <a:lstStyle/>
                    <a:p>
                      <a:pPr algn="ctr"/>
                      <a:r>
                        <a:rPr lang="en-US" sz="1400" dirty="0">
                          <a:solidFill>
                            <a:schemeClr val="accent6"/>
                          </a:solidFill>
                        </a:rPr>
                        <a:t>Date</a:t>
                      </a:r>
                      <a:endParaRPr lang="en-US" dirty="0">
                        <a:solidFill>
                          <a:schemeClr val="accent6"/>
                        </a:solidFill>
                        <a:latin typeface="Tahoma" panose="020B0604030504040204" pitchFamily="34" charset="0"/>
                        <a:ea typeface="Tahoma" panose="020B0604030504040204" pitchFamily="34" charset="0"/>
                        <a:cs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400" dirty="0">
                          <a:solidFill>
                            <a:schemeClr val="accent6"/>
                          </a:solidFill>
                        </a:rPr>
                        <a:t>Inspection Findings</a:t>
                      </a:r>
                      <a:endParaRPr lang="en-US" sz="1400" dirty="0">
                        <a:solidFill>
                          <a:schemeClr val="accent6"/>
                        </a:solidFill>
                        <a:latin typeface="Tahoma" panose="020B0604030504040204" pitchFamily="34" charset="0"/>
                        <a:ea typeface="Tahoma" panose="020B0604030504040204" pitchFamily="34" charset="0"/>
                        <a:cs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400" dirty="0">
                          <a:solidFill>
                            <a:schemeClr val="accent6"/>
                          </a:solidFill>
                          <a:latin typeface="Tahoma" panose="020B0604030504040204" pitchFamily="34" charset="0"/>
                          <a:ea typeface="Tahoma" panose="020B0604030504040204" pitchFamily="34" charset="0"/>
                          <a:cs typeface="Tahoma" panose="020B0604030504040204" pitchFamily="34" charset="0"/>
                        </a:rPr>
                        <a:t>CAPA Status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13682750"/>
                  </a:ext>
                </a:extLst>
              </a:tr>
              <a:tr h="407535">
                <a:tc>
                  <a:txBody>
                    <a:bodyPr/>
                    <a:lstStyle/>
                    <a:p>
                      <a:endParaRPr lang="en-US" dirty="0">
                        <a:solidFill>
                          <a:schemeClr val="accent6"/>
                        </a:solidFill>
                        <a:latin typeface="Tahoma" panose="020B0604030504040204" pitchFamily="34" charset="0"/>
                        <a:ea typeface="Tahoma" panose="020B0604030504040204" pitchFamily="34" charset="0"/>
                        <a:cs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dirty="0">
                        <a:solidFill>
                          <a:schemeClr val="accent6"/>
                        </a:solidFill>
                        <a:latin typeface="Tahoma" panose="020B0604030504040204" pitchFamily="34" charset="0"/>
                        <a:ea typeface="Tahoma" panose="020B0604030504040204" pitchFamily="34" charset="0"/>
                        <a:cs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dirty="0">
                        <a:solidFill>
                          <a:schemeClr val="accent6"/>
                        </a:solidFill>
                        <a:latin typeface="Tahoma" panose="020B0604030504040204" pitchFamily="34" charset="0"/>
                        <a:ea typeface="Tahoma" panose="020B0604030504040204" pitchFamily="34" charset="0"/>
                        <a:cs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37728267"/>
                  </a:ext>
                </a:extLst>
              </a:tr>
              <a:tr h="407535">
                <a:tc>
                  <a:txBody>
                    <a:bodyPr/>
                    <a:lstStyle/>
                    <a:p>
                      <a:endParaRPr lang="en-US" dirty="0">
                        <a:solidFill>
                          <a:schemeClr val="accent6"/>
                        </a:solidFill>
                        <a:latin typeface="Tahoma" panose="020B0604030504040204" pitchFamily="34" charset="0"/>
                        <a:ea typeface="Tahoma" panose="020B0604030504040204" pitchFamily="34" charset="0"/>
                        <a:cs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dirty="0">
                        <a:solidFill>
                          <a:schemeClr val="accent6"/>
                        </a:solidFill>
                        <a:latin typeface="Tahoma" panose="020B0604030504040204" pitchFamily="34" charset="0"/>
                        <a:ea typeface="Tahoma" panose="020B0604030504040204" pitchFamily="34" charset="0"/>
                        <a:cs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dirty="0">
                        <a:solidFill>
                          <a:schemeClr val="accent6"/>
                        </a:solidFill>
                        <a:latin typeface="Tahoma" panose="020B0604030504040204" pitchFamily="34" charset="0"/>
                        <a:ea typeface="Tahoma" panose="020B0604030504040204" pitchFamily="34" charset="0"/>
                        <a:cs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3199890"/>
                  </a:ext>
                </a:extLst>
              </a:tr>
              <a:tr h="407535">
                <a:tc>
                  <a:txBody>
                    <a:bodyPr/>
                    <a:lstStyle/>
                    <a:p>
                      <a:endParaRPr lang="en-US">
                        <a:solidFill>
                          <a:schemeClr val="accent6"/>
                        </a:solidFill>
                        <a:latin typeface="Tahoma" panose="020B0604030504040204" pitchFamily="34" charset="0"/>
                        <a:ea typeface="Tahoma" panose="020B0604030504040204" pitchFamily="34" charset="0"/>
                        <a:cs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dirty="0">
                        <a:solidFill>
                          <a:schemeClr val="accent6"/>
                        </a:solidFill>
                        <a:latin typeface="Tahoma" panose="020B0604030504040204" pitchFamily="34" charset="0"/>
                        <a:ea typeface="Tahoma" panose="020B0604030504040204" pitchFamily="34" charset="0"/>
                        <a:cs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dirty="0">
                        <a:solidFill>
                          <a:schemeClr val="accent6"/>
                        </a:solidFill>
                        <a:latin typeface="Tahoma" panose="020B0604030504040204" pitchFamily="34" charset="0"/>
                        <a:ea typeface="Tahoma" panose="020B0604030504040204" pitchFamily="34" charset="0"/>
                        <a:cs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94612084"/>
                  </a:ext>
                </a:extLst>
              </a:tr>
              <a:tr h="407535">
                <a:tc>
                  <a:txBody>
                    <a:bodyPr/>
                    <a:lstStyle/>
                    <a:p>
                      <a:endParaRPr lang="en-US">
                        <a:solidFill>
                          <a:schemeClr val="accent6"/>
                        </a:solidFill>
                        <a:latin typeface="Tahoma" panose="020B0604030504040204" pitchFamily="34" charset="0"/>
                        <a:ea typeface="Tahoma" panose="020B0604030504040204" pitchFamily="34" charset="0"/>
                        <a:cs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dirty="0">
                        <a:solidFill>
                          <a:schemeClr val="accent6"/>
                        </a:solidFill>
                        <a:latin typeface="Tahoma" panose="020B0604030504040204" pitchFamily="34" charset="0"/>
                        <a:ea typeface="Tahoma" panose="020B0604030504040204" pitchFamily="34" charset="0"/>
                        <a:cs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dirty="0">
                        <a:solidFill>
                          <a:schemeClr val="accent6"/>
                        </a:solidFill>
                        <a:latin typeface="Tahoma" panose="020B0604030504040204" pitchFamily="34" charset="0"/>
                        <a:ea typeface="Tahoma" panose="020B0604030504040204" pitchFamily="34" charset="0"/>
                        <a:cs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8287631"/>
                  </a:ext>
                </a:extLst>
              </a:tr>
              <a:tr h="407535">
                <a:tc>
                  <a:txBody>
                    <a:bodyPr/>
                    <a:lstStyle/>
                    <a:p>
                      <a:endParaRPr lang="en-US">
                        <a:solidFill>
                          <a:schemeClr val="accent6"/>
                        </a:solidFill>
                        <a:latin typeface="Tahoma" panose="020B0604030504040204" pitchFamily="34" charset="0"/>
                        <a:ea typeface="Tahoma" panose="020B0604030504040204" pitchFamily="34" charset="0"/>
                        <a:cs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dirty="0">
                        <a:solidFill>
                          <a:schemeClr val="accent6"/>
                        </a:solidFill>
                        <a:latin typeface="Tahoma" panose="020B0604030504040204" pitchFamily="34" charset="0"/>
                        <a:ea typeface="Tahoma" panose="020B0604030504040204" pitchFamily="34" charset="0"/>
                        <a:cs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dirty="0">
                        <a:solidFill>
                          <a:schemeClr val="accent6"/>
                        </a:solidFill>
                        <a:latin typeface="Tahoma" panose="020B0604030504040204" pitchFamily="34" charset="0"/>
                        <a:ea typeface="Tahoma" panose="020B0604030504040204" pitchFamily="34" charset="0"/>
                        <a:cs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37290254"/>
                  </a:ext>
                </a:extLst>
              </a:tr>
              <a:tr h="407535">
                <a:tc>
                  <a:txBody>
                    <a:bodyPr/>
                    <a:lstStyle/>
                    <a:p>
                      <a:endParaRPr lang="en-US" dirty="0">
                        <a:solidFill>
                          <a:schemeClr val="accent6"/>
                        </a:solidFill>
                        <a:latin typeface="Tahoma" panose="020B0604030504040204" pitchFamily="34" charset="0"/>
                        <a:ea typeface="Tahoma" panose="020B0604030504040204" pitchFamily="34" charset="0"/>
                        <a:cs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dirty="0">
                        <a:solidFill>
                          <a:schemeClr val="accent6"/>
                        </a:solidFill>
                        <a:latin typeface="Tahoma" panose="020B0604030504040204" pitchFamily="34" charset="0"/>
                        <a:ea typeface="Tahoma" panose="020B0604030504040204" pitchFamily="34" charset="0"/>
                        <a:cs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dirty="0">
                        <a:solidFill>
                          <a:schemeClr val="accent6"/>
                        </a:solidFill>
                        <a:latin typeface="Tahoma" panose="020B0604030504040204" pitchFamily="34" charset="0"/>
                        <a:ea typeface="Tahoma" panose="020B0604030504040204" pitchFamily="34" charset="0"/>
                        <a:cs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56393848"/>
                  </a:ext>
                </a:extLst>
              </a:tr>
              <a:tr h="407535">
                <a:tc>
                  <a:txBody>
                    <a:bodyPr/>
                    <a:lstStyle/>
                    <a:p>
                      <a:endParaRPr lang="en-US" dirty="0">
                        <a:solidFill>
                          <a:schemeClr val="accent6"/>
                        </a:solidFill>
                        <a:latin typeface="Tahoma" panose="020B0604030504040204" pitchFamily="34" charset="0"/>
                        <a:ea typeface="Tahoma" panose="020B0604030504040204" pitchFamily="34" charset="0"/>
                        <a:cs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dirty="0">
                        <a:solidFill>
                          <a:schemeClr val="accent6"/>
                        </a:solidFill>
                        <a:latin typeface="Tahoma" panose="020B0604030504040204" pitchFamily="34" charset="0"/>
                        <a:ea typeface="Tahoma" panose="020B0604030504040204" pitchFamily="34" charset="0"/>
                        <a:cs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dirty="0">
                        <a:solidFill>
                          <a:schemeClr val="accent6"/>
                        </a:solidFill>
                        <a:latin typeface="Tahoma" panose="020B0604030504040204" pitchFamily="34" charset="0"/>
                        <a:ea typeface="Tahoma" panose="020B0604030504040204" pitchFamily="34" charset="0"/>
                        <a:cs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35347133"/>
                  </a:ext>
                </a:extLst>
              </a:tr>
              <a:tr h="407535">
                <a:tc>
                  <a:txBody>
                    <a:bodyPr/>
                    <a:lstStyle/>
                    <a:p>
                      <a:endParaRPr lang="en-US" dirty="0">
                        <a:solidFill>
                          <a:schemeClr val="accent6"/>
                        </a:solidFill>
                        <a:latin typeface="Tahoma" panose="020B0604030504040204" pitchFamily="34" charset="0"/>
                        <a:ea typeface="Tahoma" panose="020B0604030504040204" pitchFamily="34" charset="0"/>
                        <a:cs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dirty="0">
                        <a:solidFill>
                          <a:schemeClr val="accent6"/>
                        </a:solidFill>
                        <a:latin typeface="Tahoma" panose="020B0604030504040204" pitchFamily="34" charset="0"/>
                        <a:ea typeface="Tahoma" panose="020B0604030504040204" pitchFamily="34" charset="0"/>
                        <a:cs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dirty="0">
                        <a:solidFill>
                          <a:schemeClr val="accent6"/>
                        </a:solidFill>
                        <a:latin typeface="Tahoma" panose="020B0604030504040204" pitchFamily="34" charset="0"/>
                        <a:ea typeface="Tahoma" panose="020B0604030504040204" pitchFamily="34" charset="0"/>
                        <a:cs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23345986"/>
                  </a:ext>
                </a:extLst>
              </a:tr>
              <a:tr h="407535">
                <a:tc>
                  <a:txBody>
                    <a:bodyPr/>
                    <a:lstStyle/>
                    <a:p>
                      <a:endParaRPr lang="en-US" dirty="0">
                        <a:solidFill>
                          <a:schemeClr val="accent6"/>
                        </a:solidFill>
                        <a:latin typeface="Tahoma" panose="020B0604030504040204" pitchFamily="34" charset="0"/>
                        <a:ea typeface="Tahoma" panose="020B0604030504040204" pitchFamily="34" charset="0"/>
                        <a:cs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dirty="0">
                        <a:solidFill>
                          <a:schemeClr val="accent6"/>
                        </a:solidFill>
                        <a:latin typeface="Tahoma" panose="020B0604030504040204" pitchFamily="34" charset="0"/>
                        <a:ea typeface="Tahoma" panose="020B0604030504040204" pitchFamily="34" charset="0"/>
                        <a:cs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dirty="0">
                        <a:solidFill>
                          <a:schemeClr val="accent6"/>
                        </a:solidFill>
                        <a:latin typeface="Tahoma" panose="020B0604030504040204" pitchFamily="34" charset="0"/>
                        <a:ea typeface="Tahoma" panose="020B0604030504040204" pitchFamily="34" charset="0"/>
                        <a:cs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29690845"/>
                  </a:ext>
                </a:extLst>
              </a:tr>
              <a:tr h="407535">
                <a:tc>
                  <a:txBody>
                    <a:bodyPr/>
                    <a:lstStyle/>
                    <a:p>
                      <a:endParaRPr lang="en-US" dirty="0">
                        <a:solidFill>
                          <a:schemeClr val="accent6"/>
                        </a:solidFill>
                        <a:latin typeface="Tahoma" panose="020B0604030504040204" pitchFamily="34" charset="0"/>
                        <a:ea typeface="Tahoma" panose="020B0604030504040204" pitchFamily="34" charset="0"/>
                        <a:cs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dirty="0">
                        <a:solidFill>
                          <a:schemeClr val="accent6"/>
                        </a:solidFill>
                        <a:latin typeface="Tahoma" panose="020B0604030504040204" pitchFamily="34" charset="0"/>
                        <a:ea typeface="Tahoma" panose="020B0604030504040204" pitchFamily="34" charset="0"/>
                        <a:cs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dirty="0">
                        <a:solidFill>
                          <a:schemeClr val="accent6"/>
                        </a:solidFill>
                        <a:latin typeface="Tahoma" panose="020B0604030504040204" pitchFamily="34" charset="0"/>
                        <a:ea typeface="Tahoma" panose="020B0604030504040204" pitchFamily="34" charset="0"/>
                        <a:cs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89606146"/>
                  </a:ext>
                </a:extLst>
              </a:tr>
            </a:tbl>
          </a:graphicData>
        </a:graphic>
      </p:graphicFrame>
      <p:sp>
        <p:nvSpPr>
          <p:cNvPr id="10" name="TextBox 9">
            <a:extLst>
              <a:ext uri="{FF2B5EF4-FFF2-40B4-BE49-F238E27FC236}">
                <a16:creationId xmlns:a16="http://schemas.microsoft.com/office/drawing/2014/main" id="{AD655E69-CDD8-23BB-413A-9052A41FC530}"/>
              </a:ext>
            </a:extLst>
          </p:cNvPr>
          <p:cNvSpPr txBox="1"/>
          <p:nvPr/>
        </p:nvSpPr>
        <p:spPr>
          <a:xfrm>
            <a:off x="659213" y="5812453"/>
            <a:ext cx="11358614" cy="954107"/>
          </a:xfrm>
          <a:prstGeom prst="rect">
            <a:avLst/>
          </a:prstGeom>
          <a:solidFill>
            <a:schemeClr val="bg2"/>
          </a:solidFill>
          <a:ln>
            <a:solidFill>
              <a:schemeClr val="tx1"/>
            </a:solidFill>
          </a:ln>
        </p:spPr>
        <p:txBody>
          <a:bodyPr wrap="square" rtlCol="0">
            <a:spAutoFit/>
          </a:bodyPr>
          <a:lstStyle>
            <a:defPPr>
              <a:defRPr lang="en-US"/>
            </a:defPPr>
            <a:lvl1pPr>
              <a:defRPr sz="1400"/>
            </a:lvl1pPr>
          </a:lstStyle>
          <a:p>
            <a:r>
              <a:rPr lang="en-US" dirty="0">
                <a:latin typeface="Tahoma" panose="020B0604030504040204" pitchFamily="34" charset="0"/>
                <a:ea typeface="Tahoma" panose="020B0604030504040204" pitchFamily="34" charset="0"/>
                <a:cs typeface="Tahoma" panose="020B0604030504040204" pitchFamily="34" charset="0"/>
              </a:rPr>
              <a:t>Critical risks and issues that needs immediate attention</a:t>
            </a:r>
          </a:p>
          <a:p>
            <a:r>
              <a:rPr lang="en-US" dirty="0">
                <a:latin typeface="Tahoma" panose="020B0604030504040204" pitchFamily="34" charset="0"/>
                <a:ea typeface="Tahoma" panose="020B0604030504040204" pitchFamily="34" charset="0"/>
                <a:cs typeface="Tahoma" panose="020B0604030504040204" pitchFamily="34" charset="0"/>
              </a:rPr>
              <a:t>1. </a:t>
            </a:r>
          </a:p>
          <a:p>
            <a:r>
              <a:rPr lang="en-US" dirty="0">
                <a:latin typeface="Tahoma" panose="020B0604030504040204" pitchFamily="34" charset="0"/>
                <a:ea typeface="Tahoma" panose="020B0604030504040204" pitchFamily="34" charset="0"/>
                <a:cs typeface="Tahoma" panose="020B0604030504040204" pitchFamily="34" charset="0"/>
              </a:rPr>
              <a:t>2.</a:t>
            </a:r>
          </a:p>
          <a:p>
            <a:r>
              <a:rPr lang="en-US" dirty="0">
                <a:latin typeface="Tahoma" panose="020B0604030504040204" pitchFamily="34" charset="0"/>
                <a:ea typeface="Tahoma" panose="020B0604030504040204" pitchFamily="34" charset="0"/>
                <a:cs typeface="Tahoma" panose="020B0604030504040204" pitchFamily="34" charset="0"/>
              </a:rPr>
              <a:t>3.</a:t>
            </a:r>
          </a:p>
        </p:txBody>
      </p:sp>
    </p:spTree>
    <p:extLst>
      <p:ext uri="{BB962C8B-B14F-4D97-AF65-F5344CB8AC3E}">
        <p14:creationId xmlns:p14="http://schemas.microsoft.com/office/powerpoint/2010/main" val="149115794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138C3-6740-7B5E-D88D-073FA6B5FC1E}"/>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65FB7BD5-A895-5D7E-EDF7-B7875E044968}"/>
              </a:ext>
            </a:extLst>
          </p:cNvPr>
          <p:cNvSpPr txBox="1">
            <a:spLocks/>
          </p:cNvSpPr>
          <p:nvPr/>
        </p:nvSpPr>
        <p:spPr>
          <a:xfrm>
            <a:off x="659213" y="91440"/>
            <a:ext cx="11358615" cy="737326"/>
          </a:xfrm>
          <a:prstGeom prst="rect">
            <a:avLst/>
          </a:prstGeom>
        </p:spPr>
        <p:txBody>
          <a:bodyPr vert="horz" lIns="91440" tIns="45720" rIns="91440" bIns="45720" rtlCol="0" anchor="ctr" anchorCtr="0">
            <a:normAutofit fontScale="70000" lnSpcReduction="20000"/>
          </a:bodyPr>
          <a:lstStyle>
            <a:lvl1pPr algn="l" defTabSz="914400" rtl="0" eaLnBrk="1" latinLnBrk="0" hangingPunct="1">
              <a:lnSpc>
                <a:spcPct val="90000"/>
              </a:lnSpc>
              <a:spcBef>
                <a:spcPct val="0"/>
              </a:spcBef>
              <a:buNone/>
              <a:defRPr sz="4500" b="1" kern="1200">
                <a:solidFill>
                  <a:srgbClr val="00249C"/>
                </a:solidFill>
                <a:latin typeface="Tahoma" panose="020B0604030504040204" pitchFamily="34" charset="0"/>
                <a:ea typeface="Tahoma" panose="020B0604030504040204" pitchFamily="34" charset="0"/>
                <a:cs typeface="Tahoma" panose="020B0604030504040204" pitchFamily="34" charset="0"/>
              </a:defRPr>
            </a:lvl1pPr>
          </a:lstStyle>
          <a:p>
            <a:r>
              <a:rPr lang="en-US" dirty="0"/>
              <a:t>8. Training, Competency and Awareness and Feedback</a:t>
            </a:r>
          </a:p>
        </p:txBody>
      </p:sp>
      <p:sp>
        <p:nvSpPr>
          <p:cNvPr id="13" name="Text Placeholder 3">
            <a:extLst>
              <a:ext uri="{FF2B5EF4-FFF2-40B4-BE49-F238E27FC236}">
                <a16:creationId xmlns:a16="http://schemas.microsoft.com/office/drawing/2014/main" id="{348AE932-5115-ECB8-5B2D-85B3D8D0B670}"/>
              </a:ext>
            </a:extLst>
          </p:cNvPr>
          <p:cNvSpPr>
            <a:spLocks noGrp="1"/>
          </p:cNvSpPr>
          <p:nvPr>
            <p:ph type="body" sz="quarter" idx="10"/>
          </p:nvPr>
        </p:nvSpPr>
        <p:spPr>
          <a:xfrm>
            <a:off x="659214" y="4915569"/>
            <a:ext cx="8020198" cy="1724717"/>
          </a:xfrm>
        </p:spPr>
        <p:txBody>
          <a:bodyPr>
            <a:normAutofit/>
          </a:bodyPr>
          <a:lstStyle/>
          <a:p>
            <a:r>
              <a:rPr lang="en-US" sz="1400" b="1" dirty="0"/>
              <a:t>Key Observations: </a:t>
            </a:r>
          </a:p>
          <a:p>
            <a:r>
              <a:rPr lang="en-US" sz="1200" dirty="0"/>
              <a:t>By Campus EHS Specialists </a:t>
            </a:r>
          </a:p>
          <a:p>
            <a:endParaRPr lang="en-US" sz="1400" dirty="0"/>
          </a:p>
          <a:p>
            <a:endParaRPr lang="en-US" sz="1400" dirty="0"/>
          </a:p>
          <a:p>
            <a:endParaRPr lang="en-US" sz="1400" dirty="0"/>
          </a:p>
        </p:txBody>
      </p:sp>
    </p:spTree>
    <p:extLst>
      <p:ext uri="{BB962C8B-B14F-4D97-AF65-F5344CB8AC3E}">
        <p14:creationId xmlns:p14="http://schemas.microsoft.com/office/powerpoint/2010/main" val="274147473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6697B6-818A-FE3D-CCD4-3FB63FA1E595}"/>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03605453-E48A-FE10-432C-DE6FFEFD4146}"/>
              </a:ext>
            </a:extLst>
          </p:cNvPr>
          <p:cNvSpPr txBox="1">
            <a:spLocks/>
          </p:cNvSpPr>
          <p:nvPr/>
        </p:nvSpPr>
        <p:spPr>
          <a:xfrm>
            <a:off x="659213" y="91440"/>
            <a:ext cx="11358615" cy="737326"/>
          </a:xfrm>
          <a:prstGeom prst="rect">
            <a:avLst/>
          </a:prstGeom>
        </p:spPr>
        <p:txBody>
          <a:bodyPr vert="horz" lIns="91440" tIns="45720" rIns="91440" bIns="45720" rtlCol="0" anchor="ctr" anchorCtr="0">
            <a:normAutofit/>
          </a:bodyPr>
          <a:lstStyle>
            <a:lvl1pPr algn="l" defTabSz="914400" rtl="0" eaLnBrk="1" latinLnBrk="0" hangingPunct="1">
              <a:lnSpc>
                <a:spcPct val="90000"/>
              </a:lnSpc>
              <a:spcBef>
                <a:spcPct val="0"/>
              </a:spcBef>
              <a:buNone/>
              <a:defRPr sz="4500" b="1" kern="1200">
                <a:solidFill>
                  <a:srgbClr val="00249C"/>
                </a:solidFill>
                <a:latin typeface="Tahoma" panose="020B0604030504040204" pitchFamily="34" charset="0"/>
                <a:ea typeface="Tahoma" panose="020B0604030504040204" pitchFamily="34" charset="0"/>
                <a:cs typeface="Tahoma" panose="020B0604030504040204" pitchFamily="34" charset="0"/>
              </a:defRPr>
            </a:lvl1pPr>
          </a:lstStyle>
          <a:p>
            <a:r>
              <a:rPr lang="en-US" sz="3000" dirty="0"/>
              <a:t>9. Emergency Preparedness and Drills</a:t>
            </a:r>
          </a:p>
        </p:txBody>
      </p:sp>
      <p:sp>
        <p:nvSpPr>
          <p:cNvPr id="13" name="Text Placeholder 3">
            <a:extLst>
              <a:ext uri="{FF2B5EF4-FFF2-40B4-BE49-F238E27FC236}">
                <a16:creationId xmlns:a16="http://schemas.microsoft.com/office/drawing/2014/main" id="{D0F28088-3FB3-E96C-78D9-47D168F8D369}"/>
              </a:ext>
            </a:extLst>
          </p:cNvPr>
          <p:cNvSpPr>
            <a:spLocks noGrp="1"/>
          </p:cNvSpPr>
          <p:nvPr>
            <p:ph type="body" sz="quarter" idx="10"/>
          </p:nvPr>
        </p:nvSpPr>
        <p:spPr>
          <a:xfrm>
            <a:off x="659214" y="4915569"/>
            <a:ext cx="8020198" cy="1724717"/>
          </a:xfrm>
        </p:spPr>
        <p:txBody>
          <a:bodyPr>
            <a:normAutofit/>
          </a:bodyPr>
          <a:lstStyle/>
          <a:p>
            <a:r>
              <a:rPr lang="en-US" sz="1400" b="1" dirty="0"/>
              <a:t>Key Observations: </a:t>
            </a:r>
          </a:p>
          <a:p>
            <a:r>
              <a:rPr lang="en-US" sz="1200" dirty="0"/>
              <a:t>By Campus EHS Specialists </a:t>
            </a:r>
          </a:p>
          <a:p>
            <a:endParaRPr lang="en-US" sz="1400" dirty="0"/>
          </a:p>
          <a:p>
            <a:endParaRPr lang="en-US" sz="1400" dirty="0"/>
          </a:p>
          <a:p>
            <a:endParaRPr lang="en-US" sz="1400" dirty="0"/>
          </a:p>
        </p:txBody>
      </p:sp>
      <p:sp>
        <p:nvSpPr>
          <p:cNvPr id="3" name="Text Placeholder 3">
            <a:extLst>
              <a:ext uri="{FF2B5EF4-FFF2-40B4-BE49-F238E27FC236}">
                <a16:creationId xmlns:a16="http://schemas.microsoft.com/office/drawing/2014/main" id="{815695D7-1265-3DF5-E335-CEB7755754B2}"/>
              </a:ext>
            </a:extLst>
          </p:cNvPr>
          <p:cNvSpPr txBox="1">
            <a:spLocks/>
          </p:cNvSpPr>
          <p:nvPr/>
        </p:nvSpPr>
        <p:spPr>
          <a:xfrm>
            <a:off x="659212" y="1189292"/>
            <a:ext cx="6503588" cy="903668"/>
          </a:xfrm>
          <a:prstGeom prst="rect">
            <a:avLst/>
          </a:prstGeom>
        </p:spPr>
        <p:txBody>
          <a:bodyPr vert="horz" lIns="91440" tIns="45720" rIns="91440" bIns="45720" rtlCol="0">
            <a:normAutofit/>
          </a:bodyPr>
          <a:lstStyle>
            <a:lvl1pPr marL="0" indent="0" algn="l" defTabSz="914400" rtl="0" eaLnBrk="1" latinLnBrk="0" hangingPunct="1">
              <a:lnSpc>
                <a:spcPct val="95000"/>
              </a:lnSpc>
              <a:spcBef>
                <a:spcPts val="1000"/>
              </a:spcBef>
              <a:buFontTx/>
              <a:buNone/>
              <a:defRPr sz="20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1pPr>
            <a:lvl2pPr marL="457200" indent="0" algn="l" defTabSz="914400" rtl="0" eaLnBrk="1" latinLnBrk="0" hangingPunct="1">
              <a:lnSpc>
                <a:spcPct val="90000"/>
              </a:lnSpc>
              <a:spcBef>
                <a:spcPts val="500"/>
              </a:spcBef>
              <a:buFontTx/>
              <a:buNone/>
              <a:defRPr sz="24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2pPr>
            <a:lvl3pPr marL="914400" indent="0" algn="l" defTabSz="914400" rtl="0" eaLnBrk="1" latinLnBrk="0" hangingPunct="1">
              <a:lnSpc>
                <a:spcPct val="90000"/>
              </a:lnSpc>
              <a:spcBef>
                <a:spcPts val="500"/>
              </a:spcBef>
              <a:buFontTx/>
              <a:buNone/>
              <a:defRPr sz="20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3pPr>
            <a:lvl4pPr marL="1371600" indent="0" algn="l" defTabSz="914400" rtl="0" eaLnBrk="1" latinLnBrk="0" hangingPunct="1">
              <a:lnSpc>
                <a:spcPct val="90000"/>
              </a:lnSpc>
              <a:spcBef>
                <a:spcPts val="500"/>
              </a:spcBef>
              <a:buFontTx/>
              <a:buNone/>
              <a:defRPr sz="18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4pPr>
            <a:lvl5pPr marL="1828800" indent="0" algn="l" defTabSz="914400" rtl="0" eaLnBrk="1" latinLnBrk="0" hangingPunct="1">
              <a:lnSpc>
                <a:spcPct val="90000"/>
              </a:lnSpc>
              <a:spcBef>
                <a:spcPts val="500"/>
              </a:spcBef>
              <a:buFontTx/>
              <a:buNone/>
              <a:defRPr sz="18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400" i="1" dirty="0"/>
              <a:t>Show data for emergency preparedness and drills for the upcoming month</a:t>
            </a:r>
            <a:endParaRPr lang="en-US" sz="1200" i="1" dirty="0"/>
          </a:p>
          <a:p>
            <a:endParaRPr lang="en-US" sz="1400" dirty="0"/>
          </a:p>
          <a:p>
            <a:endParaRPr lang="en-US" sz="1400" dirty="0"/>
          </a:p>
        </p:txBody>
      </p:sp>
    </p:spTree>
    <p:extLst>
      <p:ext uri="{BB962C8B-B14F-4D97-AF65-F5344CB8AC3E}">
        <p14:creationId xmlns:p14="http://schemas.microsoft.com/office/powerpoint/2010/main" val="292922201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972FA0C5-68CA-1F7A-329F-25954BD4AA58}"/>
              </a:ext>
            </a:extLst>
          </p:cNvPr>
          <p:cNvGraphicFramePr>
            <a:graphicFrameLocks noGrp="1"/>
          </p:cNvGraphicFramePr>
          <p:nvPr>
            <p:extLst>
              <p:ext uri="{D42A27DB-BD31-4B8C-83A1-F6EECF244321}">
                <p14:modId xmlns:p14="http://schemas.microsoft.com/office/powerpoint/2010/main" val="3884240397"/>
              </p:ext>
            </p:extLst>
          </p:nvPr>
        </p:nvGraphicFramePr>
        <p:xfrm>
          <a:off x="801922" y="1085898"/>
          <a:ext cx="10588156" cy="1942788"/>
        </p:xfrm>
        <a:graphic>
          <a:graphicData uri="http://schemas.openxmlformats.org/drawingml/2006/table">
            <a:tbl>
              <a:tblPr firstRow="1" firstCol="1" bandRow="1">
                <a:tableStyleId>{5C22544A-7EE6-4342-B048-85BDC9FD1C3A}</a:tableStyleId>
              </a:tblPr>
              <a:tblGrid>
                <a:gridCol w="1614967">
                  <a:extLst>
                    <a:ext uri="{9D8B030D-6E8A-4147-A177-3AD203B41FA5}">
                      <a16:colId xmlns:a16="http://schemas.microsoft.com/office/drawing/2014/main" val="267126128"/>
                    </a:ext>
                  </a:extLst>
                </a:gridCol>
                <a:gridCol w="1304307">
                  <a:extLst>
                    <a:ext uri="{9D8B030D-6E8A-4147-A177-3AD203B41FA5}">
                      <a16:colId xmlns:a16="http://schemas.microsoft.com/office/drawing/2014/main" val="2312495194"/>
                    </a:ext>
                  </a:extLst>
                </a:gridCol>
                <a:gridCol w="514454">
                  <a:extLst>
                    <a:ext uri="{9D8B030D-6E8A-4147-A177-3AD203B41FA5}">
                      <a16:colId xmlns:a16="http://schemas.microsoft.com/office/drawing/2014/main" val="1909063678"/>
                    </a:ext>
                  </a:extLst>
                </a:gridCol>
                <a:gridCol w="598175">
                  <a:extLst>
                    <a:ext uri="{9D8B030D-6E8A-4147-A177-3AD203B41FA5}">
                      <a16:colId xmlns:a16="http://schemas.microsoft.com/office/drawing/2014/main" val="181318704"/>
                    </a:ext>
                  </a:extLst>
                </a:gridCol>
                <a:gridCol w="807117">
                  <a:extLst>
                    <a:ext uri="{9D8B030D-6E8A-4147-A177-3AD203B41FA5}">
                      <a16:colId xmlns:a16="http://schemas.microsoft.com/office/drawing/2014/main" val="2938590176"/>
                    </a:ext>
                  </a:extLst>
                </a:gridCol>
                <a:gridCol w="907915">
                  <a:extLst>
                    <a:ext uri="{9D8B030D-6E8A-4147-A177-3AD203B41FA5}">
                      <a16:colId xmlns:a16="http://schemas.microsoft.com/office/drawing/2014/main" val="4044964417"/>
                    </a:ext>
                  </a:extLst>
                </a:gridCol>
                <a:gridCol w="907915">
                  <a:extLst>
                    <a:ext uri="{9D8B030D-6E8A-4147-A177-3AD203B41FA5}">
                      <a16:colId xmlns:a16="http://schemas.microsoft.com/office/drawing/2014/main" val="2189517649"/>
                    </a:ext>
                  </a:extLst>
                </a:gridCol>
                <a:gridCol w="807117">
                  <a:extLst>
                    <a:ext uri="{9D8B030D-6E8A-4147-A177-3AD203B41FA5}">
                      <a16:colId xmlns:a16="http://schemas.microsoft.com/office/drawing/2014/main" val="3096307282"/>
                    </a:ext>
                  </a:extLst>
                </a:gridCol>
                <a:gridCol w="605520">
                  <a:extLst>
                    <a:ext uri="{9D8B030D-6E8A-4147-A177-3AD203B41FA5}">
                      <a16:colId xmlns:a16="http://schemas.microsoft.com/office/drawing/2014/main" val="3738023914"/>
                    </a:ext>
                  </a:extLst>
                </a:gridCol>
                <a:gridCol w="705581">
                  <a:extLst>
                    <a:ext uri="{9D8B030D-6E8A-4147-A177-3AD203B41FA5}">
                      <a16:colId xmlns:a16="http://schemas.microsoft.com/office/drawing/2014/main" val="1786499302"/>
                    </a:ext>
                  </a:extLst>
                </a:gridCol>
                <a:gridCol w="705581">
                  <a:extLst>
                    <a:ext uri="{9D8B030D-6E8A-4147-A177-3AD203B41FA5}">
                      <a16:colId xmlns:a16="http://schemas.microsoft.com/office/drawing/2014/main" val="4078665005"/>
                    </a:ext>
                  </a:extLst>
                </a:gridCol>
                <a:gridCol w="1109507">
                  <a:extLst>
                    <a:ext uri="{9D8B030D-6E8A-4147-A177-3AD203B41FA5}">
                      <a16:colId xmlns:a16="http://schemas.microsoft.com/office/drawing/2014/main" val="660868037"/>
                    </a:ext>
                  </a:extLst>
                </a:gridCol>
              </a:tblGrid>
              <a:tr h="331373">
                <a:tc rowSpan="2">
                  <a:txBody>
                    <a:bodyPr/>
                    <a:lstStyle/>
                    <a:p>
                      <a:pPr marL="0" marR="0" algn="ctr">
                        <a:lnSpc>
                          <a:spcPct val="115000"/>
                        </a:lnSpc>
                        <a:spcAft>
                          <a:spcPts val="800"/>
                        </a:spcAft>
                        <a:buNone/>
                      </a:pPr>
                      <a:r>
                        <a:rPr lang="en-US" sz="1200" kern="100" dirty="0">
                          <a:solidFill>
                            <a:schemeClr val="bg2"/>
                          </a:solidFill>
                          <a:effectLst/>
                          <a:latin typeface="Tahoma" panose="020B0604030504040204" pitchFamily="34" charset="0"/>
                          <a:ea typeface="Tahoma" panose="020B0604030504040204" pitchFamily="34" charset="0"/>
                          <a:cs typeface="Tahoma" panose="020B0604030504040204" pitchFamily="34" charset="0"/>
                        </a:rPr>
                        <a:t>Campus</a:t>
                      </a:r>
                    </a:p>
                  </a:txBody>
                  <a:tcPr marL="50698" marR="5069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3ACDD"/>
                    </a:solidFill>
                  </a:tcPr>
                </a:tc>
                <a:tc rowSpan="2">
                  <a:txBody>
                    <a:bodyPr/>
                    <a:lstStyle/>
                    <a:p>
                      <a:pPr marL="0" marR="0" algn="ctr">
                        <a:lnSpc>
                          <a:spcPct val="115000"/>
                        </a:lnSpc>
                        <a:spcAft>
                          <a:spcPts val="800"/>
                        </a:spcAft>
                        <a:buNone/>
                      </a:pPr>
                      <a:r>
                        <a:rPr lang="en-US" sz="1200" kern="100" dirty="0">
                          <a:solidFill>
                            <a:schemeClr val="bg2"/>
                          </a:solidFill>
                          <a:effectLst/>
                          <a:latin typeface="Tahoma" panose="020B0604030504040204" pitchFamily="34" charset="0"/>
                          <a:ea typeface="Tahoma" panose="020B0604030504040204" pitchFamily="34" charset="0"/>
                          <a:cs typeface="Tahoma" panose="020B0604030504040204" pitchFamily="34" charset="0"/>
                        </a:rPr>
                        <a:t>General Waste (KG)</a:t>
                      </a:r>
                    </a:p>
                  </a:txBody>
                  <a:tcPr marL="50698" marR="5069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3ACDD"/>
                    </a:solidFill>
                  </a:tcPr>
                </a:tc>
                <a:tc gridSpan="9">
                  <a:txBody>
                    <a:bodyPr/>
                    <a:lstStyle/>
                    <a:p>
                      <a:pPr marL="0" marR="0" algn="ctr">
                        <a:lnSpc>
                          <a:spcPct val="115000"/>
                        </a:lnSpc>
                        <a:spcAft>
                          <a:spcPts val="800"/>
                        </a:spcAft>
                        <a:buNone/>
                      </a:pPr>
                      <a:r>
                        <a:rPr lang="en-US" sz="1200" kern="100" dirty="0">
                          <a:solidFill>
                            <a:schemeClr val="bg2"/>
                          </a:solidFill>
                          <a:effectLst/>
                          <a:latin typeface="Tahoma" panose="020B0604030504040204" pitchFamily="34" charset="0"/>
                          <a:ea typeface="Tahoma" panose="020B0604030504040204" pitchFamily="34" charset="0"/>
                          <a:cs typeface="Tahoma" panose="020B0604030504040204" pitchFamily="34" charset="0"/>
                        </a:rPr>
                        <a:t>Recyclable Waste (KG)</a:t>
                      </a:r>
                    </a:p>
                  </a:txBody>
                  <a:tcPr marL="50698" marR="5069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3ACDD"/>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rowSpan="2">
                  <a:txBody>
                    <a:bodyPr/>
                    <a:lstStyle/>
                    <a:p>
                      <a:pPr marL="0" marR="0" algn="ctr">
                        <a:lnSpc>
                          <a:spcPct val="115000"/>
                        </a:lnSpc>
                        <a:spcAft>
                          <a:spcPts val="800"/>
                        </a:spcAft>
                        <a:buNone/>
                      </a:pPr>
                      <a:r>
                        <a:rPr lang="en-US" sz="1200" kern="100" dirty="0">
                          <a:solidFill>
                            <a:schemeClr val="bg2"/>
                          </a:solidFill>
                          <a:effectLst/>
                          <a:latin typeface="Tahoma" panose="020B0604030504040204" pitchFamily="34" charset="0"/>
                          <a:ea typeface="Tahoma" panose="020B0604030504040204" pitchFamily="34" charset="0"/>
                          <a:cs typeface="Tahoma" panose="020B0604030504040204" pitchFamily="34" charset="0"/>
                        </a:rPr>
                        <a:t>Hazardous / Medical Waste (KG)</a:t>
                      </a:r>
                    </a:p>
                  </a:txBody>
                  <a:tcPr marL="50698" marR="5069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3ACDD"/>
                    </a:solidFill>
                  </a:tcPr>
                </a:tc>
                <a:extLst>
                  <a:ext uri="{0D108BD9-81ED-4DB2-BD59-A6C34878D82A}">
                    <a16:rowId xmlns:a16="http://schemas.microsoft.com/office/drawing/2014/main" val="2003571986"/>
                  </a:ext>
                </a:extLst>
              </a:tr>
              <a:tr h="637295">
                <a:tc vMerge="1">
                  <a:txBody>
                    <a:bodyPr/>
                    <a:lstStyle/>
                    <a:p>
                      <a:endParaRPr lang="en-US"/>
                    </a:p>
                  </a:txBody>
                  <a:tcPr/>
                </a:tc>
                <a:tc vMerge="1">
                  <a:txBody>
                    <a:bodyPr/>
                    <a:lstStyle/>
                    <a:p>
                      <a:endParaRPr lang="en-US"/>
                    </a:p>
                  </a:txBody>
                  <a:tcPr/>
                </a:tc>
                <a:tc>
                  <a:txBody>
                    <a:bodyPr/>
                    <a:lstStyle/>
                    <a:p>
                      <a:pPr marL="0" marR="0" algn="ctr">
                        <a:lnSpc>
                          <a:spcPct val="115000"/>
                        </a:lnSpc>
                        <a:spcAft>
                          <a:spcPts val="800"/>
                        </a:spcAft>
                        <a:buNone/>
                      </a:pPr>
                      <a:r>
                        <a:rPr lang="en-US" sz="1200" kern="100" dirty="0">
                          <a:solidFill>
                            <a:schemeClr val="bg2"/>
                          </a:solidFill>
                          <a:effectLst/>
                          <a:latin typeface="Tahoma" panose="020B0604030504040204" pitchFamily="34" charset="0"/>
                          <a:ea typeface="Tahoma" panose="020B0604030504040204" pitchFamily="34" charset="0"/>
                          <a:cs typeface="Tahoma" panose="020B0604030504040204" pitchFamily="34" charset="0"/>
                        </a:rPr>
                        <a:t>Food Waste</a:t>
                      </a:r>
                    </a:p>
                  </a:txBody>
                  <a:tcPr marL="50698" marR="5069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3ACDD"/>
                    </a:solidFill>
                  </a:tcPr>
                </a:tc>
                <a:tc>
                  <a:txBody>
                    <a:bodyPr/>
                    <a:lstStyle/>
                    <a:p>
                      <a:pPr marL="0" marR="0" algn="ctr">
                        <a:lnSpc>
                          <a:spcPct val="115000"/>
                        </a:lnSpc>
                        <a:spcAft>
                          <a:spcPts val="800"/>
                        </a:spcAft>
                        <a:buNone/>
                      </a:pPr>
                      <a:r>
                        <a:rPr lang="en-US" sz="1200" kern="100" dirty="0">
                          <a:solidFill>
                            <a:schemeClr val="bg2"/>
                          </a:solidFill>
                          <a:effectLst/>
                          <a:latin typeface="Tahoma" panose="020B0604030504040204" pitchFamily="34" charset="0"/>
                          <a:ea typeface="Tahoma" panose="020B0604030504040204" pitchFamily="34" charset="0"/>
                          <a:cs typeface="Tahoma" panose="020B0604030504040204" pitchFamily="34" charset="0"/>
                        </a:rPr>
                        <a:t>Paper Waste</a:t>
                      </a:r>
                    </a:p>
                  </a:txBody>
                  <a:tcPr marL="50698" marR="5069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3ACDD"/>
                    </a:solidFill>
                  </a:tcPr>
                </a:tc>
                <a:tc>
                  <a:txBody>
                    <a:bodyPr/>
                    <a:lstStyle/>
                    <a:p>
                      <a:pPr marL="0" marR="0" algn="ctr">
                        <a:lnSpc>
                          <a:spcPct val="115000"/>
                        </a:lnSpc>
                        <a:spcAft>
                          <a:spcPts val="800"/>
                        </a:spcAft>
                        <a:buNone/>
                      </a:pPr>
                      <a:r>
                        <a:rPr lang="en-US" sz="1200" kern="100" dirty="0">
                          <a:solidFill>
                            <a:schemeClr val="bg2"/>
                          </a:solidFill>
                          <a:effectLst/>
                          <a:latin typeface="Tahoma" panose="020B0604030504040204" pitchFamily="34" charset="0"/>
                          <a:ea typeface="Tahoma" panose="020B0604030504040204" pitchFamily="34" charset="0"/>
                          <a:cs typeface="Tahoma" panose="020B0604030504040204" pitchFamily="34" charset="0"/>
                        </a:rPr>
                        <a:t>Aluminum</a:t>
                      </a:r>
                    </a:p>
                  </a:txBody>
                  <a:tcPr marL="50698" marR="5069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3ACDD"/>
                    </a:solidFill>
                  </a:tcPr>
                </a:tc>
                <a:tc>
                  <a:txBody>
                    <a:bodyPr/>
                    <a:lstStyle/>
                    <a:p>
                      <a:pPr marL="0" marR="0" algn="ctr">
                        <a:lnSpc>
                          <a:spcPct val="115000"/>
                        </a:lnSpc>
                        <a:spcAft>
                          <a:spcPts val="800"/>
                        </a:spcAft>
                        <a:buNone/>
                      </a:pPr>
                      <a:r>
                        <a:rPr lang="en-US" sz="1200" kern="100" dirty="0">
                          <a:solidFill>
                            <a:schemeClr val="bg2"/>
                          </a:solidFill>
                          <a:effectLst/>
                          <a:latin typeface="Tahoma" panose="020B0604030504040204" pitchFamily="34" charset="0"/>
                          <a:ea typeface="Tahoma" panose="020B0604030504040204" pitchFamily="34" charset="0"/>
                          <a:cs typeface="Tahoma" panose="020B0604030504040204" pitchFamily="34" charset="0"/>
                        </a:rPr>
                        <a:t>Pet Bottle</a:t>
                      </a:r>
                    </a:p>
                  </a:txBody>
                  <a:tcPr marL="50698" marR="5069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3ACDD"/>
                    </a:solidFill>
                  </a:tcPr>
                </a:tc>
                <a:tc>
                  <a:txBody>
                    <a:bodyPr/>
                    <a:lstStyle/>
                    <a:p>
                      <a:pPr marL="0" marR="0" algn="ctr">
                        <a:lnSpc>
                          <a:spcPct val="115000"/>
                        </a:lnSpc>
                        <a:spcAft>
                          <a:spcPts val="800"/>
                        </a:spcAft>
                        <a:buNone/>
                      </a:pPr>
                      <a:r>
                        <a:rPr lang="en-US" sz="1200" kern="100" dirty="0">
                          <a:solidFill>
                            <a:schemeClr val="bg2"/>
                          </a:solidFill>
                          <a:effectLst/>
                          <a:latin typeface="Tahoma" panose="020B0604030504040204" pitchFamily="34" charset="0"/>
                          <a:ea typeface="Tahoma" panose="020B0604030504040204" pitchFamily="34" charset="0"/>
                          <a:cs typeface="Tahoma" panose="020B0604030504040204" pitchFamily="34" charset="0"/>
                        </a:rPr>
                        <a:t>Paper Cup/Carton</a:t>
                      </a:r>
                    </a:p>
                  </a:txBody>
                  <a:tcPr marL="50698" marR="5069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3ACDD"/>
                    </a:solidFill>
                  </a:tcPr>
                </a:tc>
                <a:tc>
                  <a:txBody>
                    <a:bodyPr/>
                    <a:lstStyle/>
                    <a:p>
                      <a:pPr marL="0" marR="0" algn="ctr">
                        <a:lnSpc>
                          <a:spcPct val="115000"/>
                        </a:lnSpc>
                        <a:spcAft>
                          <a:spcPts val="800"/>
                        </a:spcAft>
                        <a:buNone/>
                      </a:pPr>
                      <a:r>
                        <a:rPr lang="en-US" sz="1200" kern="100" dirty="0">
                          <a:solidFill>
                            <a:schemeClr val="bg2"/>
                          </a:solidFill>
                          <a:effectLst/>
                          <a:latin typeface="Tahoma" panose="020B0604030504040204" pitchFamily="34" charset="0"/>
                          <a:ea typeface="Tahoma" panose="020B0604030504040204" pitchFamily="34" charset="0"/>
                          <a:cs typeface="Tahoma" panose="020B0604030504040204" pitchFamily="34" charset="0"/>
                        </a:rPr>
                        <a:t>Single Use Plastic</a:t>
                      </a:r>
                    </a:p>
                  </a:txBody>
                  <a:tcPr marL="50698" marR="5069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3ACDD"/>
                    </a:solidFill>
                  </a:tcPr>
                </a:tc>
                <a:tc>
                  <a:txBody>
                    <a:bodyPr/>
                    <a:lstStyle/>
                    <a:p>
                      <a:pPr marL="0" marR="0" algn="ctr">
                        <a:lnSpc>
                          <a:spcPct val="115000"/>
                        </a:lnSpc>
                        <a:spcAft>
                          <a:spcPts val="800"/>
                        </a:spcAft>
                        <a:buNone/>
                      </a:pPr>
                      <a:r>
                        <a:rPr lang="en-US" sz="1200" kern="100" dirty="0">
                          <a:solidFill>
                            <a:schemeClr val="bg2"/>
                          </a:solidFill>
                          <a:effectLst/>
                          <a:latin typeface="Tahoma" panose="020B0604030504040204" pitchFamily="34" charset="0"/>
                          <a:ea typeface="Tahoma" panose="020B0604030504040204" pitchFamily="34" charset="0"/>
                          <a:cs typeface="Tahoma" panose="020B0604030504040204" pitchFamily="34" charset="0"/>
                        </a:rPr>
                        <a:t>Tissue</a:t>
                      </a:r>
                    </a:p>
                  </a:txBody>
                  <a:tcPr marL="50698" marR="5069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3ACDD"/>
                    </a:solidFill>
                  </a:tcPr>
                </a:tc>
                <a:tc>
                  <a:txBody>
                    <a:bodyPr/>
                    <a:lstStyle/>
                    <a:p>
                      <a:pPr marL="0" marR="0" algn="ctr">
                        <a:lnSpc>
                          <a:spcPct val="115000"/>
                        </a:lnSpc>
                        <a:spcAft>
                          <a:spcPts val="800"/>
                        </a:spcAft>
                        <a:buNone/>
                      </a:pPr>
                      <a:r>
                        <a:rPr lang="en-US" sz="1200" kern="100" dirty="0">
                          <a:solidFill>
                            <a:schemeClr val="bg2"/>
                          </a:solidFill>
                          <a:effectLst/>
                          <a:latin typeface="Tahoma" panose="020B0604030504040204" pitchFamily="34" charset="0"/>
                          <a:ea typeface="Tahoma" panose="020B0604030504040204" pitchFamily="34" charset="0"/>
                          <a:cs typeface="Tahoma" panose="020B0604030504040204" pitchFamily="34" charset="0"/>
                        </a:rPr>
                        <a:t>Scrap Metal</a:t>
                      </a:r>
                    </a:p>
                  </a:txBody>
                  <a:tcPr marL="50698" marR="5069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3ACDD"/>
                    </a:solidFill>
                  </a:tcPr>
                </a:tc>
                <a:tc>
                  <a:txBody>
                    <a:bodyPr/>
                    <a:lstStyle/>
                    <a:p>
                      <a:pPr marL="0" marR="0" algn="ctr">
                        <a:lnSpc>
                          <a:spcPct val="115000"/>
                        </a:lnSpc>
                        <a:spcAft>
                          <a:spcPts val="800"/>
                        </a:spcAft>
                        <a:buNone/>
                      </a:pPr>
                      <a:r>
                        <a:rPr lang="en-US" sz="1200" kern="100" dirty="0">
                          <a:solidFill>
                            <a:schemeClr val="bg2"/>
                          </a:solidFill>
                          <a:effectLst/>
                          <a:latin typeface="Tahoma" panose="020B0604030504040204" pitchFamily="34" charset="0"/>
                          <a:ea typeface="Tahoma" panose="020B0604030504040204" pitchFamily="34" charset="0"/>
                          <a:cs typeface="Tahoma" panose="020B0604030504040204" pitchFamily="34" charset="0"/>
                        </a:rPr>
                        <a:t>E-waste</a:t>
                      </a:r>
                    </a:p>
                  </a:txBody>
                  <a:tcPr marL="50698" marR="5069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3ACDD"/>
                    </a:solidFill>
                  </a:tcPr>
                </a:tc>
                <a:tc vMerge="1">
                  <a:txBody>
                    <a:bodyPr/>
                    <a:lstStyle/>
                    <a:p>
                      <a:endParaRPr lang="en-US"/>
                    </a:p>
                  </a:txBody>
                  <a:tcPr/>
                </a:tc>
                <a:extLst>
                  <a:ext uri="{0D108BD9-81ED-4DB2-BD59-A6C34878D82A}">
                    <a16:rowId xmlns:a16="http://schemas.microsoft.com/office/drawing/2014/main" val="1141240207"/>
                  </a:ext>
                </a:extLst>
              </a:tr>
              <a:tr h="487060">
                <a:tc>
                  <a:txBody>
                    <a:bodyPr/>
                    <a:lstStyle/>
                    <a:p>
                      <a:pPr marL="0" marR="0" algn="just">
                        <a:lnSpc>
                          <a:spcPct val="115000"/>
                        </a:lnSpc>
                        <a:spcAft>
                          <a:spcPts val="800"/>
                        </a:spcAft>
                        <a:buNone/>
                      </a:pPr>
                      <a:r>
                        <a:rPr lang="en-US" sz="1200" kern="100" dirty="0">
                          <a:solidFill>
                            <a:schemeClr val="bg2"/>
                          </a:solidFill>
                          <a:effectLst/>
                          <a:latin typeface="Tahoma" panose="020B0604030504040204" pitchFamily="34" charset="0"/>
                          <a:ea typeface="Tahoma" panose="020B0604030504040204" pitchFamily="34" charset="0"/>
                          <a:cs typeface="Tahoma" panose="020B0604030504040204" pitchFamily="34" charset="0"/>
                        </a:rPr>
                        <a:t>X</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3ACDD"/>
                    </a:solidFill>
                  </a:tcPr>
                </a:tc>
                <a:tc>
                  <a:txBody>
                    <a:bodyPr/>
                    <a:lstStyle/>
                    <a:p>
                      <a:pPr marL="0" marR="0" algn="ctr">
                        <a:lnSpc>
                          <a:spcPct val="115000"/>
                        </a:lnSpc>
                        <a:spcBef>
                          <a:spcPts val="1200"/>
                        </a:spcBef>
                        <a:spcAft>
                          <a:spcPts val="800"/>
                        </a:spcAft>
                        <a:buNone/>
                      </a:pPr>
                      <a:r>
                        <a:rPr lang="en-US" sz="1200" b="1" kern="100" dirty="0">
                          <a:effectLst/>
                          <a:latin typeface="Tahoma" panose="020B0604030504040204" pitchFamily="34" charset="0"/>
                          <a:ea typeface="Tahoma" panose="020B0604030504040204" pitchFamily="34" charset="0"/>
                          <a:cs typeface="Tahoma" panose="020B0604030504040204" pitchFamily="34" charset="0"/>
                        </a:rPr>
                        <a:t>2015.91</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marR="0" algn="ctr">
                        <a:lnSpc>
                          <a:spcPct val="115000"/>
                        </a:lnSpc>
                        <a:spcBef>
                          <a:spcPts val="1200"/>
                        </a:spcBef>
                        <a:spcAft>
                          <a:spcPts val="800"/>
                        </a:spcAft>
                        <a:buNone/>
                      </a:pPr>
                      <a:r>
                        <a:rPr lang="en-US" sz="1200" b="1" kern="100" dirty="0">
                          <a:effectLst/>
                          <a:latin typeface="Tahoma" panose="020B0604030504040204" pitchFamily="34" charset="0"/>
                          <a:ea typeface="Tahoma" panose="020B0604030504040204" pitchFamily="34" charset="0"/>
                          <a:cs typeface="Tahoma" panose="020B0604030504040204" pitchFamily="34" charset="0"/>
                        </a:rPr>
                        <a:t>-</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marR="0" algn="ctr">
                        <a:lnSpc>
                          <a:spcPct val="115000"/>
                        </a:lnSpc>
                        <a:spcBef>
                          <a:spcPts val="1200"/>
                        </a:spcBef>
                        <a:spcAft>
                          <a:spcPts val="800"/>
                        </a:spcAft>
                        <a:buNone/>
                      </a:pPr>
                      <a:r>
                        <a:rPr lang="en-US" sz="1200" b="1" kern="100" dirty="0">
                          <a:effectLst/>
                          <a:latin typeface="Tahoma" panose="020B0604030504040204" pitchFamily="34" charset="0"/>
                          <a:ea typeface="Tahoma" panose="020B0604030504040204" pitchFamily="34" charset="0"/>
                          <a:cs typeface="Tahoma" panose="020B0604030504040204" pitchFamily="34" charset="0"/>
                        </a:rPr>
                        <a:t>90</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marR="0" algn="ctr">
                        <a:lnSpc>
                          <a:spcPct val="115000"/>
                        </a:lnSpc>
                        <a:spcBef>
                          <a:spcPts val="1200"/>
                        </a:spcBef>
                        <a:spcAft>
                          <a:spcPts val="800"/>
                        </a:spcAft>
                        <a:buNone/>
                      </a:pPr>
                      <a:r>
                        <a:rPr lang="en-US" sz="1200" b="1" kern="100" dirty="0">
                          <a:effectLst/>
                          <a:latin typeface="Tahoma" panose="020B0604030504040204" pitchFamily="34" charset="0"/>
                          <a:ea typeface="Tahoma" panose="020B0604030504040204" pitchFamily="34" charset="0"/>
                          <a:cs typeface="Tahoma" panose="020B0604030504040204" pitchFamily="34" charset="0"/>
                        </a:rPr>
                        <a:t>3</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marR="0" algn="ctr">
                        <a:lnSpc>
                          <a:spcPct val="115000"/>
                        </a:lnSpc>
                        <a:spcBef>
                          <a:spcPts val="1200"/>
                        </a:spcBef>
                        <a:spcAft>
                          <a:spcPts val="800"/>
                        </a:spcAft>
                        <a:buNone/>
                      </a:pPr>
                      <a:r>
                        <a:rPr lang="en-US" sz="1200" b="1" kern="100" dirty="0">
                          <a:effectLst/>
                          <a:latin typeface="Tahoma" panose="020B0604030504040204" pitchFamily="34" charset="0"/>
                          <a:ea typeface="Tahoma" panose="020B0604030504040204" pitchFamily="34" charset="0"/>
                          <a:cs typeface="Tahoma" panose="020B0604030504040204" pitchFamily="34" charset="0"/>
                        </a:rPr>
                        <a:t>-</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marR="0" algn="ctr">
                        <a:lnSpc>
                          <a:spcPct val="115000"/>
                        </a:lnSpc>
                        <a:spcBef>
                          <a:spcPts val="1200"/>
                        </a:spcBef>
                        <a:spcAft>
                          <a:spcPts val="800"/>
                        </a:spcAft>
                        <a:buNone/>
                      </a:pPr>
                      <a:r>
                        <a:rPr lang="en-US" sz="1200" b="1" kern="100" dirty="0">
                          <a:effectLst/>
                          <a:latin typeface="Tahoma" panose="020B0604030504040204" pitchFamily="34" charset="0"/>
                          <a:ea typeface="Tahoma" panose="020B0604030504040204" pitchFamily="34" charset="0"/>
                          <a:cs typeface="Tahoma" panose="020B0604030504040204" pitchFamily="34" charset="0"/>
                        </a:rPr>
                        <a:t>-</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marR="0" algn="ctr">
                        <a:lnSpc>
                          <a:spcPct val="115000"/>
                        </a:lnSpc>
                        <a:spcBef>
                          <a:spcPts val="1200"/>
                        </a:spcBef>
                        <a:spcAft>
                          <a:spcPts val="800"/>
                        </a:spcAft>
                        <a:buNone/>
                      </a:pPr>
                      <a:r>
                        <a:rPr lang="en-US" sz="1200" b="1" kern="100" dirty="0">
                          <a:effectLst/>
                          <a:latin typeface="Tahoma" panose="020B0604030504040204" pitchFamily="34" charset="0"/>
                          <a:ea typeface="Tahoma" panose="020B0604030504040204" pitchFamily="34" charset="0"/>
                          <a:cs typeface="Tahoma" panose="020B0604030504040204" pitchFamily="34" charset="0"/>
                        </a:rPr>
                        <a:t>30</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marR="0" algn="ctr">
                        <a:lnSpc>
                          <a:spcPct val="115000"/>
                        </a:lnSpc>
                        <a:spcBef>
                          <a:spcPts val="1200"/>
                        </a:spcBef>
                        <a:spcAft>
                          <a:spcPts val="800"/>
                        </a:spcAft>
                        <a:buNone/>
                      </a:pPr>
                      <a:r>
                        <a:rPr lang="en-US" sz="1200" b="1" kern="100" dirty="0">
                          <a:effectLst/>
                          <a:latin typeface="Tahoma" panose="020B0604030504040204" pitchFamily="34" charset="0"/>
                          <a:ea typeface="Tahoma" panose="020B0604030504040204" pitchFamily="34" charset="0"/>
                          <a:cs typeface="Tahoma" panose="020B0604030504040204" pitchFamily="34" charset="0"/>
                        </a:rPr>
                        <a:t>-</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marR="0" algn="ctr">
                        <a:lnSpc>
                          <a:spcPct val="115000"/>
                        </a:lnSpc>
                        <a:spcBef>
                          <a:spcPts val="1200"/>
                        </a:spcBef>
                        <a:spcAft>
                          <a:spcPts val="800"/>
                        </a:spcAft>
                        <a:buNone/>
                      </a:pPr>
                      <a:r>
                        <a:rPr lang="en-US" sz="1200" b="1" kern="100" dirty="0">
                          <a:effectLst/>
                          <a:latin typeface="Tahoma" panose="020B0604030504040204" pitchFamily="34" charset="0"/>
                          <a:ea typeface="Tahoma" panose="020B0604030504040204" pitchFamily="34" charset="0"/>
                          <a:cs typeface="Tahoma" panose="020B0604030504040204" pitchFamily="34" charset="0"/>
                        </a:rPr>
                        <a:t>-</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marR="0" algn="ctr">
                        <a:lnSpc>
                          <a:spcPct val="115000"/>
                        </a:lnSpc>
                        <a:spcBef>
                          <a:spcPts val="1200"/>
                        </a:spcBef>
                        <a:spcAft>
                          <a:spcPts val="800"/>
                        </a:spcAft>
                        <a:buNone/>
                      </a:pPr>
                      <a:r>
                        <a:rPr lang="en-US" sz="1200" b="1" kern="100" dirty="0">
                          <a:effectLst/>
                          <a:latin typeface="Tahoma" panose="020B0604030504040204" pitchFamily="34" charset="0"/>
                          <a:ea typeface="Tahoma" panose="020B0604030504040204" pitchFamily="34" charset="0"/>
                          <a:cs typeface="Tahoma" panose="020B0604030504040204" pitchFamily="34" charset="0"/>
                        </a:rPr>
                        <a:t>-</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marR="0" algn="ctr">
                        <a:lnSpc>
                          <a:spcPct val="115000"/>
                        </a:lnSpc>
                        <a:spcBef>
                          <a:spcPts val="1200"/>
                        </a:spcBef>
                        <a:spcAft>
                          <a:spcPts val="800"/>
                        </a:spcAft>
                        <a:buNone/>
                      </a:pPr>
                      <a:r>
                        <a:rPr lang="en-US" sz="1200" b="1" kern="100" dirty="0">
                          <a:effectLst/>
                          <a:latin typeface="Tahoma" panose="020B0604030504040204" pitchFamily="34" charset="0"/>
                          <a:ea typeface="Tahoma" panose="020B0604030504040204" pitchFamily="34" charset="0"/>
                          <a:cs typeface="Tahoma" panose="020B0604030504040204" pitchFamily="34" charset="0"/>
                        </a:rPr>
                        <a:t>2</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1367798906"/>
                  </a:ext>
                </a:extLst>
              </a:tr>
              <a:tr h="487060">
                <a:tc>
                  <a:txBody>
                    <a:bodyPr/>
                    <a:lstStyle/>
                    <a:p>
                      <a:pPr marL="0" marR="0" algn="just">
                        <a:lnSpc>
                          <a:spcPct val="115000"/>
                        </a:lnSpc>
                        <a:spcAft>
                          <a:spcPts val="800"/>
                        </a:spcAft>
                        <a:buNone/>
                      </a:pPr>
                      <a:r>
                        <a:rPr lang="en-US" sz="1200" kern="100" dirty="0">
                          <a:solidFill>
                            <a:schemeClr val="bg2"/>
                          </a:solidFill>
                          <a:effectLst/>
                          <a:latin typeface="Tahoma" panose="020B0604030504040204" pitchFamily="34" charset="0"/>
                          <a:ea typeface="Tahoma" panose="020B0604030504040204" pitchFamily="34" charset="0"/>
                          <a:cs typeface="Tahoma" panose="020B0604030504040204" pitchFamily="34" charset="0"/>
                        </a:rPr>
                        <a:t>Y</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3ACDD"/>
                    </a:solidFill>
                  </a:tcPr>
                </a:tc>
                <a:tc>
                  <a:txBody>
                    <a:bodyPr/>
                    <a:lstStyle/>
                    <a:p>
                      <a:pPr marL="0" marR="0" algn="ctr">
                        <a:lnSpc>
                          <a:spcPct val="115000"/>
                        </a:lnSpc>
                        <a:spcBef>
                          <a:spcPts val="1200"/>
                        </a:spcBef>
                        <a:spcAft>
                          <a:spcPts val="800"/>
                        </a:spcAft>
                        <a:buNone/>
                      </a:pPr>
                      <a:r>
                        <a:rPr lang="en-US" sz="1200" b="1" kern="100" dirty="0">
                          <a:effectLst/>
                          <a:latin typeface="Tahoma" panose="020B0604030504040204" pitchFamily="34" charset="0"/>
                          <a:ea typeface="Tahoma" panose="020B0604030504040204" pitchFamily="34" charset="0"/>
                          <a:cs typeface="Tahoma" panose="020B0604030504040204" pitchFamily="34" charset="0"/>
                        </a:rPr>
                        <a:t>2063.14</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marR="0" algn="ctr">
                        <a:lnSpc>
                          <a:spcPct val="115000"/>
                        </a:lnSpc>
                        <a:spcBef>
                          <a:spcPts val="1200"/>
                        </a:spcBef>
                        <a:spcAft>
                          <a:spcPts val="800"/>
                        </a:spcAft>
                        <a:buNone/>
                      </a:pPr>
                      <a:r>
                        <a:rPr lang="en-US" sz="1200" b="1" kern="100" dirty="0">
                          <a:effectLst/>
                          <a:latin typeface="Tahoma" panose="020B0604030504040204" pitchFamily="34" charset="0"/>
                          <a:ea typeface="Tahoma" panose="020B0604030504040204" pitchFamily="34" charset="0"/>
                          <a:cs typeface="Tahoma" panose="020B0604030504040204" pitchFamily="34" charset="0"/>
                        </a:rPr>
                        <a:t>-</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marR="0" algn="ctr">
                        <a:lnSpc>
                          <a:spcPct val="115000"/>
                        </a:lnSpc>
                        <a:spcBef>
                          <a:spcPts val="1200"/>
                        </a:spcBef>
                        <a:spcAft>
                          <a:spcPts val="800"/>
                        </a:spcAft>
                        <a:buNone/>
                      </a:pPr>
                      <a:r>
                        <a:rPr lang="en-US" sz="1200" b="1" kern="100" dirty="0">
                          <a:effectLst/>
                          <a:latin typeface="Tahoma" panose="020B0604030504040204" pitchFamily="34" charset="0"/>
                          <a:ea typeface="Tahoma" panose="020B0604030504040204" pitchFamily="34" charset="0"/>
                          <a:cs typeface="Tahoma" panose="020B0604030504040204" pitchFamily="34" charset="0"/>
                        </a:rPr>
                        <a:t>-</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marR="0" algn="ctr">
                        <a:lnSpc>
                          <a:spcPct val="115000"/>
                        </a:lnSpc>
                        <a:spcBef>
                          <a:spcPts val="1200"/>
                        </a:spcBef>
                        <a:spcAft>
                          <a:spcPts val="800"/>
                        </a:spcAft>
                        <a:buNone/>
                      </a:pPr>
                      <a:r>
                        <a:rPr lang="en-US" sz="1200" b="1" kern="100" dirty="0">
                          <a:effectLst/>
                          <a:latin typeface="Tahoma" panose="020B0604030504040204" pitchFamily="34" charset="0"/>
                          <a:ea typeface="Tahoma" panose="020B0604030504040204" pitchFamily="34" charset="0"/>
                          <a:cs typeface="Tahoma" panose="020B0604030504040204" pitchFamily="34" charset="0"/>
                        </a:rPr>
                        <a:t>-</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marR="0" algn="ctr">
                        <a:lnSpc>
                          <a:spcPct val="115000"/>
                        </a:lnSpc>
                        <a:spcBef>
                          <a:spcPts val="1200"/>
                        </a:spcBef>
                        <a:spcAft>
                          <a:spcPts val="800"/>
                        </a:spcAft>
                        <a:buNone/>
                      </a:pPr>
                      <a:r>
                        <a:rPr lang="en-US" sz="1200" b="1" kern="100" dirty="0">
                          <a:effectLst/>
                          <a:latin typeface="Tahoma" panose="020B0604030504040204" pitchFamily="34" charset="0"/>
                          <a:ea typeface="Tahoma" panose="020B0604030504040204" pitchFamily="34" charset="0"/>
                          <a:cs typeface="Tahoma" panose="020B0604030504040204" pitchFamily="34" charset="0"/>
                        </a:rPr>
                        <a:t>-</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marR="0" algn="ctr">
                        <a:lnSpc>
                          <a:spcPct val="115000"/>
                        </a:lnSpc>
                        <a:spcBef>
                          <a:spcPts val="1200"/>
                        </a:spcBef>
                        <a:spcAft>
                          <a:spcPts val="800"/>
                        </a:spcAft>
                        <a:buNone/>
                      </a:pPr>
                      <a:r>
                        <a:rPr lang="en-US" sz="1200" b="1" kern="100" dirty="0">
                          <a:effectLst/>
                          <a:latin typeface="Tahoma" panose="020B0604030504040204" pitchFamily="34" charset="0"/>
                          <a:ea typeface="Tahoma" panose="020B0604030504040204" pitchFamily="34" charset="0"/>
                          <a:cs typeface="Tahoma" panose="020B0604030504040204" pitchFamily="34" charset="0"/>
                        </a:rPr>
                        <a:t>120</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marR="0" algn="ctr">
                        <a:lnSpc>
                          <a:spcPct val="115000"/>
                        </a:lnSpc>
                        <a:spcBef>
                          <a:spcPts val="1200"/>
                        </a:spcBef>
                        <a:spcAft>
                          <a:spcPts val="800"/>
                        </a:spcAft>
                        <a:buNone/>
                      </a:pPr>
                      <a:r>
                        <a:rPr lang="en-US" sz="1200" b="1" kern="100" dirty="0">
                          <a:effectLst/>
                          <a:latin typeface="Tahoma" panose="020B0604030504040204" pitchFamily="34" charset="0"/>
                          <a:ea typeface="Tahoma" panose="020B0604030504040204" pitchFamily="34" charset="0"/>
                          <a:cs typeface="Tahoma" panose="020B0604030504040204" pitchFamily="34" charset="0"/>
                        </a:rPr>
                        <a:t>35</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marR="0" algn="ctr">
                        <a:lnSpc>
                          <a:spcPct val="115000"/>
                        </a:lnSpc>
                        <a:spcBef>
                          <a:spcPts val="1200"/>
                        </a:spcBef>
                        <a:spcAft>
                          <a:spcPts val="800"/>
                        </a:spcAft>
                        <a:buNone/>
                      </a:pPr>
                      <a:r>
                        <a:rPr lang="en-US" sz="1200" b="1" kern="100" dirty="0">
                          <a:effectLst/>
                          <a:latin typeface="Tahoma" panose="020B0604030504040204" pitchFamily="34" charset="0"/>
                          <a:ea typeface="Tahoma" panose="020B0604030504040204" pitchFamily="34" charset="0"/>
                          <a:cs typeface="Tahoma" panose="020B0604030504040204" pitchFamily="34" charset="0"/>
                        </a:rPr>
                        <a:t>-</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marR="0" algn="ctr">
                        <a:lnSpc>
                          <a:spcPct val="115000"/>
                        </a:lnSpc>
                        <a:spcBef>
                          <a:spcPts val="1200"/>
                        </a:spcBef>
                        <a:spcAft>
                          <a:spcPts val="800"/>
                        </a:spcAft>
                        <a:buNone/>
                      </a:pPr>
                      <a:r>
                        <a:rPr lang="en-US" sz="1200" b="1" kern="100" dirty="0">
                          <a:effectLst/>
                          <a:latin typeface="Tahoma" panose="020B0604030504040204" pitchFamily="34" charset="0"/>
                          <a:ea typeface="Tahoma" panose="020B0604030504040204" pitchFamily="34" charset="0"/>
                          <a:cs typeface="Tahoma" panose="020B0604030504040204" pitchFamily="34" charset="0"/>
                        </a:rPr>
                        <a:t>-</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marR="0" algn="ctr">
                        <a:lnSpc>
                          <a:spcPct val="115000"/>
                        </a:lnSpc>
                        <a:spcBef>
                          <a:spcPts val="1200"/>
                        </a:spcBef>
                        <a:spcAft>
                          <a:spcPts val="800"/>
                        </a:spcAft>
                        <a:buNone/>
                      </a:pPr>
                      <a:r>
                        <a:rPr lang="en-US" sz="1200" b="1" kern="100" dirty="0">
                          <a:effectLst/>
                          <a:latin typeface="Tahoma" panose="020B0604030504040204" pitchFamily="34" charset="0"/>
                          <a:ea typeface="Tahoma" panose="020B0604030504040204" pitchFamily="34" charset="0"/>
                          <a:cs typeface="Tahoma" panose="020B0604030504040204" pitchFamily="34" charset="0"/>
                        </a:rPr>
                        <a:t>-</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marR="0" algn="ctr">
                        <a:lnSpc>
                          <a:spcPct val="115000"/>
                        </a:lnSpc>
                        <a:spcBef>
                          <a:spcPts val="1200"/>
                        </a:spcBef>
                        <a:spcAft>
                          <a:spcPts val="800"/>
                        </a:spcAft>
                        <a:buNone/>
                      </a:pPr>
                      <a:r>
                        <a:rPr lang="en-US" sz="1200" b="1" kern="100" dirty="0">
                          <a:effectLst/>
                          <a:latin typeface="Tahoma" panose="020B0604030504040204" pitchFamily="34" charset="0"/>
                          <a:ea typeface="Tahoma" panose="020B0604030504040204" pitchFamily="34" charset="0"/>
                          <a:cs typeface="Tahoma" panose="020B0604030504040204" pitchFamily="34" charset="0"/>
                        </a:rPr>
                        <a:t>65</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3803327792"/>
                  </a:ext>
                </a:extLst>
              </a:tr>
            </a:tbl>
          </a:graphicData>
        </a:graphic>
      </p:graphicFrame>
      <p:sp>
        <p:nvSpPr>
          <p:cNvPr id="6" name="Shape 4">
            <a:extLst>
              <a:ext uri="{FF2B5EF4-FFF2-40B4-BE49-F238E27FC236}">
                <a16:creationId xmlns:a16="http://schemas.microsoft.com/office/drawing/2014/main" id="{AECC8FCF-8954-1C7D-BAE9-ECAE5B111B38}"/>
              </a:ext>
            </a:extLst>
          </p:cNvPr>
          <p:cNvSpPr/>
          <p:nvPr/>
        </p:nvSpPr>
        <p:spPr>
          <a:xfrm>
            <a:off x="982552" y="3951303"/>
            <a:ext cx="2103120" cy="960120"/>
          </a:xfrm>
          <a:prstGeom prst="roundRect">
            <a:avLst>
              <a:gd name="adj" fmla="val 7619"/>
            </a:avLst>
          </a:prstGeom>
          <a:solidFill>
            <a:srgbClr val="FFFFFF"/>
          </a:solidFill>
          <a:ln w="8890">
            <a:solidFill>
              <a:srgbClr val="DDE6F3"/>
            </a:solidFill>
            <a:prstDash val="solid"/>
          </a:ln>
        </p:spPr>
        <p:txBody>
          <a:bodyPr/>
          <a:lstStyle/>
          <a:p>
            <a:endParaRPr lang="en-US">
              <a:latin typeface="Tahoma" panose="020B0604030504040204" pitchFamily="34" charset="0"/>
              <a:ea typeface="Tahoma" panose="020B0604030504040204" pitchFamily="34" charset="0"/>
              <a:cs typeface="Tahoma" panose="020B0604030504040204" pitchFamily="34" charset="0"/>
            </a:endParaRPr>
          </a:p>
        </p:txBody>
      </p:sp>
      <p:sp>
        <p:nvSpPr>
          <p:cNvPr id="7" name="Shape 5">
            <a:extLst>
              <a:ext uri="{FF2B5EF4-FFF2-40B4-BE49-F238E27FC236}">
                <a16:creationId xmlns:a16="http://schemas.microsoft.com/office/drawing/2014/main" id="{5272BDB8-4990-C17F-2598-6FD107AE9C0D}"/>
              </a:ext>
            </a:extLst>
          </p:cNvPr>
          <p:cNvSpPr/>
          <p:nvPr/>
        </p:nvSpPr>
        <p:spPr>
          <a:xfrm>
            <a:off x="982552" y="3951303"/>
            <a:ext cx="73152" cy="960120"/>
          </a:xfrm>
          <a:prstGeom prst="rect">
            <a:avLst/>
          </a:prstGeom>
          <a:solidFill>
            <a:srgbClr val="1E5AA8"/>
          </a:solidFill>
          <a:ln w="12700">
            <a:solidFill>
              <a:srgbClr val="1E5AA8"/>
            </a:solidFill>
            <a:prstDash val="solid"/>
          </a:ln>
        </p:spPr>
        <p:txBody>
          <a:bodyPr/>
          <a:lstStyle/>
          <a:p>
            <a:endParaRPr lang="en-US">
              <a:latin typeface="Tahoma" panose="020B0604030504040204" pitchFamily="34" charset="0"/>
              <a:ea typeface="Tahoma" panose="020B0604030504040204" pitchFamily="34" charset="0"/>
              <a:cs typeface="Tahoma" panose="020B0604030504040204" pitchFamily="34" charset="0"/>
            </a:endParaRPr>
          </a:p>
        </p:txBody>
      </p:sp>
      <p:sp>
        <p:nvSpPr>
          <p:cNvPr id="8" name="Text 6">
            <a:extLst>
              <a:ext uri="{FF2B5EF4-FFF2-40B4-BE49-F238E27FC236}">
                <a16:creationId xmlns:a16="http://schemas.microsoft.com/office/drawing/2014/main" id="{A3490BA1-7F6C-3D99-7755-B156726C385F}"/>
              </a:ext>
            </a:extLst>
          </p:cNvPr>
          <p:cNvSpPr/>
          <p:nvPr/>
        </p:nvSpPr>
        <p:spPr>
          <a:xfrm>
            <a:off x="1183720" y="4097607"/>
            <a:ext cx="1783080" cy="201168"/>
          </a:xfrm>
          <a:prstGeom prst="rect">
            <a:avLst/>
          </a:prstGeom>
          <a:noFill/>
          <a:ln/>
        </p:spPr>
        <p:txBody>
          <a:bodyPr wrap="square" lIns="0" tIns="0" rIns="0" bIns="0" rtlCol="0" anchor="ctr">
            <a:normAutofit/>
          </a:bodyPr>
          <a:lstStyle/>
          <a:p>
            <a:pPr marL="0" indent="0">
              <a:buNone/>
            </a:pPr>
            <a:r>
              <a:rPr lang="en-US" sz="850" b="1" dirty="0">
                <a:solidFill>
                  <a:srgbClr val="6B7280"/>
                </a:solidFill>
                <a:latin typeface="Tahoma" panose="020B0604030504040204" pitchFamily="34" charset="0"/>
                <a:ea typeface="Tahoma" panose="020B0604030504040204" pitchFamily="34" charset="0"/>
                <a:cs typeface="Tahoma" panose="020B0604030504040204" pitchFamily="34" charset="0"/>
              </a:rPr>
              <a:t>X Total Waste</a:t>
            </a:r>
            <a:endParaRPr lang="en-US" sz="850" dirty="0">
              <a:latin typeface="Tahoma" panose="020B0604030504040204" pitchFamily="34" charset="0"/>
              <a:ea typeface="Tahoma" panose="020B0604030504040204" pitchFamily="34" charset="0"/>
              <a:cs typeface="Tahoma" panose="020B0604030504040204" pitchFamily="34" charset="0"/>
            </a:endParaRPr>
          </a:p>
        </p:txBody>
      </p:sp>
      <p:sp>
        <p:nvSpPr>
          <p:cNvPr id="9" name="Text 7">
            <a:extLst>
              <a:ext uri="{FF2B5EF4-FFF2-40B4-BE49-F238E27FC236}">
                <a16:creationId xmlns:a16="http://schemas.microsoft.com/office/drawing/2014/main" id="{DFDA3EFA-9F11-4D21-195C-BFCF6FB8609A}"/>
              </a:ext>
            </a:extLst>
          </p:cNvPr>
          <p:cNvSpPr/>
          <p:nvPr/>
        </p:nvSpPr>
        <p:spPr>
          <a:xfrm>
            <a:off x="1183720" y="4362783"/>
            <a:ext cx="1783080" cy="384048"/>
          </a:xfrm>
          <a:prstGeom prst="rect">
            <a:avLst/>
          </a:prstGeom>
          <a:noFill/>
          <a:ln/>
        </p:spPr>
        <p:txBody>
          <a:bodyPr wrap="square" lIns="0" tIns="0" rIns="0" bIns="0" rtlCol="0" anchor="ctr"/>
          <a:lstStyle/>
          <a:p>
            <a:pPr marL="0" indent="0">
              <a:buNone/>
            </a:pPr>
            <a:r>
              <a:rPr lang="en-US" sz="2400" b="1" dirty="0">
                <a:solidFill>
                  <a:srgbClr val="1E5AA8"/>
                </a:solidFill>
                <a:latin typeface="Tahoma" panose="020B0604030504040204" pitchFamily="34" charset="0"/>
                <a:ea typeface="Tahoma" panose="020B0604030504040204" pitchFamily="34" charset="0"/>
                <a:cs typeface="Tahoma" panose="020B0604030504040204" pitchFamily="34" charset="0"/>
              </a:rPr>
              <a:t>2138.91 kg</a:t>
            </a:r>
            <a:endParaRPr lang="en-US" sz="2400" dirty="0">
              <a:latin typeface="Tahoma" panose="020B0604030504040204" pitchFamily="34" charset="0"/>
              <a:ea typeface="Tahoma" panose="020B0604030504040204" pitchFamily="34" charset="0"/>
              <a:cs typeface="Tahoma" panose="020B0604030504040204" pitchFamily="34" charset="0"/>
            </a:endParaRPr>
          </a:p>
        </p:txBody>
      </p:sp>
      <p:sp>
        <p:nvSpPr>
          <p:cNvPr id="10" name="Text 8">
            <a:extLst>
              <a:ext uri="{FF2B5EF4-FFF2-40B4-BE49-F238E27FC236}">
                <a16:creationId xmlns:a16="http://schemas.microsoft.com/office/drawing/2014/main" id="{D0B6CF27-2397-A9B0-3597-2CD3B247BD2F}"/>
              </a:ext>
            </a:extLst>
          </p:cNvPr>
          <p:cNvSpPr/>
          <p:nvPr/>
        </p:nvSpPr>
        <p:spPr>
          <a:xfrm>
            <a:off x="1183720" y="4704063"/>
            <a:ext cx="1783080" cy="228600"/>
          </a:xfrm>
          <a:prstGeom prst="rect">
            <a:avLst/>
          </a:prstGeom>
          <a:noFill/>
          <a:ln/>
        </p:spPr>
        <p:txBody>
          <a:bodyPr wrap="square" lIns="0" tIns="0" rIns="0" bIns="0" rtlCol="0" anchor="ctr">
            <a:normAutofit/>
          </a:bodyPr>
          <a:lstStyle/>
          <a:p>
            <a:pPr marL="0" indent="0">
              <a:buNone/>
            </a:pPr>
            <a:r>
              <a:rPr lang="en-US" sz="800" dirty="0">
                <a:solidFill>
                  <a:srgbClr val="6B7280"/>
                </a:solidFill>
                <a:latin typeface="Tahoma" panose="020B0604030504040204" pitchFamily="34" charset="0"/>
                <a:ea typeface="Tahoma" panose="020B0604030504040204" pitchFamily="34" charset="0"/>
                <a:cs typeface="Tahoma" panose="020B0604030504040204" pitchFamily="34" charset="0"/>
              </a:rPr>
              <a:t>Recyclable: 123 kg</a:t>
            </a:r>
            <a:endParaRPr lang="en-US" sz="800" dirty="0">
              <a:latin typeface="Tahoma" panose="020B0604030504040204" pitchFamily="34" charset="0"/>
              <a:ea typeface="Tahoma" panose="020B0604030504040204" pitchFamily="34" charset="0"/>
              <a:cs typeface="Tahoma" panose="020B0604030504040204" pitchFamily="34" charset="0"/>
            </a:endParaRPr>
          </a:p>
        </p:txBody>
      </p:sp>
      <p:sp>
        <p:nvSpPr>
          <p:cNvPr id="11" name="Shape 9">
            <a:extLst>
              <a:ext uri="{FF2B5EF4-FFF2-40B4-BE49-F238E27FC236}">
                <a16:creationId xmlns:a16="http://schemas.microsoft.com/office/drawing/2014/main" id="{A56B1FF3-0BFF-2D1B-24BF-354B5E868FCC}"/>
              </a:ext>
            </a:extLst>
          </p:cNvPr>
          <p:cNvSpPr/>
          <p:nvPr/>
        </p:nvSpPr>
        <p:spPr>
          <a:xfrm>
            <a:off x="3268552" y="3951303"/>
            <a:ext cx="2103120" cy="960120"/>
          </a:xfrm>
          <a:prstGeom prst="roundRect">
            <a:avLst>
              <a:gd name="adj" fmla="val 7619"/>
            </a:avLst>
          </a:prstGeom>
          <a:solidFill>
            <a:srgbClr val="FFFFFF"/>
          </a:solidFill>
          <a:ln w="8890">
            <a:solidFill>
              <a:srgbClr val="DDE6F3"/>
            </a:solidFill>
            <a:prstDash val="solid"/>
          </a:ln>
        </p:spPr>
        <p:txBody>
          <a:bodyPr/>
          <a:lstStyle/>
          <a:p>
            <a:endParaRPr lang="en-US">
              <a:latin typeface="Tahoma" panose="020B0604030504040204" pitchFamily="34" charset="0"/>
              <a:ea typeface="Tahoma" panose="020B0604030504040204" pitchFamily="34" charset="0"/>
              <a:cs typeface="Tahoma" panose="020B0604030504040204" pitchFamily="34" charset="0"/>
            </a:endParaRPr>
          </a:p>
        </p:txBody>
      </p:sp>
      <p:sp>
        <p:nvSpPr>
          <p:cNvPr id="12" name="Shape 10">
            <a:extLst>
              <a:ext uri="{FF2B5EF4-FFF2-40B4-BE49-F238E27FC236}">
                <a16:creationId xmlns:a16="http://schemas.microsoft.com/office/drawing/2014/main" id="{8B642FC2-4092-2E76-FFD8-899DA8188FE5}"/>
              </a:ext>
            </a:extLst>
          </p:cNvPr>
          <p:cNvSpPr/>
          <p:nvPr/>
        </p:nvSpPr>
        <p:spPr>
          <a:xfrm>
            <a:off x="3268552" y="3951303"/>
            <a:ext cx="73152" cy="960120"/>
          </a:xfrm>
          <a:prstGeom prst="rect">
            <a:avLst/>
          </a:prstGeom>
          <a:solidFill>
            <a:srgbClr val="F6B900"/>
          </a:solidFill>
          <a:ln w="12700">
            <a:solidFill>
              <a:srgbClr val="F6B900"/>
            </a:solidFill>
            <a:prstDash val="solid"/>
          </a:ln>
        </p:spPr>
        <p:txBody>
          <a:bodyPr/>
          <a:lstStyle/>
          <a:p>
            <a:endParaRPr lang="en-US">
              <a:latin typeface="Tahoma" panose="020B0604030504040204" pitchFamily="34" charset="0"/>
              <a:ea typeface="Tahoma" panose="020B0604030504040204" pitchFamily="34" charset="0"/>
              <a:cs typeface="Tahoma" panose="020B0604030504040204" pitchFamily="34" charset="0"/>
            </a:endParaRPr>
          </a:p>
        </p:txBody>
      </p:sp>
      <p:sp>
        <p:nvSpPr>
          <p:cNvPr id="13" name="Text 11">
            <a:extLst>
              <a:ext uri="{FF2B5EF4-FFF2-40B4-BE49-F238E27FC236}">
                <a16:creationId xmlns:a16="http://schemas.microsoft.com/office/drawing/2014/main" id="{36D9AE7B-5B4F-4577-C8FA-542A903811AA}"/>
              </a:ext>
            </a:extLst>
          </p:cNvPr>
          <p:cNvSpPr/>
          <p:nvPr/>
        </p:nvSpPr>
        <p:spPr>
          <a:xfrm>
            <a:off x="3469720" y="4097607"/>
            <a:ext cx="1783080" cy="201168"/>
          </a:xfrm>
          <a:prstGeom prst="rect">
            <a:avLst/>
          </a:prstGeom>
          <a:noFill/>
          <a:ln/>
        </p:spPr>
        <p:txBody>
          <a:bodyPr wrap="square" lIns="0" tIns="0" rIns="0" bIns="0" rtlCol="0" anchor="ctr">
            <a:normAutofit/>
          </a:bodyPr>
          <a:lstStyle/>
          <a:p>
            <a:pPr marL="0" indent="0">
              <a:buNone/>
            </a:pPr>
            <a:r>
              <a:rPr lang="en-US" sz="850" b="1" dirty="0">
                <a:solidFill>
                  <a:srgbClr val="6B7280"/>
                </a:solidFill>
                <a:latin typeface="Tahoma" panose="020B0604030504040204" pitchFamily="34" charset="0"/>
                <a:ea typeface="Tahoma" panose="020B0604030504040204" pitchFamily="34" charset="0"/>
                <a:cs typeface="Tahoma" panose="020B0604030504040204" pitchFamily="34" charset="0"/>
              </a:rPr>
              <a:t>X Recycling</a:t>
            </a:r>
            <a:endParaRPr lang="en-US" sz="850" dirty="0">
              <a:latin typeface="Tahoma" panose="020B0604030504040204" pitchFamily="34" charset="0"/>
              <a:ea typeface="Tahoma" panose="020B0604030504040204" pitchFamily="34" charset="0"/>
              <a:cs typeface="Tahoma" panose="020B0604030504040204" pitchFamily="34" charset="0"/>
            </a:endParaRPr>
          </a:p>
        </p:txBody>
      </p:sp>
      <p:sp>
        <p:nvSpPr>
          <p:cNvPr id="14" name="Text 12">
            <a:extLst>
              <a:ext uri="{FF2B5EF4-FFF2-40B4-BE49-F238E27FC236}">
                <a16:creationId xmlns:a16="http://schemas.microsoft.com/office/drawing/2014/main" id="{993BD8A7-0A6E-C2C1-26D4-B4313C999EA6}"/>
              </a:ext>
            </a:extLst>
          </p:cNvPr>
          <p:cNvSpPr/>
          <p:nvPr/>
        </p:nvSpPr>
        <p:spPr>
          <a:xfrm>
            <a:off x="3469720" y="4362783"/>
            <a:ext cx="1783080" cy="384048"/>
          </a:xfrm>
          <a:prstGeom prst="rect">
            <a:avLst/>
          </a:prstGeom>
          <a:noFill/>
          <a:ln/>
        </p:spPr>
        <p:txBody>
          <a:bodyPr wrap="square" lIns="0" tIns="0" rIns="0" bIns="0" rtlCol="0" anchor="ctr"/>
          <a:lstStyle/>
          <a:p>
            <a:pPr marL="0" indent="0">
              <a:buNone/>
            </a:pPr>
            <a:r>
              <a:rPr lang="en-US" sz="2400" b="1" dirty="0">
                <a:solidFill>
                  <a:srgbClr val="F6B900"/>
                </a:solidFill>
                <a:latin typeface="Tahoma" panose="020B0604030504040204" pitchFamily="34" charset="0"/>
                <a:ea typeface="Tahoma" panose="020B0604030504040204" pitchFamily="34" charset="0"/>
                <a:cs typeface="Tahoma" panose="020B0604030504040204" pitchFamily="34" charset="0"/>
              </a:rPr>
              <a:t>6%</a:t>
            </a:r>
            <a:endParaRPr lang="en-US" sz="2400" dirty="0">
              <a:latin typeface="Tahoma" panose="020B0604030504040204" pitchFamily="34" charset="0"/>
              <a:ea typeface="Tahoma" panose="020B0604030504040204" pitchFamily="34" charset="0"/>
              <a:cs typeface="Tahoma" panose="020B0604030504040204" pitchFamily="34" charset="0"/>
            </a:endParaRPr>
          </a:p>
        </p:txBody>
      </p:sp>
      <p:sp>
        <p:nvSpPr>
          <p:cNvPr id="16" name="Shape 14">
            <a:extLst>
              <a:ext uri="{FF2B5EF4-FFF2-40B4-BE49-F238E27FC236}">
                <a16:creationId xmlns:a16="http://schemas.microsoft.com/office/drawing/2014/main" id="{818C1B5B-185F-4C1C-515A-9448AD8C1B07}"/>
              </a:ext>
            </a:extLst>
          </p:cNvPr>
          <p:cNvSpPr/>
          <p:nvPr/>
        </p:nvSpPr>
        <p:spPr>
          <a:xfrm>
            <a:off x="982552" y="5289561"/>
            <a:ext cx="2103120" cy="960120"/>
          </a:xfrm>
          <a:prstGeom prst="roundRect">
            <a:avLst>
              <a:gd name="adj" fmla="val 7619"/>
            </a:avLst>
          </a:prstGeom>
          <a:solidFill>
            <a:srgbClr val="FFFFFF"/>
          </a:solidFill>
          <a:ln w="8890">
            <a:solidFill>
              <a:srgbClr val="DDE6F3"/>
            </a:solidFill>
            <a:prstDash val="solid"/>
          </a:ln>
        </p:spPr>
        <p:txBody>
          <a:bodyPr/>
          <a:lstStyle/>
          <a:p>
            <a:endParaRPr lang="en-US">
              <a:latin typeface="Tahoma" panose="020B0604030504040204" pitchFamily="34" charset="0"/>
              <a:ea typeface="Tahoma" panose="020B0604030504040204" pitchFamily="34" charset="0"/>
              <a:cs typeface="Tahoma" panose="020B0604030504040204" pitchFamily="34" charset="0"/>
            </a:endParaRPr>
          </a:p>
        </p:txBody>
      </p:sp>
      <p:sp>
        <p:nvSpPr>
          <p:cNvPr id="17" name="Shape 15">
            <a:extLst>
              <a:ext uri="{FF2B5EF4-FFF2-40B4-BE49-F238E27FC236}">
                <a16:creationId xmlns:a16="http://schemas.microsoft.com/office/drawing/2014/main" id="{E19C2B99-3822-4E0C-B396-01558B768CFA}"/>
              </a:ext>
            </a:extLst>
          </p:cNvPr>
          <p:cNvSpPr/>
          <p:nvPr/>
        </p:nvSpPr>
        <p:spPr>
          <a:xfrm>
            <a:off x="982552" y="5289561"/>
            <a:ext cx="73152" cy="960120"/>
          </a:xfrm>
          <a:prstGeom prst="rect">
            <a:avLst/>
          </a:prstGeom>
          <a:solidFill>
            <a:srgbClr val="00249C"/>
          </a:solidFill>
          <a:ln w="12700">
            <a:solidFill>
              <a:srgbClr val="00249C"/>
            </a:solidFill>
            <a:prstDash val="solid"/>
          </a:ln>
        </p:spPr>
        <p:txBody>
          <a:bodyPr/>
          <a:lstStyle/>
          <a:p>
            <a:endParaRPr lang="en-US">
              <a:latin typeface="Tahoma" panose="020B0604030504040204" pitchFamily="34" charset="0"/>
              <a:ea typeface="Tahoma" panose="020B0604030504040204" pitchFamily="34" charset="0"/>
              <a:cs typeface="Tahoma" panose="020B0604030504040204" pitchFamily="34" charset="0"/>
            </a:endParaRPr>
          </a:p>
        </p:txBody>
      </p:sp>
      <p:sp>
        <p:nvSpPr>
          <p:cNvPr id="18" name="Text 16">
            <a:extLst>
              <a:ext uri="{FF2B5EF4-FFF2-40B4-BE49-F238E27FC236}">
                <a16:creationId xmlns:a16="http://schemas.microsoft.com/office/drawing/2014/main" id="{85924719-DC83-C69F-A638-3B10F76FF835}"/>
              </a:ext>
            </a:extLst>
          </p:cNvPr>
          <p:cNvSpPr/>
          <p:nvPr/>
        </p:nvSpPr>
        <p:spPr>
          <a:xfrm>
            <a:off x="1183720" y="5435865"/>
            <a:ext cx="1783080" cy="201168"/>
          </a:xfrm>
          <a:prstGeom prst="rect">
            <a:avLst/>
          </a:prstGeom>
          <a:noFill/>
          <a:ln/>
        </p:spPr>
        <p:txBody>
          <a:bodyPr wrap="square" lIns="0" tIns="0" rIns="0" bIns="0" rtlCol="0" anchor="ctr">
            <a:normAutofit/>
          </a:bodyPr>
          <a:lstStyle/>
          <a:p>
            <a:pPr marL="0" indent="0">
              <a:buNone/>
            </a:pPr>
            <a:r>
              <a:rPr lang="en-US" sz="850" b="1" dirty="0">
                <a:solidFill>
                  <a:srgbClr val="6B7280"/>
                </a:solidFill>
                <a:latin typeface="Tahoma" panose="020B0604030504040204" pitchFamily="34" charset="0"/>
                <a:ea typeface="Tahoma" panose="020B0604030504040204" pitchFamily="34" charset="0"/>
                <a:cs typeface="Tahoma" panose="020B0604030504040204" pitchFamily="34" charset="0"/>
              </a:rPr>
              <a:t>X Total Waste</a:t>
            </a:r>
            <a:endParaRPr lang="en-US" sz="850" dirty="0">
              <a:latin typeface="Tahoma" panose="020B0604030504040204" pitchFamily="34" charset="0"/>
              <a:ea typeface="Tahoma" panose="020B0604030504040204" pitchFamily="34" charset="0"/>
              <a:cs typeface="Tahoma" panose="020B0604030504040204" pitchFamily="34" charset="0"/>
            </a:endParaRPr>
          </a:p>
        </p:txBody>
      </p:sp>
      <p:sp>
        <p:nvSpPr>
          <p:cNvPr id="19" name="Text 17">
            <a:extLst>
              <a:ext uri="{FF2B5EF4-FFF2-40B4-BE49-F238E27FC236}">
                <a16:creationId xmlns:a16="http://schemas.microsoft.com/office/drawing/2014/main" id="{7A4374A9-2FEA-1DC1-BC90-83F946A917DC}"/>
              </a:ext>
            </a:extLst>
          </p:cNvPr>
          <p:cNvSpPr/>
          <p:nvPr/>
        </p:nvSpPr>
        <p:spPr>
          <a:xfrm>
            <a:off x="1183720" y="5701041"/>
            <a:ext cx="1783080" cy="384048"/>
          </a:xfrm>
          <a:prstGeom prst="rect">
            <a:avLst/>
          </a:prstGeom>
          <a:noFill/>
          <a:ln>
            <a:noFill/>
          </a:ln>
        </p:spPr>
        <p:txBody>
          <a:bodyPr wrap="square" lIns="0" tIns="0" rIns="0" bIns="0" rtlCol="0" anchor="ctr"/>
          <a:lstStyle/>
          <a:p>
            <a:pPr marL="0" indent="0">
              <a:buNone/>
            </a:pPr>
            <a:r>
              <a:rPr lang="en-US" sz="2400" b="1" dirty="0">
                <a:solidFill>
                  <a:srgbClr val="00249C"/>
                </a:solidFill>
                <a:latin typeface="Tahoma" panose="020B0604030504040204" pitchFamily="34" charset="0"/>
                <a:ea typeface="Tahoma" panose="020B0604030504040204" pitchFamily="34" charset="0"/>
                <a:cs typeface="Tahoma" panose="020B0604030504040204" pitchFamily="34" charset="0"/>
              </a:rPr>
              <a:t>2218.14 kg</a:t>
            </a:r>
            <a:endParaRPr lang="en-US" sz="2400" dirty="0">
              <a:solidFill>
                <a:srgbClr val="00249C"/>
              </a:solidFill>
              <a:latin typeface="Tahoma" panose="020B0604030504040204" pitchFamily="34" charset="0"/>
              <a:ea typeface="Tahoma" panose="020B0604030504040204" pitchFamily="34" charset="0"/>
              <a:cs typeface="Tahoma" panose="020B0604030504040204" pitchFamily="34" charset="0"/>
            </a:endParaRPr>
          </a:p>
        </p:txBody>
      </p:sp>
      <p:sp>
        <p:nvSpPr>
          <p:cNvPr id="20" name="Text 18">
            <a:extLst>
              <a:ext uri="{FF2B5EF4-FFF2-40B4-BE49-F238E27FC236}">
                <a16:creationId xmlns:a16="http://schemas.microsoft.com/office/drawing/2014/main" id="{4E1B2532-F35D-1BF6-5CAF-4D1461430CCA}"/>
              </a:ext>
            </a:extLst>
          </p:cNvPr>
          <p:cNvSpPr/>
          <p:nvPr/>
        </p:nvSpPr>
        <p:spPr>
          <a:xfrm>
            <a:off x="1183720" y="6071817"/>
            <a:ext cx="1783080" cy="228600"/>
          </a:xfrm>
          <a:prstGeom prst="rect">
            <a:avLst/>
          </a:prstGeom>
          <a:noFill/>
          <a:ln/>
        </p:spPr>
        <p:txBody>
          <a:bodyPr wrap="square" lIns="0" tIns="0" rIns="0" bIns="0" rtlCol="0" anchor="ctr">
            <a:normAutofit/>
          </a:bodyPr>
          <a:lstStyle/>
          <a:p>
            <a:pPr marL="0" indent="0">
              <a:buNone/>
            </a:pPr>
            <a:r>
              <a:rPr lang="en-US" sz="800" dirty="0">
                <a:solidFill>
                  <a:srgbClr val="6B7280"/>
                </a:solidFill>
                <a:latin typeface="Tahoma" panose="020B0604030504040204" pitchFamily="34" charset="0"/>
                <a:ea typeface="Tahoma" panose="020B0604030504040204" pitchFamily="34" charset="0"/>
                <a:cs typeface="Tahoma" panose="020B0604030504040204" pitchFamily="34" charset="0"/>
              </a:rPr>
              <a:t>Recyclable: 155 kg</a:t>
            </a:r>
            <a:endParaRPr lang="en-US" sz="800" dirty="0">
              <a:latin typeface="Tahoma" panose="020B0604030504040204" pitchFamily="34" charset="0"/>
              <a:ea typeface="Tahoma" panose="020B0604030504040204" pitchFamily="34" charset="0"/>
              <a:cs typeface="Tahoma" panose="020B0604030504040204" pitchFamily="34" charset="0"/>
            </a:endParaRPr>
          </a:p>
        </p:txBody>
      </p:sp>
      <p:sp>
        <p:nvSpPr>
          <p:cNvPr id="21" name="Shape 19">
            <a:extLst>
              <a:ext uri="{FF2B5EF4-FFF2-40B4-BE49-F238E27FC236}">
                <a16:creationId xmlns:a16="http://schemas.microsoft.com/office/drawing/2014/main" id="{232A0683-7157-C5F9-B690-12715072A8E0}"/>
              </a:ext>
            </a:extLst>
          </p:cNvPr>
          <p:cNvSpPr/>
          <p:nvPr/>
        </p:nvSpPr>
        <p:spPr>
          <a:xfrm>
            <a:off x="3268552" y="5289561"/>
            <a:ext cx="2103120" cy="960120"/>
          </a:xfrm>
          <a:prstGeom prst="roundRect">
            <a:avLst>
              <a:gd name="adj" fmla="val 7619"/>
            </a:avLst>
          </a:prstGeom>
          <a:solidFill>
            <a:srgbClr val="FFFFFF"/>
          </a:solidFill>
          <a:ln w="8890">
            <a:solidFill>
              <a:srgbClr val="DDE6F3"/>
            </a:solidFill>
            <a:prstDash val="solid"/>
          </a:ln>
        </p:spPr>
        <p:txBody>
          <a:bodyPr/>
          <a:lstStyle/>
          <a:p>
            <a:endParaRPr lang="en-US">
              <a:latin typeface="Tahoma" panose="020B0604030504040204" pitchFamily="34" charset="0"/>
              <a:ea typeface="Tahoma" panose="020B0604030504040204" pitchFamily="34" charset="0"/>
              <a:cs typeface="Tahoma" panose="020B0604030504040204" pitchFamily="34" charset="0"/>
            </a:endParaRPr>
          </a:p>
        </p:txBody>
      </p:sp>
      <p:sp>
        <p:nvSpPr>
          <p:cNvPr id="22" name="Shape 20">
            <a:extLst>
              <a:ext uri="{FF2B5EF4-FFF2-40B4-BE49-F238E27FC236}">
                <a16:creationId xmlns:a16="http://schemas.microsoft.com/office/drawing/2014/main" id="{34A33CBF-EFE5-7752-5CDE-3CD3569B9A98}"/>
              </a:ext>
            </a:extLst>
          </p:cNvPr>
          <p:cNvSpPr/>
          <p:nvPr/>
        </p:nvSpPr>
        <p:spPr>
          <a:xfrm>
            <a:off x="3268552" y="5289561"/>
            <a:ext cx="73152" cy="960120"/>
          </a:xfrm>
          <a:prstGeom prst="rect">
            <a:avLst/>
          </a:prstGeom>
          <a:solidFill>
            <a:srgbClr val="D93025"/>
          </a:solidFill>
          <a:ln w="12700">
            <a:solidFill>
              <a:srgbClr val="D93025"/>
            </a:solidFill>
            <a:prstDash val="solid"/>
          </a:ln>
        </p:spPr>
        <p:txBody>
          <a:bodyPr/>
          <a:lstStyle/>
          <a:p>
            <a:endParaRPr lang="en-US">
              <a:latin typeface="Tahoma" panose="020B0604030504040204" pitchFamily="34" charset="0"/>
              <a:ea typeface="Tahoma" panose="020B0604030504040204" pitchFamily="34" charset="0"/>
              <a:cs typeface="Tahoma" panose="020B0604030504040204" pitchFamily="34" charset="0"/>
            </a:endParaRPr>
          </a:p>
        </p:txBody>
      </p:sp>
      <p:sp>
        <p:nvSpPr>
          <p:cNvPr id="23" name="Text 21">
            <a:extLst>
              <a:ext uri="{FF2B5EF4-FFF2-40B4-BE49-F238E27FC236}">
                <a16:creationId xmlns:a16="http://schemas.microsoft.com/office/drawing/2014/main" id="{CC3EC7B8-5EDB-9A8F-6F83-040DD1F853AB}"/>
              </a:ext>
            </a:extLst>
          </p:cNvPr>
          <p:cNvSpPr/>
          <p:nvPr/>
        </p:nvSpPr>
        <p:spPr>
          <a:xfrm>
            <a:off x="3469720" y="5435865"/>
            <a:ext cx="1783080" cy="201168"/>
          </a:xfrm>
          <a:prstGeom prst="rect">
            <a:avLst/>
          </a:prstGeom>
          <a:noFill/>
          <a:ln/>
        </p:spPr>
        <p:txBody>
          <a:bodyPr wrap="square" lIns="0" tIns="0" rIns="0" bIns="0" rtlCol="0" anchor="ctr">
            <a:normAutofit/>
          </a:bodyPr>
          <a:lstStyle/>
          <a:p>
            <a:pPr marL="0" indent="0">
              <a:buNone/>
            </a:pPr>
            <a:r>
              <a:rPr lang="en-US" sz="850" b="1" dirty="0">
                <a:solidFill>
                  <a:srgbClr val="6B7280"/>
                </a:solidFill>
                <a:latin typeface="Tahoma" panose="020B0604030504040204" pitchFamily="34" charset="0"/>
                <a:ea typeface="Tahoma" panose="020B0604030504040204" pitchFamily="34" charset="0"/>
                <a:cs typeface="Tahoma" panose="020B0604030504040204" pitchFamily="34" charset="0"/>
              </a:rPr>
              <a:t>Y Recycling</a:t>
            </a:r>
            <a:endParaRPr lang="en-US" sz="850" dirty="0">
              <a:latin typeface="Tahoma" panose="020B0604030504040204" pitchFamily="34" charset="0"/>
              <a:ea typeface="Tahoma" panose="020B0604030504040204" pitchFamily="34" charset="0"/>
              <a:cs typeface="Tahoma" panose="020B0604030504040204" pitchFamily="34" charset="0"/>
            </a:endParaRPr>
          </a:p>
        </p:txBody>
      </p:sp>
      <p:sp>
        <p:nvSpPr>
          <p:cNvPr id="24" name="Text 22">
            <a:extLst>
              <a:ext uri="{FF2B5EF4-FFF2-40B4-BE49-F238E27FC236}">
                <a16:creationId xmlns:a16="http://schemas.microsoft.com/office/drawing/2014/main" id="{290DB296-E3A8-D18F-D666-B263CEF6F4DE}"/>
              </a:ext>
            </a:extLst>
          </p:cNvPr>
          <p:cNvSpPr/>
          <p:nvPr/>
        </p:nvSpPr>
        <p:spPr>
          <a:xfrm>
            <a:off x="3469720" y="5701041"/>
            <a:ext cx="1783080" cy="384048"/>
          </a:xfrm>
          <a:prstGeom prst="rect">
            <a:avLst/>
          </a:prstGeom>
          <a:noFill/>
          <a:ln/>
        </p:spPr>
        <p:txBody>
          <a:bodyPr wrap="square" lIns="0" tIns="0" rIns="0" bIns="0" rtlCol="0" anchor="ctr"/>
          <a:lstStyle/>
          <a:p>
            <a:pPr marL="0" indent="0">
              <a:buNone/>
            </a:pPr>
            <a:r>
              <a:rPr lang="en-US" sz="2400" b="1" dirty="0">
                <a:solidFill>
                  <a:srgbClr val="D93025"/>
                </a:solidFill>
                <a:latin typeface="Tahoma" panose="020B0604030504040204" pitchFamily="34" charset="0"/>
                <a:ea typeface="Tahoma" panose="020B0604030504040204" pitchFamily="34" charset="0"/>
                <a:cs typeface="Tahoma" panose="020B0604030504040204" pitchFamily="34" charset="0"/>
              </a:rPr>
              <a:t>7%</a:t>
            </a:r>
            <a:endParaRPr lang="en-US" sz="2400" dirty="0">
              <a:latin typeface="Tahoma" panose="020B0604030504040204" pitchFamily="34" charset="0"/>
              <a:ea typeface="Tahoma" panose="020B0604030504040204" pitchFamily="34" charset="0"/>
              <a:cs typeface="Tahoma" panose="020B0604030504040204" pitchFamily="34" charset="0"/>
            </a:endParaRPr>
          </a:p>
        </p:txBody>
      </p:sp>
      <p:sp>
        <p:nvSpPr>
          <p:cNvPr id="25" name="Text 23">
            <a:extLst>
              <a:ext uri="{FF2B5EF4-FFF2-40B4-BE49-F238E27FC236}">
                <a16:creationId xmlns:a16="http://schemas.microsoft.com/office/drawing/2014/main" id="{92BEE130-9341-D18C-F8D7-0151B31574D2}"/>
              </a:ext>
            </a:extLst>
          </p:cNvPr>
          <p:cNvSpPr/>
          <p:nvPr/>
        </p:nvSpPr>
        <p:spPr>
          <a:xfrm>
            <a:off x="3469720" y="6071817"/>
            <a:ext cx="1783080" cy="228600"/>
          </a:xfrm>
          <a:prstGeom prst="rect">
            <a:avLst/>
          </a:prstGeom>
          <a:noFill/>
          <a:ln/>
        </p:spPr>
        <p:txBody>
          <a:bodyPr wrap="square" lIns="0" tIns="0" rIns="0" bIns="0" rtlCol="0" anchor="ctr">
            <a:normAutofit/>
          </a:bodyPr>
          <a:lstStyle/>
          <a:p>
            <a:pPr marL="0" indent="0">
              <a:buNone/>
            </a:pPr>
            <a:endParaRPr lang="en-US" sz="800" dirty="0">
              <a:latin typeface="Tahoma" panose="020B0604030504040204" pitchFamily="34" charset="0"/>
              <a:ea typeface="Tahoma" panose="020B0604030504040204" pitchFamily="34" charset="0"/>
              <a:cs typeface="Tahoma" panose="020B0604030504040204" pitchFamily="34" charset="0"/>
            </a:endParaRPr>
          </a:p>
        </p:txBody>
      </p:sp>
      <p:sp>
        <p:nvSpPr>
          <p:cNvPr id="29" name="Title 1">
            <a:extLst>
              <a:ext uri="{FF2B5EF4-FFF2-40B4-BE49-F238E27FC236}">
                <a16:creationId xmlns:a16="http://schemas.microsoft.com/office/drawing/2014/main" id="{979D1581-480D-60F0-7557-CEFF3B1F5AC3}"/>
              </a:ext>
            </a:extLst>
          </p:cNvPr>
          <p:cNvSpPr txBox="1">
            <a:spLocks/>
          </p:cNvSpPr>
          <p:nvPr/>
        </p:nvSpPr>
        <p:spPr>
          <a:xfrm>
            <a:off x="585348" y="-3911"/>
            <a:ext cx="11021303" cy="986177"/>
          </a:xfrm>
          <a:prstGeom prst="rect">
            <a:avLst/>
          </a:prstGeom>
        </p:spPr>
        <p:txBody>
          <a:bodyPr vert="horz" lIns="91440" tIns="45720" rIns="91440" bIns="45720" rtlCol="0" anchor="ctr" anchorCtr="0">
            <a:normAutofit/>
          </a:bodyPr>
          <a:lstStyle>
            <a:lvl1pPr algn="l" defTabSz="914400" rtl="0" eaLnBrk="1" latinLnBrk="0" hangingPunct="1">
              <a:lnSpc>
                <a:spcPct val="90000"/>
              </a:lnSpc>
              <a:spcBef>
                <a:spcPct val="0"/>
              </a:spcBef>
              <a:buNone/>
              <a:defRPr sz="4500" b="1" kern="1200">
                <a:solidFill>
                  <a:srgbClr val="00249C"/>
                </a:solidFill>
                <a:latin typeface="Tahoma" panose="020B0604030504040204" pitchFamily="34" charset="0"/>
                <a:ea typeface="Tahoma" panose="020B0604030504040204" pitchFamily="34" charset="0"/>
                <a:cs typeface="Tahoma" panose="020B0604030504040204" pitchFamily="34" charset="0"/>
              </a:defRPr>
            </a:lvl1pPr>
          </a:lstStyle>
          <a:p>
            <a:r>
              <a:rPr lang="fr-FR" sz="3000" dirty="0"/>
              <a:t>10. </a:t>
            </a:r>
            <a:r>
              <a:rPr lang="fr-FR" sz="3000" dirty="0" err="1"/>
              <a:t>Environmental</a:t>
            </a:r>
            <a:r>
              <a:rPr lang="fr-FR" sz="3000" dirty="0"/>
              <a:t>/ Waste Management Performance</a:t>
            </a:r>
            <a:endParaRPr lang="en-US" sz="2400" b="0" dirty="0"/>
          </a:p>
        </p:txBody>
      </p:sp>
    </p:spTree>
    <p:extLst>
      <p:ext uri="{BB962C8B-B14F-4D97-AF65-F5344CB8AC3E}">
        <p14:creationId xmlns:p14="http://schemas.microsoft.com/office/powerpoint/2010/main" val="10884306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0F7DA-94F3-496F-C307-5D8C6356CC7A}"/>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72863922-7211-B01D-9A6E-102B1835BD3E}"/>
              </a:ext>
            </a:extLst>
          </p:cNvPr>
          <p:cNvSpPr txBox="1">
            <a:spLocks/>
          </p:cNvSpPr>
          <p:nvPr/>
        </p:nvSpPr>
        <p:spPr>
          <a:xfrm>
            <a:off x="659213" y="91440"/>
            <a:ext cx="11358615" cy="737326"/>
          </a:xfrm>
          <a:prstGeom prst="rect">
            <a:avLst/>
          </a:prstGeom>
        </p:spPr>
        <p:txBody>
          <a:bodyPr vert="horz" lIns="91440" tIns="45720" rIns="91440" bIns="45720" rtlCol="0" anchor="ctr" anchorCtr="0">
            <a:normAutofit/>
          </a:bodyPr>
          <a:lstStyle>
            <a:lvl1pPr algn="l" defTabSz="914400" rtl="0" eaLnBrk="1" latinLnBrk="0" hangingPunct="1">
              <a:lnSpc>
                <a:spcPct val="90000"/>
              </a:lnSpc>
              <a:spcBef>
                <a:spcPct val="0"/>
              </a:spcBef>
              <a:buNone/>
              <a:defRPr sz="4500" b="1" kern="1200">
                <a:solidFill>
                  <a:srgbClr val="00249C"/>
                </a:solidFill>
                <a:latin typeface="Tahoma" panose="020B0604030504040204" pitchFamily="34" charset="0"/>
                <a:ea typeface="Tahoma" panose="020B0604030504040204" pitchFamily="34" charset="0"/>
                <a:cs typeface="Tahoma" panose="020B0604030504040204" pitchFamily="34" charset="0"/>
              </a:defRPr>
            </a:lvl1pPr>
          </a:lstStyle>
          <a:p>
            <a:r>
              <a:rPr lang="en-US" sz="3000" dirty="0"/>
              <a:t>11. Legal/Compliance Updates</a:t>
            </a:r>
          </a:p>
        </p:txBody>
      </p:sp>
      <p:sp>
        <p:nvSpPr>
          <p:cNvPr id="13" name="Text Placeholder 3">
            <a:extLst>
              <a:ext uri="{FF2B5EF4-FFF2-40B4-BE49-F238E27FC236}">
                <a16:creationId xmlns:a16="http://schemas.microsoft.com/office/drawing/2014/main" id="{9CE356C8-A4C0-83B1-713E-F21F3D74B452}"/>
              </a:ext>
            </a:extLst>
          </p:cNvPr>
          <p:cNvSpPr>
            <a:spLocks noGrp="1"/>
          </p:cNvSpPr>
          <p:nvPr>
            <p:ph type="body" sz="quarter" idx="10"/>
          </p:nvPr>
        </p:nvSpPr>
        <p:spPr>
          <a:xfrm>
            <a:off x="659214" y="4915569"/>
            <a:ext cx="8020198" cy="1724717"/>
          </a:xfrm>
        </p:spPr>
        <p:txBody>
          <a:bodyPr>
            <a:normAutofit/>
          </a:bodyPr>
          <a:lstStyle/>
          <a:p>
            <a:r>
              <a:rPr lang="en-US" sz="1400" b="1" dirty="0"/>
              <a:t>Key Observations: </a:t>
            </a:r>
          </a:p>
          <a:p>
            <a:r>
              <a:rPr lang="en-US" sz="1200" dirty="0"/>
              <a:t>By Campus EHS Specialists </a:t>
            </a:r>
          </a:p>
          <a:p>
            <a:endParaRPr lang="en-US" sz="1400" dirty="0"/>
          </a:p>
          <a:p>
            <a:endParaRPr lang="en-US" sz="1400" dirty="0"/>
          </a:p>
          <a:p>
            <a:endParaRPr lang="en-US" sz="1400" dirty="0"/>
          </a:p>
        </p:txBody>
      </p:sp>
      <p:sp>
        <p:nvSpPr>
          <p:cNvPr id="3" name="Text Placeholder 3">
            <a:extLst>
              <a:ext uri="{FF2B5EF4-FFF2-40B4-BE49-F238E27FC236}">
                <a16:creationId xmlns:a16="http://schemas.microsoft.com/office/drawing/2014/main" id="{F7D006DD-C858-086F-6AC6-ECF57C24D535}"/>
              </a:ext>
            </a:extLst>
          </p:cNvPr>
          <p:cNvSpPr txBox="1">
            <a:spLocks/>
          </p:cNvSpPr>
          <p:nvPr/>
        </p:nvSpPr>
        <p:spPr>
          <a:xfrm>
            <a:off x="659212" y="1189292"/>
            <a:ext cx="9824490" cy="903668"/>
          </a:xfrm>
          <a:prstGeom prst="rect">
            <a:avLst/>
          </a:prstGeom>
        </p:spPr>
        <p:txBody>
          <a:bodyPr vert="horz" lIns="91440" tIns="45720" rIns="91440" bIns="45720" rtlCol="0">
            <a:normAutofit/>
          </a:bodyPr>
          <a:lstStyle>
            <a:lvl1pPr marL="0" indent="0" algn="l" defTabSz="914400" rtl="0" eaLnBrk="1" latinLnBrk="0" hangingPunct="1">
              <a:lnSpc>
                <a:spcPct val="95000"/>
              </a:lnSpc>
              <a:spcBef>
                <a:spcPts val="1000"/>
              </a:spcBef>
              <a:buFontTx/>
              <a:buNone/>
              <a:defRPr sz="20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1pPr>
            <a:lvl2pPr marL="457200" indent="0" algn="l" defTabSz="914400" rtl="0" eaLnBrk="1" latinLnBrk="0" hangingPunct="1">
              <a:lnSpc>
                <a:spcPct val="90000"/>
              </a:lnSpc>
              <a:spcBef>
                <a:spcPts val="500"/>
              </a:spcBef>
              <a:buFontTx/>
              <a:buNone/>
              <a:defRPr sz="24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2pPr>
            <a:lvl3pPr marL="914400" indent="0" algn="l" defTabSz="914400" rtl="0" eaLnBrk="1" latinLnBrk="0" hangingPunct="1">
              <a:lnSpc>
                <a:spcPct val="90000"/>
              </a:lnSpc>
              <a:spcBef>
                <a:spcPts val="500"/>
              </a:spcBef>
              <a:buFontTx/>
              <a:buNone/>
              <a:defRPr sz="20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3pPr>
            <a:lvl4pPr marL="1371600" indent="0" algn="l" defTabSz="914400" rtl="0" eaLnBrk="1" latinLnBrk="0" hangingPunct="1">
              <a:lnSpc>
                <a:spcPct val="90000"/>
              </a:lnSpc>
              <a:spcBef>
                <a:spcPts val="500"/>
              </a:spcBef>
              <a:buFontTx/>
              <a:buNone/>
              <a:defRPr sz="18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4pPr>
            <a:lvl5pPr marL="1828800" indent="0" algn="l" defTabSz="914400" rtl="0" eaLnBrk="1" latinLnBrk="0" hangingPunct="1">
              <a:lnSpc>
                <a:spcPct val="90000"/>
              </a:lnSpc>
              <a:spcBef>
                <a:spcPts val="500"/>
              </a:spcBef>
              <a:buFontTx/>
              <a:buNone/>
              <a:defRPr sz="1800" b="0" i="0" kern="1200">
                <a:solidFill>
                  <a:schemeClr val="tx1"/>
                </a:solidFill>
                <a:latin typeface="Tahoma" panose="020B0604030504040204" pitchFamily="34" charset="0"/>
                <a:ea typeface="Tahoma" panose="020B0604030504040204" pitchFamily="34" charset="0"/>
                <a:cs typeface="Tahoma" panose="020B060403050404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400" i="1" dirty="0"/>
              <a:t>Explain any near expiry or overdue as regards to legal licensing, Updates on renewal of legal requirements.</a:t>
            </a:r>
            <a:endParaRPr lang="en-US" sz="1200" i="1" dirty="0"/>
          </a:p>
          <a:p>
            <a:endParaRPr lang="en-US" sz="1400" dirty="0"/>
          </a:p>
          <a:p>
            <a:endParaRPr lang="en-US" sz="1400" dirty="0"/>
          </a:p>
        </p:txBody>
      </p:sp>
    </p:spTree>
    <p:extLst>
      <p:ext uri="{BB962C8B-B14F-4D97-AF65-F5344CB8AC3E}">
        <p14:creationId xmlns:p14="http://schemas.microsoft.com/office/powerpoint/2010/main" val="402801577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31F0D0EA-95AA-EE1A-E0C1-414934A77FC8}"/>
              </a:ext>
            </a:extLst>
          </p:cNvPr>
          <p:cNvSpPr txBox="1">
            <a:spLocks/>
          </p:cNvSpPr>
          <p:nvPr/>
        </p:nvSpPr>
        <p:spPr>
          <a:xfrm>
            <a:off x="674495" y="-76557"/>
            <a:ext cx="10150301" cy="986177"/>
          </a:xfrm>
          <a:prstGeom prst="rect">
            <a:avLst/>
          </a:prstGeom>
        </p:spPr>
        <p:txBody>
          <a:bodyPr vert="horz" lIns="91440" tIns="45720" rIns="91440" bIns="45720" rtlCol="0" anchor="ctr" anchorCtr="0">
            <a:normAutofit/>
          </a:bodyPr>
          <a:lstStyle>
            <a:lvl1pPr algn="l" defTabSz="914400" rtl="0" eaLnBrk="1" latinLnBrk="0" hangingPunct="1">
              <a:lnSpc>
                <a:spcPct val="90000"/>
              </a:lnSpc>
              <a:spcBef>
                <a:spcPct val="0"/>
              </a:spcBef>
              <a:buNone/>
              <a:defRPr sz="4500" b="1" kern="1200">
                <a:solidFill>
                  <a:srgbClr val="00249C"/>
                </a:solidFill>
                <a:latin typeface="Tahoma" panose="020B0604030504040204" pitchFamily="34" charset="0"/>
                <a:ea typeface="Tahoma" panose="020B0604030504040204" pitchFamily="34" charset="0"/>
                <a:cs typeface="Tahoma" panose="020B0604030504040204" pitchFamily="34" charset="0"/>
              </a:defRPr>
            </a:lvl1pPr>
          </a:lstStyle>
          <a:p>
            <a:r>
              <a:rPr lang="en-US" sz="3000" dirty="0"/>
              <a:t>12. Next Meeting (Agreed date/time and venue)</a:t>
            </a:r>
            <a:endParaRPr lang="en-US" sz="2400" b="0" dirty="0"/>
          </a:p>
        </p:txBody>
      </p:sp>
      <p:sp>
        <p:nvSpPr>
          <p:cNvPr id="3" name="TextBox 2">
            <a:extLst>
              <a:ext uri="{FF2B5EF4-FFF2-40B4-BE49-F238E27FC236}">
                <a16:creationId xmlns:a16="http://schemas.microsoft.com/office/drawing/2014/main" id="{33B174D0-1B09-141E-AF33-3442CE74B3F5}"/>
              </a:ext>
            </a:extLst>
          </p:cNvPr>
          <p:cNvSpPr txBox="1"/>
          <p:nvPr/>
        </p:nvSpPr>
        <p:spPr>
          <a:xfrm>
            <a:off x="674495" y="6123881"/>
            <a:ext cx="10952152" cy="523220"/>
          </a:xfrm>
          <a:prstGeom prst="rect">
            <a:avLst/>
          </a:prstGeom>
          <a:solidFill>
            <a:schemeClr val="bg2"/>
          </a:solidFill>
          <a:ln>
            <a:solidFill>
              <a:schemeClr val="tx1"/>
            </a:solidFill>
          </a:ln>
        </p:spPr>
        <p:txBody>
          <a:bodyPr wrap="square" rtlCol="0">
            <a:spAutoFit/>
          </a:bodyPr>
          <a:lstStyle/>
          <a:p>
            <a:r>
              <a:rPr lang="en-US" sz="1400" dirty="0">
                <a:latin typeface="Tahoma" panose="020B0604030504040204" pitchFamily="34" charset="0"/>
                <a:ea typeface="Tahoma" panose="020B0604030504040204" pitchFamily="34" charset="0"/>
                <a:cs typeface="Tahoma" panose="020B0604030504040204" pitchFamily="34" charset="0"/>
              </a:rPr>
              <a:t>Next Committee Meeting:       				     Date: 			                          Time: </a:t>
            </a:r>
          </a:p>
          <a:p>
            <a:endParaRPr lang="en-US" sz="1400" dirty="0"/>
          </a:p>
        </p:txBody>
      </p:sp>
      <p:sp>
        <p:nvSpPr>
          <p:cNvPr id="2" name="TextBox 1">
            <a:extLst>
              <a:ext uri="{FF2B5EF4-FFF2-40B4-BE49-F238E27FC236}">
                <a16:creationId xmlns:a16="http://schemas.microsoft.com/office/drawing/2014/main" id="{D58C25FC-D701-A547-C584-1DA3331894AD}"/>
              </a:ext>
            </a:extLst>
          </p:cNvPr>
          <p:cNvSpPr txBox="1"/>
          <p:nvPr/>
        </p:nvSpPr>
        <p:spPr>
          <a:xfrm>
            <a:off x="861237" y="1052623"/>
            <a:ext cx="9388549" cy="369332"/>
          </a:xfrm>
          <a:prstGeom prst="rect">
            <a:avLst/>
          </a:prstGeom>
          <a:noFill/>
        </p:spPr>
        <p:txBody>
          <a:bodyPr wrap="square" rtlCol="0">
            <a:spAutoFit/>
          </a:bodyPr>
          <a:lstStyle/>
          <a:p>
            <a:r>
              <a:rPr lang="en-US" dirty="0"/>
              <a:t>Suggest 3</a:t>
            </a:r>
            <a:r>
              <a:rPr lang="en-US" baseline="30000" dirty="0"/>
              <a:t>rd</a:t>
            </a:r>
            <a:r>
              <a:rPr lang="en-US" dirty="0"/>
              <a:t> week of month to allow KPI data time to process</a:t>
            </a:r>
          </a:p>
        </p:txBody>
      </p:sp>
    </p:spTree>
    <p:extLst>
      <p:ext uri="{BB962C8B-B14F-4D97-AF65-F5344CB8AC3E}">
        <p14:creationId xmlns:p14="http://schemas.microsoft.com/office/powerpoint/2010/main" val="92994211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0B3307-14BF-A044-8D72-44E597C0E7DA}"/>
              </a:ext>
            </a:extLst>
          </p:cNvPr>
          <p:cNvSpPr>
            <a:spLocks noGrp="1"/>
          </p:cNvSpPr>
          <p:nvPr>
            <p:ph type="ctrTitle"/>
          </p:nvPr>
        </p:nvSpPr>
        <p:spPr/>
        <p:txBody>
          <a:bodyPr/>
          <a:lstStyle/>
          <a:p>
            <a:r>
              <a:rPr lang="en-US" dirty="0"/>
              <a:t>Thank You</a:t>
            </a:r>
            <a:endParaRPr lang="en-AE" dirty="0"/>
          </a:p>
        </p:txBody>
      </p:sp>
    </p:spTree>
    <p:extLst>
      <p:ext uri="{BB962C8B-B14F-4D97-AF65-F5344CB8AC3E}">
        <p14:creationId xmlns:p14="http://schemas.microsoft.com/office/powerpoint/2010/main" val="3769315409"/>
      </p:ext>
    </p:extLst>
  </p:cSld>
  <p:clrMapOvr>
    <a:masterClrMapping/>
  </p:clrMapOvr>
</p:sld>
</file>

<file path=ppt/theme/theme1.xml><?xml version="1.0" encoding="utf-8"?>
<a:theme xmlns:a="http://schemas.openxmlformats.org/drawingml/2006/main" name="1_Office Theme">
  <a:themeElements>
    <a:clrScheme name="HCT COLORS">
      <a:dk1>
        <a:srgbClr val="00249C"/>
      </a:dk1>
      <a:lt1>
        <a:srgbClr val="46D6AB"/>
      </a:lt1>
      <a:dk2>
        <a:srgbClr val="00249C"/>
      </a:dk2>
      <a:lt2>
        <a:srgbClr val="FFFFFF"/>
      </a:lt2>
      <a:accent1>
        <a:srgbClr val="BA28BA"/>
      </a:accent1>
      <a:accent2>
        <a:srgbClr val="00A3E1"/>
      </a:accent2>
      <a:accent3>
        <a:srgbClr val="B1E4E2"/>
      </a:accent3>
      <a:accent4>
        <a:srgbClr val="C4E86C"/>
      </a:accent4>
      <a:accent5>
        <a:srgbClr val="F7E948"/>
      </a:accent5>
      <a:accent6>
        <a:srgbClr val="2C2825"/>
      </a:accent6>
      <a:hlink>
        <a:srgbClr val="46D6AB"/>
      </a:hlink>
      <a:folHlink>
        <a:srgbClr val="46D6AB"/>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HCT-English-PPT" id="{66C1D627-B2B5-CC49-A3B4-7C85DDDC73E2}" vid="{1B779F52-C459-FE44-A2F4-9C273C34395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HCT COLORS">
    <a:dk1>
      <a:srgbClr val="00249C"/>
    </a:dk1>
    <a:lt1>
      <a:srgbClr val="46D6AB"/>
    </a:lt1>
    <a:dk2>
      <a:srgbClr val="00249C"/>
    </a:dk2>
    <a:lt2>
      <a:srgbClr val="FFFFFF"/>
    </a:lt2>
    <a:accent1>
      <a:srgbClr val="BA28BA"/>
    </a:accent1>
    <a:accent2>
      <a:srgbClr val="00A3E1"/>
    </a:accent2>
    <a:accent3>
      <a:srgbClr val="B1E4E2"/>
    </a:accent3>
    <a:accent4>
      <a:srgbClr val="C4E86C"/>
    </a:accent4>
    <a:accent5>
      <a:srgbClr val="F7E948"/>
    </a:accent5>
    <a:accent6>
      <a:srgbClr val="2C2825"/>
    </a:accent6>
    <a:hlink>
      <a:srgbClr val="46D6AB"/>
    </a:hlink>
    <a:folHlink>
      <a:srgbClr val="46D6AB"/>
    </a:folHlink>
  </a:clrScheme>
</a:themeOverrid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8E37F35-F500-4E6D-B0C4-73E8407C77A4}">
  <we:reference id="WA200010001" version="1.0.0.1" store="Omex" storeType="OMEX"/>
  <we:alternateReferences>
    <we:reference id="WA200010001" version="1.0.0.1" store="WA200010001" storeType="OMEX"/>
  </we:alternateReferences>
  <we:properties>
    <we:property name="claude.fileId" value="&quot;78f2d011-05ec-492e-b823-89e2f3711db3&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
  <TotalTime>14109</TotalTime>
  <Words>877</Words>
  <Application>Microsoft Office PowerPoint</Application>
  <PresentationFormat>Widescreen</PresentationFormat>
  <Paragraphs>214</Paragraphs>
  <Slides>23</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23</vt:i4>
      </vt:variant>
    </vt:vector>
  </HeadingPairs>
  <TitlesOfParts>
    <vt:vector size="27" baseType="lpstr">
      <vt:lpstr>Arial</vt:lpstr>
      <vt:lpstr>Calibri</vt:lpstr>
      <vt:lpstr>Tahoma</vt:lpstr>
      <vt:lpstr>1_Office Theme</vt:lpstr>
      <vt:lpstr>EHS Committee Meeting June 2026</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Company>HCT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Bakri Hamameh</dc:creator>
  <cp:lastModifiedBy>caroline savage</cp:lastModifiedBy>
  <cp:revision>378</cp:revision>
  <dcterms:created xsi:type="dcterms:W3CDTF">2023-08-15T07:47:02Z</dcterms:created>
  <dcterms:modified xsi:type="dcterms:W3CDTF">2026-07-08T04:09:45Z</dcterms:modified>
</cp:coreProperties>
</file>