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heme/themeOverride2.xml" ContentType="application/vnd.openxmlformats-officedocument.themeOverr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2.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3"/>
  </p:notesMasterIdLst>
  <p:sldIdLst>
    <p:sldId id="340" r:id="rId2"/>
    <p:sldId id="404" r:id="rId3"/>
    <p:sldId id="392" r:id="rId4"/>
    <p:sldId id="360" r:id="rId5"/>
    <p:sldId id="395" r:id="rId6"/>
    <p:sldId id="338" r:id="rId7"/>
    <p:sldId id="361" r:id="rId8"/>
    <p:sldId id="339" r:id="rId9"/>
    <p:sldId id="352" r:id="rId10"/>
    <p:sldId id="335" r:id="rId11"/>
    <p:sldId id="3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F79E1A-B9DF-E92A-56B6-BF93512E2FD3}" name="Melwin Dsouza" initials="MD" userId="S::Melwin.Dsouza@corporateohs.com::149ac2db-be8b-40ff-b11b-d098f284dba8" providerId="AD"/>
  <p188:author id="{4D5F4B26-70C2-C458-CF70-89C76E1704D8}" name="Branco Dennenberg" initials="BD" userId="7b81a8bc22f2f239" providerId="Windows Live"/>
  <p188:author id="{5B26CF33-3F9E-64B6-8031-873F17783981}" name="Caroline Savage" initials="CS" userId="7108174042d12c3f" providerId="Windows Live"/>
  <p188:author id="{8D6D4444-3D9E-9EFB-8C07-AA5665A4A5C5}" name="Karthikeyan Viswanathan" initials="KV" userId="S::Karthikeyan.Viswanathan@corporateohs.com::ee677136-ef6c-4a16-817e-71289ad1cdb2" providerId="AD"/>
  <p188:author id="{CFC1D6F1-5CCD-23D0-AEA0-FE2283801C34}" name="caroline savage" initials="cs" userId="S::carolinesavage@corporateohs.com::91448213-4f62-4282-a05a-3f8111c1e7b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49C"/>
    <a:srgbClr val="A50034"/>
    <a:srgbClr val="F7C1C1"/>
    <a:srgbClr val="C0DD97"/>
    <a:srgbClr val="47D7AC"/>
    <a:srgbClr val="23ACDD"/>
    <a:srgbClr val="B5D4F4"/>
    <a:srgbClr val="000000"/>
    <a:srgbClr val="B1E4E3"/>
    <a:srgbClr val="00A3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6FB3E1-70CA-4986-91AB-59CF848ECB5C}" v="20" dt="2026-08-26T15:16:13.3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0719" autoAdjust="0"/>
  </p:normalViewPr>
  <p:slideViewPr>
    <p:cSldViewPr snapToGrid="0">
      <p:cViewPr varScale="1">
        <p:scale>
          <a:sx n="72" d="100"/>
          <a:sy n="72" d="100"/>
        </p:scale>
        <p:origin x="893" y="9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e savage" userId="91448213-4f62-4282-a05a-3f8111c1e7bd" providerId="ADAL" clId="{12E5D5C5-97B3-48EB-B13D-D18563E280BB}"/>
    <pc:docChg chg="undo custSel modSld">
      <pc:chgData name="caroline savage" userId="91448213-4f62-4282-a05a-3f8111c1e7bd" providerId="ADAL" clId="{12E5D5C5-97B3-48EB-B13D-D18563E280BB}" dt="2026-08-26T15:36:42.987" v="664" actId="13926"/>
      <pc:docMkLst>
        <pc:docMk/>
      </pc:docMkLst>
      <pc:sldChg chg="modSp mod">
        <pc:chgData name="caroline savage" userId="91448213-4f62-4282-a05a-3f8111c1e7bd" providerId="ADAL" clId="{12E5D5C5-97B3-48EB-B13D-D18563E280BB}" dt="2026-08-26T15:10:52.311" v="477" actId="20577"/>
        <pc:sldMkLst>
          <pc:docMk/>
          <pc:sldMk cId="3730796922" sldId="335"/>
        </pc:sldMkLst>
        <pc:spChg chg="mod">
          <ac:chgData name="caroline savage" userId="91448213-4f62-4282-a05a-3f8111c1e7bd" providerId="ADAL" clId="{12E5D5C5-97B3-48EB-B13D-D18563E280BB}" dt="2026-08-26T15:10:52.311" v="477" actId="20577"/>
          <ac:spMkLst>
            <pc:docMk/>
            <pc:sldMk cId="3730796922" sldId="335"/>
            <ac:spMk id="7" creationId="{DB142415-AEBD-ACB9-5CC6-23CC159072AF}"/>
          </ac:spMkLst>
        </pc:spChg>
        <pc:spChg chg="mod">
          <ac:chgData name="caroline savage" userId="91448213-4f62-4282-a05a-3f8111c1e7bd" providerId="ADAL" clId="{12E5D5C5-97B3-48EB-B13D-D18563E280BB}" dt="2026-08-26T14:53:55.161" v="429" actId="20577"/>
          <ac:spMkLst>
            <pc:docMk/>
            <pc:sldMk cId="3730796922" sldId="335"/>
            <ac:spMk id="11" creationId="{47624A27-25FD-5515-F424-E7339FE37837}"/>
          </ac:spMkLst>
        </pc:spChg>
      </pc:sldChg>
      <pc:sldChg chg="modSp">
        <pc:chgData name="caroline savage" userId="91448213-4f62-4282-a05a-3f8111c1e7bd" providerId="ADAL" clId="{12E5D5C5-97B3-48EB-B13D-D18563E280BB}" dt="2026-08-26T14:35:35.912" v="321"/>
        <pc:sldMkLst>
          <pc:docMk/>
          <pc:sldMk cId="3101187471" sldId="338"/>
        </pc:sldMkLst>
        <pc:spChg chg="mod">
          <ac:chgData name="caroline savage" userId="91448213-4f62-4282-a05a-3f8111c1e7bd" providerId="ADAL" clId="{12E5D5C5-97B3-48EB-B13D-D18563E280BB}" dt="2026-08-26T14:35:35.912" v="321"/>
          <ac:spMkLst>
            <pc:docMk/>
            <pc:sldMk cId="3101187471" sldId="338"/>
            <ac:spMk id="5" creationId="{3797ABFA-DAB7-9613-394A-E9B024961208}"/>
          </ac:spMkLst>
        </pc:spChg>
      </pc:sldChg>
      <pc:sldChg chg="modSp mod">
        <pc:chgData name="caroline savage" userId="91448213-4f62-4282-a05a-3f8111c1e7bd" providerId="ADAL" clId="{12E5D5C5-97B3-48EB-B13D-D18563E280BB}" dt="2026-08-26T15:05:30.239" v="453" actId="20577"/>
        <pc:sldMkLst>
          <pc:docMk/>
          <pc:sldMk cId="3244600674" sldId="339"/>
        </pc:sldMkLst>
        <pc:spChg chg="mod">
          <ac:chgData name="caroline savage" userId="91448213-4f62-4282-a05a-3f8111c1e7bd" providerId="ADAL" clId="{12E5D5C5-97B3-48EB-B13D-D18563E280BB}" dt="2026-08-26T14:38:24.769" v="422" actId="6549"/>
          <ac:spMkLst>
            <pc:docMk/>
            <pc:sldMk cId="3244600674" sldId="339"/>
            <ac:spMk id="7" creationId="{61E0FAA5-4110-36C1-032B-80A2B304ACAF}"/>
          </ac:spMkLst>
        </pc:spChg>
        <pc:spChg chg="mod">
          <ac:chgData name="caroline savage" userId="91448213-4f62-4282-a05a-3f8111c1e7bd" providerId="ADAL" clId="{12E5D5C5-97B3-48EB-B13D-D18563E280BB}" dt="2026-08-26T15:05:30.239" v="453" actId="20577"/>
          <ac:spMkLst>
            <pc:docMk/>
            <pc:sldMk cId="3244600674" sldId="339"/>
            <ac:spMk id="10" creationId="{71BE7E4A-3952-AEC8-98C8-C7C8F037FB56}"/>
          </ac:spMkLst>
        </pc:spChg>
      </pc:sldChg>
      <pc:sldChg chg="modSp mod">
        <pc:chgData name="caroline savage" userId="91448213-4f62-4282-a05a-3f8111c1e7bd" providerId="ADAL" clId="{12E5D5C5-97B3-48EB-B13D-D18563E280BB}" dt="2026-08-26T14:53:02.364" v="427" actId="6549"/>
        <pc:sldMkLst>
          <pc:docMk/>
          <pc:sldMk cId="462679577" sldId="360"/>
        </pc:sldMkLst>
        <pc:spChg chg="mod">
          <ac:chgData name="caroline savage" userId="91448213-4f62-4282-a05a-3f8111c1e7bd" providerId="ADAL" clId="{12E5D5C5-97B3-48EB-B13D-D18563E280BB}" dt="2026-08-26T14:53:02.364" v="427" actId="6549"/>
          <ac:spMkLst>
            <pc:docMk/>
            <pc:sldMk cId="462679577" sldId="360"/>
            <ac:spMk id="3" creationId="{FCBC2F13-6120-B3B1-D8C6-492868C999A7}"/>
          </ac:spMkLst>
        </pc:spChg>
        <pc:spChg chg="mod">
          <ac:chgData name="caroline savage" userId="91448213-4f62-4282-a05a-3f8111c1e7bd" providerId="ADAL" clId="{12E5D5C5-97B3-48EB-B13D-D18563E280BB}" dt="2026-08-26T14:18:43.121" v="7" actId="20577"/>
          <ac:spMkLst>
            <pc:docMk/>
            <pc:sldMk cId="462679577" sldId="360"/>
            <ac:spMk id="14" creationId="{A2F59F78-05BF-562A-F3AD-53B8814417EE}"/>
          </ac:spMkLst>
        </pc:spChg>
      </pc:sldChg>
      <pc:sldChg chg="modSp mod">
        <pc:chgData name="caroline savage" userId="91448213-4f62-4282-a05a-3f8111c1e7bd" providerId="ADAL" clId="{12E5D5C5-97B3-48EB-B13D-D18563E280BB}" dt="2026-08-26T14:37:58.888" v="405" actId="20577"/>
        <pc:sldMkLst>
          <pc:docMk/>
          <pc:sldMk cId="2098505776" sldId="361"/>
        </pc:sldMkLst>
        <pc:spChg chg="mod">
          <ac:chgData name="caroline savage" userId="91448213-4f62-4282-a05a-3f8111c1e7bd" providerId="ADAL" clId="{12E5D5C5-97B3-48EB-B13D-D18563E280BB}" dt="2026-08-26T14:35:28.799" v="320" actId="5793"/>
          <ac:spMkLst>
            <pc:docMk/>
            <pc:sldMk cId="2098505776" sldId="361"/>
            <ac:spMk id="2" creationId="{0C088CA5-25ED-25B8-0604-F703B959ED40}"/>
          </ac:spMkLst>
        </pc:spChg>
        <pc:spChg chg="mod">
          <ac:chgData name="caroline savage" userId="91448213-4f62-4282-a05a-3f8111c1e7bd" providerId="ADAL" clId="{12E5D5C5-97B3-48EB-B13D-D18563E280BB}" dt="2026-08-26T14:37:58.888" v="405" actId="20577"/>
          <ac:spMkLst>
            <pc:docMk/>
            <pc:sldMk cId="2098505776" sldId="361"/>
            <ac:spMk id="14" creationId="{AE1E9F70-1DF9-3AB6-E680-665F46853200}"/>
          </ac:spMkLst>
        </pc:spChg>
      </pc:sldChg>
      <pc:sldChg chg="modSp mod modCm">
        <pc:chgData name="caroline savage" userId="91448213-4f62-4282-a05a-3f8111c1e7bd" providerId="ADAL" clId="{12E5D5C5-97B3-48EB-B13D-D18563E280BB}" dt="2026-08-26T15:16:13.374" v="639"/>
        <pc:sldMkLst>
          <pc:docMk/>
          <pc:sldMk cId="2829906989" sldId="383"/>
        </pc:sldMkLst>
        <pc:spChg chg="mod">
          <ac:chgData name="caroline savage" userId="91448213-4f62-4282-a05a-3f8111c1e7bd" providerId="ADAL" clId="{12E5D5C5-97B3-48EB-B13D-D18563E280BB}" dt="2026-08-26T15:14:24.957" v="614" actId="255"/>
          <ac:spMkLst>
            <pc:docMk/>
            <pc:sldMk cId="2829906989" sldId="383"/>
            <ac:spMk id="7" creationId="{C0A5B954-9F93-630F-5A0A-A2C175F09AFE}"/>
          </ac:spMkLst>
        </pc:spChg>
        <pc:spChg chg="mod">
          <ac:chgData name="caroline savage" userId="91448213-4f62-4282-a05a-3f8111c1e7bd" providerId="ADAL" clId="{12E5D5C5-97B3-48EB-B13D-D18563E280BB}" dt="2026-08-26T15:16:13.374" v="639"/>
          <ac:spMkLst>
            <pc:docMk/>
            <pc:sldMk cId="2829906989" sldId="383"/>
            <ac:spMk id="9" creationId="{6D2E4116-70D4-1F1A-EC07-063521CE77FD}"/>
          </ac:spMkLst>
        </pc:spChg>
        <pc:graphicFrameChg chg="mod">
          <ac:chgData name="caroline savage" userId="91448213-4f62-4282-a05a-3f8111c1e7bd" providerId="ADAL" clId="{12E5D5C5-97B3-48EB-B13D-D18563E280BB}" dt="2026-08-26T15:13:11.390" v="543" actId="20577"/>
          <ac:graphicFrameMkLst>
            <pc:docMk/>
            <pc:sldMk cId="2829906989" sldId="383"/>
            <ac:graphicFrameMk id="3" creationId="{4E07165A-AF93-1A17-D5D1-6E06E9317A93}"/>
          </ac:graphicFrameMkLst>
        </pc:graphicFrameChg>
        <pc:graphicFrameChg chg="mod">
          <ac:chgData name="caroline savage" userId="91448213-4f62-4282-a05a-3f8111c1e7bd" providerId="ADAL" clId="{12E5D5C5-97B3-48EB-B13D-D18563E280BB}" dt="2026-08-26T15:15:29.760" v="638" actId="20577"/>
          <ac:graphicFrameMkLst>
            <pc:docMk/>
            <pc:sldMk cId="2829906989" sldId="383"/>
            <ac:graphicFrameMk id="5" creationId="{691AD59B-9452-2B67-D87D-86759B46F6B8}"/>
          </ac:graphicFrameMkLst>
        </pc:graphicFrameChg>
        <pc:extLst>
          <p:ext xmlns:p="http://schemas.openxmlformats.org/presentationml/2006/main" uri="{D6D511B9-2390-475A-947B-AFAB55BFBCF1}">
            <pc226:cmChg xmlns:pc226="http://schemas.microsoft.com/office/powerpoint/2022/06/main/command" chg="mod">
              <pc226:chgData name="caroline savage" userId="91448213-4f62-4282-a05a-3f8111c1e7bd" providerId="ADAL" clId="{12E5D5C5-97B3-48EB-B13D-D18563E280BB}" dt="2026-08-26T15:14:15.004" v="613" actId="20577"/>
              <pc2:cmMkLst xmlns:pc2="http://schemas.microsoft.com/office/powerpoint/2019/9/main/command">
                <pc:docMk/>
                <pc:sldMk cId="2829906989" sldId="383"/>
                <pc2:cmMk id="{93FB2ED1-B513-44E4-9C5A-9E297877D5E4}"/>
              </pc2:cmMkLst>
            </pc226:cmChg>
          </p:ext>
        </pc:extLst>
      </pc:sldChg>
      <pc:sldChg chg="modSp mod">
        <pc:chgData name="caroline savage" userId="91448213-4f62-4282-a05a-3f8111c1e7bd" providerId="ADAL" clId="{12E5D5C5-97B3-48EB-B13D-D18563E280BB}" dt="2026-08-26T14:17:20.431" v="0" actId="207"/>
        <pc:sldMkLst>
          <pc:docMk/>
          <pc:sldMk cId="773780304" sldId="392"/>
        </pc:sldMkLst>
        <pc:spChg chg="mod">
          <ac:chgData name="caroline savage" userId="91448213-4f62-4282-a05a-3f8111c1e7bd" providerId="ADAL" clId="{12E5D5C5-97B3-48EB-B13D-D18563E280BB}" dt="2026-08-26T14:17:20.431" v="0" actId="207"/>
          <ac:spMkLst>
            <pc:docMk/>
            <pc:sldMk cId="773780304" sldId="392"/>
            <ac:spMk id="13" creationId="{AB5F7F04-7F88-D15D-9522-74A54C148186}"/>
          </ac:spMkLst>
        </pc:spChg>
      </pc:sldChg>
      <pc:sldChg chg="modSp mod">
        <pc:chgData name="caroline savage" userId="91448213-4f62-4282-a05a-3f8111c1e7bd" providerId="ADAL" clId="{12E5D5C5-97B3-48EB-B13D-D18563E280BB}" dt="2026-08-26T14:33:52.360" v="308" actId="20577"/>
        <pc:sldMkLst>
          <pc:docMk/>
          <pc:sldMk cId="3671072281" sldId="395"/>
        </pc:sldMkLst>
        <pc:spChg chg="mod">
          <ac:chgData name="caroline savage" userId="91448213-4f62-4282-a05a-3f8111c1e7bd" providerId="ADAL" clId="{12E5D5C5-97B3-48EB-B13D-D18563E280BB}" dt="2026-08-26T14:33:52.360" v="308" actId="20577"/>
          <ac:spMkLst>
            <pc:docMk/>
            <pc:sldMk cId="3671072281" sldId="395"/>
            <ac:spMk id="7" creationId="{BC09824E-8341-A33E-01D7-A2B445D78DEB}"/>
          </ac:spMkLst>
        </pc:spChg>
      </pc:sldChg>
      <pc:sldChg chg="modSp mod">
        <pc:chgData name="caroline savage" userId="91448213-4f62-4282-a05a-3f8111c1e7bd" providerId="ADAL" clId="{12E5D5C5-97B3-48EB-B13D-D18563E280BB}" dt="2026-08-26T14:47:41.165" v="425" actId="207"/>
        <pc:sldMkLst>
          <pc:docMk/>
          <pc:sldMk cId="773780304" sldId="406"/>
        </pc:sldMkLst>
        <pc:spChg chg="mod">
          <ac:chgData name="caroline savage" userId="91448213-4f62-4282-a05a-3f8111c1e7bd" providerId="ADAL" clId="{12E5D5C5-97B3-48EB-B13D-D18563E280BB}" dt="2026-08-26T14:47:41.165" v="425" actId="207"/>
          <ac:spMkLst>
            <pc:docMk/>
            <pc:sldMk cId="773780304" sldId="406"/>
            <ac:spMk id="8" creationId="{23838B55-691B-071B-E85E-A6B74C8CCFBF}"/>
          </ac:spMkLst>
        </pc:spChg>
        <pc:spChg chg="mod">
          <ac:chgData name="caroline savage" userId="91448213-4f62-4282-a05a-3f8111c1e7bd" providerId="ADAL" clId="{12E5D5C5-97B3-48EB-B13D-D18563E280BB}" dt="2026-08-26T14:47:37.792" v="424" actId="207"/>
          <ac:spMkLst>
            <pc:docMk/>
            <pc:sldMk cId="773780304" sldId="406"/>
            <ac:spMk id="13" creationId="{AB5F7F04-7F88-D15D-9522-74A54C148186}"/>
          </ac:spMkLst>
        </pc:spChg>
      </pc:sldChg>
      <pc:sldChg chg="modSp mod">
        <pc:chgData name="caroline savage" userId="91448213-4f62-4282-a05a-3f8111c1e7bd" providerId="ADAL" clId="{12E5D5C5-97B3-48EB-B13D-D18563E280BB}" dt="2026-08-26T15:36:23.530" v="660" actId="13926"/>
        <pc:sldMkLst>
          <pc:docMk/>
          <pc:sldMk cId="462679577" sldId="407"/>
        </pc:sldMkLst>
        <pc:spChg chg="mod">
          <ac:chgData name="caroline savage" userId="91448213-4f62-4282-a05a-3f8111c1e7bd" providerId="ADAL" clId="{12E5D5C5-97B3-48EB-B13D-D18563E280BB}" dt="2026-08-26T15:36:23.530" v="660" actId="13926"/>
          <ac:spMkLst>
            <pc:docMk/>
            <pc:sldMk cId="462679577" sldId="407"/>
            <ac:spMk id="18" creationId="{82EF3A42-6B64-8B2E-25D1-F07C31127113}"/>
          </ac:spMkLst>
        </pc:spChg>
      </pc:sldChg>
      <pc:sldChg chg="modSp mod">
        <pc:chgData name="caroline savage" userId="91448213-4f62-4282-a05a-3f8111c1e7bd" providerId="ADAL" clId="{12E5D5C5-97B3-48EB-B13D-D18563E280BB}" dt="2026-08-26T15:36:28.682" v="661" actId="13926"/>
        <pc:sldMkLst>
          <pc:docMk/>
          <pc:sldMk cId="3671072281" sldId="408"/>
        </pc:sldMkLst>
        <pc:spChg chg="mod">
          <ac:chgData name="caroline savage" userId="91448213-4f62-4282-a05a-3f8111c1e7bd" providerId="ADAL" clId="{12E5D5C5-97B3-48EB-B13D-D18563E280BB}" dt="2026-08-26T15:36:28.682" v="661" actId="13926"/>
          <ac:spMkLst>
            <pc:docMk/>
            <pc:sldMk cId="3671072281" sldId="408"/>
            <ac:spMk id="10" creationId="{31D2A2A3-B757-517D-0EEB-CFF8BCE083EC}"/>
          </ac:spMkLst>
        </pc:spChg>
      </pc:sldChg>
      <pc:sldChg chg="modSp mod">
        <pc:chgData name="caroline savage" userId="91448213-4f62-4282-a05a-3f8111c1e7bd" providerId="ADAL" clId="{12E5D5C5-97B3-48EB-B13D-D18563E280BB}" dt="2026-08-26T15:36:34.403" v="662" actId="13926"/>
        <pc:sldMkLst>
          <pc:docMk/>
          <pc:sldMk cId="2098505776" sldId="410"/>
        </pc:sldMkLst>
        <pc:spChg chg="mod">
          <ac:chgData name="caroline savage" userId="91448213-4f62-4282-a05a-3f8111c1e7bd" providerId="ADAL" clId="{12E5D5C5-97B3-48EB-B13D-D18563E280BB}" dt="2026-08-26T15:36:34.403" v="662" actId="13926"/>
          <ac:spMkLst>
            <pc:docMk/>
            <pc:sldMk cId="2098505776" sldId="410"/>
            <ac:spMk id="9" creationId="{A4FB1130-BCFB-3C1C-9337-1C32B50E7053}"/>
          </ac:spMkLst>
        </pc:spChg>
      </pc:sldChg>
      <pc:sldChg chg="modSp mod">
        <pc:chgData name="caroline savage" userId="91448213-4f62-4282-a05a-3f8111c1e7bd" providerId="ADAL" clId="{12E5D5C5-97B3-48EB-B13D-D18563E280BB}" dt="2026-08-26T15:31:46.541" v="657" actId="113"/>
        <pc:sldMkLst>
          <pc:docMk/>
          <pc:sldMk cId="3730796922" sldId="413"/>
        </pc:sldMkLst>
        <pc:spChg chg="mod">
          <ac:chgData name="caroline savage" userId="91448213-4f62-4282-a05a-3f8111c1e7bd" providerId="ADAL" clId="{12E5D5C5-97B3-48EB-B13D-D18563E280BB}" dt="2026-08-26T15:31:46.541" v="657" actId="113"/>
          <ac:spMkLst>
            <pc:docMk/>
            <pc:sldMk cId="3730796922" sldId="413"/>
            <ac:spMk id="11" creationId="{801E2EBE-426A-43AC-9728-CAF8E8CF34CF}"/>
          </ac:spMkLst>
        </pc:spChg>
      </pc:sldChg>
      <pc:sldChg chg="modSp mod">
        <pc:chgData name="caroline savage" userId="91448213-4f62-4282-a05a-3f8111c1e7bd" providerId="ADAL" clId="{12E5D5C5-97B3-48EB-B13D-D18563E280BB}" dt="2026-08-26T15:36:42.987" v="664" actId="13926"/>
        <pc:sldMkLst>
          <pc:docMk/>
          <pc:sldMk cId="2829906989" sldId="414"/>
        </pc:sldMkLst>
        <pc:spChg chg="mod">
          <ac:chgData name="caroline savage" userId="91448213-4f62-4282-a05a-3f8111c1e7bd" providerId="ADAL" clId="{12E5D5C5-97B3-48EB-B13D-D18563E280BB}" dt="2026-08-26T15:36:39.806" v="663" actId="13926"/>
          <ac:spMkLst>
            <pc:docMk/>
            <pc:sldMk cId="2829906989" sldId="414"/>
            <ac:spMk id="7" creationId="{97032C23-8064-17B5-953E-5E68D3816649}"/>
          </ac:spMkLst>
        </pc:spChg>
        <pc:spChg chg="mod">
          <ac:chgData name="caroline savage" userId="91448213-4f62-4282-a05a-3f8111c1e7bd" providerId="ADAL" clId="{12E5D5C5-97B3-48EB-B13D-D18563E280BB}" dt="2026-08-26T15:36:42.987" v="664" actId="13926"/>
          <ac:spMkLst>
            <pc:docMk/>
            <pc:sldMk cId="2829906989" sldId="414"/>
            <ac:spMk id="9" creationId="{ABEE9D57-5A77-1445-C27D-92B520405E9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02588310969851"/>
          <c:y val="5.6500479633733573E-4"/>
          <c:w val="0.65320343035115047"/>
          <c:h val="0.9869297326427352"/>
        </c:manualLayout>
      </c:layout>
      <c:pieChart>
        <c:varyColors val="1"/>
        <c:ser>
          <c:idx val="0"/>
          <c:order val="0"/>
          <c:spPr>
            <a:solidFill>
              <a:srgbClr val="00249C"/>
            </a:solidFill>
          </c:spPr>
          <c:dPt>
            <c:idx val="0"/>
            <c:bubble3D val="0"/>
            <c:spPr>
              <a:solidFill>
                <a:srgbClr val="00249C"/>
              </a:solidFill>
              <a:ln w="19050">
                <a:solidFill>
                  <a:schemeClr val="lt1"/>
                </a:solidFill>
              </a:ln>
              <a:effectLst/>
            </c:spPr>
            <c:extLst>
              <c:ext xmlns:c16="http://schemas.microsoft.com/office/drawing/2014/chart" uri="{C3380CC4-5D6E-409C-BE32-E72D297353CC}">
                <c16:uniqueId val="{00000001-BA65-4EE1-8706-5F9AF75E9B6F}"/>
              </c:ext>
            </c:extLst>
          </c:dPt>
          <c:dPt>
            <c:idx val="1"/>
            <c:bubble3D val="0"/>
            <c:spPr>
              <a:solidFill>
                <a:srgbClr val="00249C"/>
              </a:solidFill>
              <a:ln w="19050">
                <a:solidFill>
                  <a:schemeClr val="lt1"/>
                </a:solidFill>
              </a:ln>
              <a:effectLst/>
            </c:spPr>
            <c:extLst>
              <c:ext xmlns:c16="http://schemas.microsoft.com/office/drawing/2014/chart" uri="{C3380CC4-5D6E-409C-BE32-E72D297353CC}">
                <c16:uniqueId val="{00000003-BA65-4EE1-8706-5F9AF75E9B6F}"/>
              </c:ext>
            </c:extLst>
          </c:dPt>
          <c:dPt>
            <c:idx val="2"/>
            <c:bubble3D val="0"/>
            <c:spPr>
              <a:solidFill>
                <a:srgbClr val="00249C"/>
              </a:solidFill>
              <a:ln w="19050">
                <a:solidFill>
                  <a:schemeClr val="lt1"/>
                </a:solidFill>
              </a:ln>
              <a:effectLst/>
            </c:spPr>
            <c:extLst>
              <c:ext xmlns:c16="http://schemas.microsoft.com/office/drawing/2014/chart" uri="{C3380CC4-5D6E-409C-BE32-E72D297353CC}">
                <c16:uniqueId val="{00000005-BA65-4EE1-8706-5F9AF75E9B6F}"/>
              </c:ext>
            </c:extLst>
          </c:dPt>
          <c:dPt>
            <c:idx val="3"/>
            <c:bubble3D val="0"/>
            <c:spPr>
              <a:solidFill>
                <a:srgbClr val="00249C"/>
              </a:solidFill>
              <a:ln w="19050">
                <a:solidFill>
                  <a:schemeClr val="lt1"/>
                </a:solidFill>
              </a:ln>
              <a:effectLst/>
            </c:spPr>
            <c:extLst>
              <c:ext xmlns:c16="http://schemas.microsoft.com/office/drawing/2014/chart" uri="{C3380CC4-5D6E-409C-BE32-E72D297353CC}">
                <c16:uniqueId val="{00000007-BA65-4EE1-8706-5F9AF75E9B6F}"/>
              </c:ext>
            </c:extLst>
          </c:dPt>
          <c:dPt>
            <c:idx val="4"/>
            <c:bubble3D val="0"/>
            <c:spPr>
              <a:solidFill>
                <a:srgbClr val="00249C"/>
              </a:solidFill>
              <a:ln w="19050">
                <a:solidFill>
                  <a:schemeClr val="lt1"/>
                </a:solidFill>
              </a:ln>
              <a:effectLst/>
            </c:spPr>
            <c:extLst>
              <c:ext xmlns:c16="http://schemas.microsoft.com/office/drawing/2014/chart" uri="{C3380CC4-5D6E-409C-BE32-E72D297353CC}">
                <c16:uniqueId val="{00000009-BA65-4EE1-8706-5F9AF75E9B6F}"/>
              </c:ext>
            </c:extLst>
          </c:dPt>
          <c:dLbls>
            <c:dLbl>
              <c:idx val="0"/>
              <c:layout>
                <c:manualLayout>
                  <c:x val="-0.16487988540823936"/>
                  <c:y val="0.2104383897619319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A65-4EE1-8706-5F9AF75E9B6F}"/>
                </c:ext>
              </c:extLst>
            </c:dLbl>
            <c:dLbl>
              <c:idx val="1"/>
              <c:layout>
                <c:manualLayout>
                  <c:x val="-0.23891016132627421"/>
                  <c:y val="-0.12164657640375343"/>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65-4EE1-8706-5F9AF75E9B6F}"/>
                </c:ext>
              </c:extLst>
            </c:dLbl>
            <c:dLbl>
              <c:idx val="2"/>
              <c:layout>
                <c:manualLayout>
                  <c:x val="-9.4551292259325348E-2"/>
                  <c:y val="-9.1621826068713233E-2"/>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10964754195876607"/>
                      <c:h val="0.1950950570342205"/>
                    </c:manualLayout>
                  </c15:layout>
                </c:ext>
                <c:ext xmlns:c16="http://schemas.microsoft.com/office/drawing/2014/chart" uri="{C3380CC4-5D6E-409C-BE32-E72D297353CC}">
                  <c16:uniqueId val="{00000005-BA65-4EE1-8706-5F9AF75E9B6F}"/>
                </c:ext>
              </c:extLst>
            </c:dLbl>
            <c:dLbl>
              <c:idx val="3"/>
              <c:layout>
                <c:manualLayout>
                  <c:x val="0.17089371763214278"/>
                  <c:y val="-0.2634515550235702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A65-4EE1-8706-5F9AF75E9B6F}"/>
                </c:ext>
              </c:extLst>
            </c:dLbl>
            <c:dLbl>
              <c:idx val="4"/>
              <c:layout>
                <c:manualLayout>
                  <c:x val="0.17808724396757206"/>
                  <c:y val="0.22657342216650292"/>
                </c:manualLayout>
              </c:layout>
              <c:tx>
                <c:rich>
                  <a:bodyPr/>
                  <a:lstStyle/>
                  <a:p>
                    <a:fld id="{54EFDA80-51B9-4B77-AD05-126701107E30}" type="CATEGORYNAME">
                      <a:rPr lang="en-US" b="0"/>
                      <a:pPr/>
                      <a:t>[CATEGORY NAME]</a:t>
                    </a:fld>
                    <a:endParaRPr lang="en-US"/>
                  </a:p>
                </c:rich>
              </c:tx>
              <c:showLegendKey val="0"/>
              <c:showVal val="0"/>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BA65-4EE1-8706-5F9AF75E9B6F}"/>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Sheet1!$B$3:$B$7</c:f>
              <c:strCache>
                <c:ptCount val="5"/>
                <c:pt idx="0">
                  <c:v>1. Leadership, Accountability &amp; Engagement (20%)</c:v>
                </c:pt>
                <c:pt idx="1">
                  <c:v>2. Risk Management &amp; Planning (20%)</c:v>
                </c:pt>
                <c:pt idx="2">
                  <c:v>3. Training &amp; Awareness (10%)</c:v>
                </c:pt>
                <c:pt idx="3">
                  <c:v>4. Operational Control &amp; Emergency Preparedness (25%)</c:v>
                </c:pt>
                <c:pt idx="4">
                  <c:v>5. Performance Evaluation &amp; Continual Improvement (25%)</c:v>
                </c:pt>
              </c:strCache>
            </c:strRef>
          </c:cat>
          <c:val>
            <c:numRef>
              <c:f>Sheet1!$C$3:$C$7</c:f>
              <c:numCache>
                <c:formatCode>General</c:formatCode>
                <c:ptCount val="5"/>
                <c:pt idx="0">
                  <c:v>20</c:v>
                </c:pt>
                <c:pt idx="1">
                  <c:v>20</c:v>
                </c:pt>
                <c:pt idx="2">
                  <c:v>10</c:v>
                </c:pt>
                <c:pt idx="3">
                  <c:v>25</c:v>
                </c:pt>
                <c:pt idx="4">
                  <c:v>25</c:v>
                </c:pt>
              </c:numCache>
            </c:numRef>
          </c:val>
          <c:extLst>
            <c:ext xmlns:c16="http://schemas.microsoft.com/office/drawing/2014/chart" uri="{C3380CC4-5D6E-409C-BE32-E72D297353CC}">
              <c16:uniqueId val="{0000000A-BA65-4EE1-8706-5F9AF75E9B6F}"/>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sz="1200" b="1" dirty="0"/>
              <a:t>KPI 3 - % Authority Compliance Rate</a:t>
            </a:r>
          </a:p>
        </c:rich>
      </c:tx>
      <c:layout>
        <c:manualLayout>
          <c:xMode val="edge"/>
          <c:yMode val="edge"/>
          <c:x val="0.12890324142473533"/>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26D1-4870-831B-A4A7B63134FD}"/>
              </c:ext>
            </c:extLst>
          </c:dPt>
          <c:dPt>
            <c:idx val="1"/>
            <c:invertIfNegative val="0"/>
            <c:bubble3D val="0"/>
            <c:extLst>
              <c:ext xmlns:c16="http://schemas.microsoft.com/office/drawing/2014/chart" uri="{C3380CC4-5D6E-409C-BE32-E72D297353CC}">
                <c16:uniqueId val="{00000001-26D1-4870-831B-A4A7B63134FD}"/>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034155346098312"/>
                  <c:y val="-2.89115638515302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689-472A-BC5F-61E0DCA1A91F}"/>
                </c:ext>
              </c:extLst>
            </c:dLbl>
            <c:dLbl>
              <c:idx val="1"/>
              <c:delete val="1"/>
              <c:extLst>
                <c:ext xmlns:c15="http://schemas.microsoft.com/office/drawing/2012/chart" uri="{CE6537A1-D6FC-4f65-9D91-7224C49458BB}"/>
                <c:ext xmlns:c16="http://schemas.microsoft.com/office/drawing/2014/chart" uri="{C3380CC4-5D6E-409C-BE32-E72D297353CC}">
                  <c16:uniqueId val="{00000006-8689-472A-BC5F-61E0DCA1A91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933319006553132"/>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b="1" dirty="0">
                <a:solidFill>
                  <a:srgbClr val="00249C"/>
                </a:solidFill>
              </a:rPr>
              <a:t>KPI 4 - % of HS Committee Meetings Conducted as per TORs</a:t>
            </a:r>
          </a:p>
        </c:rich>
      </c:tx>
      <c:layout>
        <c:manualLayout>
          <c:xMode val="edge"/>
          <c:yMode val="edge"/>
          <c:x val="0.11658407689025348"/>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1"/>
            <c:bubble3D val="0"/>
            <c:spPr>
              <a:solidFill>
                <a:srgbClr val="00249C"/>
              </a:solidFill>
            </c:spPr>
            <c:extLst>
              <c:ext xmlns:c16="http://schemas.microsoft.com/office/drawing/2014/chart" uri="{C3380CC4-5D6E-409C-BE32-E72D297353CC}">
                <c16:uniqueId val="{00000001-ABDE-4EA8-8FF6-525476CEC6D4}"/>
              </c:ext>
            </c:extLst>
          </c:dPt>
          <c:dPt>
            <c:idx val="1"/>
            <c:invertIfNegative val="1"/>
            <c:bubble3D val="0"/>
            <c:spPr>
              <a:solidFill>
                <a:srgbClr val="00249C"/>
              </a:solidFill>
            </c:spPr>
            <c:extLst>
              <c:ext xmlns:c16="http://schemas.microsoft.com/office/drawing/2014/chart" uri="{C3380CC4-5D6E-409C-BE32-E72D297353CC}">
                <c16:uniqueId val="{00000003-ABDE-4EA8-8FF6-525476CEC6D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layout>
                <c:manualLayout>
                  <c:x val="0.12754783430060757"/>
                  <c:y val="-3.8111700291989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E09-46F3-846C-563A8AA1EC2D}"/>
                </c:ext>
              </c:extLst>
            </c:dLbl>
            <c:dLbl>
              <c:idx val="1"/>
              <c:delete val="1"/>
              <c:extLst>
                <c:ext xmlns:c15="http://schemas.microsoft.com/office/drawing/2012/chart" uri="{CE6537A1-D6FC-4f65-9D91-7224C49458BB}"/>
                <c:ext xmlns:c16="http://schemas.microsoft.com/office/drawing/2014/chart" uri="{C3380CC4-5D6E-409C-BE32-E72D297353CC}">
                  <c16:uniqueId val="{00000006-4E09-46F3-846C-563A8AA1EC2D}"/>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2343048308259396"/>
              <c:y val="0.42249885000409404"/>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5 - % of Committee Meetings &amp; Management Review &amp; Committee Meeting Actions Closed</a:t>
            </a:r>
          </a:p>
        </c:rich>
      </c:tx>
      <c:layout>
        <c:manualLayout>
          <c:xMode val="edge"/>
          <c:yMode val="edge"/>
          <c:x val="9.0244213549963093E-2"/>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0"/>
            <c:bubble3D val="0"/>
            <c:spPr>
              <a:solidFill>
                <a:srgbClr val="00249C"/>
              </a:solidFill>
            </c:spPr>
            <c:extLst>
              <c:ext xmlns:c16="http://schemas.microsoft.com/office/drawing/2014/chart" uri="{C3380CC4-5D6E-409C-BE32-E72D297353CC}">
                <c16:uniqueId val="{00000000-3284-4EA8-841A-A274FBB17FC9}"/>
              </c:ext>
            </c:extLst>
          </c:dPt>
          <c:dPt>
            <c:idx val="1"/>
            <c:invertIfNegative val="0"/>
            <c:bubble3D val="0"/>
            <c:spPr>
              <a:solidFill>
                <a:srgbClr val="00249C"/>
              </a:solidFill>
            </c:spPr>
            <c:extLst>
              <c:ext xmlns:c16="http://schemas.microsoft.com/office/drawing/2014/chart" uri="{C3380CC4-5D6E-409C-BE32-E72D297353CC}">
                <c16:uniqueId val="{00000001-3284-4EA8-841A-A274FBB17FC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layout>
                <c:manualLayout>
                  <c:x val="0.14320041174816542"/>
                  <c:y val="-3.8111700291989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EEA-4987-B2D1-83DC6A1B67DA}"/>
                </c:ext>
              </c:extLst>
            </c:dLbl>
            <c:dLbl>
              <c:idx val="1"/>
              <c:delete val="1"/>
              <c:extLst>
                <c:ext xmlns:c15="http://schemas.microsoft.com/office/drawing/2012/chart" uri="{CE6537A1-D6FC-4f65-9D91-7224C49458BB}"/>
                <c:ext xmlns:c16="http://schemas.microsoft.com/office/drawing/2014/chart" uri="{C3380CC4-5D6E-409C-BE32-E72D297353CC}">
                  <c16:uniqueId val="{00000008-8EEA-4987-B2D1-83DC6A1B67DA}"/>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c:v>
                </c:pt>
                <c:pt idx="1">
                  <c:v>0</c:v>
                </c:pt>
              </c:numCache>
            </c:numRef>
          </c:val>
          <c:smooth val="0"/>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3057023409367839"/>
              <c:y val="0.32449733496754929"/>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6 - % of Implemented Control Measures</a:t>
            </a: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B144-443F-8F2B-9C378D9AF99F}"/>
              </c:ext>
            </c:extLst>
          </c:dPt>
          <c:dPt>
            <c:idx val="1"/>
            <c:invertIfNegative val="0"/>
            <c:bubble3D val="0"/>
            <c:extLst>
              <c:ext xmlns:c16="http://schemas.microsoft.com/office/drawing/2014/chart" uri="{C3380CC4-5D6E-409C-BE32-E72D297353CC}">
                <c16:uniqueId val="{00000003-B144-443F-8F2B-9C378D9AF99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5.19541723291259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52-49B5-8CBD-0834DD513762}"/>
                </c:ext>
              </c:extLst>
            </c:dLbl>
            <c:dLbl>
              <c:idx val="1"/>
              <c:delete val="1"/>
              <c:extLst>
                <c:ext xmlns:c15="http://schemas.microsoft.com/office/drawing/2012/chart" uri="{CE6537A1-D6FC-4f65-9D91-7224C49458BB}"/>
                <c:ext xmlns:c16="http://schemas.microsoft.com/office/drawing/2014/chart" uri="{C3380CC4-5D6E-409C-BE32-E72D297353CC}">
                  <c16:uniqueId val="{00000006-7752-49B5-8CBD-0834DD513762}"/>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41788008977026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b="1" dirty="0">
                <a:solidFill>
                  <a:schemeClr val="tx1"/>
                </a:solidFill>
              </a:rPr>
              <a:t>KPI 9 - % of Planned H&amp;S Training Hours Delivered</a:t>
            </a: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CC3F-4460-A19C-432B774282D0}"/>
              </c:ext>
            </c:extLst>
          </c:dPt>
          <c:dPt>
            <c:idx val="1"/>
            <c:invertIfNegative val="0"/>
            <c:bubble3D val="0"/>
            <c:extLst>
              <c:ext xmlns:c16="http://schemas.microsoft.com/office/drawing/2014/chart" uri="{C3380CC4-5D6E-409C-BE32-E72D297353CC}">
                <c16:uniqueId val="{00000001-CC3F-4460-A19C-432B774282D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2-CC3F-4460-A19C-432B774282D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5.19541723291259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C3F-4460-A19C-432B774282D0}"/>
                </c:ext>
              </c:extLst>
            </c:dLbl>
            <c:dLbl>
              <c:idx val="1"/>
              <c:delete val="1"/>
              <c:extLst>
                <c:ext xmlns:c15="http://schemas.microsoft.com/office/drawing/2012/chart" uri="{CE6537A1-D6FC-4f65-9D91-7224C49458BB}"/>
                <c:ext xmlns:c16="http://schemas.microsoft.com/office/drawing/2014/chart" uri="{C3380CC4-5D6E-409C-BE32-E72D297353CC}">
                  <c16:uniqueId val="{00000004-CC3F-4460-A19C-432B774282D0}"/>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5-CC3F-4460-A19C-432B774282D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41788008977026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12 - % of Emergency Drills Conducted on Schedule</a:t>
            </a:r>
          </a:p>
        </c:rich>
      </c:tx>
      <c:layout>
        <c:manualLayout>
          <c:xMode val="edge"/>
          <c:yMode val="edge"/>
          <c:x val="0.1247909075326228"/>
          <c:y val="0"/>
        </c:manualLayout>
      </c:layout>
      <c:overlay val="0"/>
      <c:spPr>
        <a:noFill/>
        <a:ln>
          <a:noFill/>
        </a:ln>
        <a:effectLst/>
      </c:spPr>
    </c:title>
    <c:autoTitleDeleted val="0"/>
    <c:plotArea>
      <c:layout>
        <c:manualLayout>
          <c:layoutTarget val="inner"/>
          <c:xMode val="edge"/>
          <c:yMode val="edge"/>
          <c:x val="0.1208080959678209"/>
          <c:y val="0.25938795561839489"/>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B7F5-43C8-985D-5A03B9A0F529}"/>
              </c:ext>
            </c:extLst>
          </c:dPt>
          <c:dPt>
            <c:idx val="1"/>
            <c:invertIfNegative val="0"/>
            <c:bubble3D val="0"/>
            <c:extLst>
              <c:ext xmlns:c16="http://schemas.microsoft.com/office/drawing/2014/chart" uri="{C3380CC4-5D6E-409C-BE32-E72D297353CC}">
                <c16:uniqueId val="{00000001-B7F5-43C8-985D-5A03B9A0F52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2-B7F5-43C8-985D-5A03B9A0F529}"/>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3707779640375084"/>
                  <c:y val="-4.62585021624484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7F5-43C8-985D-5A03B9A0F529}"/>
                </c:ext>
              </c:extLst>
            </c:dLbl>
            <c:dLbl>
              <c:idx val="1"/>
              <c:delete val="1"/>
              <c:extLst>
                <c:ext xmlns:c15="http://schemas.microsoft.com/office/drawing/2012/chart" uri="{CE6537A1-D6FC-4f65-9D91-7224C49458BB}"/>
                <c:ext xmlns:c16="http://schemas.microsoft.com/office/drawing/2014/chart" uri="{C3380CC4-5D6E-409C-BE32-E72D297353CC}">
                  <c16:uniqueId val="{00000004-B7F5-43C8-985D-5A03B9A0F52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c:v>
                </c:pt>
                <c:pt idx="1">
                  <c:v>0</c:v>
                </c:pt>
              </c:numCache>
            </c:numRef>
          </c:val>
          <c:smooth val="0"/>
          <c:extLst>
            <c:ext xmlns:c16="http://schemas.microsoft.com/office/drawing/2014/chart" uri="{C3380CC4-5D6E-409C-BE32-E72D297353CC}">
              <c16:uniqueId val="{00000005-B7F5-43C8-985D-5A03B9A0F529}"/>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042561961913755"/>
              <c:y val="0.3030746879030829"/>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t>KPI 11 - % of Compliance to Activities as per Set Health &amp; Safety Procedures</a:t>
            </a: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5EBC-4138-91F1-1E2D7DFAAE3C}"/>
              </c:ext>
            </c:extLst>
          </c:dPt>
          <c:dPt>
            <c:idx val="1"/>
            <c:invertIfNegative val="0"/>
            <c:bubble3D val="0"/>
            <c:extLst>
              <c:ext xmlns:c16="http://schemas.microsoft.com/office/drawing/2014/chart" uri="{C3380CC4-5D6E-409C-BE32-E72D297353CC}">
                <c16:uniqueId val="{00000001-5EBC-4138-91F1-1E2D7DFAAE3C}"/>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2-5EBC-4138-91F1-1E2D7DFAAE3C}"/>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5.19541723291259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BC-4138-91F1-1E2D7DFAAE3C}"/>
                </c:ext>
              </c:extLst>
            </c:dLbl>
            <c:dLbl>
              <c:idx val="1"/>
              <c:delete val="1"/>
              <c:extLst>
                <c:ext xmlns:c15="http://schemas.microsoft.com/office/drawing/2012/chart" uri="{CE6537A1-D6FC-4f65-9D91-7224C49458BB}"/>
                <c:ext xmlns:c16="http://schemas.microsoft.com/office/drawing/2014/chart" uri="{C3380CC4-5D6E-409C-BE32-E72D297353CC}">
                  <c16:uniqueId val="{00000004-5EBC-4138-91F1-1E2D7DFAAE3C}"/>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5-5EBC-4138-91F1-1E2D7DFAAE3C}"/>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41788008977026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13 - % Compliance to PTW (Permit-to-Work)</a:t>
            </a:r>
          </a:p>
        </c:rich>
      </c:tx>
      <c:layout>
        <c:manualLayout>
          <c:xMode val="edge"/>
          <c:yMode val="edge"/>
          <c:x val="0.1841260108331035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5823-41F5-B8BC-C84EEAE529E0}"/>
              </c:ext>
            </c:extLst>
          </c:dPt>
          <c:dPt>
            <c:idx val="1"/>
            <c:invertIfNegative val="0"/>
            <c:bubble3D val="0"/>
            <c:spPr>
              <a:solidFill>
                <a:srgbClr val="00249C"/>
              </a:solidFill>
              <a:ln>
                <a:noFill/>
              </a:ln>
              <a:effectLst/>
            </c:spPr>
            <c:extLst>
              <c:ext xmlns:c16="http://schemas.microsoft.com/office/drawing/2014/chart" uri="{C3380CC4-5D6E-409C-BE32-E72D297353CC}">
                <c16:uniqueId val="{00000003-5823-41F5-B8BC-C84EEAE529E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3.24946022042963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0DC-48EF-8A2E-ED135A1863AC}"/>
                </c:ext>
              </c:extLst>
            </c:dLbl>
            <c:dLbl>
              <c:idx val="1"/>
              <c:delete val="1"/>
              <c:extLst>
                <c:ext xmlns:c15="http://schemas.microsoft.com/office/drawing/2012/chart" uri="{CE6537A1-D6FC-4f65-9D91-7224C49458BB}"/>
                <c:ext xmlns:c16="http://schemas.microsoft.com/office/drawing/2014/chart" uri="{C3380CC4-5D6E-409C-BE32-E72D297353CC}">
                  <c16:uniqueId val="{00000006-E0DC-48EF-8A2E-ED135A1863AC}"/>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2166260514598995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14 - % Compliance to Onsite Safety Induction</a:t>
            </a:r>
          </a:p>
        </c:rich>
      </c:tx>
      <c:layout>
        <c:manualLayout>
          <c:xMode val="edge"/>
          <c:yMode val="edge"/>
          <c:x val="0.1770110204483374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8078-459C-87A1-80B8C52926CF}"/>
              </c:ext>
            </c:extLst>
          </c:dPt>
          <c:dPt>
            <c:idx val="1"/>
            <c:invertIfNegative val="0"/>
            <c:bubble3D val="0"/>
            <c:spPr>
              <a:solidFill>
                <a:srgbClr val="00249C"/>
              </a:solidFill>
              <a:ln>
                <a:noFill/>
              </a:ln>
              <a:effectLst/>
            </c:spPr>
            <c:extLst>
              <c:ext xmlns:c16="http://schemas.microsoft.com/office/drawing/2014/chart" uri="{C3380CC4-5D6E-409C-BE32-E72D297353CC}">
                <c16:uniqueId val="{00000003-8078-459C-87A1-80B8C52926C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360531051821529"/>
                  <c:y val="-3.71366882334815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116-4A86-8722-396C53191CA6}"/>
                </c:ext>
              </c:extLst>
            </c:dLbl>
            <c:dLbl>
              <c:idx val="1"/>
              <c:delete val="1"/>
              <c:extLst>
                <c:ext xmlns:c15="http://schemas.microsoft.com/office/drawing/2012/chart" uri="{CE6537A1-D6FC-4f65-9D91-7224C49458BB}"/>
                <c:ext xmlns:c16="http://schemas.microsoft.com/office/drawing/2014/chart" uri="{C3380CC4-5D6E-409C-BE32-E72D297353CC}">
                  <c16:uniqueId val="{00000006-C116-4A86-8722-396C53191CA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c:v>
                </c:pt>
                <c:pt idx="1">
                  <c:v>0</c:v>
                </c:pt>
              </c:numCache>
            </c:numRef>
          </c:val>
          <c:smooth val="0"/>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695313373360194"/>
              <c:y val="0.2166260514598995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15 - % of Findings Closed On Time</a:t>
            </a:r>
          </a:p>
        </c:rich>
      </c:tx>
      <c:layout>
        <c:manualLayout>
          <c:xMode val="edge"/>
          <c:yMode val="edge"/>
          <c:x val="0.15196155653970822"/>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C836-4C38-B3AF-DB14259D9935}"/>
              </c:ext>
            </c:extLst>
          </c:dPt>
          <c:dPt>
            <c:idx val="1"/>
            <c:invertIfNegative val="0"/>
            <c:bubble3D val="0"/>
            <c:spPr>
              <a:solidFill>
                <a:srgbClr val="00249C"/>
              </a:solidFill>
              <a:ln>
                <a:noFill/>
              </a:ln>
              <a:effectLst/>
            </c:spPr>
            <c:extLst>
              <c:ext xmlns:c16="http://schemas.microsoft.com/office/drawing/2014/chart" uri="{C3380CC4-5D6E-409C-BE32-E72D297353CC}">
                <c16:uniqueId val="{00000003-C836-4C38-B3AF-DB14259D9935}"/>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1</c:v>
                </c:pt>
              </c:numCache>
            </c:numRef>
          </c:val>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686906757544746"/>
                  <c:y val="-4.04761893921423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B3B-4B64-8B9D-12433493ED04}"/>
                </c:ext>
              </c:extLst>
            </c:dLbl>
            <c:dLbl>
              <c:idx val="1"/>
              <c:delete val="1"/>
              <c:extLst>
                <c:ext xmlns:c15="http://schemas.microsoft.com/office/drawing/2012/chart" uri="{CE6537A1-D6FC-4f65-9D91-7224C49458BB}"/>
                <c:ext xmlns:c16="http://schemas.microsoft.com/office/drawing/2014/chart" uri="{C3380CC4-5D6E-409C-BE32-E72D297353CC}">
                  <c16:uniqueId val="{00000006-1B3B-4B64-8B9D-12433493ED04}"/>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0.5</c:v>
                </c:pt>
                <c:pt idx="1">
                  <c:v>0.5</c:v>
                </c:pt>
              </c:numCache>
            </c:numRef>
          </c:val>
          <c:smooth val="0"/>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2620393898430711"/>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16 - % of Inspections Completed</a:t>
            </a:r>
          </a:p>
        </c:rich>
      </c:tx>
      <c:layout>
        <c:manualLayout>
          <c:xMode val="edge"/>
          <c:yMode val="edge"/>
          <c:x val="0.13443543813111616"/>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72E4-4828-BBFD-3DFE83236654}"/>
              </c:ext>
            </c:extLst>
          </c:dPt>
          <c:dPt>
            <c:idx val="1"/>
            <c:invertIfNegative val="0"/>
            <c:bubble3D val="0"/>
            <c:spPr>
              <a:solidFill>
                <a:srgbClr val="00249C"/>
              </a:solidFill>
              <a:ln>
                <a:noFill/>
              </a:ln>
              <a:effectLst/>
            </c:spPr>
            <c:extLst>
              <c:ext xmlns:c16="http://schemas.microsoft.com/office/drawing/2014/chart" uri="{C3380CC4-5D6E-409C-BE32-E72D297353CC}">
                <c16:uniqueId val="{00000003-72E4-4828-BBFD-3DFE8323665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013282463267957"/>
                  <c:y val="-4.62585021624483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529-433B-85C6-F1DB317FA4D6}"/>
                </c:ext>
              </c:extLst>
            </c:dLbl>
            <c:dLbl>
              <c:idx val="1"/>
              <c:delete val="1"/>
              <c:extLst>
                <c:ext xmlns:c15="http://schemas.microsoft.com/office/drawing/2012/chart" uri="{CE6537A1-D6FC-4f65-9D91-7224C49458BB}"/>
                <c:ext xmlns:c16="http://schemas.microsoft.com/office/drawing/2014/chart" uri="{C3380CC4-5D6E-409C-BE32-E72D297353CC}">
                  <c16:uniqueId val="{00000006-5529-433B-85C6-F1DB317FA4D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45919713270134621"/>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17 - % of Incident Notifications Reported On Time</a:t>
            </a:r>
          </a:p>
        </c:rich>
      </c:tx>
      <c:layout>
        <c:manualLayout>
          <c:xMode val="edge"/>
          <c:yMode val="edge"/>
          <c:x val="0.11661532459862856"/>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362C-40CF-B7B7-262DD162B280}"/>
              </c:ext>
            </c:extLst>
          </c:dPt>
          <c:dPt>
            <c:idx val="1"/>
            <c:invertIfNegative val="0"/>
            <c:bubble3D val="0"/>
            <c:spPr>
              <a:solidFill>
                <a:srgbClr val="00249C"/>
              </a:solidFill>
              <a:ln>
                <a:noFill/>
              </a:ln>
              <a:effectLst/>
            </c:spPr>
            <c:extLst>
              <c:ext xmlns:c16="http://schemas.microsoft.com/office/drawing/2014/chart" uri="{C3380CC4-5D6E-409C-BE32-E72D297353CC}">
                <c16:uniqueId val="{00000003-362C-40CF-B7B7-262DD162B280}"/>
              </c:ext>
            </c:extLst>
          </c:dPt>
          <c:dLbls>
            <c:dLbl>
              <c:idx val="0"/>
              <c:tx>
                <c:rich>
                  <a:bodyPr/>
                  <a:lstStyle/>
                  <a:p>
                    <a:r>
                      <a:rPr lang="en-US" dirty="0"/>
                      <a:t>79%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62C-40CF-B7B7-262DD162B280}"/>
                </c:ext>
              </c:extLst>
            </c:dLbl>
            <c:dLbl>
              <c:idx val="1"/>
              <c:tx>
                <c:rich>
                  <a:bodyPr/>
                  <a:lstStyle/>
                  <a:p>
                    <a:r>
                      <a:rPr lang="en-US" dirty="0"/>
                      <a:t>79%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62C-40CF-B7B7-262DD162B280}"/>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0.78260869565217395</c:v>
                </c:pt>
                <c:pt idx="1">
                  <c:v>0.8</c:v>
                </c:pt>
              </c:numCache>
            </c:numRef>
          </c:val>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992409580437605"/>
                  <c:y val="-3.46938766218363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40A-4066-B838-7DCA475252F2}"/>
                </c:ext>
              </c:extLst>
            </c:dLbl>
            <c:dLbl>
              <c:idx val="1"/>
              <c:delete val="1"/>
              <c:extLst>
                <c:ext xmlns:c15="http://schemas.microsoft.com/office/drawing/2012/chart" uri="{CE6537A1-D6FC-4f65-9D91-7224C49458BB}"/>
                <c:ext xmlns:c16="http://schemas.microsoft.com/office/drawing/2014/chart" uri="{C3380CC4-5D6E-409C-BE32-E72D297353CC}">
                  <c16:uniqueId val="{00000006-E40A-4066-B838-7DCA475252F2}"/>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0.79130434782608705</c:v>
                </c:pt>
                <c:pt idx="1">
                  <c:v>0.79130434782608705</c:v>
                </c:pt>
              </c:numCache>
            </c:numRef>
          </c:val>
          <c:smooth val="0"/>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042561961913755"/>
              <c:y val="0.59219032641838543"/>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18 - % of Investigations Completed On Time</a:t>
            </a:r>
          </a:p>
        </c:rich>
      </c:tx>
      <c:layout>
        <c:manualLayout>
          <c:xMode val="edge"/>
          <c:yMode val="edge"/>
          <c:x val="0.1539092742355163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3629-480D-8E60-04C4FB5D9ABF}"/>
              </c:ext>
            </c:extLst>
          </c:dPt>
          <c:dPt>
            <c:idx val="1"/>
            <c:invertIfNegative val="0"/>
            <c:bubble3D val="0"/>
            <c:spPr>
              <a:solidFill>
                <a:srgbClr val="00249C"/>
              </a:solidFill>
              <a:ln>
                <a:noFill/>
              </a:ln>
              <a:effectLst/>
            </c:spPr>
            <c:extLst>
              <c:ext xmlns:c16="http://schemas.microsoft.com/office/drawing/2014/chart" uri="{C3380CC4-5D6E-409C-BE32-E72D297353CC}">
                <c16:uniqueId val="{00000003-3629-480D-8E60-04C4FB5D9ABF}"/>
              </c:ext>
            </c:extLst>
          </c:dPt>
          <c:dLbls>
            <c:dLbl>
              <c:idx val="0"/>
              <c:tx>
                <c:rich>
                  <a:bodyPr/>
                  <a:lstStyle/>
                  <a:p>
                    <a:r>
                      <a:rPr lang="en-US" dirty="0"/>
                      <a:t>34%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629-480D-8E60-04C4FB5D9ABF}"/>
                </c:ext>
              </c:extLst>
            </c:dLbl>
            <c:dLbl>
              <c:idx val="1"/>
              <c:tx>
                <c:rich>
                  <a:bodyPr/>
                  <a:lstStyle/>
                  <a:p>
                    <a:r>
                      <a:rPr lang="en-US" dirty="0"/>
                      <a:t>68%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629-480D-8E60-04C4FB5D9AB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0.43478260869565216</c:v>
                </c:pt>
                <c:pt idx="1">
                  <c:v>0.66666666666666663</c:v>
                </c:pt>
              </c:numCache>
            </c:numRef>
          </c:val>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6318785286160822"/>
                  <c:y val="-5.20408149327544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47E-4568-8D59-6D5E6867F709}"/>
                </c:ext>
              </c:extLst>
            </c:dLbl>
            <c:dLbl>
              <c:idx val="1"/>
              <c:delete val="1"/>
              <c:extLst>
                <c:ext xmlns:c15="http://schemas.microsoft.com/office/drawing/2012/chart" uri="{CE6537A1-D6FC-4f65-9D91-7224C49458BB}"/>
                <c:ext xmlns:c16="http://schemas.microsoft.com/office/drawing/2014/chart" uri="{C3380CC4-5D6E-409C-BE32-E72D297353CC}">
                  <c16:uniqueId val="{00000006-647E-4568-8D59-6D5E6867F70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0.55072463768115942</c:v>
                </c:pt>
                <c:pt idx="1">
                  <c:v>0.55072463768115942</c:v>
                </c:pt>
              </c:numCache>
            </c:numRef>
          </c:val>
          <c:smooth val="0"/>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3021689079083403"/>
              <c:y val="0.4129386305388978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84398-E3D8-47CD-89AD-77C86836705F}" type="datetimeFigureOut">
              <a:rPr lang="en-US" smtClean="0"/>
              <a:t>14-Sep-26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65F12B-7EB0-406D-84EF-D640CC7DFF5A}" type="slidenum">
              <a:rPr lang="en-US" smtClean="0"/>
              <a:t>‹#›</a:t>
            </a:fld>
            <a:endParaRPr lang="en-US"/>
          </a:p>
        </p:txBody>
      </p:sp>
    </p:spTree>
    <p:extLst>
      <p:ext uri="{BB962C8B-B14F-4D97-AF65-F5344CB8AC3E}">
        <p14:creationId xmlns:p14="http://schemas.microsoft.com/office/powerpoint/2010/main" val="3557848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D515-7305-BB6F-A3A1-2164EC2B1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0415E-026B-9B08-EBD2-AEFA29D6C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8FCAD-AAE8-BAC7-7E35-6B1F5D18D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B3E538-4674-2218-9B8F-6880F3680875}"/>
              </a:ext>
            </a:extLst>
          </p:cNvPr>
          <p:cNvSpPr>
            <a:spLocks noGrp="1"/>
          </p:cNvSpPr>
          <p:nvPr>
            <p:ph type="sldNum" sz="quarter" idx="5"/>
          </p:nvPr>
        </p:nvSpPr>
        <p:spPr/>
        <p:txBody>
          <a:bodyPr/>
          <a:lstStyle/>
          <a:p>
            <a:fld id="{A665F12B-7EB0-406D-84EF-D640CC7DFF5A}" type="slidenum">
              <a:rPr lang="en-US" smtClean="0"/>
              <a:t>3</a:t>
            </a:fld>
            <a:endParaRPr lang="en-US"/>
          </a:p>
        </p:txBody>
      </p:sp>
    </p:spTree>
    <p:extLst>
      <p:ext uri="{BB962C8B-B14F-4D97-AF65-F5344CB8AC3E}">
        <p14:creationId xmlns:p14="http://schemas.microsoft.com/office/powerpoint/2010/main" val="3626578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5F12B-7EB0-406D-84EF-D640CC7DFF5A}" type="slidenum">
              <a:rPr lang="en-US" smtClean="0"/>
              <a:t>11</a:t>
            </a:fld>
            <a:endParaRPr lang="en-US"/>
          </a:p>
        </p:txBody>
      </p:sp>
    </p:spTree>
    <p:extLst>
      <p:ext uri="{BB962C8B-B14F-4D97-AF65-F5344CB8AC3E}">
        <p14:creationId xmlns:p14="http://schemas.microsoft.com/office/powerpoint/2010/main" val="22298891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vider Slides for Sess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70734C94-E5A8-F84D-A000-4D877B9CC8C2}"/>
              </a:ext>
            </a:extLst>
          </p:cNvPr>
          <p:cNvSpPr>
            <a:spLocks noGrp="1"/>
          </p:cNvSpPr>
          <p:nvPr>
            <p:ph type="ctrTitle" hasCustomPrompt="1"/>
          </p:nvPr>
        </p:nvSpPr>
        <p:spPr>
          <a:xfrm>
            <a:off x="957273" y="3713060"/>
            <a:ext cx="9143999" cy="1006475"/>
          </a:xfrm>
          <a:prstGeom prst="rect">
            <a:avLst/>
          </a:prstGeom>
        </p:spPr>
        <p:txBody>
          <a:bodyPr anchor="t" anchorCtr="0"/>
          <a:lstStyle>
            <a:lvl1pPr algn="l">
              <a:defRPr sz="4500" b="1">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Session title style</a:t>
            </a:r>
          </a:p>
        </p:txBody>
      </p:sp>
      <p:pic>
        <p:nvPicPr>
          <p:cNvPr id="25" name="Graphic 24">
            <a:extLst>
              <a:ext uri="{FF2B5EF4-FFF2-40B4-BE49-F238E27FC236}">
                <a16:creationId xmlns:a16="http://schemas.microsoft.com/office/drawing/2014/main" id="{4E4DC168-AD7A-524E-9D94-2B3F22C5AB1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26" name="Graphic 25">
            <a:extLst>
              <a:ext uri="{FF2B5EF4-FFF2-40B4-BE49-F238E27FC236}">
                <a16:creationId xmlns:a16="http://schemas.microsoft.com/office/drawing/2014/main" id="{8421EEAF-DF6B-B045-AEFE-F3CF6D659E5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28" name="Text Placeholder 27">
            <a:extLst>
              <a:ext uri="{FF2B5EF4-FFF2-40B4-BE49-F238E27FC236}">
                <a16:creationId xmlns:a16="http://schemas.microsoft.com/office/drawing/2014/main" id="{65C43E3D-0D26-234A-9592-5DAA63D12695}"/>
              </a:ext>
            </a:extLst>
          </p:cNvPr>
          <p:cNvSpPr>
            <a:spLocks noGrp="1"/>
          </p:cNvSpPr>
          <p:nvPr>
            <p:ph type="body" sz="quarter" idx="10" hasCustomPrompt="1"/>
          </p:nvPr>
        </p:nvSpPr>
        <p:spPr>
          <a:xfrm>
            <a:off x="957263" y="2962275"/>
            <a:ext cx="8056562" cy="39528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500">
                <a:solidFill>
                  <a:schemeClr val="accent6"/>
                </a:solidFill>
              </a:defRPr>
            </a:lvl1pPr>
          </a:lstStyle>
          <a:p>
            <a:pPr lvl="0"/>
            <a:r>
              <a:rPr lang="en-US"/>
              <a:t>Click to edit Session Details</a:t>
            </a:r>
          </a:p>
          <a:p>
            <a:pPr lvl="0"/>
            <a:endParaRPr lang="en-AE"/>
          </a:p>
        </p:txBody>
      </p:sp>
    </p:spTree>
    <p:extLst>
      <p:ext uri="{BB962C8B-B14F-4D97-AF65-F5344CB8AC3E}">
        <p14:creationId xmlns:p14="http://schemas.microsoft.com/office/powerpoint/2010/main" val="316717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5675" y="5981617"/>
            <a:ext cx="3138522" cy="365125"/>
          </a:xfrm>
        </p:spPr>
        <p:txBody>
          <a:bodyPr/>
          <a:lstStyle>
            <a:lvl1pPr>
              <a:defRPr sz="1500">
                <a:solidFill>
                  <a:schemeClr val="bg2"/>
                </a:solidFill>
              </a:defRPr>
            </a:lvl1pPr>
          </a:lstStyle>
          <a:p>
            <a:fld id="{9FB76777-9218-4188-BD26-CF1E318BE795}" type="datetime2">
              <a:rPr lang="en-US" smtClean="0"/>
              <a:pPr/>
              <a:t>Monday, September 14, 2026</a:t>
            </a:fld>
            <a:endParaRPr lang="en-AE"/>
          </a:p>
        </p:txBody>
      </p:sp>
      <p:pic>
        <p:nvPicPr>
          <p:cNvPr id="7" name="Graphic 6">
            <a:extLst>
              <a:ext uri="{FF2B5EF4-FFF2-40B4-BE49-F238E27FC236}">
                <a16:creationId xmlns:a16="http://schemas.microsoft.com/office/drawing/2014/main" id="{E0A69106-6879-3A4D-A621-50E8110948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4844" y="351663"/>
            <a:ext cx="3713566" cy="634596"/>
          </a:xfrm>
          <a:prstGeom prst="rect">
            <a:avLst/>
          </a:prstGeom>
        </p:spPr>
      </p:pic>
      <p:sp>
        <p:nvSpPr>
          <p:cNvPr id="8" name="Subtitle 2">
            <a:extLst>
              <a:ext uri="{FF2B5EF4-FFF2-40B4-BE49-F238E27FC236}">
                <a16:creationId xmlns:a16="http://schemas.microsoft.com/office/drawing/2014/main" id="{D8643B33-FF74-2B49-B6EB-01409F1D0D7F}"/>
              </a:ext>
            </a:extLst>
          </p:cNvPr>
          <p:cNvSpPr>
            <a:spLocks noGrp="1"/>
          </p:cNvSpPr>
          <p:nvPr>
            <p:ph type="subTitle" idx="1"/>
          </p:nvPr>
        </p:nvSpPr>
        <p:spPr>
          <a:xfrm>
            <a:off x="955675" y="3945603"/>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3" name="Graphic 12">
            <a:extLst>
              <a:ext uri="{FF2B5EF4-FFF2-40B4-BE49-F238E27FC236}">
                <a16:creationId xmlns:a16="http://schemas.microsoft.com/office/drawing/2014/main" id="{8EF5330E-32F1-7B42-BB39-B2FFE8F8788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Title 3">
            <a:extLst>
              <a:ext uri="{FF2B5EF4-FFF2-40B4-BE49-F238E27FC236}">
                <a16:creationId xmlns:a16="http://schemas.microsoft.com/office/drawing/2014/main" id="{591BC0ED-3260-F844-B525-B5B4D2CC78D0}"/>
              </a:ext>
            </a:extLst>
          </p:cNvPr>
          <p:cNvSpPr>
            <a:spLocks noGrp="1"/>
          </p:cNvSpPr>
          <p:nvPr>
            <p:ph type="title" hasCustomPrompt="1"/>
          </p:nvPr>
        </p:nvSpPr>
        <p:spPr>
          <a:xfrm>
            <a:off x="955675" y="3126852"/>
            <a:ext cx="9144000" cy="818751"/>
          </a:xfrm>
        </p:spPr>
        <p:txBody>
          <a:bodyPr anchor="t" anchorCtr="0"/>
          <a:lstStyle>
            <a:lvl1pPr algn="l">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191754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E9241090-81F5-3947-93CB-6896CF7F94E5}"/>
              </a:ext>
            </a:extLst>
          </p:cNvPr>
          <p:cNvSpPr>
            <a:spLocks noGrp="1"/>
          </p:cNvSpPr>
          <p:nvPr>
            <p:ph type="subTitle" idx="1" hasCustomPrompt="1"/>
          </p:nvPr>
        </p:nvSpPr>
        <p:spPr>
          <a:xfrm>
            <a:off x="536339" y="5106074"/>
            <a:ext cx="6971077" cy="698499"/>
          </a:xfrm>
        </p:spPr>
        <p:txBody>
          <a:bodyPr>
            <a:noAutofit/>
          </a:bodyPr>
          <a:lstStyle>
            <a:lvl1pPr marL="0" indent="0" algn="l">
              <a:buNone/>
              <a:defRPr sz="20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2" name="Title 3">
            <a:extLst>
              <a:ext uri="{FF2B5EF4-FFF2-40B4-BE49-F238E27FC236}">
                <a16:creationId xmlns:a16="http://schemas.microsoft.com/office/drawing/2014/main" id="{06DB1578-413F-2C4E-9D70-BBE3D7A5DBD3}"/>
              </a:ext>
            </a:extLst>
          </p:cNvPr>
          <p:cNvSpPr>
            <a:spLocks noGrp="1"/>
          </p:cNvSpPr>
          <p:nvPr>
            <p:ph type="title" hasCustomPrompt="1"/>
          </p:nvPr>
        </p:nvSpPr>
        <p:spPr>
          <a:xfrm>
            <a:off x="536339" y="3607860"/>
            <a:ext cx="5298020" cy="1498214"/>
          </a:xfrm>
        </p:spPr>
        <p:txBody>
          <a:bodyPr/>
          <a:lstStyle>
            <a:lvl1pPr algn="l">
              <a:defRPr>
                <a:solidFill>
                  <a:schemeClr val="tx1"/>
                </a:solidFill>
              </a:defRPr>
            </a:lvl1pPr>
          </a:lstStyle>
          <a:p>
            <a:r>
              <a:rPr lang="en-US"/>
              <a:t>Click to edit master title style</a:t>
            </a:r>
          </a:p>
        </p:txBody>
      </p:sp>
      <p:pic>
        <p:nvPicPr>
          <p:cNvPr id="3" name="Graphic 2">
            <a:extLst>
              <a:ext uri="{FF2B5EF4-FFF2-40B4-BE49-F238E27FC236}">
                <a16:creationId xmlns:a16="http://schemas.microsoft.com/office/drawing/2014/main" id="{7B5CCC4E-CABB-0A42-9BDE-60480B081E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8490" y="1061074"/>
            <a:ext cx="3362305" cy="773864"/>
          </a:xfrm>
          <a:prstGeom prst="rect">
            <a:avLst/>
          </a:prstGeom>
        </p:spPr>
      </p:pic>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536339" y="6029515"/>
            <a:ext cx="3138522" cy="365125"/>
          </a:xfrm>
        </p:spPr>
        <p:txBody>
          <a:bodyPr/>
          <a:lstStyle>
            <a:lvl1pPr>
              <a:defRPr sz="1500">
                <a:solidFill>
                  <a:schemeClr val="accent6">
                    <a:lumMod val="75000"/>
                    <a:lumOff val="25000"/>
                  </a:schemeClr>
                </a:solidFill>
              </a:defRPr>
            </a:lvl1pPr>
          </a:lstStyle>
          <a:p>
            <a:fld id="{9FB76777-9218-4188-BD26-CF1E318BE795}" type="datetime2">
              <a:rPr lang="en-US" smtClean="0"/>
              <a:pPr/>
              <a:t>Monday, September 14, 2026</a:t>
            </a:fld>
            <a:endParaRPr lang="en-AE"/>
          </a:p>
        </p:txBody>
      </p:sp>
    </p:spTree>
    <p:extLst>
      <p:ext uri="{BB962C8B-B14F-4D97-AF65-F5344CB8AC3E}">
        <p14:creationId xmlns:p14="http://schemas.microsoft.com/office/powerpoint/2010/main" val="2768439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6140" y="6029515"/>
            <a:ext cx="3138522" cy="365125"/>
          </a:xfrm>
        </p:spPr>
        <p:txBody>
          <a:bodyPr/>
          <a:lstStyle>
            <a:lvl1pPr>
              <a:defRPr sz="1500">
                <a:solidFill>
                  <a:schemeClr val="bg2"/>
                </a:solidFill>
              </a:defRPr>
            </a:lvl1pPr>
          </a:lstStyle>
          <a:p>
            <a:fld id="{9FB76777-9218-4188-BD26-CF1E318BE795}" type="datetime2">
              <a:rPr lang="en-US" smtClean="0"/>
              <a:pPr/>
              <a:t>Monday, September 14, 2026</a:t>
            </a:fld>
            <a:endParaRPr lang="en-AE"/>
          </a:p>
        </p:txBody>
      </p:sp>
      <p:pic>
        <p:nvPicPr>
          <p:cNvPr id="7" name="Graphic 6">
            <a:extLst>
              <a:ext uri="{FF2B5EF4-FFF2-40B4-BE49-F238E27FC236}">
                <a16:creationId xmlns:a16="http://schemas.microsoft.com/office/drawing/2014/main" id="{194BA4BA-37FC-574C-900D-E42453AEA5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7263" y="2371959"/>
            <a:ext cx="4078511" cy="938705"/>
          </a:xfrm>
          <a:prstGeom prst="rect">
            <a:avLst/>
          </a:prstGeom>
        </p:spPr>
      </p:pic>
      <p:sp>
        <p:nvSpPr>
          <p:cNvPr id="8" name="Title 1">
            <a:extLst>
              <a:ext uri="{FF2B5EF4-FFF2-40B4-BE49-F238E27FC236}">
                <a16:creationId xmlns:a16="http://schemas.microsoft.com/office/drawing/2014/main" id="{81495BEB-EE01-9F40-B42D-981879D2A4C3}"/>
              </a:ext>
            </a:extLst>
          </p:cNvPr>
          <p:cNvSpPr>
            <a:spLocks noGrp="1"/>
          </p:cNvSpPr>
          <p:nvPr>
            <p:ph type="ctrTitle"/>
          </p:nvPr>
        </p:nvSpPr>
        <p:spPr>
          <a:xfrm>
            <a:off x="957273" y="3853125"/>
            <a:ext cx="9143999" cy="660171"/>
          </a:xfrm>
          <a:prstGeom prst="rect">
            <a:avLst/>
          </a:prstGeom>
        </p:spPr>
        <p:txBody>
          <a:bodyPr anchor="t" anchorCtr="0"/>
          <a:lstStyle>
            <a:lvl1pPr algn="l">
              <a:defRPr sz="45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pic>
        <p:nvPicPr>
          <p:cNvPr id="13" name="Graphic 12">
            <a:extLst>
              <a:ext uri="{FF2B5EF4-FFF2-40B4-BE49-F238E27FC236}">
                <a16:creationId xmlns:a16="http://schemas.microsoft.com/office/drawing/2014/main" id="{A0FB12DA-53D5-A041-A382-0D8BFE86F8C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Subtitle 2">
            <a:extLst>
              <a:ext uri="{FF2B5EF4-FFF2-40B4-BE49-F238E27FC236}">
                <a16:creationId xmlns:a16="http://schemas.microsoft.com/office/drawing/2014/main" id="{33EBC9D1-1DA5-1B44-9266-C53077B3DFFA}"/>
              </a:ext>
            </a:extLst>
          </p:cNvPr>
          <p:cNvSpPr>
            <a:spLocks noGrp="1"/>
          </p:cNvSpPr>
          <p:nvPr>
            <p:ph type="subTitle" idx="1"/>
          </p:nvPr>
        </p:nvSpPr>
        <p:spPr>
          <a:xfrm>
            <a:off x="956140" y="4519428"/>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3244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Option#1 with Imag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edit title style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p:nvPr>
        </p:nvSpPr>
        <p:spPr>
          <a:xfrm>
            <a:off x="833439" y="1878013"/>
            <a:ext cx="5745388" cy="3754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14" name="Picture Placeholder 13">
            <a:extLst>
              <a:ext uri="{FF2B5EF4-FFF2-40B4-BE49-F238E27FC236}">
                <a16:creationId xmlns:a16="http://schemas.microsoft.com/office/drawing/2014/main" id="{83E722FE-E668-314D-A8DF-BAA81BA98D5B}"/>
              </a:ext>
            </a:extLst>
          </p:cNvPr>
          <p:cNvSpPr>
            <a:spLocks noGrp="1"/>
          </p:cNvSpPr>
          <p:nvPr>
            <p:ph type="pic" sz="quarter" idx="11"/>
          </p:nvPr>
        </p:nvSpPr>
        <p:spPr>
          <a:xfrm>
            <a:off x="6758486" y="1206500"/>
            <a:ext cx="4619127" cy="4445000"/>
          </a:xfrm>
        </p:spPr>
        <p:txBody>
          <a:bodyPr/>
          <a:lstStyle>
            <a:lvl1pPr marL="0" indent="0">
              <a:buNone/>
              <a:defRPr/>
            </a:lvl1pPr>
          </a:lstStyle>
          <a:p>
            <a:r>
              <a:rPr lang="en-US"/>
              <a:t>Click icon to add picture</a:t>
            </a:r>
            <a:endParaRPr lang="en-AE"/>
          </a:p>
        </p:txBody>
      </p:sp>
    </p:spTree>
    <p:extLst>
      <p:ext uri="{BB962C8B-B14F-4D97-AF65-F5344CB8AC3E}">
        <p14:creationId xmlns:p14="http://schemas.microsoft.com/office/powerpoint/2010/main" val="2843890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Slide  Option#2 with Graph /Data">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Add Graph/Data</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7473" y="1878013"/>
            <a:ext cx="4054150" cy="3754437"/>
          </a:xfrm>
        </p:spPr>
        <p:txBody>
          <a:bodyPr>
            <a:normAutofit/>
          </a:bodyPr>
          <a:lstStyle>
            <a:lvl1pPr marL="0" indent="0" algn="l">
              <a:lnSpc>
                <a:spcPct val="95000"/>
              </a:lnSpc>
              <a:buFontTx/>
              <a:buNone/>
              <a:defRPr sz="2000"/>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AE"/>
              <a:t>Add your </a:t>
            </a:r>
            <a:r>
              <a:rPr lang="en-US"/>
              <a:t>An analytical paragraph,  is a form of descriptive writing which is written on the basis of a given chart, graph, data, outline, clues, table etc.</a:t>
            </a:r>
            <a:endParaRPr lang="en-AE"/>
          </a:p>
        </p:txBody>
      </p:sp>
      <p:sp>
        <p:nvSpPr>
          <p:cNvPr id="4" name="Chart Placeholder 3">
            <a:extLst>
              <a:ext uri="{FF2B5EF4-FFF2-40B4-BE49-F238E27FC236}">
                <a16:creationId xmlns:a16="http://schemas.microsoft.com/office/drawing/2014/main" id="{62D93862-01E6-C24F-A335-F79089BEC504}"/>
              </a:ext>
            </a:extLst>
          </p:cNvPr>
          <p:cNvSpPr>
            <a:spLocks noGrp="1"/>
          </p:cNvSpPr>
          <p:nvPr>
            <p:ph type="chart" sz="quarter" idx="11"/>
          </p:nvPr>
        </p:nvSpPr>
        <p:spPr>
          <a:xfrm>
            <a:off x="5138738" y="1878013"/>
            <a:ext cx="6053137" cy="3754437"/>
          </a:xfrm>
        </p:spPr>
        <p:txBody>
          <a:bodyPr/>
          <a:lstStyle/>
          <a:p>
            <a:r>
              <a:rPr lang="en-US"/>
              <a:t>Click icon to add chart</a:t>
            </a:r>
            <a:endParaRPr lang="en-AE"/>
          </a:p>
        </p:txBody>
      </p:sp>
    </p:spTree>
    <p:extLst>
      <p:ext uri="{BB962C8B-B14F-4D97-AF65-F5344CB8AC3E}">
        <p14:creationId xmlns:p14="http://schemas.microsoft.com/office/powerpoint/2010/main" val="289576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ntent Slide  Option#3 with Tabl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Table Title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4800" y="1878013"/>
            <a:ext cx="4054150" cy="3754437"/>
          </a:xfrm>
        </p:spPr>
        <p:txBody>
          <a:bodyPr>
            <a:noAutofit/>
          </a:bodyPr>
          <a:lstStyle>
            <a:lvl1pPr marL="0" indent="0" algn="l">
              <a:lnSpc>
                <a:spcPct val="95000"/>
              </a:lnSpc>
              <a:buFontTx/>
              <a:buNone/>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US"/>
              <a:t>A Table refers to any data which is presented in orderly rows across and/or down the page, often enclosed within borders. A Figure refers to any other form of presentation such as a bar or pie chart, a graph, a diagram, a map, a photograph, a line drawing or a sample of material.</a:t>
            </a:r>
            <a:endParaRPr lang="en-AE"/>
          </a:p>
        </p:txBody>
      </p:sp>
      <p:sp>
        <p:nvSpPr>
          <p:cNvPr id="8" name="Table Placeholder 7">
            <a:extLst>
              <a:ext uri="{FF2B5EF4-FFF2-40B4-BE49-F238E27FC236}">
                <a16:creationId xmlns:a16="http://schemas.microsoft.com/office/drawing/2014/main" id="{78A247DE-41CC-5245-986E-449D869DC74D}"/>
              </a:ext>
            </a:extLst>
          </p:cNvPr>
          <p:cNvSpPr>
            <a:spLocks noGrp="1"/>
          </p:cNvSpPr>
          <p:nvPr>
            <p:ph type="tbl" sz="quarter" idx="11"/>
          </p:nvPr>
        </p:nvSpPr>
        <p:spPr>
          <a:xfrm>
            <a:off x="5154613" y="1878013"/>
            <a:ext cx="6356350" cy="3754437"/>
          </a:xfrm>
        </p:spPr>
        <p:txBody>
          <a:bodyPr/>
          <a:lstStyle/>
          <a:p>
            <a:r>
              <a:rPr lang="en-US"/>
              <a:t>Click icon to add table</a:t>
            </a:r>
            <a:endParaRPr lang="en-AE"/>
          </a:p>
        </p:txBody>
      </p:sp>
    </p:spTree>
    <p:extLst>
      <p:ext uri="{BB962C8B-B14F-4D97-AF65-F5344CB8AC3E}">
        <p14:creationId xmlns:p14="http://schemas.microsoft.com/office/powerpoint/2010/main" val="50089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Option#4 with Infographic">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C46900-ACA7-B546-8A78-DFF39C7FE4BE}"/>
              </a:ext>
            </a:extLst>
          </p:cNvPr>
          <p:cNvSpPr>
            <a:spLocks noGrp="1"/>
          </p:cNvSpPr>
          <p:nvPr>
            <p:ph type="title" hasCustomPrompt="1"/>
          </p:nvPr>
        </p:nvSpPr>
        <p:spPr>
          <a:xfrm>
            <a:off x="704800" y="1207004"/>
            <a:ext cx="9770717" cy="597928"/>
          </a:xfrm>
        </p:spPr>
        <p:txBody>
          <a:bodyPr anchor="t">
            <a:normAutofit/>
          </a:bodyPr>
          <a:lstStyle>
            <a:lvl1pPr>
              <a:defRPr sz="3000">
                <a:solidFill>
                  <a:schemeClr val="tx1"/>
                </a:solidFill>
              </a:defRPr>
            </a:lvl1pPr>
          </a:lstStyle>
          <a:p>
            <a:r>
              <a:rPr lang="en-US"/>
              <a:t>Click to Add Icons/Infographics Title</a:t>
            </a:r>
          </a:p>
        </p:txBody>
      </p:sp>
      <p:pic>
        <p:nvPicPr>
          <p:cNvPr id="10" name="Graphic 9">
            <a:extLst>
              <a:ext uri="{FF2B5EF4-FFF2-40B4-BE49-F238E27FC236}">
                <a16:creationId xmlns:a16="http://schemas.microsoft.com/office/drawing/2014/main" id="{C71104D3-4DE6-8346-AD98-5A101FEAB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flipH="1">
            <a:off x="11501786" y="73025"/>
            <a:ext cx="406400" cy="260350"/>
          </a:xfrm>
          <a:prstGeom prst="rect">
            <a:avLst/>
          </a:prstGeom>
        </p:spPr>
      </p:pic>
      <p:sp>
        <p:nvSpPr>
          <p:cNvPr id="11" name="Slide Number Placeholder 6">
            <a:extLst>
              <a:ext uri="{FF2B5EF4-FFF2-40B4-BE49-F238E27FC236}">
                <a16:creationId xmlns:a16="http://schemas.microsoft.com/office/drawing/2014/main" id="{7957831C-872D-CF44-8DFE-BC74ADA53052}"/>
              </a:ext>
            </a:extLst>
          </p:cNvPr>
          <p:cNvSpPr>
            <a:spLocks noGrp="1"/>
          </p:cNvSpPr>
          <p:nvPr>
            <p:ph type="sldNum" sz="quarter" idx="12"/>
          </p:nvPr>
        </p:nvSpPr>
        <p:spPr>
          <a:xfrm>
            <a:off x="11297792" y="406400"/>
            <a:ext cx="814388" cy="365125"/>
          </a:xfrm>
          <a:noFill/>
        </p:spPr>
        <p:txBody>
          <a:bodyPr/>
          <a:lstStyle>
            <a:lvl1pPr algn="ctr">
              <a:defRPr sz="1600">
                <a:solidFill>
                  <a:schemeClr val="bg1"/>
                </a:solidFill>
              </a:defRPr>
            </a:lvl1pPr>
          </a:lstStyle>
          <a:p>
            <a:fld id="{A91C39B3-71BA-C04A-8F90-02179B3D98C0}" type="slidenum">
              <a:rPr lang="en-US" smtClean="0"/>
              <a:pPr/>
              <a:t>‹#›</a:t>
            </a:fld>
            <a:endParaRPr lang="en-US"/>
          </a:p>
        </p:txBody>
      </p:sp>
      <p:pic>
        <p:nvPicPr>
          <p:cNvPr id="12" name="Picture 5">
            <a:extLst>
              <a:ext uri="{FF2B5EF4-FFF2-40B4-BE49-F238E27FC236}">
                <a16:creationId xmlns:a16="http://schemas.microsoft.com/office/drawing/2014/main" id="{810453EF-472B-6940-A88C-A88100363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982275" y="5759451"/>
            <a:ext cx="2209725" cy="1098549"/>
          </a:xfrm>
          <a:prstGeom prst="rect">
            <a:avLst/>
          </a:prstGeom>
        </p:spPr>
      </p:pic>
      <p:pic>
        <p:nvPicPr>
          <p:cNvPr id="13" name="Graphic 12">
            <a:extLst>
              <a:ext uri="{FF2B5EF4-FFF2-40B4-BE49-F238E27FC236}">
                <a16:creationId xmlns:a16="http://schemas.microsoft.com/office/drawing/2014/main" id="{7051FCF3-192E-C34F-AAE3-E07D038D817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10248" y="6030989"/>
            <a:ext cx="529126" cy="555472"/>
          </a:xfrm>
          <a:prstGeom prst="rect">
            <a:avLst/>
          </a:prstGeom>
        </p:spPr>
      </p:pic>
      <p:sp>
        <p:nvSpPr>
          <p:cNvPr id="8" name="Text Placeholder 2">
            <a:extLst>
              <a:ext uri="{FF2B5EF4-FFF2-40B4-BE49-F238E27FC236}">
                <a16:creationId xmlns:a16="http://schemas.microsoft.com/office/drawing/2014/main" id="{9F5D8C5A-4EF8-D744-8722-B704B694B773}"/>
              </a:ext>
            </a:extLst>
          </p:cNvPr>
          <p:cNvSpPr>
            <a:spLocks noGrp="1"/>
          </p:cNvSpPr>
          <p:nvPr>
            <p:ph type="body" sz="quarter" idx="10" hasCustomPrompt="1"/>
          </p:nvPr>
        </p:nvSpPr>
        <p:spPr>
          <a:xfrm>
            <a:off x="704800" y="1804931"/>
            <a:ext cx="4441187" cy="4423024"/>
          </a:xfrm>
        </p:spPr>
        <p:txBody>
          <a:bodyPr>
            <a:normAutofit/>
          </a:bodyPr>
          <a:lstStyle>
            <a:lvl1pPr marL="0" marR="0" indent="0" algn="l" defTabSz="914400" rtl="0" eaLnBrk="1" fontAlgn="auto" latinLnBrk="0" hangingPunct="1">
              <a:lnSpc>
                <a:spcPct val="95000"/>
              </a:lnSpc>
              <a:spcBef>
                <a:spcPts val="1000"/>
              </a:spcBef>
              <a:spcAft>
                <a:spcPts val="0"/>
              </a:spcAft>
              <a:buClrTx/>
              <a:buSzTx/>
              <a:buFontTx/>
              <a:buNone/>
              <a:tabLst/>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AE"/>
              <a:t>Add your </a:t>
            </a:r>
            <a:r>
              <a:rPr lang="en-US"/>
              <a:t>standard icons or infographics. Which are graphic visual representations of information, data, or knowledge intended to present information quickly and clearly. They can improve cognition by utilizing graphics to enhance the human visual system's ability to see patterns and trends.</a:t>
            </a:r>
            <a:endParaRPr lang="en-AE"/>
          </a:p>
        </p:txBody>
      </p:sp>
    </p:spTree>
    <p:extLst>
      <p:ext uri="{BB962C8B-B14F-4D97-AF65-F5344CB8AC3E}">
        <p14:creationId xmlns:p14="http://schemas.microsoft.com/office/powerpoint/2010/main" val="2271974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0C30162-B6ED-7641-A0EB-BA573B76DA6D}"/>
              </a:ext>
            </a:extLst>
          </p:cNvPr>
          <p:cNvSpPr>
            <a:spLocks noGrp="1"/>
          </p:cNvSpPr>
          <p:nvPr>
            <p:ph type="ctrTitle" hasCustomPrompt="1"/>
          </p:nvPr>
        </p:nvSpPr>
        <p:spPr>
          <a:xfrm>
            <a:off x="0" y="3258981"/>
            <a:ext cx="12192000" cy="1006475"/>
          </a:xfrm>
          <a:prstGeom prst="rect">
            <a:avLst/>
          </a:prstGeom>
        </p:spPr>
        <p:txBody>
          <a:bodyPr anchor="ctr" anchorCtr="0">
            <a:noAutofit/>
          </a:bodyPr>
          <a:lstStyle>
            <a:lvl1pPr algn="ctr">
              <a:defRPr sz="72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Thank You</a:t>
            </a:r>
          </a:p>
        </p:txBody>
      </p:sp>
      <p:pic>
        <p:nvPicPr>
          <p:cNvPr id="14" name="Graphic 13">
            <a:extLst>
              <a:ext uri="{FF2B5EF4-FFF2-40B4-BE49-F238E27FC236}">
                <a16:creationId xmlns:a16="http://schemas.microsoft.com/office/drawing/2014/main" id="{C698337F-7DD8-7B42-AE9F-1C15A834B6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2578" y="1380677"/>
            <a:ext cx="4126844" cy="949829"/>
          </a:xfrm>
          <a:prstGeom prst="rect">
            <a:avLst/>
          </a:prstGeom>
        </p:spPr>
      </p:pic>
      <p:grpSp>
        <p:nvGrpSpPr>
          <p:cNvPr id="3" name="Group 2">
            <a:extLst>
              <a:ext uri="{FF2B5EF4-FFF2-40B4-BE49-F238E27FC236}">
                <a16:creationId xmlns:a16="http://schemas.microsoft.com/office/drawing/2014/main" id="{A15B8D55-1D7F-D740-8AB9-DB23116BE410}"/>
              </a:ext>
            </a:extLst>
          </p:cNvPr>
          <p:cNvGrpSpPr/>
          <p:nvPr userDrawn="1"/>
        </p:nvGrpSpPr>
        <p:grpSpPr>
          <a:xfrm>
            <a:off x="1963849" y="5952904"/>
            <a:ext cx="8456037" cy="400326"/>
            <a:chOff x="1896939" y="5952904"/>
            <a:chExt cx="8456037" cy="400326"/>
          </a:xfrm>
        </p:grpSpPr>
        <p:sp>
          <p:nvSpPr>
            <p:cNvPr id="10" name="TextBox 9">
              <a:extLst>
                <a:ext uri="{FF2B5EF4-FFF2-40B4-BE49-F238E27FC236}">
                  <a16:creationId xmlns:a16="http://schemas.microsoft.com/office/drawing/2014/main" id="{7B799641-4B53-2B4F-86DB-18C35E61614E}"/>
                </a:ext>
              </a:extLst>
            </p:cNvPr>
            <p:cNvSpPr txBox="1"/>
            <p:nvPr userDrawn="1"/>
          </p:nvSpPr>
          <p:spPr>
            <a:xfrm>
              <a:off x="2188374" y="5964056"/>
              <a:ext cx="2659052" cy="353045"/>
            </a:xfrm>
            <a:prstGeom prst="rect">
              <a:avLst/>
            </a:prstGeom>
            <a:noFill/>
          </p:spPr>
          <p:txBody>
            <a:bodyPr wrap="square" rtlCol="0">
              <a:spAutoFit/>
            </a:bodyPr>
            <a:lstStyle/>
            <a:p>
              <a:pPr lvl="0">
                <a:lnSpc>
                  <a:spcPts val="2300"/>
                </a:lnSpc>
              </a:pP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800 </a:t>
              </a: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MyHCT</a:t>
              </a: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 (800 69428)</a:t>
              </a:r>
            </a:p>
          </p:txBody>
        </p:sp>
        <p:pic>
          <p:nvPicPr>
            <p:cNvPr id="11" name="Graphic 10">
              <a:extLst>
                <a:ext uri="{FF2B5EF4-FFF2-40B4-BE49-F238E27FC236}">
                  <a16:creationId xmlns:a16="http://schemas.microsoft.com/office/drawing/2014/main" id="{2334549F-B791-094D-904B-02DFE9589D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002299" y="6003908"/>
              <a:ext cx="273124" cy="273124"/>
            </a:xfrm>
            <a:prstGeom prst="rect">
              <a:avLst/>
            </a:prstGeom>
          </p:spPr>
        </p:pic>
        <p:pic>
          <p:nvPicPr>
            <p:cNvPr id="16" name="Graphic 15">
              <a:extLst>
                <a:ext uri="{FF2B5EF4-FFF2-40B4-BE49-F238E27FC236}">
                  <a16:creationId xmlns:a16="http://schemas.microsoft.com/office/drawing/2014/main" id="{B95E0A5D-6B5A-574A-952B-5CCC36F424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896939" y="6065869"/>
              <a:ext cx="276096" cy="184064"/>
            </a:xfrm>
            <a:prstGeom prst="rect">
              <a:avLst/>
            </a:prstGeom>
          </p:spPr>
        </p:pic>
        <p:sp>
          <p:nvSpPr>
            <p:cNvPr id="17" name="TextBox 16">
              <a:extLst>
                <a:ext uri="{FF2B5EF4-FFF2-40B4-BE49-F238E27FC236}">
                  <a16:creationId xmlns:a16="http://schemas.microsoft.com/office/drawing/2014/main" id="{B2A00D36-E1AC-D74E-998F-CC798B2ACD8B}"/>
                </a:ext>
              </a:extLst>
            </p:cNvPr>
            <p:cNvSpPr txBox="1"/>
            <p:nvPr userDrawn="1"/>
          </p:nvSpPr>
          <p:spPr>
            <a:xfrm>
              <a:off x="5293734" y="5952904"/>
              <a:ext cx="2659052" cy="353045"/>
            </a:xfrm>
            <a:prstGeom prst="rect">
              <a:avLst/>
            </a:prstGeom>
            <a:noFill/>
          </p:spPr>
          <p:txBody>
            <a:bodyPr wrap="square" rtlCol="0">
              <a:spAutoFit/>
            </a:bodyPr>
            <a:lstStyle/>
            <a:p>
              <a:pPr lvl="0">
                <a:lnSpc>
                  <a:spcPts val="2300"/>
                </a:lnSpc>
              </a:pP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www.hct.ac.ae</a:t>
              </a:r>
              <a:endParaRPr lang="en-US" sz="1500" b="1">
                <a:solidFill>
                  <a:schemeClr val="bg2"/>
                </a:solidFill>
                <a:latin typeface="Tahoma" panose="020B0604030504040204" pitchFamily="34" charset="0"/>
                <a:ea typeface="Tahoma" panose="020B0604030504040204" pitchFamily="34" charset="0"/>
                <a:cs typeface="Tahoma" panose="020B0604030504040204" pitchFamily="34" charset="0"/>
              </a:endParaRPr>
            </a:p>
          </p:txBody>
        </p:sp>
        <p:pic>
          <p:nvPicPr>
            <p:cNvPr id="13" name="Graphic 12">
              <a:extLst>
                <a:ext uri="{FF2B5EF4-FFF2-40B4-BE49-F238E27FC236}">
                  <a16:creationId xmlns:a16="http://schemas.microsoft.com/office/drawing/2014/main" id="{BCEE45B5-14AA-FB49-B39F-4EEAEEE0834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1430" y="5976856"/>
              <a:ext cx="3161546" cy="376374"/>
            </a:xfrm>
            <a:prstGeom prst="rect">
              <a:avLst/>
            </a:prstGeom>
          </p:spPr>
        </p:pic>
      </p:grpSp>
    </p:spTree>
    <p:extLst>
      <p:ext uri="{BB962C8B-B14F-4D97-AF65-F5344CB8AC3E}">
        <p14:creationId xmlns:p14="http://schemas.microsoft.com/office/powerpoint/2010/main" val="94880861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52A1A-53F2-9E44-9217-EF55FD212434}"/>
              </a:ext>
            </a:extLst>
          </p:cNvPr>
          <p:cNvSpPr>
            <a:spLocks noGrp="1"/>
          </p:cNvSpPr>
          <p:nvPr>
            <p:ph type="title"/>
          </p:nvPr>
        </p:nvSpPr>
        <p:spPr>
          <a:xfrm>
            <a:off x="356840" y="365125"/>
            <a:ext cx="11471616" cy="11906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EEBABE-8E1F-FD45-BACB-85DFCD7888BA}"/>
              </a:ext>
            </a:extLst>
          </p:cNvPr>
          <p:cNvSpPr>
            <a:spLocks noGrp="1"/>
          </p:cNvSpPr>
          <p:nvPr>
            <p:ph type="body" idx="1"/>
          </p:nvPr>
        </p:nvSpPr>
        <p:spPr>
          <a:xfrm>
            <a:off x="356839" y="1825625"/>
            <a:ext cx="1147161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22EEEB-82E9-5B41-A455-E99055A3997A}"/>
              </a:ext>
            </a:extLst>
          </p:cNvPr>
          <p:cNvSpPr>
            <a:spLocks noGrp="1"/>
          </p:cNvSpPr>
          <p:nvPr>
            <p:ph type="dt" sz="half" idx="2"/>
          </p:nvPr>
        </p:nvSpPr>
        <p:spPr>
          <a:xfrm>
            <a:off x="1430790" y="6356350"/>
            <a:ext cx="163353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4FFDA522-F4CE-F942-9609-C40C1E1F3554}" type="datetime1">
              <a:rPr lang="en-US" smtClean="0"/>
              <a:t>14-Sep-26</a:t>
            </a:fld>
            <a:endParaRPr lang="en-US"/>
          </a:p>
        </p:txBody>
      </p:sp>
      <p:sp>
        <p:nvSpPr>
          <p:cNvPr id="5" name="Footer Placeholder 4">
            <a:extLst>
              <a:ext uri="{FF2B5EF4-FFF2-40B4-BE49-F238E27FC236}">
                <a16:creationId xmlns:a16="http://schemas.microsoft.com/office/drawing/2014/main" id="{CEF76DFF-6753-9D4F-95EE-BAA691F44C16}"/>
              </a:ext>
            </a:extLst>
          </p:cNvPr>
          <p:cNvSpPr>
            <a:spLocks noGrp="1"/>
          </p:cNvSpPr>
          <p:nvPr>
            <p:ph type="ftr" sz="quarter" idx="3"/>
          </p:nvPr>
        </p:nvSpPr>
        <p:spPr>
          <a:xfrm>
            <a:off x="3319119" y="6356350"/>
            <a:ext cx="5148000"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Footer goes here</a:t>
            </a:r>
          </a:p>
        </p:txBody>
      </p:sp>
      <p:sp>
        <p:nvSpPr>
          <p:cNvPr id="6" name="Slide Number Placeholder 5">
            <a:extLst>
              <a:ext uri="{FF2B5EF4-FFF2-40B4-BE49-F238E27FC236}">
                <a16:creationId xmlns:a16="http://schemas.microsoft.com/office/drawing/2014/main" id="{86E950D9-1D75-D24F-9D65-E9F8AAA0ADE9}"/>
              </a:ext>
            </a:extLst>
          </p:cNvPr>
          <p:cNvSpPr>
            <a:spLocks noGrp="1"/>
          </p:cNvSpPr>
          <p:nvPr>
            <p:ph type="sldNum" sz="quarter" idx="4"/>
          </p:nvPr>
        </p:nvSpPr>
        <p:spPr>
          <a:xfrm>
            <a:off x="356839" y="6356350"/>
            <a:ext cx="81438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A91C39B3-71BA-C04A-8F90-02179B3D98C0}" type="slidenum">
              <a:rPr lang="en-US" smtClean="0"/>
              <a:pPr/>
              <a:t>‹#›</a:t>
            </a:fld>
            <a:endParaRPr lang="en-US"/>
          </a:p>
        </p:txBody>
      </p:sp>
      <p:pic>
        <p:nvPicPr>
          <p:cNvPr id="8" name="Picture 7">
            <a:extLst>
              <a:ext uri="{FF2B5EF4-FFF2-40B4-BE49-F238E27FC236}">
                <a16:creationId xmlns:a16="http://schemas.microsoft.com/office/drawing/2014/main" id="{7FAA968D-3E7E-6787-F0E5-FD50B7DD0955}"/>
              </a:ext>
            </a:extLst>
          </p:cNvPr>
          <p:cNvPicPr>
            <a:picLocks noChangeAspect="1"/>
          </p:cNvPicPr>
          <p:nvPr userDrawn="1"/>
        </p:nvPicPr>
        <p:blipFill>
          <a:blip r:embed="rId11"/>
          <a:stretch>
            <a:fillRect/>
          </a:stretch>
        </p:blipFill>
        <p:spPr>
          <a:xfrm>
            <a:off x="-1884218" y="-104461"/>
            <a:ext cx="1810327" cy="3036593"/>
          </a:xfrm>
          <a:prstGeom prst="rect">
            <a:avLst/>
          </a:prstGeom>
        </p:spPr>
      </p:pic>
    </p:spTree>
    <p:extLst>
      <p:ext uri="{BB962C8B-B14F-4D97-AF65-F5344CB8AC3E}">
        <p14:creationId xmlns:p14="http://schemas.microsoft.com/office/powerpoint/2010/main" val="246717443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hf hdr="0"/>
  <p:txStyles>
    <p:titleStyle>
      <a:lvl1pPr algn="l" defTabSz="914400" rtl="0" eaLnBrk="1" latinLnBrk="0" hangingPunct="1">
        <a:lnSpc>
          <a:spcPct val="90000"/>
        </a:lnSpc>
        <a:spcBef>
          <a:spcPct val="0"/>
        </a:spcBef>
        <a:buNone/>
        <a:defRPr sz="44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chart" Target="../charts/char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D85ED-066A-F1BC-38E5-F4C8C64E1178}"/>
              </a:ext>
            </a:extLst>
          </p:cNvPr>
          <p:cNvSpPr>
            <a:spLocks noGrp="1"/>
          </p:cNvSpPr>
          <p:nvPr>
            <p:ph type="dt" sz="half" idx="10"/>
          </p:nvPr>
        </p:nvSpPr>
        <p:spPr/>
        <p:txBody>
          <a:bodyPr/>
          <a:lstStyle/>
          <a:p>
            <a:r>
              <a:rPr lang="en-US" dirty="0"/>
              <a:t>Date: 14-09-2026</a:t>
            </a:r>
            <a:endParaRPr lang="en-AE" dirty="0"/>
          </a:p>
        </p:txBody>
      </p:sp>
      <p:sp>
        <p:nvSpPr>
          <p:cNvPr id="3" name="Subtitle 2">
            <a:extLst>
              <a:ext uri="{FF2B5EF4-FFF2-40B4-BE49-F238E27FC236}">
                <a16:creationId xmlns:a16="http://schemas.microsoft.com/office/drawing/2014/main" id="{03E5333C-65B7-CE2E-504F-859AF9D7ED07}"/>
              </a:ext>
            </a:extLst>
          </p:cNvPr>
          <p:cNvSpPr>
            <a:spLocks noGrp="1"/>
          </p:cNvSpPr>
          <p:nvPr>
            <p:ph type="subTitle" idx="1"/>
          </p:nvPr>
        </p:nvSpPr>
        <p:spPr/>
        <p:txBody>
          <a:bodyPr/>
          <a:lstStyle/>
          <a:p>
            <a:r>
              <a:rPr lang="en-US" dirty="0"/>
              <a:t>Abu Dhabi Baniyas A &amp; Abu Dhabi Baniyas B</a:t>
            </a:r>
          </a:p>
        </p:txBody>
      </p:sp>
      <p:sp>
        <p:nvSpPr>
          <p:cNvPr id="4" name="Title 3">
            <a:extLst>
              <a:ext uri="{FF2B5EF4-FFF2-40B4-BE49-F238E27FC236}">
                <a16:creationId xmlns:a16="http://schemas.microsoft.com/office/drawing/2014/main" id="{9AC55BC0-EFDB-4FAE-63AF-800DC4706298}"/>
              </a:ext>
            </a:extLst>
          </p:cNvPr>
          <p:cNvSpPr>
            <a:spLocks noGrp="1"/>
          </p:cNvSpPr>
          <p:nvPr>
            <p:ph type="title"/>
          </p:nvPr>
        </p:nvSpPr>
        <p:spPr>
          <a:xfrm>
            <a:off x="955674" y="2786385"/>
            <a:ext cx="9915525" cy="818751"/>
          </a:xfrm>
        </p:spPr>
        <p:txBody>
          <a:bodyPr>
            <a:normAutofit/>
          </a:bodyPr>
          <a:lstStyle/>
          <a:p>
            <a:r>
              <a:rPr lang="en-US" dirty="0"/>
              <a:t>KPI PERFORMANCE Q1</a:t>
            </a:r>
          </a:p>
        </p:txBody>
      </p:sp>
    </p:spTree>
    <p:extLst>
      <p:ext uri="{BB962C8B-B14F-4D97-AF65-F5344CB8AC3E}">
        <p14:creationId xmlns:p14="http://schemas.microsoft.com/office/powerpoint/2010/main" val="2574132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7DCC-5E00-0635-43F5-6B252E57332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A37879D8-A518-75F7-338E-597F2C4C7D25}"/>
              </a:ext>
            </a:extLst>
          </p:cNvPr>
          <p:cNvSpPr txBox="1">
            <a:spLocks/>
          </p:cNvSpPr>
          <p:nvPr/>
        </p:nvSpPr>
        <p:spPr>
          <a:xfrm>
            <a:off x="731785" y="223762"/>
            <a:ext cx="10150301" cy="986177"/>
          </a:xfrm>
          <a:prstGeom prst="rect">
            <a:avLst/>
          </a:prstGeom>
        </p:spPr>
        <p:txBody>
          <a:bodyPr vert="horz" lIns="91440" tIns="45720" rIns="91440" bIns="45720" rtlCol="0" anchor="ctr" anchorCtr="0">
            <a:normAutofit fontScale="92500" lnSpcReduction="200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200" dirty="0"/>
              <a:t>EHS KPI Dashboard</a:t>
            </a:r>
          </a:p>
          <a:p>
            <a:endParaRPr lang="en-US" sz="3000" dirty="0"/>
          </a:p>
          <a:p>
            <a:r>
              <a:rPr lang="en-US" sz="2400" b="0" dirty="0"/>
              <a:t>Campus KPI Scoring Breakdown</a:t>
            </a:r>
          </a:p>
        </p:txBody>
      </p:sp>
      <p:graphicFrame>
        <p:nvGraphicFramePr>
          <p:cNvPr id="13" name="Chart 12">
            <a:extLst>
              <a:ext uri="{FF2B5EF4-FFF2-40B4-BE49-F238E27FC236}">
                <a16:creationId xmlns:a16="http://schemas.microsoft.com/office/drawing/2014/main" id="{270BB58F-3E87-E938-A921-3DDE6303E9EA}"/>
              </a:ext>
            </a:extLst>
          </p:cNvPr>
          <p:cNvGraphicFramePr>
            <a:graphicFrameLocks/>
          </p:cNvGraphicFramePr>
          <p:nvPr/>
        </p:nvGraphicFramePr>
        <p:xfrm>
          <a:off x="1852646" y="1209939"/>
          <a:ext cx="8486707" cy="55363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2780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2324-451F-D0B8-57F6-026148947624}"/>
            </a:ext>
          </a:extLst>
        </p:cNvPr>
        <p:cNvGrpSpPr/>
        <p:nvPr/>
      </p:nvGrpSpPr>
      <p:grpSpPr>
        <a:xfrm>
          <a:off x="0" y="0"/>
          <a:ext cx="0" cy="0"/>
          <a:chOff x="0" y="0"/>
          <a:chExt cx="0" cy="0"/>
        </a:xfrm>
      </p:grpSpPr>
      <p:sp>
        <p:nvSpPr>
          <p:cNvPr id="5" name="Text 11">
            <a:extLst>
              <a:ext uri="{FF2B5EF4-FFF2-40B4-BE49-F238E27FC236}">
                <a16:creationId xmlns:a16="http://schemas.microsoft.com/office/drawing/2014/main" id="{3F55F258-627E-C342-6D0B-0A85728E5409}"/>
              </a:ext>
            </a:extLst>
          </p:cNvPr>
          <p:cNvSpPr/>
          <p:nvPr/>
        </p:nvSpPr>
        <p:spPr>
          <a:xfrm>
            <a:off x="998202" y="202035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marL="0" indent="0" algn="ctr">
              <a:buNone/>
            </a:pP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1. Leadership, Accountability &amp; Engagement (20%)</a:t>
            </a:r>
          </a:p>
        </p:txBody>
      </p:sp>
      <p:sp>
        <p:nvSpPr>
          <p:cNvPr id="6" name="Shape 12">
            <a:extLst>
              <a:ext uri="{FF2B5EF4-FFF2-40B4-BE49-F238E27FC236}">
                <a16:creationId xmlns:a16="http://schemas.microsoft.com/office/drawing/2014/main" id="{C06D5E10-AB68-9754-5AF4-A9ECBEB80A1A}"/>
              </a:ext>
            </a:extLst>
          </p:cNvPr>
          <p:cNvSpPr/>
          <p:nvPr/>
        </p:nvSpPr>
        <p:spPr>
          <a:xfrm>
            <a:off x="4409537" y="2236239"/>
            <a:ext cx="1463040" cy="201168"/>
          </a:xfrm>
          <a:prstGeom prst="rect">
            <a:avLst/>
          </a:prstGeom>
          <a:solidFill>
            <a:schemeClr val="bg2"/>
          </a:solidFill>
          <a:ln w="12700">
            <a:solidFill>
              <a:srgbClr val="1E3A4A"/>
            </a:solidFill>
            <a:prstDash val="solid"/>
          </a:ln>
        </p:spPr>
        <p:txBody>
          <a:bodyPr/>
          <a:lstStyle/>
          <a:p>
            <a:endParaRPr lang="en-US" dirty="0"/>
          </a:p>
        </p:txBody>
      </p:sp>
      <p:sp>
        <p:nvSpPr>
          <p:cNvPr id="7" name="Shape 13">
            <a:extLst>
              <a:ext uri="{FF2B5EF4-FFF2-40B4-BE49-F238E27FC236}">
                <a16:creationId xmlns:a16="http://schemas.microsoft.com/office/drawing/2014/main" id="{7C5B943F-16FF-C711-37D4-7D6F94F64EC2}"/>
              </a:ext>
            </a:extLst>
          </p:cNvPr>
          <p:cNvSpPr/>
          <p:nvPr/>
        </p:nvSpPr>
        <p:spPr>
          <a:xfrm>
            <a:off x="4409537" y="2236239"/>
            <a:ext cx="1463040" cy="201168"/>
          </a:xfrm>
          <a:prstGeom prst="rect">
            <a:avLst/>
          </a:prstGeom>
          <a:solidFill>
            <a:srgbClr val="FFC000"/>
          </a:solidFill>
          <a:ln w="12700">
            <a:solidFill>
              <a:srgbClr val="C0DD97"/>
            </a:solidFill>
            <a:prstDash val="solid"/>
          </a:ln>
        </p:spPr>
        <p:txBody>
          <a:bodyPr/>
          <a:lstStyle/>
          <a:p>
            <a:endParaRPr lang="en-US" dirty="0"/>
          </a:p>
        </p:txBody>
      </p:sp>
      <p:sp>
        <p:nvSpPr>
          <p:cNvPr id="16" name="Text 14">
            <a:extLst>
              <a:ext uri="{FF2B5EF4-FFF2-40B4-BE49-F238E27FC236}">
                <a16:creationId xmlns:a16="http://schemas.microsoft.com/office/drawing/2014/main" id="{752B5F82-3B5D-4CED-B410-8BF3D74D3644}"/>
              </a:ext>
            </a:extLst>
          </p:cNvPr>
          <p:cNvSpPr/>
          <p:nvPr/>
        </p:nvSpPr>
        <p:spPr>
          <a:xfrm>
            <a:off x="4409537" y="2035071"/>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24" name="Shape 15">
            <a:extLst>
              <a:ext uri="{FF2B5EF4-FFF2-40B4-BE49-F238E27FC236}">
                <a16:creationId xmlns:a16="http://schemas.microsoft.com/office/drawing/2014/main" id="{AEE15EB6-F47F-6F38-F0EA-91CDF1FFFC84}"/>
              </a:ext>
            </a:extLst>
          </p:cNvPr>
          <p:cNvSpPr/>
          <p:nvPr/>
        </p:nvSpPr>
        <p:spPr>
          <a:xfrm>
            <a:off x="6564959" y="2236239"/>
            <a:ext cx="1316736" cy="201168"/>
          </a:xfrm>
          <a:prstGeom prst="rect">
            <a:avLst/>
          </a:prstGeom>
          <a:solidFill>
            <a:schemeClr val="bg2"/>
          </a:solidFill>
          <a:ln w="12700">
            <a:solidFill>
              <a:srgbClr val="2A1A0A"/>
            </a:solidFill>
            <a:prstDash val="solid"/>
          </a:ln>
        </p:spPr>
        <p:txBody>
          <a:bodyPr/>
          <a:lstStyle/>
          <a:p>
            <a:endParaRPr lang="en-US"/>
          </a:p>
        </p:txBody>
      </p:sp>
      <p:sp>
        <p:nvSpPr>
          <p:cNvPr id="32" name="Shape 16">
            <a:extLst>
              <a:ext uri="{FF2B5EF4-FFF2-40B4-BE49-F238E27FC236}">
                <a16:creationId xmlns:a16="http://schemas.microsoft.com/office/drawing/2014/main" id="{B6650983-EAA8-9A33-9361-7A7E630E5B61}"/>
              </a:ext>
            </a:extLst>
          </p:cNvPr>
          <p:cNvSpPr/>
          <p:nvPr/>
        </p:nvSpPr>
        <p:spPr>
          <a:xfrm>
            <a:off x="6564959" y="2236239"/>
            <a:ext cx="1316736" cy="201168"/>
          </a:xfrm>
          <a:prstGeom prst="rect">
            <a:avLst/>
          </a:prstGeom>
          <a:solidFill>
            <a:srgbClr val="FFC000"/>
          </a:solidFill>
          <a:ln w="12700">
            <a:solidFill>
              <a:srgbClr val="C0DD97"/>
            </a:solidFill>
            <a:prstDash val="solid"/>
          </a:ln>
        </p:spPr>
        <p:txBody>
          <a:bodyPr/>
          <a:lstStyle/>
          <a:p>
            <a:endParaRPr lang="en-US"/>
          </a:p>
        </p:txBody>
      </p:sp>
      <p:sp>
        <p:nvSpPr>
          <p:cNvPr id="40" name="Text 17">
            <a:extLst>
              <a:ext uri="{FF2B5EF4-FFF2-40B4-BE49-F238E27FC236}">
                <a16:creationId xmlns:a16="http://schemas.microsoft.com/office/drawing/2014/main" id="{ACD0D2E3-CD3A-D539-C9D0-47D2352CFAA2}"/>
              </a:ext>
            </a:extLst>
          </p:cNvPr>
          <p:cNvSpPr/>
          <p:nvPr/>
        </p:nvSpPr>
        <p:spPr>
          <a:xfrm>
            <a:off x="6564959" y="2035071"/>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57" name="Text 18">
            <a:extLst>
              <a:ext uri="{FF2B5EF4-FFF2-40B4-BE49-F238E27FC236}">
                <a16:creationId xmlns:a16="http://schemas.microsoft.com/office/drawing/2014/main" id="{A3C7168E-F4F7-4A66-D258-D673834E9AA6}"/>
              </a:ext>
            </a:extLst>
          </p:cNvPr>
          <p:cNvSpPr/>
          <p:nvPr/>
        </p:nvSpPr>
        <p:spPr>
          <a:xfrm>
            <a:off x="9076660" y="2160300"/>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58" name="Shape 23">
            <a:extLst>
              <a:ext uri="{FF2B5EF4-FFF2-40B4-BE49-F238E27FC236}">
                <a16:creationId xmlns:a16="http://schemas.microsoft.com/office/drawing/2014/main" id="{97ADCB36-D4B7-4612-6078-1953767AA242}"/>
              </a:ext>
            </a:extLst>
          </p:cNvPr>
          <p:cNvSpPr/>
          <p:nvPr/>
        </p:nvSpPr>
        <p:spPr>
          <a:xfrm>
            <a:off x="4409537" y="2998292"/>
            <a:ext cx="1463040" cy="201168"/>
          </a:xfrm>
          <a:prstGeom prst="rect">
            <a:avLst/>
          </a:prstGeom>
          <a:solidFill>
            <a:srgbClr val="FFFFFF"/>
          </a:solidFill>
          <a:ln w="12700">
            <a:solidFill>
              <a:srgbClr val="1E3A4A"/>
            </a:solidFill>
            <a:prstDash val="solid"/>
          </a:ln>
        </p:spPr>
        <p:txBody>
          <a:bodyPr/>
          <a:lstStyle/>
          <a:p>
            <a:endParaRPr lang="en-US"/>
          </a:p>
        </p:txBody>
      </p:sp>
      <p:sp>
        <p:nvSpPr>
          <p:cNvPr id="60" name="Shape 24">
            <a:extLst>
              <a:ext uri="{FF2B5EF4-FFF2-40B4-BE49-F238E27FC236}">
                <a16:creationId xmlns:a16="http://schemas.microsoft.com/office/drawing/2014/main" id="{E229C519-03FB-884B-C2A8-1A83E96A514D}"/>
              </a:ext>
            </a:extLst>
          </p:cNvPr>
          <p:cNvSpPr/>
          <p:nvPr/>
        </p:nvSpPr>
        <p:spPr>
          <a:xfrm>
            <a:off x="4409537" y="2998292"/>
            <a:ext cx="1463040" cy="230807"/>
          </a:xfrm>
          <a:prstGeom prst="rect">
            <a:avLst/>
          </a:prstGeom>
          <a:solidFill>
            <a:srgbClr val="FFC000"/>
          </a:solidFill>
          <a:ln w="12700">
            <a:solidFill>
              <a:srgbClr val="C0DD97"/>
            </a:solidFill>
            <a:prstDash val="solid"/>
          </a:ln>
        </p:spPr>
        <p:txBody>
          <a:bodyPr/>
          <a:lstStyle/>
          <a:p>
            <a:endParaRPr lang="en-US" dirty="0"/>
          </a:p>
        </p:txBody>
      </p:sp>
      <p:sp>
        <p:nvSpPr>
          <p:cNvPr id="61" name="Text 25">
            <a:extLst>
              <a:ext uri="{FF2B5EF4-FFF2-40B4-BE49-F238E27FC236}">
                <a16:creationId xmlns:a16="http://schemas.microsoft.com/office/drawing/2014/main" id="{7D3E2696-1C7D-E887-C8A6-7B5E664FC0B9}"/>
              </a:ext>
            </a:extLst>
          </p:cNvPr>
          <p:cNvSpPr/>
          <p:nvPr/>
        </p:nvSpPr>
        <p:spPr>
          <a:xfrm>
            <a:off x="4409537" y="2797124"/>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62" name="Shape 26">
            <a:extLst>
              <a:ext uri="{FF2B5EF4-FFF2-40B4-BE49-F238E27FC236}">
                <a16:creationId xmlns:a16="http://schemas.microsoft.com/office/drawing/2014/main" id="{477B2D49-C06E-3204-0FD8-897075906B95}"/>
              </a:ext>
            </a:extLst>
          </p:cNvPr>
          <p:cNvSpPr/>
          <p:nvPr/>
        </p:nvSpPr>
        <p:spPr>
          <a:xfrm>
            <a:off x="6564959" y="2998292"/>
            <a:ext cx="1316736" cy="201168"/>
          </a:xfrm>
          <a:prstGeom prst="rect">
            <a:avLst/>
          </a:prstGeom>
          <a:solidFill>
            <a:schemeClr val="bg2"/>
          </a:solidFill>
          <a:ln w="12700">
            <a:solidFill>
              <a:srgbClr val="2A1A0A"/>
            </a:solidFill>
            <a:prstDash val="solid"/>
          </a:ln>
        </p:spPr>
        <p:txBody>
          <a:bodyPr/>
          <a:lstStyle/>
          <a:p>
            <a:endParaRPr lang="en-US"/>
          </a:p>
        </p:txBody>
      </p:sp>
      <p:sp>
        <p:nvSpPr>
          <p:cNvPr id="63" name="Shape 27">
            <a:extLst>
              <a:ext uri="{FF2B5EF4-FFF2-40B4-BE49-F238E27FC236}">
                <a16:creationId xmlns:a16="http://schemas.microsoft.com/office/drawing/2014/main" id="{6C635BCA-F263-5450-502D-CE63C0214550}"/>
              </a:ext>
            </a:extLst>
          </p:cNvPr>
          <p:cNvSpPr/>
          <p:nvPr/>
        </p:nvSpPr>
        <p:spPr>
          <a:xfrm>
            <a:off x="6564959" y="2998292"/>
            <a:ext cx="1316736" cy="201168"/>
          </a:xfrm>
          <a:prstGeom prst="rect">
            <a:avLst/>
          </a:prstGeom>
          <a:solidFill>
            <a:srgbClr val="00249C"/>
          </a:solidFill>
          <a:ln w="12700">
            <a:solidFill>
              <a:srgbClr val="C0DD97"/>
            </a:solidFill>
            <a:prstDash val="solid"/>
          </a:ln>
        </p:spPr>
        <p:txBody>
          <a:bodyPr/>
          <a:lstStyle/>
          <a:p>
            <a:endParaRPr lang="en-US" dirty="0"/>
          </a:p>
        </p:txBody>
      </p:sp>
      <p:sp>
        <p:nvSpPr>
          <p:cNvPr id="64" name="Text 28">
            <a:extLst>
              <a:ext uri="{FF2B5EF4-FFF2-40B4-BE49-F238E27FC236}">
                <a16:creationId xmlns:a16="http://schemas.microsoft.com/office/drawing/2014/main" id="{5F7C0F9F-D9CD-DD83-5F75-017B43BCB500}"/>
              </a:ext>
            </a:extLst>
          </p:cNvPr>
          <p:cNvSpPr/>
          <p:nvPr/>
        </p:nvSpPr>
        <p:spPr>
          <a:xfrm>
            <a:off x="6564959" y="2797124"/>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65" name="Text 29">
            <a:extLst>
              <a:ext uri="{FF2B5EF4-FFF2-40B4-BE49-F238E27FC236}">
                <a16:creationId xmlns:a16="http://schemas.microsoft.com/office/drawing/2014/main" id="{FC4FA658-F281-1852-ABCB-2B9E53858B4B}"/>
              </a:ext>
            </a:extLst>
          </p:cNvPr>
          <p:cNvSpPr/>
          <p:nvPr/>
        </p:nvSpPr>
        <p:spPr>
          <a:xfrm>
            <a:off x="9076660" y="2911059"/>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66" name="Shape 34">
            <a:extLst>
              <a:ext uri="{FF2B5EF4-FFF2-40B4-BE49-F238E27FC236}">
                <a16:creationId xmlns:a16="http://schemas.microsoft.com/office/drawing/2014/main" id="{61F34F27-6FAD-DA29-8AE4-E43586B41147}"/>
              </a:ext>
            </a:extLst>
          </p:cNvPr>
          <p:cNvSpPr/>
          <p:nvPr/>
        </p:nvSpPr>
        <p:spPr>
          <a:xfrm>
            <a:off x="4409537" y="3719086"/>
            <a:ext cx="1463040" cy="201168"/>
          </a:xfrm>
          <a:prstGeom prst="rect">
            <a:avLst/>
          </a:prstGeom>
          <a:solidFill>
            <a:schemeClr val="bg2"/>
          </a:solidFill>
          <a:ln w="12700">
            <a:solidFill>
              <a:srgbClr val="1E3A4A"/>
            </a:solidFill>
            <a:prstDash val="solid"/>
          </a:ln>
        </p:spPr>
        <p:txBody>
          <a:bodyPr/>
          <a:lstStyle/>
          <a:p>
            <a:endParaRPr lang="en-US"/>
          </a:p>
        </p:txBody>
      </p:sp>
      <p:sp>
        <p:nvSpPr>
          <p:cNvPr id="67" name="Shape 35">
            <a:extLst>
              <a:ext uri="{FF2B5EF4-FFF2-40B4-BE49-F238E27FC236}">
                <a16:creationId xmlns:a16="http://schemas.microsoft.com/office/drawing/2014/main" id="{D08D1D90-1BCB-ED87-C828-968E7B8CF13F}"/>
              </a:ext>
            </a:extLst>
          </p:cNvPr>
          <p:cNvSpPr/>
          <p:nvPr/>
        </p:nvSpPr>
        <p:spPr>
          <a:xfrm>
            <a:off x="4409537" y="3719086"/>
            <a:ext cx="1463040" cy="201168"/>
          </a:xfrm>
          <a:prstGeom prst="rect">
            <a:avLst/>
          </a:prstGeom>
          <a:solidFill>
            <a:srgbClr val="FFC000"/>
          </a:solidFill>
          <a:ln w="12700">
            <a:solidFill>
              <a:srgbClr val="F7C1C1"/>
            </a:solidFill>
            <a:prstDash val="solid"/>
          </a:ln>
        </p:spPr>
        <p:txBody>
          <a:bodyPr/>
          <a:lstStyle/>
          <a:p>
            <a:endParaRPr lang="en-US"/>
          </a:p>
        </p:txBody>
      </p:sp>
      <p:sp>
        <p:nvSpPr>
          <p:cNvPr id="68" name="Text 36">
            <a:extLst>
              <a:ext uri="{FF2B5EF4-FFF2-40B4-BE49-F238E27FC236}">
                <a16:creationId xmlns:a16="http://schemas.microsoft.com/office/drawing/2014/main" id="{30C476F7-DAE0-A2F9-356C-0D443B75B487}"/>
              </a:ext>
            </a:extLst>
          </p:cNvPr>
          <p:cNvSpPr/>
          <p:nvPr/>
        </p:nvSpPr>
        <p:spPr>
          <a:xfrm>
            <a:off x="4409537" y="351791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69" name="Shape 37">
            <a:extLst>
              <a:ext uri="{FF2B5EF4-FFF2-40B4-BE49-F238E27FC236}">
                <a16:creationId xmlns:a16="http://schemas.microsoft.com/office/drawing/2014/main" id="{26365B79-35D5-0C07-B7F7-E345FBDA90C3}"/>
              </a:ext>
            </a:extLst>
          </p:cNvPr>
          <p:cNvSpPr/>
          <p:nvPr/>
        </p:nvSpPr>
        <p:spPr>
          <a:xfrm>
            <a:off x="6564959" y="3719086"/>
            <a:ext cx="1316736" cy="201168"/>
          </a:xfrm>
          <a:prstGeom prst="rect">
            <a:avLst/>
          </a:prstGeom>
          <a:solidFill>
            <a:schemeClr val="bg2"/>
          </a:solidFill>
          <a:ln w="12700">
            <a:solidFill>
              <a:srgbClr val="2A1A0A"/>
            </a:solidFill>
            <a:prstDash val="solid"/>
          </a:ln>
        </p:spPr>
        <p:txBody>
          <a:bodyPr/>
          <a:lstStyle/>
          <a:p>
            <a:endParaRPr lang="en-US"/>
          </a:p>
        </p:txBody>
      </p:sp>
      <p:sp>
        <p:nvSpPr>
          <p:cNvPr id="70" name="Shape 38">
            <a:extLst>
              <a:ext uri="{FF2B5EF4-FFF2-40B4-BE49-F238E27FC236}">
                <a16:creationId xmlns:a16="http://schemas.microsoft.com/office/drawing/2014/main" id="{79E2A930-C51E-B5CD-72F7-12AF9147F652}"/>
              </a:ext>
            </a:extLst>
          </p:cNvPr>
          <p:cNvSpPr/>
          <p:nvPr/>
        </p:nvSpPr>
        <p:spPr>
          <a:xfrm>
            <a:off x="6564959" y="3719086"/>
            <a:ext cx="1316736" cy="201168"/>
          </a:xfrm>
          <a:prstGeom prst="rect">
            <a:avLst/>
          </a:prstGeom>
          <a:solidFill>
            <a:srgbClr val="00249C"/>
          </a:solidFill>
          <a:ln w="12700">
            <a:solidFill>
              <a:srgbClr val="F7C1C1"/>
            </a:solidFill>
            <a:prstDash val="solid"/>
          </a:ln>
        </p:spPr>
        <p:txBody>
          <a:bodyPr/>
          <a:lstStyle/>
          <a:p>
            <a:endParaRPr lang="en-US"/>
          </a:p>
        </p:txBody>
      </p:sp>
      <p:sp>
        <p:nvSpPr>
          <p:cNvPr id="71" name="Text 39">
            <a:extLst>
              <a:ext uri="{FF2B5EF4-FFF2-40B4-BE49-F238E27FC236}">
                <a16:creationId xmlns:a16="http://schemas.microsoft.com/office/drawing/2014/main" id="{469FCAB6-937E-6D60-4424-9C8141132417}"/>
              </a:ext>
            </a:extLst>
          </p:cNvPr>
          <p:cNvSpPr/>
          <p:nvPr/>
        </p:nvSpPr>
        <p:spPr>
          <a:xfrm>
            <a:off x="6615326" y="3508177"/>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72" name="Text 40">
            <a:extLst>
              <a:ext uri="{FF2B5EF4-FFF2-40B4-BE49-F238E27FC236}">
                <a16:creationId xmlns:a16="http://schemas.microsoft.com/office/drawing/2014/main" id="{4A2C479A-2749-80D7-F7B8-CB82A41E95E7}"/>
              </a:ext>
            </a:extLst>
          </p:cNvPr>
          <p:cNvSpPr/>
          <p:nvPr/>
        </p:nvSpPr>
        <p:spPr>
          <a:xfrm>
            <a:off x="9076660" y="361410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73" name="Shape 45">
            <a:extLst>
              <a:ext uri="{FF2B5EF4-FFF2-40B4-BE49-F238E27FC236}">
                <a16:creationId xmlns:a16="http://schemas.microsoft.com/office/drawing/2014/main" id="{69B39C9B-0F8B-78DA-355A-C9709C587F93}"/>
              </a:ext>
            </a:extLst>
          </p:cNvPr>
          <p:cNvSpPr/>
          <p:nvPr/>
        </p:nvSpPr>
        <p:spPr>
          <a:xfrm>
            <a:off x="4409537" y="4410241"/>
            <a:ext cx="1463040" cy="201168"/>
          </a:xfrm>
          <a:prstGeom prst="rect">
            <a:avLst/>
          </a:prstGeom>
          <a:solidFill>
            <a:schemeClr val="bg2"/>
          </a:solidFill>
          <a:ln w="12700">
            <a:solidFill>
              <a:srgbClr val="1E3A4A"/>
            </a:solidFill>
            <a:prstDash val="solid"/>
          </a:ln>
        </p:spPr>
        <p:txBody>
          <a:bodyPr/>
          <a:lstStyle/>
          <a:p>
            <a:endParaRPr lang="en-US"/>
          </a:p>
        </p:txBody>
      </p:sp>
      <p:sp>
        <p:nvSpPr>
          <p:cNvPr id="74" name="Shape 46">
            <a:extLst>
              <a:ext uri="{FF2B5EF4-FFF2-40B4-BE49-F238E27FC236}">
                <a16:creationId xmlns:a16="http://schemas.microsoft.com/office/drawing/2014/main" id="{41E4B394-1A07-1E7D-D80C-08A58E1835F4}"/>
              </a:ext>
            </a:extLst>
          </p:cNvPr>
          <p:cNvSpPr/>
          <p:nvPr/>
        </p:nvSpPr>
        <p:spPr>
          <a:xfrm>
            <a:off x="4409536" y="4410241"/>
            <a:ext cx="1089151" cy="201168"/>
          </a:xfrm>
          <a:prstGeom prst="rect">
            <a:avLst/>
          </a:prstGeom>
          <a:solidFill>
            <a:srgbClr val="FFC000"/>
          </a:solidFill>
          <a:ln w="12700">
            <a:solidFill>
              <a:srgbClr val="C0DD97"/>
            </a:solidFill>
            <a:prstDash val="solid"/>
          </a:ln>
        </p:spPr>
        <p:txBody>
          <a:bodyPr/>
          <a:lstStyle/>
          <a:p>
            <a:endParaRPr lang="en-US"/>
          </a:p>
        </p:txBody>
      </p:sp>
      <p:sp>
        <p:nvSpPr>
          <p:cNvPr id="75" name="Text 47">
            <a:extLst>
              <a:ext uri="{FF2B5EF4-FFF2-40B4-BE49-F238E27FC236}">
                <a16:creationId xmlns:a16="http://schemas.microsoft.com/office/drawing/2014/main" id="{50B1D3C1-444C-2099-C9E4-B27A564B7059}"/>
              </a:ext>
            </a:extLst>
          </p:cNvPr>
          <p:cNvSpPr/>
          <p:nvPr/>
        </p:nvSpPr>
        <p:spPr>
          <a:xfrm>
            <a:off x="4409537" y="4209073"/>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74%</a:t>
            </a:r>
            <a:endParaRPr lang="en-US" sz="1400" dirty="0">
              <a:solidFill>
                <a:schemeClr val="tx1">
                  <a:lumMod val="75000"/>
                </a:schemeClr>
              </a:solidFill>
            </a:endParaRPr>
          </a:p>
        </p:txBody>
      </p:sp>
      <p:sp>
        <p:nvSpPr>
          <p:cNvPr id="76" name="Shape 48">
            <a:extLst>
              <a:ext uri="{FF2B5EF4-FFF2-40B4-BE49-F238E27FC236}">
                <a16:creationId xmlns:a16="http://schemas.microsoft.com/office/drawing/2014/main" id="{68CE2CAD-EC87-780D-125D-7EAC58DBB473}"/>
              </a:ext>
            </a:extLst>
          </p:cNvPr>
          <p:cNvSpPr/>
          <p:nvPr/>
        </p:nvSpPr>
        <p:spPr>
          <a:xfrm>
            <a:off x="6564959" y="4410241"/>
            <a:ext cx="1316736" cy="201168"/>
          </a:xfrm>
          <a:prstGeom prst="rect">
            <a:avLst/>
          </a:prstGeom>
          <a:solidFill>
            <a:schemeClr val="bg2"/>
          </a:solidFill>
          <a:ln w="12700">
            <a:solidFill>
              <a:srgbClr val="2A1A0A"/>
            </a:solidFill>
            <a:prstDash val="solid"/>
          </a:ln>
        </p:spPr>
        <p:txBody>
          <a:bodyPr/>
          <a:lstStyle/>
          <a:p>
            <a:endParaRPr lang="en-US"/>
          </a:p>
        </p:txBody>
      </p:sp>
      <p:sp>
        <p:nvSpPr>
          <p:cNvPr id="77" name="Shape 49">
            <a:extLst>
              <a:ext uri="{FF2B5EF4-FFF2-40B4-BE49-F238E27FC236}">
                <a16:creationId xmlns:a16="http://schemas.microsoft.com/office/drawing/2014/main" id="{F799BC8F-C149-BFFE-939C-686F6532FFE1}"/>
              </a:ext>
            </a:extLst>
          </p:cNvPr>
          <p:cNvSpPr/>
          <p:nvPr/>
        </p:nvSpPr>
        <p:spPr>
          <a:xfrm>
            <a:off x="6564959" y="4410241"/>
            <a:ext cx="1097280" cy="201168"/>
          </a:xfrm>
          <a:prstGeom prst="rect">
            <a:avLst/>
          </a:prstGeom>
          <a:solidFill>
            <a:srgbClr val="00249C"/>
          </a:solidFill>
          <a:ln w="12700">
            <a:solidFill>
              <a:srgbClr val="C0DD97"/>
            </a:solidFill>
            <a:prstDash val="solid"/>
          </a:ln>
        </p:spPr>
        <p:txBody>
          <a:bodyPr/>
          <a:lstStyle/>
          <a:p>
            <a:endParaRPr lang="en-US"/>
          </a:p>
        </p:txBody>
      </p:sp>
      <p:sp>
        <p:nvSpPr>
          <p:cNvPr id="78" name="Text 50">
            <a:extLst>
              <a:ext uri="{FF2B5EF4-FFF2-40B4-BE49-F238E27FC236}">
                <a16:creationId xmlns:a16="http://schemas.microsoft.com/office/drawing/2014/main" id="{CC3F8160-8295-4FD1-5C99-5896053FACBF}"/>
              </a:ext>
            </a:extLst>
          </p:cNvPr>
          <p:cNvSpPr/>
          <p:nvPr/>
        </p:nvSpPr>
        <p:spPr>
          <a:xfrm>
            <a:off x="6564959" y="4209073"/>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83%</a:t>
            </a:r>
            <a:endParaRPr lang="en-US" sz="1400" dirty="0">
              <a:solidFill>
                <a:schemeClr val="tx1">
                  <a:lumMod val="75000"/>
                </a:schemeClr>
              </a:solidFill>
            </a:endParaRPr>
          </a:p>
        </p:txBody>
      </p:sp>
      <p:sp>
        <p:nvSpPr>
          <p:cNvPr id="79" name="Text 51">
            <a:extLst>
              <a:ext uri="{FF2B5EF4-FFF2-40B4-BE49-F238E27FC236}">
                <a16:creationId xmlns:a16="http://schemas.microsoft.com/office/drawing/2014/main" id="{4A4F5897-6C14-39EE-3703-A1235A3C886B}"/>
              </a:ext>
            </a:extLst>
          </p:cNvPr>
          <p:cNvSpPr/>
          <p:nvPr/>
        </p:nvSpPr>
        <p:spPr>
          <a:xfrm>
            <a:off x="9076660" y="430663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79%</a:t>
            </a:r>
            <a:endParaRPr lang="en-US" sz="1400" dirty="0">
              <a:solidFill>
                <a:schemeClr val="tx1">
                  <a:lumMod val="75000"/>
                </a:schemeClr>
              </a:solidFill>
            </a:endParaRPr>
          </a:p>
        </p:txBody>
      </p:sp>
      <p:sp>
        <p:nvSpPr>
          <p:cNvPr id="80" name="Shape 56">
            <a:extLst>
              <a:ext uri="{FF2B5EF4-FFF2-40B4-BE49-F238E27FC236}">
                <a16:creationId xmlns:a16="http://schemas.microsoft.com/office/drawing/2014/main" id="{A8989166-20AE-A56B-BB14-6B4BA81E880D}"/>
              </a:ext>
            </a:extLst>
          </p:cNvPr>
          <p:cNvSpPr/>
          <p:nvPr/>
        </p:nvSpPr>
        <p:spPr>
          <a:xfrm>
            <a:off x="4409538" y="5151026"/>
            <a:ext cx="1463040" cy="201168"/>
          </a:xfrm>
          <a:prstGeom prst="rect">
            <a:avLst/>
          </a:prstGeom>
          <a:solidFill>
            <a:schemeClr val="bg2"/>
          </a:solidFill>
          <a:ln w="12700">
            <a:solidFill>
              <a:srgbClr val="1E3A4A"/>
            </a:solidFill>
            <a:prstDash val="solid"/>
          </a:ln>
        </p:spPr>
        <p:txBody>
          <a:bodyPr/>
          <a:lstStyle/>
          <a:p>
            <a:endParaRPr lang="en-US"/>
          </a:p>
        </p:txBody>
      </p:sp>
      <p:sp>
        <p:nvSpPr>
          <p:cNvPr id="81" name="Shape 57">
            <a:extLst>
              <a:ext uri="{FF2B5EF4-FFF2-40B4-BE49-F238E27FC236}">
                <a16:creationId xmlns:a16="http://schemas.microsoft.com/office/drawing/2014/main" id="{0B06808D-3535-90C9-D5A5-1EE0021CD71D}"/>
              </a:ext>
            </a:extLst>
          </p:cNvPr>
          <p:cNvSpPr/>
          <p:nvPr/>
        </p:nvSpPr>
        <p:spPr>
          <a:xfrm>
            <a:off x="4409538" y="5151026"/>
            <a:ext cx="1234042" cy="201168"/>
          </a:xfrm>
          <a:prstGeom prst="rect">
            <a:avLst/>
          </a:prstGeom>
          <a:solidFill>
            <a:srgbClr val="FFC000"/>
          </a:solidFill>
          <a:ln w="12700">
            <a:solidFill>
              <a:srgbClr val="F7C1C1"/>
            </a:solidFill>
            <a:prstDash val="solid"/>
          </a:ln>
        </p:spPr>
        <p:txBody>
          <a:bodyPr/>
          <a:lstStyle/>
          <a:p>
            <a:endParaRPr lang="en-US"/>
          </a:p>
        </p:txBody>
      </p:sp>
      <p:sp>
        <p:nvSpPr>
          <p:cNvPr id="82" name="Text 58">
            <a:extLst>
              <a:ext uri="{FF2B5EF4-FFF2-40B4-BE49-F238E27FC236}">
                <a16:creationId xmlns:a16="http://schemas.microsoft.com/office/drawing/2014/main" id="{1FEACE66-747E-3DA6-B004-A02E95301C59}"/>
              </a:ext>
            </a:extLst>
          </p:cNvPr>
          <p:cNvSpPr/>
          <p:nvPr/>
        </p:nvSpPr>
        <p:spPr>
          <a:xfrm>
            <a:off x="4409538" y="494985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84%</a:t>
            </a:r>
            <a:endParaRPr lang="en-US" sz="1400" dirty="0">
              <a:solidFill>
                <a:schemeClr val="tx1">
                  <a:lumMod val="75000"/>
                </a:schemeClr>
              </a:solidFill>
            </a:endParaRPr>
          </a:p>
        </p:txBody>
      </p:sp>
      <p:sp>
        <p:nvSpPr>
          <p:cNvPr id="83" name="Shape 59">
            <a:extLst>
              <a:ext uri="{FF2B5EF4-FFF2-40B4-BE49-F238E27FC236}">
                <a16:creationId xmlns:a16="http://schemas.microsoft.com/office/drawing/2014/main" id="{7BFCC5D1-D0CB-047D-A133-3F217E5F89B1}"/>
              </a:ext>
            </a:extLst>
          </p:cNvPr>
          <p:cNvSpPr/>
          <p:nvPr/>
        </p:nvSpPr>
        <p:spPr>
          <a:xfrm>
            <a:off x="6564960" y="5151026"/>
            <a:ext cx="1316736" cy="201168"/>
          </a:xfrm>
          <a:prstGeom prst="rect">
            <a:avLst/>
          </a:prstGeom>
          <a:solidFill>
            <a:schemeClr val="bg2"/>
          </a:solidFill>
          <a:ln w="12700">
            <a:solidFill>
              <a:srgbClr val="2A1A0A"/>
            </a:solidFill>
            <a:prstDash val="solid"/>
          </a:ln>
        </p:spPr>
        <p:txBody>
          <a:bodyPr/>
          <a:lstStyle/>
          <a:p>
            <a:endParaRPr lang="en-US"/>
          </a:p>
        </p:txBody>
      </p:sp>
      <p:sp>
        <p:nvSpPr>
          <p:cNvPr id="84" name="Shape 60">
            <a:extLst>
              <a:ext uri="{FF2B5EF4-FFF2-40B4-BE49-F238E27FC236}">
                <a16:creationId xmlns:a16="http://schemas.microsoft.com/office/drawing/2014/main" id="{ABD24DCA-17EA-C8D1-2B67-308309075D0C}"/>
              </a:ext>
            </a:extLst>
          </p:cNvPr>
          <p:cNvSpPr/>
          <p:nvPr/>
        </p:nvSpPr>
        <p:spPr>
          <a:xfrm>
            <a:off x="6564960" y="5151026"/>
            <a:ext cx="1176284" cy="201168"/>
          </a:xfrm>
          <a:prstGeom prst="rect">
            <a:avLst/>
          </a:prstGeom>
          <a:solidFill>
            <a:srgbClr val="FFC000"/>
          </a:solidFill>
          <a:ln w="12700">
            <a:solidFill>
              <a:srgbClr val="F7C1C1"/>
            </a:solidFill>
            <a:prstDash val="solid"/>
          </a:ln>
        </p:spPr>
        <p:txBody>
          <a:bodyPr/>
          <a:lstStyle/>
          <a:p>
            <a:endParaRPr lang="en-US"/>
          </a:p>
        </p:txBody>
      </p:sp>
      <p:sp>
        <p:nvSpPr>
          <p:cNvPr id="85" name="Text 61">
            <a:extLst>
              <a:ext uri="{FF2B5EF4-FFF2-40B4-BE49-F238E27FC236}">
                <a16:creationId xmlns:a16="http://schemas.microsoft.com/office/drawing/2014/main" id="{EB6684DE-5CE5-E2C2-94F5-7397A99093DA}"/>
              </a:ext>
            </a:extLst>
          </p:cNvPr>
          <p:cNvSpPr/>
          <p:nvPr/>
        </p:nvSpPr>
        <p:spPr>
          <a:xfrm>
            <a:off x="6564960" y="4949858"/>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89%</a:t>
            </a:r>
            <a:endParaRPr lang="en-US" sz="1400" dirty="0">
              <a:solidFill>
                <a:schemeClr val="tx1">
                  <a:lumMod val="75000"/>
                </a:schemeClr>
              </a:solidFill>
            </a:endParaRPr>
          </a:p>
        </p:txBody>
      </p:sp>
      <p:sp>
        <p:nvSpPr>
          <p:cNvPr id="86" name="Text 62">
            <a:extLst>
              <a:ext uri="{FF2B5EF4-FFF2-40B4-BE49-F238E27FC236}">
                <a16:creationId xmlns:a16="http://schemas.microsoft.com/office/drawing/2014/main" id="{C844CE18-33A1-23A6-4FF9-2B2099AA500C}"/>
              </a:ext>
            </a:extLst>
          </p:cNvPr>
          <p:cNvSpPr/>
          <p:nvPr/>
        </p:nvSpPr>
        <p:spPr>
          <a:xfrm>
            <a:off x="9076661" y="5057253"/>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87%</a:t>
            </a:r>
            <a:endParaRPr lang="en-US" sz="1400" dirty="0">
              <a:solidFill>
                <a:schemeClr val="tx1">
                  <a:lumMod val="75000"/>
                </a:schemeClr>
              </a:solidFill>
            </a:endParaRPr>
          </a:p>
        </p:txBody>
      </p:sp>
      <p:sp>
        <p:nvSpPr>
          <p:cNvPr id="87" name="Text 11">
            <a:extLst>
              <a:ext uri="{FF2B5EF4-FFF2-40B4-BE49-F238E27FC236}">
                <a16:creationId xmlns:a16="http://schemas.microsoft.com/office/drawing/2014/main" id="{917D5CD2-EEF6-C0AE-3008-6D3CAC039BF5}"/>
              </a:ext>
            </a:extLst>
          </p:cNvPr>
          <p:cNvSpPr/>
          <p:nvPr/>
        </p:nvSpPr>
        <p:spPr>
          <a:xfrm>
            <a:off x="998202" y="2745183"/>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2. Risk Management &amp; Planning (20%)</a:t>
            </a:r>
          </a:p>
        </p:txBody>
      </p:sp>
      <p:sp>
        <p:nvSpPr>
          <p:cNvPr id="88" name="Text 11">
            <a:extLst>
              <a:ext uri="{FF2B5EF4-FFF2-40B4-BE49-F238E27FC236}">
                <a16:creationId xmlns:a16="http://schemas.microsoft.com/office/drawing/2014/main" id="{7F86E6F3-81BB-01AF-2D9F-6A1991D63281}"/>
              </a:ext>
            </a:extLst>
          </p:cNvPr>
          <p:cNvSpPr/>
          <p:nvPr/>
        </p:nvSpPr>
        <p:spPr>
          <a:xfrm>
            <a:off x="998202" y="347943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3. Training &amp; Awareness (10%)</a:t>
            </a:r>
          </a:p>
        </p:txBody>
      </p:sp>
      <p:sp>
        <p:nvSpPr>
          <p:cNvPr id="89" name="Text 11">
            <a:extLst>
              <a:ext uri="{FF2B5EF4-FFF2-40B4-BE49-F238E27FC236}">
                <a16:creationId xmlns:a16="http://schemas.microsoft.com/office/drawing/2014/main" id="{FBBB0DA6-AC6E-CF5B-16A3-16D32590C3AA}"/>
              </a:ext>
            </a:extLst>
          </p:cNvPr>
          <p:cNvSpPr/>
          <p:nvPr/>
        </p:nvSpPr>
        <p:spPr>
          <a:xfrm>
            <a:off x="998202" y="420782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4. Operational Control &amp; Emergency Preparedness (25%)</a:t>
            </a:r>
          </a:p>
        </p:txBody>
      </p:sp>
      <p:sp>
        <p:nvSpPr>
          <p:cNvPr id="90" name="Text 11">
            <a:extLst>
              <a:ext uri="{FF2B5EF4-FFF2-40B4-BE49-F238E27FC236}">
                <a16:creationId xmlns:a16="http://schemas.microsoft.com/office/drawing/2014/main" id="{24DE36AD-FE9C-9906-C01C-1D9E5DC42CDD}"/>
              </a:ext>
            </a:extLst>
          </p:cNvPr>
          <p:cNvSpPr/>
          <p:nvPr/>
        </p:nvSpPr>
        <p:spPr>
          <a:xfrm>
            <a:off x="998202" y="493985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5. Performance Evaluation &amp; Continuous Improvement (25%)</a:t>
            </a:r>
          </a:p>
        </p:txBody>
      </p:sp>
      <p:sp>
        <p:nvSpPr>
          <p:cNvPr id="91" name="Text 3">
            <a:extLst>
              <a:ext uri="{FF2B5EF4-FFF2-40B4-BE49-F238E27FC236}">
                <a16:creationId xmlns:a16="http://schemas.microsoft.com/office/drawing/2014/main" id="{4F70E5BA-29BD-30FB-2776-2823F9A26413}"/>
              </a:ext>
            </a:extLst>
          </p:cNvPr>
          <p:cNvSpPr/>
          <p:nvPr/>
        </p:nvSpPr>
        <p:spPr>
          <a:xfrm>
            <a:off x="998201" y="1577237"/>
            <a:ext cx="2938863" cy="29624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Pillar</a:t>
            </a:r>
            <a:endParaRPr lang="en-US" sz="1600" dirty="0">
              <a:solidFill>
                <a:srgbClr val="00249C"/>
              </a:solidFill>
            </a:endParaRPr>
          </a:p>
        </p:txBody>
      </p:sp>
      <p:sp>
        <p:nvSpPr>
          <p:cNvPr id="92" name="Text 4">
            <a:extLst>
              <a:ext uri="{FF2B5EF4-FFF2-40B4-BE49-F238E27FC236}">
                <a16:creationId xmlns:a16="http://schemas.microsoft.com/office/drawing/2014/main" id="{D7A36F8B-6D54-086E-C3F8-C1347A7D3E6C}"/>
              </a:ext>
            </a:extLst>
          </p:cNvPr>
          <p:cNvSpPr/>
          <p:nvPr/>
        </p:nvSpPr>
        <p:spPr>
          <a:xfrm>
            <a:off x="4164458" y="1571795"/>
            <a:ext cx="1831378" cy="248846"/>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Baniyas A</a:t>
            </a:r>
            <a:endParaRPr lang="en-US" sz="1600" dirty="0">
              <a:solidFill>
                <a:srgbClr val="00249C"/>
              </a:solidFill>
            </a:endParaRPr>
          </a:p>
        </p:txBody>
      </p:sp>
      <p:sp>
        <p:nvSpPr>
          <p:cNvPr id="93" name="Text 5">
            <a:extLst>
              <a:ext uri="{FF2B5EF4-FFF2-40B4-BE49-F238E27FC236}">
                <a16:creationId xmlns:a16="http://schemas.microsoft.com/office/drawing/2014/main" id="{F852F043-5104-652E-EADA-52E6968D0F19}"/>
              </a:ext>
            </a:extLst>
          </p:cNvPr>
          <p:cNvSpPr/>
          <p:nvPr/>
        </p:nvSpPr>
        <p:spPr>
          <a:xfrm>
            <a:off x="6336148" y="1592923"/>
            <a:ext cx="1774358" cy="251945"/>
          </a:xfrm>
          <a:prstGeom prst="rect">
            <a:avLst/>
          </a:prstGeom>
          <a:noFill/>
          <a:ln/>
        </p:spPr>
        <p:txBody>
          <a:bodyPr wrap="square" lIns="0" tIns="0" rIns="0" bIns="0" rtlCol="0" anchor="ctr"/>
          <a:lstStyle/>
          <a:p>
            <a:pPr algn="ctr"/>
            <a:r>
              <a:rPr lang="en-US" sz="1600" dirty="0">
                <a:solidFill>
                  <a:srgbClr val="00249C"/>
                </a:solidFill>
                <a:latin typeface="Calibri" pitchFamily="34" charset="0"/>
                <a:ea typeface="Calibri" pitchFamily="34" charset="-122"/>
                <a:cs typeface="Calibri" pitchFamily="34" charset="-120"/>
              </a:rPr>
              <a:t>Baniyas B</a:t>
            </a:r>
            <a:endParaRPr lang="en-US" sz="1600" dirty="0">
              <a:solidFill>
                <a:srgbClr val="00249C"/>
              </a:solidFill>
            </a:endParaRPr>
          </a:p>
        </p:txBody>
      </p:sp>
      <p:sp>
        <p:nvSpPr>
          <p:cNvPr id="94" name="Text 6">
            <a:extLst>
              <a:ext uri="{FF2B5EF4-FFF2-40B4-BE49-F238E27FC236}">
                <a16:creationId xmlns:a16="http://schemas.microsoft.com/office/drawing/2014/main" id="{1E43C59F-9345-7D15-5069-F608DAE42EE6}"/>
              </a:ext>
            </a:extLst>
          </p:cNvPr>
          <p:cNvSpPr/>
          <p:nvPr/>
        </p:nvSpPr>
        <p:spPr>
          <a:xfrm>
            <a:off x="8450818" y="1595450"/>
            <a:ext cx="2124260" cy="24688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Avg Across Campuses </a:t>
            </a:r>
            <a:endParaRPr lang="en-US" sz="1600" dirty="0">
              <a:solidFill>
                <a:srgbClr val="00249C"/>
              </a:solidFill>
            </a:endParaRPr>
          </a:p>
        </p:txBody>
      </p:sp>
      <p:cxnSp>
        <p:nvCxnSpPr>
          <p:cNvPr id="95" name="Straight Connector 94">
            <a:extLst>
              <a:ext uri="{FF2B5EF4-FFF2-40B4-BE49-F238E27FC236}">
                <a16:creationId xmlns:a16="http://schemas.microsoft.com/office/drawing/2014/main" id="{42D10289-80BB-B0EA-E1D3-66ED48D5518F}"/>
              </a:ext>
            </a:extLst>
          </p:cNvPr>
          <p:cNvCxnSpPr/>
          <p:nvPr/>
        </p:nvCxnSpPr>
        <p:spPr>
          <a:xfrm>
            <a:off x="998202" y="1932032"/>
            <a:ext cx="9604942" cy="0"/>
          </a:xfrm>
          <a:prstGeom prst="line">
            <a:avLst/>
          </a:prstGeom>
          <a:ln>
            <a:solidFill>
              <a:srgbClr val="00249C"/>
            </a:solidFill>
          </a:ln>
        </p:spPr>
        <p:style>
          <a:lnRef idx="1">
            <a:schemeClr val="accent1"/>
          </a:lnRef>
          <a:fillRef idx="0">
            <a:schemeClr val="accent1"/>
          </a:fillRef>
          <a:effectRef idx="0">
            <a:schemeClr val="accent1"/>
          </a:effectRef>
          <a:fontRef idx="minor">
            <a:schemeClr val="tx1"/>
          </a:fontRef>
        </p:style>
      </p:cxnSp>
      <p:sp>
        <p:nvSpPr>
          <p:cNvPr id="2" name="Shape 3">
            <a:extLst>
              <a:ext uri="{FF2B5EF4-FFF2-40B4-BE49-F238E27FC236}">
                <a16:creationId xmlns:a16="http://schemas.microsoft.com/office/drawing/2014/main" id="{20B80BA5-F304-C2A3-8802-DC97E50A4ED0}"/>
              </a:ext>
            </a:extLst>
          </p:cNvPr>
          <p:cNvSpPr/>
          <p:nvPr/>
        </p:nvSpPr>
        <p:spPr>
          <a:xfrm>
            <a:off x="4405066"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 name="Shape 4">
            <a:extLst>
              <a:ext uri="{FF2B5EF4-FFF2-40B4-BE49-F238E27FC236}">
                <a16:creationId xmlns:a16="http://schemas.microsoft.com/office/drawing/2014/main" id="{A29C7D7B-77B4-22D1-782D-3E48EA43A63E}"/>
              </a:ext>
            </a:extLst>
          </p:cNvPr>
          <p:cNvSpPr/>
          <p:nvPr/>
        </p:nvSpPr>
        <p:spPr>
          <a:xfrm>
            <a:off x="4412015"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 name="Text 5">
            <a:extLst>
              <a:ext uri="{FF2B5EF4-FFF2-40B4-BE49-F238E27FC236}">
                <a16:creationId xmlns:a16="http://schemas.microsoft.com/office/drawing/2014/main" id="{CC5A3054-ECB2-4DC3-FFBD-C7D890E4F142}"/>
              </a:ext>
            </a:extLst>
          </p:cNvPr>
          <p:cNvSpPr/>
          <p:nvPr/>
        </p:nvSpPr>
        <p:spPr>
          <a:xfrm>
            <a:off x="4606234"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Baniyas A 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8" name="Text 6">
            <a:extLst>
              <a:ext uri="{FF2B5EF4-FFF2-40B4-BE49-F238E27FC236}">
                <a16:creationId xmlns:a16="http://schemas.microsoft.com/office/drawing/2014/main" id="{23838B55-691B-071B-E85E-A6B74C8CCFBF}"/>
              </a:ext>
            </a:extLst>
          </p:cNvPr>
          <p:cNvSpPr/>
          <p:nvPr/>
        </p:nvSpPr>
        <p:spPr>
          <a:xfrm>
            <a:off x="4606234" y="6068253"/>
            <a:ext cx="1691640" cy="384048"/>
          </a:xfrm>
          <a:prstGeom prst="rect">
            <a:avLst/>
          </a:prstGeom>
          <a:noFill/>
          <a:ln/>
        </p:spPr>
        <p:txBody>
          <a:bodyPr wrap="square" lIns="0" tIns="0" rIns="0" bIns="0" rtlCol="0" anchor="ctr"/>
          <a:lstStyle/>
          <a:p>
            <a:pPr marL="0" indent="0">
              <a:buNone/>
            </a:pPr>
            <a:r>
              <a:rPr lang="en-US" sz="2400" b="1" dirty="0">
                <a:solidFill>
                  <a:srgbClr val="4F9D3D"/>
                </a:solidFill>
                <a:latin typeface="Tahoma" panose="020B0604030504040204" pitchFamily="34" charset="0"/>
                <a:ea typeface="Tahoma" panose="020B0604030504040204" pitchFamily="34" charset="0"/>
                <a:cs typeface="Tahoma" panose="020B0604030504040204" pitchFamily="34" charset="0"/>
              </a:rPr>
              <a:t>90%</a:t>
            </a:r>
            <a:endParaRPr lang="en-US" sz="2400" dirty="0">
              <a:solidFill>
                <a:srgbClr val="C0DD97"/>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 7">
            <a:extLst>
              <a:ext uri="{FF2B5EF4-FFF2-40B4-BE49-F238E27FC236}">
                <a16:creationId xmlns:a16="http://schemas.microsoft.com/office/drawing/2014/main" id="{8F485DFD-C27F-DE27-6A11-1CBB09C4CED7}"/>
              </a:ext>
            </a:extLst>
          </p:cNvPr>
          <p:cNvSpPr/>
          <p:nvPr/>
        </p:nvSpPr>
        <p:spPr>
          <a:xfrm>
            <a:off x="4606234"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0" name="Shape 8">
            <a:extLst>
              <a:ext uri="{FF2B5EF4-FFF2-40B4-BE49-F238E27FC236}">
                <a16:creationId xmlns:a16="http://schemas.microsoft.com/office/drawing/2014/main" id="{D490E1E8-506F-A5B9-A4CC-784E98FE5337}"/>
              </a:ext>
            </a:extLst>
          </p:cNvPr>
          <p:cNvSpPr/>
          <p:nvPr/>
        </p:nvSpPr>
        <p:spPr>
          <a:xfrm>
            <a:off x="6558010"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a:extLst>
              <a:ext uri="{FF2B5EF4-FFF2-40B4-BE49-F238E27FC236}">
                <a16:creationId xmlns:a16="http://schemas.microsoft.com/office/drawing/2014/main" id="{DE9DDCEF-95FE-FC55-11BB-730BFF4CE7E0}"/>
              </a:ext>
            </a:extLst>
          </p:cNvPr>
          <p:cNvSpPr/>
          <p:nvPr/>
        </p:nvSpPr>
        <p:spPr>
          <a:xfrm>
            <a:off x="6564959"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a:extLst>
              <a:ext uri="{FF2B5EF4-FFF2-40B4-BE49-F238E27FC236}">
                <a16:creationId xmlns:a16="http://schemas.microsoft.com/office/drawing/2014/main" id="{F94524AF-AAB9-6972-CCEF-22D6F85BB006}"/>
              </a:ext>
            </a:extLst>
          </p:cNvPr>
          <p:cNvSpPr/>
          <p:nvPr/>
        </p:nvSpPr>
        <p:spPr>
          <a:xfrm>
            <a:off x="6759178"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Baniyas B 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 11">
            <a:extLst>
              <a:ext uri="{FF2B5EF4-FFF2-40B4-BE49-F238E27FC236}">
                <a16:creationId xmlns:a16="http://schemas.microsoft.com/office/drawing/2014/main" id="{AB5F7F04-7F88-D15D-9522-74A54C148186}"/>
              </a:ext>
            </a:extLst>
          </p:cNvPr>
          <p:cNvSpPr/>
          <p:nvPr/>
        </p:nvSpPr>
        <p:spPr>
          <a:xfrm>
            <a:off x="6759178" y="6068253"/>
            <a:ext cx="1691640" cy="384048"/>
          </a:xfrm>
          <a:prstGeom prst="rect">
            <a:avLst/>
          </a:prstGeom>
          <a:noFill/>
          <a:ln/>
        </p:spPr>
        <p:txBody>
          <a:bodyPr wrap="square" lIns="0" tIns="0" rIns="0" bIns="0" rtlCol="0" anchor="ctr"/>
          <a:lstStyle/>
          <a:p>
            <a:pPr marL="0" indent="0">
              <a:buNone/>
            </a:pPr>
            <a:r>
              <a:rPr lang="en-US" sz="2400" b="1" dirty="0">
                <a:solidFill>
                  <a:srgbClr val="00B050"/>
                </a:solidFill>
                <a:latin typeface="Tahoma" panose="020B0604030504040204" pitchFamily="34" charset="0"/>
                <a:ea typeface="Tahoma" panose="020B0604030504040204" pitchFamily="34" charset="0"/>
                <a:cs typeface="Tahoma" panose="020B0604030504040204" pitchFamily="34" charset="0"/>
              </a:rPr>
              <a:t>93%</a:t>
            </a:r>
            <a:endParaRPr lang="en-US" sz="24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 12">
            <a:extLst>
              <a:ext uri="{FF2B5EF4-FFF2-40B4-BE49-F238E27FC236}">
                <a16:creationId xmlns:a16="http://schemas.microsoft.com/office/drawing/2014/main" id="{C38DF26B-7C62-9920-49B6-52D3654044D0}"/>
              </a:ext>
            </a:extLst>
          </p:cNvPr>
          <p:cNvSpPr/>
          <p:nvPr/>
        </p:nvSpPr>
        <p:spPr>
          <a:xfrm>
            <a:off x="6759178"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5" name="Shape 13">
            <a:extLst>
              <a:ext uri="{FF2B5EF4-FFF2-40B4-BE49-F238E27FC236}">
                <a16:creationId xmlns:a16="http://schemas.microsoft.com/office/drawing/2014/main" id="{85582E47-FDA5-7BD3-9993-ACA0D7136A1C}"/>
              </a:ext>
            </a:extLst>
          </p:cNvPr>
          <p:cNvSpPr/>
          <p:nvPr/>
        </p:nvSpPr>
        <p:spPr>
          <a:xfrm>
            <a:off x="8710954" y="5663225"/>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4">
            <a:extLst>
              <a:ext uri="{FF2B5EF4-FFF2-40B4-BE49-F238E27FC236}">
                <a16:creationId xmlns:a16="http://schemas.microsoft.com/office/drawing/2014/main" id="{360916A7-3E42-58AE-F5C2-8C3004CBCB12}"/>
              </a:ext>
            </a:extLst>
          </p:cNvPr>
          <p:cNvSpPr/>
          <p:nvPr/>
        </p:nvSpPr>
        <p:spPr>
          <a:xfrm>
            <a:off x="8710954" y="5663225"/>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8" name="Text 15">
            <a:extLst>
              <a:ext uri="{FF2B5EF4-FFF2-40B4-BE49-F238E27FC236}">
                <a16:creationId xmlns:a16="http://schemas.microsoft.com/office/drawing/2014/main" id="{4B09F206-B6DA-38C5-5B9A-AE66D7E02895}"/>
              </a:ext>
            </a:extLst>
          </p:cNvPr>
          <p:cNvSpPr/>
          <p:nvPr/>
        </p:nvSpPr>
        <p:spPr>
          <a:xfrm>
            <a:off x="8912122" y="5809529"/>
            <a:ext cx="1691640" cy="201168"/>
          </a:xfrm>
          <a:prstGeom prst="rect">
            <a:avLst/>
          </a:prstGeom>
          <a:noFill/>
          <a:ln/>
        </p:spPr>
        <p:txBody>
          <a:bodyPr wrap="square" lIns="0" tIns="0" rIns="0" bIns="0" rtlCol="0" anchor="ctr">
            <a:normAutofit/>
          </a:bodyPr>
          <a:lstStyle/>
          <a:p>
            <a:pPr marL="0" indent="0">
              <a:buNone/>
            </a:pPr>
            <a:r>
              <a:rPr lang="en-US" sz="850" b="1" dirty="0">
                <a:solidFill>
                  <a:srgbClr val="00249C"/>
                </a:solidFill>
                <a:latin typeface="Tahoma" panose="020B0604030504040204" pitchFamily="34" charset="0"/>
                <a:ea typeface="Tahoma" panose="020B0604030504040204" pitchFamily="34" charset="0"/>
                <a:cs typeface="Tahoma" panose="020B0604030504040204" pitchFamily="34" charset="0"/>
              </a:rPr>
              <a:t>Avg Across Campuses</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 16">
            <a:extLst>
              <a:ext uri="{FF2B5EF4-FFF2-40B4-BE49-F238E27FC236}">
                <a16:creationId xmlns:a16="http://schemas.microsoft.com/office/drawing/2014/main" id="{36836A9C-BE22-08D0-60CB-84A1FDB6FE39}"/>
              </a:ext>
            </a:extLst>
          </p:cNvPr>
          <p:cNvSpPr/>
          <p:nvPr/>
        </p:nvSpPr>
        <p:spPr>
          <a:xfrm>
            <a:off x="8912122" y="6074705"/>
            <a:ext cx="1691640" cy="384048"/>
          </a:xfrm>
          <a:prstGeom prst="rect">
            <a:avLst/>
          </a:prstGeom>
          <a:noFill/>
          <a:ln/>
        </p:spPr>
        <p:txBody>
          <a:bodyPr wrap="square" lIns="0" tIns="0" rIns="0" bIns="0" rtlCol="0" anchor="ctr"/>
          <a:lstStyle/>
          <a:p>
            <a:pPr marL="0" indent="0">
              <a:buNone/>
            </a:pPr>
            <a:r>
              <a:rPr lang="en-US" sz="2400" b="1" dirty="0">
                <a:solidFill>
                  <a:srgbClr val="2F6FB0"/>
                </a:solidFill>
                <a:latin typeface="Tahoma" panose="020B0604030504040204" pitchFamily="34" charset="0"/>
                <a:ea typeface="Tahoma" panose="020B0604030504040204" pitchFamily="34" charset="0"/>
                <a:cs typeface="Tahoma" panose="020B0604030504040204" pitchFamily="34" charset="0"/>
              </a:rPr>
              <a:t>91%</a:t>
            </a:r>
            <a:endParaRPr lang="en-US" sz="2400" dirty="0">
              <a:solidFill>
                <a:srgbClr val="B5D4F4"/>
              </a:solidFill>
              <a:latin typeface="Tahoma" panose="020B0604030504040204" pitchFamily="34" charset="0"/>
              <a:ea typeface="Tahoma" panose="020B0604030504040204" pitchFamily="34" charset="0"/>
              <a:cs typeface="Tahoma" panose="020B0604030504040204" pitchFamily="34" charset="0"/>
            </a:endParaRPr>
          </a:p>
        </p:txBody>
      </p:sp>
      <p:sp>
        <p:nvSpPr>
          <p:cNvPr id="20" name="Text 17">
            <a:extLst>
              <a:ext uri="{FF2B5EF4-FFF2-40B4-BE49-F238E27FC236}">
                <a16:creationId xmlns:a16="http://schemas.microsoft.com/office/drawing/2014/main" id="{7624AC58-4425-0C3E-F731-43A967488991}"/>
              </a:ext>
            </a:extLst>
          </p:cNvPr>
          <p:cNvSpPr/>
          <p:nvPr/>
        </p:nvSpPr>
        <p:spPr>
          <a:xfrm>
            <a:off x="8912122" y="6504473"/>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Benchmark comparison</a:t>
            </a:r>
          </a:p>
        </p:txBody>
      </p:sp>
      <p:sp>
        <p:nvSpPr>
          <p:cNvPr id="22" name="Title 1">
            <a:extLst>
              <a:ext uri="{FF2B5EF4-FFF2-40B4-BE49-F238E27FC236}">
                <a16:creationId xmlns:a16="http://schemas.microsoft.com/office/drawing/2014/main" id="{CD5AC918-06A5-5101-85FB-F4BB67E22D83}"/>
              </a:ext>
            </a:extLst>
          </p:cNvPr>
          <p:cNvSpPr txBox="1">
            <a:spLocks/>
          </p:cNvSpPr>
          <p:nvPr/>
        </p:nvSpPr>
        <p:spPr>
          <a:xfrm>
            <a:off x="572333" y="9968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EHS KPI Dashboard</a:t>
            </a:r>
          </a:p>
          <a:p>
            <a:r>
              <a:rPr lang="en-US" sz="2400" b="0" dirty="0"/>
              <a:t>Q1	</a:t>
            </a:r>
          </a:p>
        </p:txBody>
      </p:sp>
    </p:spTree>
    <p:extLst>
      <p:ext uri="{BB962C8B-B14F-4D97-AF65-F5344CB8AC3E}">
        <p14:creationId xmlns:p14="http://schemas.microsoft.com/office/powerpoint/2010/main" val="773780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D99B9-3820-B971-B1D7-620DEE0071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0CA8B27-2052-82D9-14D5-4BBDD783CF5D}"/>
              </a:ext>
            </a:extLst>
          </p:cNvPr>
          <p:cNvSpPr txBox="1">
            <a:spLocks/>
          </p:cNvSpPr>
          <p:nvPr/>
        </p:nvSpPr>
        <p:spPr>
          <a:xfrm>
            <a:off x="659213" y="144976"/>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EHS KPI Dashboard</a:t>
            </a:r>
          </a:p>
          <a:p>
            <a:r>
              <a:rPr lang="en-US" sz="2400" b="0" dirty="0"/>
              <a:t>1. Leadership, Accountability &amp; Engagement - </a:t>
            </a:r>
            <a:r>
              <a:rPr lang="en-US" sz="2400" b="0" i="1" dirty="0"/>
              <a:t>Accountability</a:t>
            </a:r>
          </a:p>
        </p:txBody>
      </p:sp>
      <p:graphicFrame>
        <p:nvGraphicFramePr>
          <p:cNvPr id="12" name="Chart 11">
            <a:extLst>
              <a:ext uri="{FF2B5EF4-FFF2-40B4-BE49-F238E27FC236}">
                <a16:creationId xmlns:a16="http://schemas.microsoft.com/office/drawing/2014/main" id="{5FF326FB-2CC1-18F7-D4A2-2E078F7AC456}"/>
              </a:ext>
            </a:extLst>
          </p:cNvPr>
          <p:cNvGraphicFramePr/>
          <p:nvPr>
            <p:extLst>
              <p:ext uri="{D42A27DB-BD31-4B8C-83A1-F6EECF244321}">
                <p14:modId xmlns:p14="http://schemas.microsoft.com/office/powerpoint/2010/main" val="224693456"/>
              </p:ext>
            </p:extLst>
          </p:nvPr>
        </p:nvGraphicFramePr>
        <p:xfrm>
          <a:off x="7879851" y="1332825"/>
          <a:ext cx="3891221" cy="2196353"/>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FCBC2F13-6120-B3B1-D8C6-492868C999A7}"/>
              </a:ext>
            </a:extLst>
          </p:cNvPr>
          <p:cNvSpPr/>
          <p:nvPr/>
        </p:nvSpPr>
        <p:spPr>
          <a:xfrm>
            <a:off x="4295554" y="133443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2 – External Audit Findings Closed (%)</a:t>
            </a:r>
            <a:br>
              <a:rPr lang="en-US" sz="1100" b="1" dirty="0">
                <a:solidFill>
                  <a:srgbClr val="00249C"/>
                </a:solidFill>
                <a:latin typeface="Tahoma" panose="020B0604030504040204" pitchFamily="34" charset="0"/>
                <a:ea typeface="Tahoma" panose="020B0604030504040204" pitchFamily="34" charset="0"/>
                <a:cs typeface="Tahoma" panose="020B0604030504040204" pitchFamily="34" charset="0"/>
              </a:rPr>
            </a:br>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7" name="Rectangle 6">
            <a:extLst>
              <a:ext uri="{FF2B5EF4-FFF2-40B4-BE49-F238E27FC236}">
                <a16:creationId xmlns:a16="http://schemas.microsoft.com/office/drawing/2014/main" id="{5B5A5FD2-6ECA-AACF-4679-872C97F3E7DF}"/>
              </a:ext>
            </a:extLst>
          </p:cNvPr>
          <p:cNvSpPr/>
          <p:nvPr/>
        </p:nvSpPr>
        <p:spPr>
          <a:xfrm>
            <a:off x="857443" y="133282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1 - </a:t>
            </a:r>
            <a:r>
              <a:rPr lang="en-US" sz="1200" b="1" dirty="0">
                <a:solidFill>
                  <a:srgbClr val="00249C"/>
                </a:solidFill>
              </a:rPr>
              <a:t>Health and Safety Quarterly KPI Reports Submitted &amp; Presented (%)</a:t>
            </a:r>
            <a:endPar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4" name="Text Placeholder 3">
            <a:extLst>
              <a:ext uri="{FF2B5EF4-FFF2-40B4-BE49-F238E27FC236}">
                <a16:creationId xmlns:a16="http://schemas.microsoft.com/office/drawing/2014/main" id="{49CA75BD-9031-538F-8B3C-226E069DFF28}"/>
              </a:ext>
            </a:extLst>
          </p:cNvPr>
          <p:cNvSpPr txBox="1">
            <a:spLocks/>
          </p:cNvSpPr>
          <p:nvPr/>
        </p:nvSpPr>
        <p:spPr>
          <a:xfrm>
            <a:off x="659213" y="4119936"/>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 – (Reports presented on time ÷ planned submission)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a:t>
            </a:r>
            <a:endParaRPr lang="en-US" sz="1100" dirty="0"/>
          </a:p>
        </p:txBody>
      </p:sp>
      <p:sp>
        <p:nvSpPr>
          <p:cNvPr id="8" name="Text Placeholder 3">
            <a:extLst>
              <a:ext uri="{FF2B5EF4-FFF2-40B4-BE49-F238E27FC236}">
                <a16:creationId xmlns:a16="http://schemas.microsoft.com/office/drawing/2014/main" id="{20EB3E1D-B7DD-894A-0B5E-ACFB6F6A7D8E}"/>
              </a:ext>
            </a:extLst>
          </p:cNvPr>
          <p:cNvSpPr txBox="1">
            <a:spLocks/>
          </p:cNvSpPr>
          <p:nvPr/>
        </p:nvSpPr>
        <p:spPr>
          <a:xfrm>
            <a:off x="4176259" y="4119936"/>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2 – (Audit findings closed ÷ Total findings identified)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r>
              <a:rPr lang="en-US" sz="1100" b="1" dirty="0">
                <a:solidFill>
                  <a:schemeClr val="tx2"/>
                </a:solidFill>
              </a:rPr>
              <a:t>:</a:t>
            </a: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a:t>
            </a:r>
            <a:endParaRPr lang="en-US" sz="1100" dirty="0"/>
          </a:p>
        </p:txBody>
      </p:sp>
      <p:sp>
        <p:nvSpPr>
          <p:cNvPr id="10" name="Text Placeholder 3">
            <a:extLst>
              <a:ext uri="{FF2B5EF4-FFF2-40B4-BE49-F238E27FC236}">
                <a16:creationId xmlns:a16="http://schemas.microsoft.com/office/drawing/2014/main" id="{1F7F5507-8298-7E1B-661A-CF5BD32A2D03}"/>
              </a:ext>
            </a:extLst>
          </p:cNvPr>
          <p:cNvSpPr txBox="1">
            <a:spLocks/>
          </p:cNvSpPr>
          <p:nvPr/>
        </p:nvSpPr>
        <p:spPr>
          <a:xfrm>
            <a:off x="7950245" y="4119936"/>
            <a:ext cx="3891221" cy="2616836"/>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3 – (Legal requirements complied with ÷ Total compliance requirement ) × 100</a:t>
            </a:r>
          </a:p>
          <a:p>
            <a:pPr marL="171450" indent="-171450">
              <a:buFont typeface="Arial" panose="020B0604020202020204" pitchFamily="34" charset="0"/>
              <a:buChar char="•"/>
            </a:pPr>
            <a:r>
              <a:rPr lang="en-US" sz="1100" b="1" dirty="0">
                <a:solidFill>
                  <a:schemeClr val="accent6"/>
                </a:solidFill>
              </a:rPr>
              <a:t>Key Observations:</a:t>
            </a:r>
            <a:r>
              <a:rPr lang="en-GB" sz="1100" dirty="0"/>
              <a:t>. </a:t>
            </a: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p:txBody>
      </p:sp>
    </p:spTree>
    <p:extLst>
      <p:ext uri="{BB962C8B-B14F-4D97-AF65-F5344CB8AC3E}">
        <p14:creationId xmlns:p14="http://schemas.microsoft.com/office/powerpoint/2010/main" val="46267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AA4CD-1E57-C9A4-DB22-BF3E48579D7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E015FF-C9AB-9D7B-9D92-48500A7C48B7}"/>
              </a:ext>
            </a:extLst>
          </p:cNvPr>
          <p:cNvSpPr txBox="1">
            <a:spLocks/>
          </p:cNvSpPr>
          <p:nvPr/>
        </p:nvSpPr>
        <p:spPr>
          <a:xfrm>
            <a:off x="721625" y="19279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EHS KPI Dashboard</a:t>
            </a:r>
          </a:p>
          <a:p>
            <a:r>
              <a:rPr lang="en-US" sz="2400" b="0" dirty="0"/>
              <a:t>1. Leadership, Accountability &amp; Engagement – </a:t>
            </a:r>
            <a:r>
              <a:rPr lang="en-US" sz="2400" b="0" i="1" dirty="0"/>
              <a:t>Leadership Engagement</a:t>
            </a:r>
          </a:p>
        </p:txBody>
      </p:sp>
      <p:graphicFrame>
        <p:nvGraphicFramePr>
          <p:cNvPr id="9" name="Chart 8">
            <a:extLst>
              <a:ext uri="{FF2B5EF4-FFF2-40B4-BE49-F238E27FC236}">
                <a16:creationId xmlns:a16="http://schemas.microsoft.com/office/drawing/2014/main" id="{B7768753-BF2A-DA9D-47FD-667D71695908}"/>
              </a:ext>
            </a:extLst>
          </p:cNvPr>
          <p:cNvGraphicFramePr/>
          <p:nvPr>
            <p:extLst>
              <p:ext uri="{D42A27DB-BD31-4B8C-83A1-F6EECF244321}">
                <p14:modId xmlns:p14="http://schemas.microsoft.com/office/powerpoint/2010/main" val="1657225847"/>
              </p:ext>
            </p:extLst>
          </p:nvPr>
        </p:nvGraphicFramePr>
        <p:xfrm>
          <a:off x="1793673" y="1281390"/>
          <a:ext cx="3883249" cy="26403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E9591459-A4B3-4D98-B316-4579A05903C4}"/>
              </a:ext>
            </a:extLst>
          </p:cNvPr>
          <p:cNvGraphicFramePr/>
          <p:nvPr>
            <p:extLst>
              <p:ext uri="{D42A27DB-BD31-4B8C-83A1-F6EECF244321}">
                <p14:modId xmlns:p14="http://schemas.microsoft.com/office/powerpoint/2010/main" val="444120397"/>
              </p:ext>
            </p:extLst>
          </p:nvPr>
        </p:nvGraphicFramePr>
        <p:xfrm>
          <a:off x="6515079" y="1281391"/>
          <a:ext cx="4256971" cy="264037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Placeholder 3">
            <a:extLst>
              <a:ext uri="{FF2B5EF4-FFF2-40B4-BE49-F238E27FC236}">
                <a16:creationId xmlns:a16="http://schemas.microsoft.com/office/drawing/2014/main" id="{F6587B1D-9142-773F-D64A-EF82772BFAF5}"/>
              </a:ext>
            </a:extLst>
          </p:cNvPr>
          <p:cNvSpPr txBox="1">
            <a:spLocks/>
          </p:cNvSpPr>
          <p:nvPr/>
        </p:nvSpPr>
        <p:spPr>
          <a:xfrm>
            <a:off x="1905554" y="4239492"/>
            <a:ext cx="3891221"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4 – (Meeting conducted ÷ meetings Planned) </a:t>
            </a:r>
            <a:br>
              <a:rPr lang="en-US" sz="1200" b="1" dirty="0"/>
            </a:br>
            <a:r>
              <a:rPr lang="en-US" sz="1200" b="1" dirty="0"/>
              <a:t>× 100</a:t>
            </a:r>
          </a:p>
          <a:p>
            <a:pPr marL="171450" indent="-171450">
              <a:buFont typeface="Arial" panose="020B0604020202020204" pitchFamily="34" charset="0"/>
              <a:buChar char="•"/>
            </a:pPr>
            <a:r>
              <a:rPr lang="en-US" sz="1100" b="1" dirty="0">
                <a:solidFill>
                  <a:schemeClr val="accent6"/>
                </a:solidFill>
              </a:rPr>
              <a:t>Key Observations: </a:t>
            </a:r>
            <a:endParaRPr lang="en-US" sz="1100" dirty="0"/>
          </a:p>
          <a:p>
            <a:endParaRPr lang="en-US" sz="11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p:txBody>
      </p:sp>
      <p:sp>
        <p:nvSpPr>
          <p:cNvPr id="6" name="Text Placeholder 3">
            <a:extLst>
              <a:ext uri="{FF2B5EF4-FFF2-40B4-BE49-F238E27FC236}">
                <a16:creationId xmlns:a16="http://schemas.microsoft.com/office/drawing/2014/main" id="{161A0F8E-7F8A-37D0-0053-D203200D3E78}"/>
              </a:ext>
            </a:extLst>
          </p:cNvPr>
          <p:cNvSpPr txBox="1">
            <a:spLocks/>
          </p:cNvSpPr>
          <p:nvPr/>
        </p:nvSpPr>
        <p:spPr>
          <a:xfrm>
            <a:off x="6749348" y="4239492"/>
            <a:ext cx="4191102"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5 – (Action closed  ÷ Total actions raised)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p>
        </p:txBody>
      </p:sp>
    </p:spTree>
    <p:extLst>
      <p:ext uri="{BB962C8B-B14F-4D97-AF65-F5344CB8AC3E}">
        <p14:creationId xmlns:p14="http://schemas.microsoft.com/office/powerpoint/2010/main" val="367107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797ABFA-DAB7-9613-394A-E9B024961208}"/>
              </a:ext>
            </a:extLst>
          </p:cNvPr>
          <p:cNvSpPr txBox="1">
            <a:spLocks/>
          </p:cNvSpPr>
          <p:nvPr/>
        </p:nvSpPr>
        <p:spPr>
          <a:xfrm>
            <a:off x="620025"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EHS KPI Dashboard</a:t>
            </a:r>
          </a:p>
          <a:p>
            <a:r>
              <a:rPr lang="en-US" sz="2400" b="0" dirty="0"/>
              <a:t>2. Risk Management &amp; Planning</a:t>
            </a:r>
            <a:endParaRPr lang="en-US" sz="2400" b="0" i="1" dirty="0"/>
          </a:p>
        </p:txBody>
      </p:sp>
      <p:graphicFrame>
        <p:nvGraphicFramePr>
          <p:cNvPr id="7" name="Chart 6">
            <a:extLst>
              <a:ext uri="{FF2B5EF4-FFF2-40B4-BE49-F238E27FC236}">
                <a16:creationId xmlns:a16="http://schemas.microsoft.com/office/drawing/2014/main" id="{9068B047-347B-7049-D055-BC230F63ADFD}"/>
              </a:ext>
            </a:extLst>
          </p:cNvPr>
          <p:cNvGraphicFramePr/>
          <p:nvPr>
            <p:extLst>
              <p:ext uri="{D42A27DB-BD31-4B8C-83A1-F6EECF244321}">
                <p14:modId xmlns:p14="http://schemas.microsoft.com/office/powerpoint/2010/main" val="144219539"/>
              </p:ext>
            </p:extLst>
          </p:nvPr>
        </p:nvGraphicFramePr>
        <p:xfrm>
          <a:off x="897225" y="1149364"/>
          <a:ext cx="3891221" cy="2444462"/>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2FEB19D3-34FE-6141-8A2F-4B2F00EAD15A}"/>
              </a:ext>
            </a:extLst>
          </p:cNvPr>
          <p:cNvSpPr/>
          <p:nvPr/>
        </p:nvSpPr>
        <p:spPr>
          <a:xfrm>
            <a:off x="4600773" y="1149364"/>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7 - </a:t>
            </a:r>
            <a:r>
              <a:rPr lang="en-US" sz="1200" b="1" dirty="0">
                <a:solidFill>
                  <a:srgbClr val="00249C"/>
                </a:solidFill>
                <a:latin typeface="Tahoma" panose="020B0604030504040204" pitchFamily="34" charset="0"/>
              </a:rPr>
              <a:t>Risk Assessments Closed (%)</a:t>
            </a:r>
            <a:endPar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dirty="0">
              <a:solidFill>
                <a:srgbClr val="002060"/>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8" name="Rectangle 7">
            <a:extLst>
              <a:ext uri="{FF2B5EF4-FFF2-40B4-BE49-F238E27FC236}">
                <a16:creationId xmlns:a16="http://schemas.microsoft.com/office/drawing/2014/main" id="{2F639488-5E1D-46B4-4C6D-5CE6438D852B}"/>
              </a:ext>
            </a:extLst>
          </p:cNvPr>
          <p:cNvSpPr/>
          <p:nvPr/>
        </p:nvSpPr>
        <p:spPr>
          <a:xfrm>
            <a:off x="8223348" y="1149364"/>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249C"/>
                </a:solidFill>
                <a:latin typeface="Tahoma" panose="020B0604030504040204" pitchFamily="34" charset="0"/>
                <a:ea typeface="Tahoma" panose="020B0604030504040204" pitchFamily="34" charset="0"/>
                <a:cs typeface="Tahoma" panose="020B0604030504040204" pitchFamily="34" charset="0"/>
              </a:rPr>
              <a:t>KPI 8 - Risk Assessments and Validation (%)</a:t>
            </a:r>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3" name="Text Placeholder 3">
            <a:extLst>
              <a:ext uri="{FF2B5EF4-FFF2-40B4-BE49-F238E27FC236}">
                <a16:creationId xmlns:a16="http://schemas.microsoft.com/office/drawing/2014/main" id="{844037F6-B55D-B0BF-A92C-0B931FF20410}"/>
              </a:ext>
            </a:extLst>
          </p:cNvPr>
          <p:cNvSpPr txBox="1">
            <a:spLocks/>
          </p:cNvSpPr>
          <p:nvPr/>
        </p:nvSpPr>
        <p:spPr>
          <a:xfrm>
            <a:off x="826047" y="3524801"/>
            <a:ext cx="375568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6 – (Implemented Controls ÷ Total Controls Identified) × 100</a:t>
            </a: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 </a:t>
            </a:r>
          </a:p>
          <a:p>
            <a:pPr marL="171450" indent="-171450" algn="just">
              <a:buFont typeface="Arial" panose="020B0604020202020204" pitchFamily="34" charset="0"/>
              <a:buChar char="•"/>
            </a:pPr>
            <a:r>
              <a:rPr lang="en-US" sz="1100" b="1" dirty="0">
                <a:solidFill>
                  <a:schemeClr val="accent6"/>
                </a:solidFill>
              </a:rPr>
              <a:t>Key Observations:</a:t>
            </a:r>
          </a:p>
          <a:p>
            <a:pPr algn="just"/>
            <a:endParaRPr lang="en-US" sz="1100" dirty="0"/>
          </a:p>
          <a:p>
            <a:pPr marL="171450" indent="-171450" algn="just">
              <a:buFont typeface="Arial" panose="020B0604020202020204" pitchFamily="34" charset="0"/>
              <a:buChar char="•"/>
            </a:pPr>
            <a:r>
              <a:rPr lang="en-US" sz="1100" b="1" dirty="0">
                <a:solidFill>
                  <a:schemeClr val="accent6"/>
                </a:solidFill>
              </a:rPr>
              <a:t>Rectifications:</a:t>
            </a:r>
            <a:r>
              <a:rPr lang="en-US" sz="1100" b="1" dirty="0"/>
              <a:t> </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9" name="Text Placeholder 3">
            <a:extLst>
              <a:ext uri="{FF2B5EF4-FFF2-40B4-BE49-F238E27FC236}">
                <a16:creationId xmlns:a16="http://schemas.microsoft.com/office/drawing/2014/main" id="{F32BC78C-E652-FABE-6179-EF2DCA67C5D4}"/>
              </a:ext>
            </a:extLst>
          </p:cNvPr>
          <p:cNvSpPr txBox="1">
            <a:spLocks/>
          </p:cNvSpPr>
          <p:nvPr/>
        </p:nvSpPr>
        <p:spPr>
          <a:xfrm>
            <a:off x="4859624" y="3524801"/>
            <a:ext cx="3647873"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7 – (Risk Assessment closed ÷ Total Risk Assessments registered) × 100</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br>
              <a:rPr lang="en-US" sz="1100" dirty="0"/>
            </a:br>
            <a:endParaRPr lang="en-US" sz="1100" dirty="0"/>
          </a:p>
          <a:p>
            <a:pPr marL="171450" indent="-171450" algn="just">
              <a:lnSpc>
                <a:spcPct val="100000"/>
              </a:lnSpc>
              <a:spcBef>
                <a:spcPts val="0"/>
              </a:spcBef>
              <a:buFont typeface="Arial" panose="020B0604020202020204" pitchFamily="34" charset="0"/>
              <a:buChar char="•"/>
            </a:pPr>
            <a:endParaRPr lang="en-US" sz="1100" b="1" dirty="0"/>
          </a:p>
          <a:p>
            <a:pPr marL="171450" indent="-171450" algn="just">
              <a:lnSpc>
                <a:spcPct val="100000"/>
              </a:lnSpc>
              <a:spcBef>
                <a:spcPts val="0"/>
              </a:spcBef>
              <a:buFont typeface="Arial" panose="020B0604020202020204" pitchFamily="34" charset="0"/>
              <a:buChar char="•"/>
            </a:pPr>
            <a:r>
              <a:rPr lang="en-US" sz="1100" b="1" dirty="0">
                <a:solidFill>
                  <a:srgbClr val="000000"/>
                </a:solidFill>
              </a:rPr>
              <a:t>Rectifications:</a:t>
            </a:r>
            <a:r>
              <a:rPr lang="en-US" sz="1100" b="1" dirty="0"/>
              <a:t> </a:t>
            </a:r>
            <a:endParaRPr lang="en-US" sz="1100" dirty="0"/>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1" name="Text Placeholder 3">
            <a:extLst>
              <a:ext uri="{FF2B5EF4-FFF2-40B4-BE49-F238E27FC236}">
                <a16:creationId xmlns:a16="http://schemas.microsoft.com/office/drawing/2014/main" id="{5CD6623F-E288-AEF1-8E54-94CD83245ACE}"/>
              </a:ext>
            </a:extLst>
          </p:cNvPr>
          <p:cNvSpPr txBox="1">
            <a:spLocks/>
          </p:cNvSpPr>
          <p:nvPr/>
        </p:nvSpPr>
        <p:spPr>
          <a:xfrm>
            <a:off x="8578675" y="3524801"/>
            <a:ext cx="3430303" cy="272310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8 – (Monthly Risk Assessment validated and signed off  ÷ Total assessments register) × 100</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a:t>
            </a:r>
            <a:r>
              <a:rPr lang="en-US" sz="1100" b="1" dirty="0">
                <a:solidFill>
                  <a:srgbClr val="000000"/>
                </a:solidFill>
              </a:rPr>
              <a:t>s: </a:t>
            </a:r>
            <a:endParaRPr lang="en-GB" sz="1100" b="1" dirty="0">
              <a:solidFill>
                <a:srgbClr val="00249C"/>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100" b="1" dirty="0">
              <a:solidFill>
                <a:srgbClr val="00249C"/>
              </a:solidFill>
            </a:endParaRP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200" b="1" dirty="0">
              <a:solidFill>
                <a:srgbClr val="00249C"/>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Rectifications:</a:t>
            </a:r>
            <a:r>
              <a:rPr lang="en-US" sz="1100" b="1" dirty="0">
                <a:solidFill>
                  <a:schemeClr val="accent6"/>
                </a:solidFill>
              </a:rPr>
              <a:t> </a:t>
            </a:r>
            <a:endParaRPr lang="en-US" sz="1100" dirty="0"/>
          </a:p>
        </p:txBody>
      </p:sp>
    </p:spTree>
    <p:extLst>
      <p:ext uri="{BB962C8B-B14F-4D97-AF65-F5344CB8AC3E}">
        <p14:creationId xmlns:p14="http://schemas.microsoft.com/office/powerpoint/2010/main" val="3101187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0181E45-EE28-8639-6952-C4C9C7E4C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88CA5-25ED-25B8-0604-F703B959ED40}"/>
              </a:ext>
            </a:extLst>
          </p:cNvPr>
          <p:cNvSpPr txBox="1">
            <a:spLocks/>
          </p:cNvSpPr>
          <p:nvPr/>
        </p:nvSpPr>
        <p:spPr>
          <a:xfrm>
            <a:off x="659214" y="111461"/>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EHS KPI Dashboard </a:t>
            </a:r>
          </a:p>
          <a:p>
            <a:r>
              <a:rPr lang="en-US" sz="2400" b="0" dirty="0"/>
              <a:t>3. Training &amp; Awareness</a:t>
            </a:r>
            <a:endParaRPr lang="en-US" sz="2400" b="0" i="1" dirty="0"/>
          </a:p>
        </p:txBody>
      </p:sp>
      <p:sp>
        <p:nvSpPr>
          <p:cNvPr id="5" name="Rectangle 4">
            <a:extLst>
              <a:ext uri="{FF2B5EF4-FFF2-40B4-BE49-F238E27FC236}">
                <a16:creationId xmlns:a16="http://schemas.microsoft.com/office/drawing/2014/main" id="{46B0E9A4-CCA6-0150-2EF8-970CFF445AD2}"/>
              </a:ext>
            </a:extLst>
          </p:cNvPr>
          <p:cNvSpPr/>
          <p:nvPr/>
        </p:nvSpPr>
        <p:spPr>
          <a:xfrm>
            <a:off x="6969217" y="1175478"/>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10 - H&amp;S Awareness Campaigns Conducted (%)</a:t>
            </a:r>
          </a:p>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6" name="Text Placeholder 3">
            <a:extLst>
              <a:ext uri="{FF2B5EF4-FFF2-40B4-BE49-F238E27FC236}">
                <a16:creationId xmlns:a16="http://schemas.microsoft.com/office/drawing/2014/main" id="{15303702-20EF-EA8A-734A-D7E4E1124329}"/>
              </a:ext>
            </a:extLst>
          </p:cNvPr>
          <p:cNvSpPr txBox="1">
            <a:spLocks/>
          </p:cNvSpPr>
          <p:nvPr/>
        </p:nvSpPr>
        <p:spPr>
          <a:xfrm>
            <a:off x="1843143" y="393606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9 – (Actual Training Hours ÷ Planned Training Hours) × 100</a:t>
            </a:r>
          </a:p>
          <a:p>
            <a:pPr marL="171450" indent="-171450">
              <a:buFont typeface="Arial" panose="020B0604020202020204" pitchFamily="34" charset="0"/>
              <a:buChar char="•"/>
            </a:pPr>
            <a:r>
              <a:rPr lang="en-US" sz="1100" b="1" dirty="0">
                <a:solidFill>
                  <a:srgbClr val="000000"/>
                </a:solidFill>
              </a:rPr>
              <a:t>Key Observations: </a:t>
            </a:r>
          </a:p>
          <a:p>
            <a:pPr marL="171450" indent="-171450">
              <a:buFont typeface="Arial" panose="020B0604020202020204" pitchFamily="34" charset="0"/>
              <a:buChar char="•"/>
            </a:pPr>
            <a:endParaRPr lang="en-US" sz="1100" b="1" dirty="0">
              <a:solidFill>
                <a:srgbClr val="000000"/>
              </a:solidFill>
            </a:endParaRPr>
          </a:p>
          <a:p>
            <a:pPr marL="171450" indent="-171450">
              <a:buFont typeface="Arial" panose="020B0604020202020204" pitchFamily="34" charset="0"/>
              <a:buChar char="•"/>
            </a:pPr>
            <a:r>
              <a:rPr lang="en-US" sz="1100" b="1" dirty="0">
                <a:solidFill>
                  <a:srgbClr val="000000"/>
                </a:solidFill>
              </a:rPr>
              <a:t>Rectification:</a:t>
            </a:r>
            <a:endParaRPr lang="en-US" sz="1100" b="1" dirty="0"/>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8" name="Text Placeholder 3">
            <a:extLst>
              <a:ext uri="{FF2B5EF4-FFF2-40B4-BE49-F238E27FC236}">
                <a16:creationId xmlns:a16="http://schemas.microsoft.com/office/drawing/2014/main" id="{707E2012-D42B-B7D3-82E9-58F6AD089025}"/>
              </a:ext>
            </a:extLst>
          </p:cNvPr>
          <p:cNvSpPr txBox="1">
            <a:spLocks/>
          </p:cNvSpPr>
          <p:nvPr/>
        </p:nvSpPr>
        <p:spPr>
          <a:xfrm>
            <a:off x="6969217" y="393606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10 – (Number of Campaigns conducted ÷ Total Planned Campaigns) × 100</a:t>
            </a:r>
          </a:p>
          <a:p>
            <a:pPr marL="171450" indent="-171450" algn="just">
              <a:buFont typeface="Arial" panose="020B0604020202020204" pitchFamily="34" charset="0"/>
              <a:buChar char="•"/>
            </a:pPr>
            <a:r>
              <a:rPr lang="en-US" sz="1100" b="1" dirty="0">
                <a:solidFill>
                  <a:srgbClr val="000000"/>
                </a:solidFill>
              </a:rPr>
              <a:t>Key Observations: </a:t>
            </a:r>
          </a:p>
          <a:p>
            <a:pPr algn="just"/>
            <a:endParaRPr lang="en-US" sz="1100" b="1" dirty="0"/>
          </a:p>
          <a:p>
            <a:pPr marL="171450" indent="-171450" algn="just">
              <a:buFont typeface="Arial" panose="020B0604020202020204" pitchFamily="34" charset="0"/>
              <a:buChar char="•"/>
            </a:pPr>
            <a:r>
              <a:rPr lang="en-US" sz="1100" b="1" dirty="0">
                <a:solidFill>
                  <a:srgbClr val="000000"/>
                </a:solidFill>
              </a:rPr>
              <a:t>Rectification:</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graphicFrame>
        <p:nvGraphicFramePr>
          <p:cNvPr id="10" name="Chart 9">
            <a:extLst>
              <a:ext uri="{FF2B5EF4-FFF2-40B4-BE49-F238E27FC236}">
                <a16:creationId xmlns:a16="http://schemas.microsoft.com/office/drawing/2014/main" id="{D025C30D-1483-1512-51B9-BB2B2B34CF36}"/>
              </a:ext>
            </a:extLst>
          </p:cNvPr>
          <p:cNvGraphicFramePr/>
          <p:nvPr>
            <p:extLst>
              <p:ext uri="{D42A27DB-BD31-4B8C-83A1-F6EECF244321}">
                <p14:modId xmlns:p14="http://schemas.microsoft.com/office/powerpoint/2010/main" val="1334201551"/>
              </p:ext>
            </p:extLst>
          </p:nvPr>
        </p:nvGraphicFramePr>
        <p:xfrm>
          <a:off x="1641504" y="1175478"/>
          <a:ext cx="3891221" cy="24444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9850577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2C9E53-0198-9672-5698-D316A6CC6F60}"/>
              </a:ext>
            </a:extLst>
          </p:cNvPr>
          <p:cNvSpPr txBox="1">
            <a:spLocks/>
          </p:cNvSpPr>
          <p:nvPr/>
        </p:nvSpPr>
        <p:spPr>
          <a:xfrm>
            <a:off x="647879" y="7132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EHS KPI Dashboard</a:t>
            </a:r>
          </a:p>
          <a:p>
            <a:r>
              <a:rPr lang="en-US" sz="2400" b="0" dirty="0"/>
              <a:t>4. Operational Control &amp; Emergency Preparedness</a:t>
            </a:r>
          </a:p>
        </p:txBody>
      </p:sp>
      <p:graphicFrame>
        <p:nvGraphicFramePr>
          <p:cNvPr id="5" name="Chart 4">
            <a:extLst>
              <a:ext uri="{FF2B5EF4-FFF2-40B4-BE49-F238E27FC236}">
                <a16:creationId xmlns:a16="http://schemas.microsoft.com/office/drawing/2014/main" id="{36339A9F-2013-852C-02F6-55DF64E65F84}"/>
              </a:ext>
            </a:extLst>
          </p:cNvPr>
          <p:cNvGraphicFramePr/>
          <p:nvPr>
            <p:extLst>
              <p:ext uri="{D42A27DB-BD31-4B8C-83A1-F6EECF244321}">
                <p14:modId xmlns:p14="http://schemas.microsoft.com/office/powerpoint/2010/main" val="1309819671"/>
              </p:ext>
            </p:extLst>
          </p:nvPr>
        </p:nvGraphicFramePr>
        <p:xfrm>
          <a:off x="6906958" y="1232647"/>
          <a:ext cx="3891221" cy="23368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2A66153D-7434-E195-0549-F50434BF9DBC}"/>
              </a:ext>
            </a:extLst>
          </p:cNvPr>
          <p:cNvGraphicFramePr/>
          <p:nvPr>
            <p:extLst>
              <p:ext uri="{D42A27DB-BD31-4B8C-83A1-F6EECF244321}">
                <p14:modId xmlns:p14="http://schemas.microsoft.com/office/powerpoint/2010/main" val="1548346854"/>
              </p:ext>
            </p:extLst>
          </p:nvPr>
        </p:nvGraphicFramePr>
        <p:xfrm>
          <a:off x="1831808" y="1232647"/>
          <a:ext cx="3891221" cy="244446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52D0CF08-BABD-87BC-6633-CE46243CD5D7}"/>
              </a:ext>
            </a:extLst>
          </p:cNvPr>
          <p:cNvSpPr txBox="1">
            <a:spLocks/>
          </p:cNvSpPr>
          <p:nvPr/>
        </p:nvSpPr>
        <p:spPr>
          <a:xfrm>
            <a:off x="1831807" y="397619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11 – (Number of activities in compliance ÷ Total Activities Checked) × 100</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solidFill>
                <a:schemeClr val="accent6"/>
              </a:solidFill>
            </a:endParaRPr>
          </a:p>
          <a:p>
            <a:pPr marL="171450" indent="-171450" algn="just">
              <a:buFont typeface="Arial" panose="020B0604020202020204" pitchFamily="34" charset="0"/>
              <a:buChar char="•"/>
            </a:pPr>
            <a:r>
              <a:rPr lang="en-US" sz="1100" b="1" dirty="0">
                <a:solidFill>
                  <a:schemeClr val="accent6"/>
                </a:solidFill>
              </a:rPr>
              <a:t>Rectification:</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0" name="Text Placeholder 3">
            <a:extLst>
              <a:ext uri="{FF2B5EF4-FFF2-40B4-BE49-F238E27FC236}">
                <a16:creationId xmlns:a16="http://schemas.microsoft.com/office/drawing/2014/main" id="{AE76E0EC-6ECD-6151-80E8-FD7286759550}"/>
              </a:ext>
            </a:extLst>
          </p:cNvPr>
          <p:cNvSpPr txBox="1">
            <a:spLocks/>
          </p:cNvSpPr>
          <p:nvPr/>
        </p:nvSpPr>
        <p:spPr>
          <a:xfrm>
            <a:off x="6906958" y="3976195"/>
            <a:ext cx="3891221" cy="292450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12 – (Number of activities in compliance ÷ Total Activities Checked) × 100</a:t>
            </a:r>
          </a:p>
          <a:p>
            <a:pPr marL="171450" indent="-171450" algn="just">
              <a:lnSpc>
                <a:spcPct val="100000"/>
              </a:lnSpc>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Key Observations:</a:t>
            </a:r>
          </a:p>
          <a:p>
            <a:pPr algn="just">
              <a:spcBef>
                <a:spcPts val="0"/>
              </a:spcBef>
            </a:pPr>
            <a:endParaRPr lang="en-US" sz="1100" b="1" strike="sngStrike" dirty="0">
              <a:solidFill>
                <a:schemeClr val="accent6"/>
              </a:solidFill>
            </a:endParaRPr>
          </a:p>
          <a:p>
            <a:pPr algn="just">
              <a:spcBef>
                <a:spcPts val="0"/>
              </a:spcBef>
            </a:pPr>
            <a:endParaRPr lang="en-US" sz="1100" strike="sngStrike" dirty="0"/>
          </a:p>
          <a:p>
            <a:pPr marL="171450" indent="-171450" algn="just">
              <a:lnSpc>
                <a:spcPct val="100000"/>
              </a:lnSpc>
              <a:spcBef>
                <a:spcPts val="0"/>
              </a:spcBef>
              <a:buFont typeface="Arial" panose="020B0604020202020204" pitchFamily="34" charset="0"/>
              <a:buChar char="•"/>
            </a:pPr>
            <a:r>
              <a:rPr lang="en-US" sz="1100" b="1" dirty="0">
                <a:solidFill>
                  <a:srgbClr val="000000"/>
                </a:solidFill>
              </a:rPr>
              <a:t>Rectification:</a:t>
            </a:r>
            <a:endParaRPr lang="en-US" sz="1100" dirty="0"/>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3244600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84A6D8-A2DE-2807-E45F-2D1BDC29A312}"/>
              </a:ext>
            </a:extLst>
          </p:cNvPr>
          <p:cNvSpPr txBox="1">
            <a:spLocks/>
          </p:cNvSpPr>
          <p:nvPr/>
        </p:nvSpPr>
        <p:spPr>
          <a:xfrm>
            <a:off x="648881" y="76269"/>
            <a:ext cx="10150301"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EHS KPI Dashboard</a:t>
            </a:r>
          </a:p>
          <a:p>
            <a:r>
              <a:rPr lang="en-US" sz="2400" b="0" dirty="0"/>
              <a:t>4. Operational Control &amp; Emergency Preparedness – </a:t>
            </a:r>
            <a:r>
              <a:rPr lang="en-US" sz="2400" b="0" i="1" dirty="0"/>
              <a:t>Contractor Management</a:t>
            </a:r>
          </a:p>
        </p:txBody>
      </p:sp>
      <p:graphicFrame>
        <p:nvGraphicFramePr>
          <p:cNvPr id="3" name="Chart 2">
            <a:extLst>
              <a:ext uri="{FF2B5EF4-FFF2-40B4-BE49-F238E27FC236}">
                <a16:creationId xmlns:a16="http://schemas.microsoft.com/office/drawing/2014/main" id="{F23FE170-2F9A-9DA2-06BF-F395DF2446B3}"/>
              </a:ext>
            </a:extLst>
          </p:cNvPr>
          <p:cNvGraphicFramePr/>
          <p:nvPr>
            <p:extLst>
              <p:ext uri="{D42A27DB-BD31-4B8C-83A1-F6EECF244321}">
                <p14:modId xmlns:p14="http://schemas.microsoft.com/office/powerpoint/2010/main" val="3787362029"/>
              </p:ext>
            </p:extLst>
          </p:nvPr>
        </p:nvGraphicFramePr>
        <p:xfrm>
          <a:off x="1583601" y="1135121"/>
          <a:ext cx="3891221" cy="27358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940826D0-25B5-CD46-4D87-A1035D150A0A}"/>
              </a:ext>
            </a:extLst>
          </p:cNvPr>
          <p:cNvGraphicFramePr/>
          <p:nvPr>
            <p:extLst>
              <p:ext uri="{D42A27DB-BD31-4B8C-83A1-F6EECF244321}">
                <p14:modId xmlns:p14="http://schemas.microsoft.com/office/powerpoint/2010/main" val="1955985742"/>
              </p:ext>
            </p:extLst>
          </p:nvPr>
        </p:nvGraphicFramePr>
        <p:xfrm>
          <a:off x="6717178" y="1135121"/>
          <a:ext cx="3891221" cy="2735839"/>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01449395-4F4A-B434-1376-1121669CE194}"/>
              </a:ext>
            </a:extLst>
          </p:cNvPr>
          <p:cNvSpPr txBox="1">
            <a:spLocks/>
          </p:cNvSpPr>
          <p:nvPr/>
        </p:nvSpPr>
        <p:spPr>
          <a:xfrm>
            <a:off x="1721825" y="3870960"/>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13 – (Number of PTWs Issued ÷ Total works registered)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endParaRPr lang="en-GB" sz="1100" b="1" dirty="0">
              <a:solidFill>
                <a:srgbClr val="00249C"/>
              </a:solidFill>
            </a:endParaRP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solidFill>
                <a:srgbClr val="00249C"/>
              </a:solidFill>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DBE691A8-24AE-18D2-1933-64685FAE5C76}"/>
              </a:ext>
            </a:extLst>
          </p:cNvPr>
          <p:cNvSpPr txBox="1">
            <a:spLocks/>
          </p:cNvSpPr>
          <p:nvPr/>
        </p:nvSpPr>
        <p:spPr>
          <a:xfrm>
            <a:off x="6717178" y="3870960"/>
            <a:ext cx="3455832"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14 – (Inducted Contractors ÷ Total Active Contractors)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100" dirty="0">
              <a:solidFill>
                <a:srgbClr val="00249C"/>
              </a:solidFill>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p:txBody>
      </p:sp>
    </p:spTree>
    <p:extLst>
      <p:ext uri="{BB962C8B-B14F-4D97-AF65-F5344CB8AC3E}">
        <p14:creationId xmlns:p14="http://schemas.microsoft.com/office/powerpoint/2010/main" val="2885071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EF55A08-F697-3A45-E43B-FA6FC37B68CE}"/>
              </a:ext>
            </a:extLst>
          </p:cNvPr>
          <p:cNvSpPr txBox="1">
            <a:spLocks/>
          </p:cNvSpPr>
          <p:nvPr/>
        </p:nvSpPr>
        <p:spPr>
          <a:xfrm>
            <a:off x="659213"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EHS KPI Dashboard</a:t>
            </a:r>
          </a:p>
          <a:p>
            <a:r>
              <a:rPr lang="en-US" sz="2400" b="0" dirty="0"/>
              <a:t>5. Performance Evaluation &amp; Continual Improvement - </a:t>
            </a:r>
            <a:r>
              <a:rPr lang="en-US" sz="2400" b="0" i="1" dirty="0"/>
              <a:t>Inspection</a:t>
            </a:r>
          </a:p>
        </p:txBody>
      </p:sp>
      <p:graphicFrame>
        <p:nvGraphicFramePr>
          <p:cNvPr id="3" name="Chart 2">
            <a:extLst>
              <a:ext uri="{FF2B5EF4-FFF2-40B4-BE49-F238E27FC236}">
                <a16:creationId xmlns:a16="http://schemas.microsoft.com/office/drawing/2014/main" id="{73A4CE0F-E630-2A03-13A4-68EA0BCDEA03}"/>
              </a:ext>
            </a:extLst>
          </p:cNvPr>
          <p:cNvGraphicFramePr/>
          <p:nvPr>
            <p:extLst>
              <p:ext uri="{D42A27DB-BD31-4B8C-83A1-F6EECF244321}">
                <p14:modId xmlns:p14="http://schemas.microsoft.com/office/powerpoint/2010/main" val="3600102770"/>
              </p:ext>
            </p:extLst>
          </p:nvPr>
        </p:nvGraphicFramePr>
        <p:xfrm>
          <a:off x="1953072" y="1138895"/>
          <a:ext cx="3891221" cy="21963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D5EE6D26-5BDD-8B90-5A83-65934333BC35}"/>
              </a:ext>
            </a:extLst>
          </p:cNvPr>
          <p:cNvGraphicFramePr/>
          <p:nvPr>
            <p:extLst>
              <p:ext uri="{D42A27DB-BD31-4B8C-83A1-F6EECF244321}">
                <p14:modId xmlns:p14="http://schemas.microsoft.com/office/powerpoint/2010/main" val="2649316079"/>
              </p:ext>
            </p:extLst>
          </p:nvPr>
        </p:nvGraphicFramePr>
        <p:xfrm>
          <a:off x="6669240" y="1138895"/>
          <a:ext cx="3891221" cy="2196353"/>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98429F78-E0E3-316A-D21F-9A30E0DC71ED}"/>
              </a:ext>
            </a:extLst>
          </p:cNvPr>
          <p:cNvSpPr txBox="1">
            <a:spLocks/>
          </p:cNvSpPr>
          <p:nvPr/>
        </p:nvSpPr>
        <p:spPr>
          <a:xfrm>
            <a:off x="1759215" y="3706775"/>
            <a:ext cx="408507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15 – (Findings Closed ÷ Total Findings) × 100</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endParaRPr lang="en-GB" sz="1100" b="1" dirty="0">
              <a:solidFill>
                <a:srgbClr val="00249C"/>
              </a:solidFill>
            </a:endParaRP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100" dirty="0">
              <a:solidFill>
                <a:srgbClr val="00249C"/>
              </a:solidFill>
            </a:endParaRP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7052B10D-0697-F183-66E1-91D3053DAC9A}"/>
              </a:ext>
            </a:extLst>
          </p:cNvPr>
          <p:cNvSpPr txBox="1">
            <a:spLocks/>
          </p:cNvSpPr>
          <p:nvPr/>
        </p:nvSpPr>
        <p:spPr>
          <a:xfrm>
            <a:off x="6669240" y="370677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16 – (Inspections Completed ÷ Inspections Planned) × 100</a:t>
            </a:r>
          </a:p>
          <a:p>
            <a:pPr marL="171450" indent="-171450" algn="just">
              <a:buFont typeface="Arial" panose="020B0604020202020204" pitchFamily="34" charset="0"/>
              <a:buChar char="•"/>
            </a:pPr>
            <a:r>
              <a:rPr lang="en-US" sz="1100" b="1" dirty="0">
                <a:solidFill>
                  <a:schemeClr val="accent6"/>
                </a:solidFill>
              </a:rPr>
              <a:t>Key Observations: </a:t>
            </a:r>
            <a:endParaRPr lang="en-GB" sz="1100" b="1" dirty="0">
              <a:solidFill>
                <a:schemeClr val="accent6"/>
              </a:solidFill>
            </a:endParaRPr>
          </a:p>
          <a:p>
            <a:pPr marL="171450" indent="-171450" algn="just">
              <a:buFont typeface="Arial" panose="020B0604020202020204" pitchFamily="34" charset="0"/>
              <a:buChar char="•"/>
            </a:pPr>
            <a:endParaRPr lang="en-GB" sz="1100" b="1" dirty="0">
              <a:solidFill>
                <a:schemeClr val="accent6"/>
              </a:solidFill>
            </a:endParaRPr>
          </a:p>
          <a:p>
            <a:pPr marL="171450" indent="-171450" algn="just">
              <a:buFont typeface="Arial" panose="020B0604020202020204" pitchFamily="34" charset="0"/>
              <a:buChar char="•"/>
            </a:pPr>
            <a:r>
              <a:rPr lang="en-US" sz="1100" b="1" dirty="0">
                <a:solidFill>
                  <a:schemeClr val="accent6"/>
                </a:solidFill>
              </a:rPr>
              <a:t>Rectification: </a:t>
            </a:r>
            <a:endParaRPr lang="en-US" sz="1100" dirty="0">
              <a:solidFill>
                <a:srgbClr val="00249C"/>
              </a:solidFill>
            </a:endParaRPr>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3730796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144D033-06C2-3F95-4417-5E6D9DD59579}"/>
              </a:ext>
            </a:extLst>
          </p:cNvPr>
          <p:cNvSpPr txBox="1">
            <a:spLocks/>
          </p:cNvSpPr>
          <p:nvPr/>
        </p:nvSpPr>
        <p:spPr>
          <a:xfrm>
            <a:off x="659213" y="76269"/>
            <a:ext cx="11358615"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EHS KPI Dashboard</a:t>
            </a:r>
          </a:p>
          <a:p>
            <a:r>
              <a:rPr lang="en-US" sz="2400" b="0" dirty="0"/>
              <a:t>5. Performance Evaluation &amp; Continual Improvement – </a:t>
            </a:r>
            <a:r>
              <a:rPr lang="en-US" sz="2400" b="0" i="1" dirty="0"/>
              <a:t>Incident Reporting &amp; Investigation</a:t>
            </a:r>
          </a:p>
        </p:txBody>
      </p:sp>
      <p:graphicFrame>
        <p:nvGraphicFramePr>
          <p:cNvPr id="3" name="Chart 2">
            <a:extLst>
              <a:ext uri="{FF2B5EF4-FFF2-40B4-BE49-F238E27FC236}">
                <a16:creationId xmlns:a16="http://schemas.microsoft.com/office/drawing/2014/main" id="{4E07165A-AF93-1A17-D5D1-6E06E9317A93}"/>
              </a:ext>
            </a:extLst>
          </p:cNvPr>
          <p:cNvGraphicFramePr/>
          <p:nvPr>
            <p:extLst>
              <p:ext uri="{D42A27DB-BD31-4B8C-83A1-F6EECF244321}">
                <p14:modId xmlns:p14="http://schemas.microsoft.com/office/powerpoint/2010/main" val="744032748"/>
              </p:ext>
            </p:extLst>
          </p:nvPr>
        </p:nvGraphicFramePr>
        <p:xfrm>
          <a:off x="1858093" y="1146403"/>
          <a:ext cx="3891221" cy="21963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691AD59B-9452-2B67-D87D-86759B46F6B8}"/>
              </a:ext>
            </a:extLst>
          </p:cNvPr>
          <p:cNvGraphicFramePr/>
          <p:nvPr>
            <p:extLst>
              <p:ext uri="{D42A27DB-BD31-4B8C-83A1-F6EECF244321}">
                <p14:modId xmlns:p14="http://schemas.microsoft.com/office/powerpoint/2010/main" val="1104148301"/>
              </p:ext>
            </p:extLst>
          </p:nvPr>
        </p:nvGraphicFramePr>
        <p:xfrm>
          <a:off x="6637310" y="1151425"/>
          <a:ext cx="3891221" cy="2196353"/>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 Placeholder 3">
            <a:extLst>
              <a:ext uri="{FF2B5EF4-FFF2-40B4-BE49-F238E27FC236}">
                <a16:creationId xmlns:a16="http://schemas.microsoft.com/office/drawing/2014/main" id="{40FA2E22-C3E1-A0B9-1219-AE9FF837FBB3}"/>
              </a:ext>
            </a:extLst>
          </p:cNvPr>
          <p:cNvSpPr txBox="1">
            <a:spLocks/>
          </p:cNvSpPr>
          <p:nvPr/>
        </p:nvSpPr>
        <p:spPr>
          <a:xfrm>
            <a:off x="1858093" y="351524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17 – (Notifications Submitted Within Target ÷ Total Incidents)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buFont typeface="Arial" panose="020B0604020202020204" pitchFamily="34" charset="0"/>
              <a:buChar char="•"/>
            </a:pPr>
            <a:r>
              <a:rPr lang="en-US" sz="1100" b="1" dirty="0">
                <a:solidFill>
                  <a:schemeClr val="accent6"/>
                </a:solidFill>
              </a:rPr>
              <a:t>Key Observations</a:t>
            </a:r>
            <a:r>
              <a:rPr lang="en-US" sz="1100" b="1" dirty="0">
                <a:solidFill>
                  <a:schemeClr val="tx2"/>
                </a:solidFill>
              </a:rPr>
              <a:t>:</a:t>
            </a:r>
          </a:p>
          <a:p>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 </a:t>
            </a:r>
            <a:endParaRPr lang="en-GB" sz="1100" dirty="0"/>
          </a:p>
          <a:p>
            <a:pPr marL="171450" indent="-171450" algn="just">
              <a:spcBef>
                <a:spcPts val="0"/>
              </a:spcBef>
              <a:buFont typeface="Arial" panose="020B0604020202020204" pitchFamily="34" charset="0"/>
              <a:buChar char="•"/>
            </a:pPr>
            <a:endParaRPr lang="en-US" sz="1100" dirty="0">
              <a:solidFill>
                <a:srgbClr val="00249C"/>
              </a:solidFill>
            </a:endParaRPr>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30AD88EC-F553-C99C-F97E-976D56FF4159}"/>
              </a:ext>
            </a:extLst>
          </p:cNvPr>
          <p:cNvSpPr txBox="1">
            <a:spLocks/>
          </p:cNvSpPr>
          <p:nvPr/>
        </p:nvSpPr>
        <p:spPr>
          <a:xfrm>
            <a:off x="6637310" y="3521746"/>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18 – (Investigations Completed ÷ Total Incidents Investigated)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buFont typeface="Arial" panose="020B0604020202020204" pitchFamily="34" charset="0"/>
              <a:buChar char="•"/>
            </a:pPr>
            <a:r>
              <a:rPr lang="en-US" sz="1100" b="1" dirty="0">
                <a:solidFill>
                  <a:schemeClr val="accent6"/>
                </a:solidFill>
              </a:rPr>
              <a:t>Key Observations: </a:t>
            </a:r>
            <a:endParaRPr lang="en-GB" sz="1100" b="1" dirty="0">
              <a:solidFill>
                <a:schemeClr val="accent6"/>
              </a:solidFill>
            </a:endParaRPr>
          </a:p>
          <a:p>
            <a:endParaRPr lang="en-GB" sz="1100" b="1" dirty="0">
              <a:solidFill>
                <a:schemeClr val="accent6"/>
              </a:solidFill>
            </a:endParaRPr>
          </a:p>
          <a:p>
            <a:endParaRPr lang="en-GB"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 </a:t>
            </a:r>
            <a:endParaRPr lang="en-GB" sz="1100" dirty="0">
              <a:solidFill>
                <a:srgbClr val="00249C"/>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2829906989"/>
      </p:ext>
    </p:extLst>
  </p:cSld>
  <p:clrMapOvr>
    <a:masterClrMapping/>
  </p:clrMapOvr>
</p:sld>
</file>

<file path=ppt/theme/theme1.xml><?xml version="1.0" encoding="utf-8"?>
<a:theme xmlns:a="http://schemas.openxmlformats.org/drawingml/2006/main" name="1_Office Theme">
  <a:themeElements>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CT-English-PPT" id="{66C1D627-B2B5-CC49-A3B4-7C85DDDC73E2}" vid="{1B779F52-C459-FE44-A2F4-9C273C3439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8E37F35-F500-4E6D-B0C4-73E8407C77A4}">
  <we:reference id="WA200010001" version="1.0.0.1" store="Omex" storeType="OMEX"/>
  <we:alternateReferences>
    <we:reference id="WA200010001" version="1.0.0.1" store="WA200010001" storeType="OMEX"/>
  </we:alternateReferences>
  <we:properties>
    <we:property name="claude.fileId" value="&quot;78f2d011-05ec-492e-b823-89e2f3711db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14372</TotalTime>
  <Words>864</Words>
  <Application>Microsoft Office PowerPoint</Application>
  <PresentationFormat>Widescreen</PresentationFormat>
  <Paragraphs>214</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Tahoma</vt:lpstr>
      <vt:lpstr>1_Office Theme</vt:lpstr>
      <vt:lpstr>KPI PERFORMANCE Q1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Bakri Hamameh</dc:creator>
  <cp:lastModifiedBy>Melwin Dsouza</cp:lastModifiedBy>
  <cp:revision>433</cp:revision>
  <dcterms:created xsi:type="dcterms:W3CDTF">2023-08-15T07:47:02Z</dcterms:created>
  <dcterms:modified xsi:type="dcterms:W3CDTF">2026-09-14T11:19:35Z</dcterms:modified>
</cp:coreProperties>
</file>