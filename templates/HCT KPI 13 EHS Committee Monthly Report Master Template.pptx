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1.xml" ContentType="application/vnd.openxmlformats-officedocument.themeOverride+xml"/>
  <Override PartName="/ppt/notesSlides/notesSlide2.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notesSlides/notesSlide3.xml" ContentType="application/vnd.openxmlformats-officedocument.presentationml.notesSlide+xml"/>
  <Override PartName="/ppt/charts/chart13.xml" ContentType="application/vnd.openxmlformats-officedocument.drawingml.chart+xml"/>
  <Override PartName="/ppt/charts/chart14.xml" ContentType="application/vnd.openxmlformats-officedocument.drawingml.chart+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Lst>
  <p:notesMasterIdLst>
    <p:notesMasterId r:id="rId25"/>
  </p:notesMasterIdLst>
  <p:sldIdLst>
    <p:sldId id="340" r:id="rId2"/>
    <p:sldId id="401" r:id="rId3"/>
    <p:sldId id="404" r:id="rId4"/>
    <p:sldId id="392" r:id="rId5"/>
    <p:sldId id="412" r:id="rId6"/>
    <p:sldId id="413" r:id="rId7"/>
    <p:sldId id="414" r:id="rId8"/>
    <p:sldId id="415" r:id="rId9"/>
    <p:sldId id="416" r:id="rId10"/>
    <p:sldId id="417" r:id="rId11"/>
    <p:sldId id="335" r:id="rId12"/>
    <p:sldId id="418" r:id="rId13"/>
    <p:sldId id="359" r:id="rId14"/>
    <p:sldId id="405" r:id="rId15"/>
    <p:sldId id="406" r:id="rId16"/>
    <p:sldId id="407" r:id="rId17"/>
    <p:sldId id="408" r:id="rId18"/>
    <p:sldId id="409" r:id="rId19"/>
    <p:sldId id="410" r:id="rId20"/>
    <p:sldId id="362" r:id="rId21"/>
    <p:sldId id="411" r:id="rId22"/>
    <p:sldId id="353" r:id="rId23"/>
    <p:sldId id="26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0F79E1A-B9DF-E92A-56B6-BF93512E2FD3}" name="Melwin Dsouza" initials="MD" userId="S::Melwin.Dsouza@corporateohs.com::149ac2db-be8b-40ff-b11b-d098f284dba8" providerId="AD"/>
  <p188:author id="{4D5F4B26-70C2-C458-CF70-89C76E1704D8}" name="Branco Dennenberg" initials="BD" userId="7b81a8bc22f2f239" providerId="Windows Live"/>
  <p188:author id="{5B26CF33-3F9E-64B6-8031-873F17783981}" name="Caroline Savage" initials="CS" userId="7108174042d12c3f" providerId="Windows Live"/>
  <p188:author id="{8D6D4444-3D9E-9EFB-8C07-AA5665A4A5C5}" name="Karthikeyan Viswanathan" initials="KV" userId="S::Karthikeyan.Viswanathan@corporateohs.com::ee677136-ef6c-4a16-817e-71289ad1cdb2" providerId="AD"/>
  <p188:author id="{CFC1D6F1-5CCD-23D0-AEA0-FE2283801C34}" name="caroline savage" initials="cs" userId="S::carolinesavage@corporateohs.com::91448213-4f62-4282-a05a-3f8111c1e7bd"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249C"/>
    <a:srgbClr val="A50034"/>
    <a:srgbClr val="F7C1C1"/>
    <a:srgbClr val="C0DD97"/>
    <a:srgbClr val="47D7AC"/>
    <a:srgbClr val="23ACDD"/>
    <a:srgbClr val="B5D4F4"/>
    <a:srgbClr val="B1E4E3"/>
    <a:srgbClr val="00A3E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06A169-BE79-41EF-B950-E0A2465A7844}" v="18" dt="2026-07-07T12:18:43.4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79" autoAdjust="0"/>
    <p:restoredTop sz="90719" autoAdjust="0"/>
  </p:normalViewPr>
  <p:slideViewPr>
    <p:cSldViewPr snapToGrid="0">
      <p:cViewPr varScale="1">
        <p:scale>
          <a:sx n="75" d="100"/>
          <a:sy n="75" d="100"/>
        </p:scale>
        <p:origin x="1205" y="4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8/10/relationships/authors" Targe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oline savage" userId="91448213-4f62-4282-a05a-3f8111c1e7bd" providerId="ADAL" clId="{12E5D5C5-97B3-48EB-B13D-D18563E280BB}"/>
    <pc:docChg chg="addSld delSld modSld sldOrd">
      <pc:chgData name="caroline savage" userId="91448213-4f62-4282-a05a-3f8111c1e7bd" providerId="ADAL" clId="{12E5D5C5-97B3-48EB-B13D-D18563E280BB}" dt="2026-07-08T04:09:38.681" v="23" actId="6549"/>
      <pc:docMkLst>
        <pc:docMk/>
      </pc:docMkLst>
      <pc:sldChg chg="ord">
        <pc:chgData name="caroline savage" userId="91448213-4f62-4282-a05a-3f8111c1e7bd" providerId="ADAL" clId="{12E5D5C5-97B3-48EB-B13D-D18563E280BB}" dt="2026-07-07T12:05:03.762" v="5"/>
        <pc:sldMkLst>
          <pc:docMk/>
          <pc:sldMk cId="3101187471" sldId="338"/>
        </pc:sldMkLst>
      </pc:sldChg>
      <pc:sldChg chg="ord">
        <pc:chgData name="caroline savage" userId="91448213-4f62-4282-a05a-3f8111c1e7bd" providerId="ADAL" clId="{12E5D5C5-97B3-48EB-B13D-D18563E280BB}" dt="2026-07-07T12:05:03.762" v="5"/>
        <pc:sldMkLst>
          <pc:docMk/>
          <pc:sldMk cId="3244600674" sldId="339"/>
        </pc:sldMkLst>
      </pc:sldChg>
      <pc:sldChg chg="addSp modSp mod">
        <pc:chgData name="caroline savage" userId="91448213-4f62-4282-a05a-3f8111c1e7bd" providerId="ADAL" clId="{12E5D5C5-97B3-48EB-B13D-D18563E280BB}" dt="2026-07-08T04:09:32.259" v="22" actId="6549"/>
        <pc:sldMkLst>
          <pc:docMk/>
          <pc:sldMk cId="929942118" sldId="353"/>
        </pc:sldMkLst>
        <pc:spChg chg="add mod">
          <ac:chgData name="caroline savage" userId="91448213-4f62-4282-a05a-3f8111c1e7bd" providerId="ADAL" clId="{12E5D5C5-97B3-48EB-B13D-D18563E280BB}" dt="2026-07-07T12:17:01.917" v="18" actId="767"/>
          <ac:spMkLst>
            <pc:docMk/>
            <pc:sldMk cId="929942118" sldId="353"/>
            <ac:spMk id="2" creationId="{D58C25FC-D701-A547-C584-1DA3331894AD}"/>
          </ac:spMkLst>
        </pc:spChg>
        <pc:spChg chg="mod">
          <ac:chgData name="caroline savage" userId="91448213-4f62-4282-a05a-3f8111c1e7bd" providerId="ADAL" clId="{12E5D5C5-97B3-48EB-B13D-D18563E280BB}" dt="2026-07-08T04:09:32.259" v="22" actId="6549"/>
          <ac:spMkLst>
            <pc:docMk/>
            <pc:sldMk cId="929942118" sldId="353"/>
            <ac:spMk id="4" creationId="{31F0D0EA-95AA-EE1A-E0C1-414934A77FC8}"/>
          </ac:spMkLst>
        </pc:spChg>
      </pc:sldChg>
      <pc:sldChg chg="modSp ord">
        <pc:chgData name="caroline savage" userId="91448213-4f62-4282-a05a-3f8111c1e7bd" providerId="ADAL" clId="{12E5D5C5-97B3-48EB-B13D-D18563E280BB}" dt="2026-07-07T12:14:58.826" v="16"/>
        <pc:sldMkLst>
          <pc:docMk/>
          <pc:sldMk cId="2204815029" sldId="359"/>
        </pc:sldMkLst>
        <pc:graphicFrameChg chg="mod">
          <ac:chgData name="caroline savage" userId="91448213-4f62-4282-a05a-3f8111c1e7bd" providerId="ADAL" clId="{12E5D5C5-97B3-48EB-B13D-D18563E280BB}" dt="2026-07-07T12:14:58.826" v="16"/>
          <ac:graphicFrameMkLst>
            <pc:docMk/>
            <pc:sldMk cId="2204815029" sldId="359"/>
            <ac:graphicFrameMk id="2" creationId="{AFBB3CA4-063C-BD2A-CF99-415AC915C9E3}"/>
          </ac:graphicFrameMkLst>
        </pc:graphicFrameChg>
      </pc:sldChg>
      <pc:sldChg chg="ord">
        <pc:chgData name="caroline savage" userId="91448213-4f62-4282-a05a-3f8111c1e7bd" providerId="ADAL" clId="{12E5D5C5-97B3-48EB-B13D-D18563E280BB}" dt="2026-07-07T12:05:03.762" v="5"/>
        <pc:sldMkLst>
          <pc:docMk/>
          <pc:sldMk cId="462679577" sldId="360"/>
        </pc:sldMkLst>
      </pc:sldChg>
      <pc:sldChg chg="ord">
        <pc:chgData name="caroline savage" userId="91448213-4f62-4282-a05a-3f8111c1e7bd" providerId="ADAL" clId="{12E5D5C5-97B3-48EB-B13D-D18563E280BB}" dt="2026-07-07T12:05:03.762" v="5"/>
        <pc:sldMkLst>
          <pc:docMk/>
          <pc:sldMk cId="2098505776" sldId="361"/>
        </pc:sldMkLst>
      </pc:sldChg>
      <pc:sldChg chg="del">
        <pc:chgData name="caroline savage" userId="91448213-4f62-4282-a05a-3f8111c1e7bd" providerId="ADAL" clId="{12E5D5C5-97B3-48EB-B13D-D18563E280BB}" dt="2026-07-08T04:09:28.046" v="20" actId="47"/>
        <pc:sldMkLst>
          <pc:docMk/>
          <pc:sldMk cId="1250658852" sldId="380"/>
        </pc:sldMkLst>
      </pc:sldChg>
      <pc:sldChg chg="ord">
        <pc:chgData name="caroline savage" userId="91448213-4f62-4282-a05a-3f8111c1e7bd" providerId="ADAL" clId="{12E5D5C5-97B3-48EB-B13D-D18563E280BB}" dt="2026-07-07T12:05:03.762" v="5"/>
        <pc:sldMkLst>
          <pc:docMk/>
          <pc:sldMk cId="773780304" sldId="392"/>
        </pc:sldMkLst>
      </pc:sldChg>
      <pc:sldChg chg="ord">
        <pc:chgData name="caroline savage" userId="91448213-4f62-4282-a05a-3f8111c1e7bd" providerId="ADAL" clId="{12E5D5C5-97B3-48EB-B13D-D18563E280BB}" dt="2026-07-07T12:05:03.762" v="5"/>
        <pc:sldMkLst>
          <pc:docMk/>
          <pc:sldMk cId="3671072281" sldId="395"/>
        </pc:sldMkLst>
      </pc:sldChg>
      <pc:sldChg chg="modSp mod">
        <pc:chgData name="caroline savage" userId="91448213-4f62-4282-a05a-3f8111c1e7bd" providerId="ADAL" clId="{12E5D5C5-97B3-48EB-B13D-D18563E280BB}" dt="2026-07-08T04:09:38.681" v="23" actId="6549"/>
        <pc:sldMkLst>
          <pc:docMk/>
          <pc:sldMk cId="2057660815" sldId="401"/>
        </pc:sldMkLst>
        <pc:spChg chg="mod">
          <ac:chgData name="caroline savage" userId="91448213-4f62-4282-a05a-3f8111c1e7bd" providerId="ADAL" clId="{12E5D5C5-97B3-48EB-B13D-D18563E280BB}" dt="2026-07-08T04:09:38.681" v="23" actId="6549"/>
          <ac:spMkLst>
            <pc:docMk/>
            <pc:sldMk cId="2057660815" sldId="401"/>
            <ac:spMk id="62" creationId="{4E471528-9CBB-6568-41E6-D2AF7AA2740A}"/>
          </ac:spMkLst>
        </pc:spChg>
      </pc:sldChg>
      <pc:sldChg chg="ord">
        <pc:chgData name="caroline savage" userId="91448213-4f62-4282-a05a-3f8111c1e7bd" providerId="ADAL" clId="{12E5D5C5-97B3-48EB-B13D-D18563E280BB}" dt="2026-07-07T12:04:08.783" v="4"/>
        <pc:sldMkLst>
          <pc:docMk/>
          <pc:sldMk cId="4174377885" sldId="402"/>
        </pc:sldMkLst>
      </pc:sldChg>
      <pc:sldChg chg="ord">
        <pc:chgData name="caroline savage" userId="91448213-4f62-4282-a05a-3f8111c1e7bd" providerId="ADAL" clId="{12E5D5C5-97B3-48EB-B13D-D18563E280BB}" dt="2026-07-07T12:04:08.783" v="4"/>
        <pc:sldMkLst>
          <pc:docMk/>
          <pc:sldMk cId="1263559796" sldId="403"/>
        </pc:sldMkLst>
      </pc:sldChg>
      <pc:sldChg chg="ord">
        <pc:chgData name="caroline savage" userId="91448213-4f62-4282-a05a-3f8111c1e7bd" providerId="ADAL" clId="{12E5D5C5-97B3-48EB-B13D-D18563E280BB}" dt="2026-07-07T12:05:03.762" v="5"/>
        <pc:sldMkLst>
          <pc:docMk/>
          <pc:sldMk cId="1427806595" sldId="404"/>
        </pc:sldMkLst>
      </pc:sldChg>
      <pc:sldChg chg="add ord">
        <pc:chgData name="caroline savage" userId="91448213-4f62-4282-a05a-3f8111c1e7bd" providerId="ADAL" clId="{12E5D5C5-97B3-48EB-B13D-D18563E280BB}" dt="2026-07-07T11:59:19.536" v="2"/>
        <pc:sldMkLst>
          <pc:docMk/>
          <pc:sldMk cId="2267161353" sldId="412"/>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902588310969851"/>
          <c:y val="5.6500479633733573E-4"/>
          <c:w val="0.65320343035115047"/>
          <c:h val="0.9869297326427352"/>
        </c:manualLayout>
      </c:layout>
      <c:pieChart>
        <c:varyColors val="1"/>
        <c:ser>
          <c:idx val="0"/>
          <c:order val="0"/>
          <c:spPr>
            <a:solidFill>
              <a:srgbClr val="00249C"/>
            </a:solidFill>
          </c:spPr>
          <c:dPt>
            <c:idx val="0"/>
            <c:bubble3D val="0"/>
            <c:spPr>
              <a:solidFill>
                <a:srgbClr val="00249C"/>
              </a:solidFill>
              <a:ln w="19050">
                <a:solidFill>
                  <a:schemeClr val="lt1"/>
                </a:solidFill>
              </a:ln>
              <a:effectLst/>
            </c:spPr>
            <c:extLst>
              <c:ext xmlns:c16="http://schemas.microsoft.com/office/drawing/2014/chart" uri="{C3380CC4-5D6E-409C-BE32-E72D297353CC}">
                <c16:uniqueId val="{00000001-BA65-4EE1-8706-5F9AF75E9B6F}"/>
              </c:ext>
            </c:extLst>
          </c:dPt>
          <c:dPt>
            <c:idx val="1"/>
            <c:bubble3D val="0"/>
            <c:spPr>
              <a:solidFill>
                <a:srgbClr val="00249C"/>
              </a:solidFill>
              <a:ln w="19050">
                <a:solidFill>
                  <a:schemeClr val="lt1"/>
                </a:solidFill>
              </a:ln>
              <a:effectLst/>
            </c:spPr>
            <c:extLst>
              <c:ext xmlns:c16="http://schemas.microsoft.com/office/drawing/2014/chart" uri="{C3380CC4-5D6E-409C-BE32-E72D297353CC}">
                <c16:uniqueId val="{00000003-BA65-4EE1-8706-5F9AF75E9B6F}"/>
              </c:ext>
            </c:extLst>
          </c:dPt>
          <c:dPt>
            <c:idx val="2"/>
            <c:bubble3D val="0"/>
            <c:spPr>
              <a:solidFill>
                <a:srgbClr val="00249C"/>
              </a:solidFill>
              <a:ln w="19050">
                <a:solidFill>
                  <a:schemeClr val="lt1"/>
                </a:solidFill>
              </a:ln>
              <a:effectLst/>
            </c:spPr>
            <c:extLst>
              <c:ext xmlns:c16="http://schemas.microsoft.com/office/drawing/2014/chart" uri="{C3380CC4-5D6E-409C-BE32-E72D297353CC}">
                <c16:uniqueId val="{00000005-BA65-4EE1-8706-5F9AF75E9B6F}"/>
              </c:ext>
            </c:extLst>
          </c:dPt>
          <c:dPt>
            <c:idx val="3"/>
            <c:bubble3D val="0"/>
            <c:spPr>
              <a:solidFill>
                <a:srgbClr val="00249C"/>
              </a:solidFill>
              <a:ln w="19050">
                <a:solidFill>
                  <a:schemeClr val="lt1"/>
                </a:solidFill>
              </a:ln>
              <a:effectLst/>
            </c:spPr>
            <c:extLst>
              <c:ext xmlns:c16="http://schemas.microsoft.com/office/drawing/2014/chart" uri="{C3380CC4-5D6E-409C-BE32-E72D297353CC}">
                <c16:uniqueId val="{00000007-BA65-4EE1-8706-5F9AF75E9B6F}"/>
              </c:ext>
            </c:extLst>
          </c:dPt>
          <c:dPt>
            <c:idx val="4"/>
            <c:bubble3D val="0"/>
            <c:spPr>
              <a:solidFill>
                <a:srgbClr val="00249C"/>
              </a:solidFill>
              <a:ln w="19050">
                <a:solidFill>
                  <a:schemeClr val="lt1"/>
                </a:solidFill>
              </a:ln>
              <a:effectLst/>
            </c:spPr>
            <c:extLst>
              <c:ext xmlns:c16="http://schemas.microsoft.com/office/drawing/2014/chart" uri="{C3380CC4-5D6E-409C-BE32-E72D297353CC}">
                <c16:uniqueId val="{00000009-BA65-4EE1-8706-5F9AF75E9B6F}"/>
              </c:ext>
            </c:extLst>
          </c:dPt>
          <c:dLbls>
            <c:dLbl>
              <c:idx val="0"/>
              <c:layout>
                <c:manualLayout>
                  <c:x val="-0.16487988540823936"/>
                  <c:y val="0.21043838976193191"/>
                </c:manualLayout>
              </c:layou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A65-4EE1-8706-5F9AF75E9B6F}"/>
                </c:ext>
              </c:extLst>
            </c:dLbl>
            <c:dLbl>
              <c:idx val="1"/>
              <c:layout>
                <c:manualLayout>
                  <c:x val="-0.23891016132627421"/>
                  <c:y val="-0.12164657640375343"/>
                </c:manualLayout>
              </c:layou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A65-4EE1-8706-5F9AF75E9B6F}"/>
                </c:ext>
              </c:extLst>
            </c:dLbl>
            <c:dLbl>
              <c:idx val="2"/>
              <c:layout>
                <c:manualLayout>
                  <c:x val="-9.4551292259325348E-2"/>
                  <c:y val="-9.1621826068713233E-2"/>
                </c:manualLayout>
              </c:layout>
              <c:spPr>
                <a:noFill/>
                <a:ln>
                  <a:noFill/>
                </a:ln>
                <a:effectLst/>
              </c:spPr>
              <c:txPr>
                <a:bodyPr rot="0" spcFirstLastPara="1" vertOverflow="ellipsis" vert="horz" wrap="square" lIns="38100" tIns="19050" rIns="38100" bIns="19050" anchor="ctr" anchorCtr="1">
                  <a:noAutofit/>
                </a:bodyPr>
                <a:lstStyle/>
                <a:p>
                  <a:pPr>
                    <a:defRPr sz="1200" b="0" i="0" u="none" strike="noStrike" kern="1200" baseline="0">
                      <a:solidFill>
                        <a:schemeClr val="bg1"/>
                      </a:solidFill>
                      <a:latin typeface="Tahoma" panose="020B0604030504040204" pitchFamily="34" charset="0"/>
                      <a:ea typeface="Tahoma" panose="020B0604030504040204" pitchFamily="34" charset="0"/>
                      <a:cs typeface="Tahoma" panose="020B0604030504040204" pitchFamily="34" charset="0"/>
                    </a:defRPr>
                  </a:pPr>
                  <a:endParaRPr lang="en-US"/>
                </a:p>
              </c:txPr>
              <c:showLegendKey val="0"/>
              <c:showVal val="0"/>
              <c:showCatName val="1"/>
              <c:showSerName val="0"/>
              <c:showPercent val="0"/>
              <c:showBubbleSize val="0"/>
              <c:extLst>
                <c:ext xmlns:c15="http://schemas.microsoft.com/office/drawing/2012/chart" uri="{CE6537A1-D6FC-4f65-9D91-7224C49458BB}">
                  <c15:layout>
                    <c:manualLayout>
                      <c:w val="0.10964754195876607"/>
                      <c:h val="0.1950950570342205"/>
                    </c:manualLayout>
                  </c15:layout>
                </c:ext>
                <c:ext xmlns:c16="http://schemas.microsoft.com/office/drawing/2014/chart" uri="{C3380CC4-5D6E-409C-BE32-E72D297353CC}">
                  <c16:uniqueId val="{00000005-BA65-4EE1-8706-5F9AF75E9B6F}"/>
                </c:ext>
              </c:extLst>
            </c:dLbl>
            <c:dLbl>
              <c:idx val="3"/>
              <c:layout>
                <c:manualLayout>
                  <c:x val="0.17089371763214278"/>
                  <c:y val="-0.26345155502357021"/>
                </c:manualLayout>
              </c:layou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7-BA65-4EE1-8706-5F9AF75E9B6F}"/>
                </c:ext>
              </c:extLst>
            </c:dLbl>
            <c:dLbl>
              <c:idx val="4"/>
              <c:layout>
                <c:manualLayout>
                  <c:x val="0.17808724396757206"/>
                  <c:y val="0.22657342216650292"/>
                </c:manualLayout>
              </c:layout>
              <c:tx>
                <c:rich>
                  <a:bodyPr/>
                  <a:lstStyle/>
                  <a:p>
                    <a:fld id="{54EFDA80-51B9-4B77-AD05-126701107E30}" type="CATEGORYNAME">
                      <a:rPr lang="en-US" b="0"/>
                      <a:pPr/>
                      <a:t>[CATEGORY NAME]</a:t>
                    </a:fld>
                    <a:endParaRPr lang="en-US"/>
                  </a:p>
                </c:rich>
              </c:tx>
              <c:showLegendKey val="0"/>
              <c:showVal val="0"/>
              <c:showCatName val="1"/>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BA65-4EE1-8706-5F9AF75E9B6F}"/>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bg1"/>
                    </a:solidFill>
                    <a:latin typeface="Tahoma" panose="020B0604030504040204" pitchFamily="34" charset="0"/>
                    <a:ea typeface="Tahoma" panose="020B0604030504040204" pitchFamily="34" charset="0"/>
                    <a:cs typeface="Tahoma" panose="020B0604030504040204" pitchFamily="34" charset="0"/>
                  </a:defRPr>
                </a:pPr>
                <a:endParaRPr lang="en-US"/>
              </a:p>
            </c:txPr>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Sheet1!$B$3:$B$7</c:f>
              <c:strCache>
                <c:ptCount val="5"/>
                <c:pt idx="0">
                  <c:v>1. Leadership, Accountability &amp; Engagement (20%)</c:v>
                </c:pt>
                <c:pt idx="1">
                  <c:v>2. Risk Management &amp; Planning (20%)</c:v>
                </c:pt>
                <c:pt idx="2">
                  <c:v>3. Training &amp; Awareness (10%)</c:v>
                </c:pt>
                <c:pt idx="3">
                  <c:v>4. Operational Control &amp; Emergency Preparedness (25%)</c:v>
                </c:pt>
                <c:pt idx="4">
                  <c:v>5. Performance Evaluation &amp; Continual Improvement (25%)</c:v>
                </c:pt>
              </c:strCache>
            </c:strRef>
          </c:cat>
          <c:val>
            <c:numRef>
              <c:f>Sheet1!$C$3:$C$7</c:f>
              <c:numCache>
                <c:formatCode>General</c:formatCode>
                <c:ptCount val="5"/>
                <c:pt idx="0">
                  <c:v>20</c:v>
                </c:pt>
                <c:pt idx="1">
                  <c:v>20</c:v>
                </c:pt>
                <c:pt idx="2">
                  <c:v>10</c:v>
                </c:pt>
                <c:pt idx="3">
                  <c:v>25</c:v>
                </c:pt>
                <c:pt idx="4">
                  <c:v>25</c:v>
                </c:pt>
              </c:numCache>
            </c:numRef>
          </c:val>
          <c:extLst>
            <c:ext xmlns:c16="http://schemas.microsoft.com/office/drawing/2014/chart" uri="{C3380CC4-5D6E-409C-BE32-E72D297353CC}">
              <c16:uniqueId val="{0000000A-BA65-4EE1-8706-5F9AF75E9B6F}"/>
            </c:ext>
          </c:extLst>
        </c:ser>
        <c:dLbls>
          <c:showLegendKey val="0"/>
          <c:showVal val="1"/>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200" b="0" i="0" u="none" strike="noStrike" kern="1200" spc="0" baseline="0">
                <a:solidFill>
                  <a:schemeClr val="tx1"/>
                </a:solidFill>
                <a:latin typeface="Tahoma" panose="020B0604030504040204" pitchFamily="34" charset="0"/>
                <a:ea typeface="Tahoma" panose="020B0604030504040204" pitchFamily="34" charset="0"/>
                <a:cs typeface="Tahoma" panose="020B0604030504040204" pitchFamily="34" charset="0"/>
              </a:defRPr>
            </a:pPr>
            <a:r>
              <a:rPr lang="en-US" sz="1200" b="1" dirty="0"/>
              <a:t>KPI 3 - % Authority Compliance Rate</a:t>
            </a:r>
          </a:p>
        </c:rich>
      </c:tx>
      <c:layout>
        <c:manualLayout>
          <c:xMode val="edge"/>
          <c:yMode val="edge"/>
          <c:x val="0.12890324142473533"/>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tx1"/>
            </a:solidFill>
            <a:ln>
              <a:noFill/>
            </a:ln>
            <a:effectLst/>
          </c:spPr>
          <c:invertIfNegative val="0"/>
          <c:dPt>
            <c:idx val="0"/>
            <c:invertIfNegative val="0"/>
            <c:bubble3D val="0"/>
            <c:extLst>
              <c:ext xmlns:c16="http://schemas.microsoft.com/office/drawing/2014/chart" uri="{C3380CC4-5D6E-409C-BE32-E72D297353CC}">
                <c16:uniqueId val="{00000000-26D1-4870-831B-A4A7B63134FD}"/>
              </c:ext>
            </c:extLst>
          </c:dPt>
          <c:dPt>
            <c:idx val="1"/>
            <c:invertIfNegative val="0"/>
            <c:bubble3D val="0"/>
            <c:extLst>
              <c:ext xmlns:c16="http://schemas.microsoft.com/office/drawing/2014/chart" uri="{C3380CC4-5D6E-409C-BE32-E72D297353CC}">
                <c16:uniqueId val="{00000001-26D1-4870-831B-A4A7B63134FD}"/>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ADA</c:v>
                </c:pt>
                <c:pt idx="1">
                  <c:v>ADB</c:v>
                </c:pt>
              </c:strCache>
            </c:strRef>
          </c:cat>
          <c:val>
            <c:numRef>
              <c:f>Sheet1!$B$2:$B$3</c:f>
              <c:numCache>
                <c:formatCode>0%</c:formatCode>
                <c:ptCount val="2"/>
                <c:pt idx="0">
                  <c:v>1</c:v>
                </c:pt>
                <c:pt idx="1">
                  <c:v>1</c:v>
                </c:pt>
              </c:numCache>
            </c:numRef>
          </c:val>
          <c:extLst>
            <c:ext xmlns:c16="http://schemas.microsoft.com/office/drawing/2014/chart" uri="{C3380CC4-5D6E-409C-BE32-E72D297353CC}">
              <c16:uniqueId val="{00000000-326A-48FC-98FB-69534615B354}"/>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4034155346098312"/>
                  <c:y val="-2.891156385153029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8689-472A-BC5F-61E0DCA1A91F}"/>
                </c:ext>
              </c:extLst>
            </c:dLbl>
            <c:dLbl>
              <c:idx val="1"/>
              <c:delete val="1"/>
              <c:extLst>
                <c:ext xmlns:c15="http://schemas.microsoft.com/office/drawing/2012/chart" uri="{CE6537A1-D6FC-4f65-9D91-7224C49458BB}"/>
                <c:ext xmlns:c16="http://schemas.microsoft.com/office/drawing/2014/chart" uri="{C3380CC4-5D6E-409C-BE32-E72D297353CC}">
                  <c16:uniqueId val="{00000006-8689-472A-BC5F-61E0DCA1A91F}"/>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ADA</c:v>
                </c:pt>
                <c:pt idx="1">
                  <c:v>ADB</c:v>
                </c:pt>
              </c:strCache>
            </c:strRef>
          </c:cat>
          <c:val>
            <c:numRef>
              <c:f>Sheet1!$C$2:$C$3</c:f>
              <c:numCache>
                <c:formatCode>0%</c:formatCode>
                <c:ptCount val="2"/>
                <c:pt idx="0">
                  <c:v>1</c:v>
                </c:pt>
                <c:pt idx="1">
                  <c:v>1</c:v>
                </c:pt>
              </c:numCache>
            </c:numRef>
          </c:val>
          <c:smooth val="0"/>
          <c:extLst>
            <c:ext xmlns:c16="http://schemas.microsoft.com/office/drawing/2014/chart" uri="{C3380CC4-5D6E-409C-BE32-E72D297353CC}">
              <c16:uniqueId val="{00000000-326A-48FC-98FB-69534615B354}"/>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368937667636969"/>
              <c:y val="0.34933319006553132"/>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en-US" sz="1200" b="0" i="0" u="none" strike="noStrike" kern="1200" spc="0" baseline="0">
                <a:solidFill>
                  <a:schemeClr val="tx1"/>
                </a:solidFill>
                <a:latin typeface="Tahoma" panose="020B0604030504040204" pitchFamily="34" charset="0"/>
                <a:ea typeface="Tahoma" panose="020B0604030504040204" pitchFamily="34" charset="0"/>
                <a:cs typeface="Tahoma" panose="020B0604030504040204" pitchFamily="34" charset="0"/>
              </a:defRPr>
            </a:pPr>
            <a:r>
              <a:rPr lang="en-US" b="1" dirty="0">
                <a:solidFill>
                  <a:srgbClr val="00249C"/>
                </a:solidFill>
              </a:rPr>
              <a:t>KPI 4 - % of HS Committee Meetings Conducted as per TORs</a:t>
            </a:r>
          </a:p>
        </c:rich>
      </c:tx>
      <c:layout>
        <c:manualLayout>
          <c:xMode val="edge"/>
          <c:yMode val="edge"/>
          <c:x val="0.11658407689025348"/>
          <c:y val="0"/>
        </c:manualLayout>
      </c:layout>
      <c:overlay val="0"/>
      <c:spPr>
        <a:noFill/>
        <a:ln>
          <a:noFill/>
        </a:ln>
        <a:effectLst/>
      </c:spPr>
    </c:title>
    <c:autoTitleDeleted val="0"/>
    <c:plotArea>
      <c:layout/>
      <c:barChart>
        <c:barDir val="col"/>
        <c:grouping val="clustered"/>
        <c:varyColors val="0"/>
        <c:ser>
          <c:idx val="0"/>
          <c:order val="0"/>
          <c:tx>
            <c:strRef>
              <c:f>Sheet1!$B$1</c:f>
              <c:strCache>
                <c:ptCount val="1"/>
                <c:pt idx="0">
                  <c:v>Series 1</c:v>
                </c:pt>
              </c:strCache>
            </c:strRef>
          </c:tx>
          <c:spPr>
            <a:solidFill>
              <a:srgbClr val="00249C"/>
            </a:solidFill>
            <a:ln>
              <a:noFill/>
            </a:ln>
            <a:effectLst/>
          </c:spPr>
          <c:invertIfNegative val="0"/>
          <c:dPt>
            <c:idx val="0"/>
            <c:invertIfNegative val="1"/>
            <c:bubble3D val="0"/>
            <c:spPr>
              <a:solidFill>
                <a:srgbClr val="00249C"/>
              </a:solidFill>
            </c:spPr>
            <c:extLst>
              <c:ext xmlns:c16="http://schemas.microsoft.com/office/drawing/2014/chart" uri="{C3380CC4-5D6E-409C-BE32-E72D297353CC}">
                <c16:uniqueId val="{00000001-ABDE-4EA8-8FF6-525476CEC6D4}"/>
              </c:ext>
            </c:extLst>
          </c:dPt>
          <c:dPt>
            <c:idx val="1"/>
            <c:invertIfNegative val="1"/>
            <c:bubble3D val="0"/>
            <c:spPr>
              <a:solidFill>
                <a:srgbClr val="00249C"/>
              </a:solidFill>
            </c:spPr>
            <c:extLst>
              <c:ext xmlns:c16="http://schemas.microsoft.com/office/drawing/2014/chart" uri="{C3380CC4-5D6E-409C-BE32-E72D297353CC}">
                <c16:uniqueId val="{00000003-ABDE-4EA8-8FF6-525476CEC6D4}"/>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ADA</c:v>
                </c:pt>
                <c:pt idx="1">
                  <c:v>ADB</c:v>
                </c:pt>
              </c:strCache>
            </c:strRef>
          </c:cat>
          <c:val>
            <c:numRef>
              <c:f>Sheet1!$B$2:$B$3</c:f>
              <c:numCache>
                <c:formatCode>0%</c:formatCode>
                <c:ptCount val="2"/>
                <c:pt idx="0">
                  <c:v>1</c:v>
                </c:pt>
                <c:pt idx="1">
                  <c:v>1</c:v>
                </c:pt>
              </c:numCache>
            </c:numRef>
          </c:val>
          <c:extLst>
            <c:ext xmlns:c16="http://schemas.microsoft.com/office/drawing/2014/chart" uri="{C3380CC4-5D6E-409C-BE32-E72D297353CC}">
              <c16:uniqueId val="{00000000-5C59-4273-A6CC-B2057A5A459D}"/>
            </c:ext>
          </c:extLst>
        </c:ser>
        <c:dLbls>
          <c:showLegendKey val="0"/>
          <c:showVal val="1"/>
          <c:showCatName val="0"/>
          <c:showSerName val="0"/>
          <c:showPercent val="0"/>
          <c:showBubbleSize val="0"/>
        </c:dLbls>
        <c:gapWidth val="219"/>
        <c:axId val="372600672"/>
        <c:axId val="372598752"/>
      </c:barChart>
      <c:lineChart>
        <c:grouping val="standard"/>
        <c:varyColors val="0"/>
        <c:ser>
          <c:idx val="1"/>
          <c:order val="1"/>
          <c:tx>
            <c:strRef>
              <c:f>Sheet1!$C$1</c:f>
              <c:strCache>
                <c:ptCount val="1"/>
              </c:strCache>
            </c:strRef>
          </c:tx>
          <c:marker>
            <c:symbol val="none"/>
          </c:marker>
          <c:dLbls>
            <c:dLbl>
              <c:idx val="0"/>
              <c:layout>
                <c:manualLayout>
                  <c:x val="0.12754783430060757"/>
                  <c:y val="-3.811170029198963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4E09-46F3-846C-563A8AA1EC2D}"/>
                </c:ext>
              </c:extLst>
            </c:dLbl>
            <c:dLbl>
              <c:idx val="1"/>
              <c:delete val="1"/>
              <c:extLst>
                <c:ext xmlns:c15="http://schemas.microsoft.com/office/drawing/2012/chart" uri="{CE6537A1-D6FC-4f65-9D91-7224C49458BB}"/>
                <c:ext xmlns:c16="http://schemas.microsoft.com/office/drawing/2014/chart" uri="{C3380CC4-5D6E-409C-BE32-E72D297353CC}">
                  <c16:uniqueId val="{00000006-4E09-46F3-846C-563A8AA1EC2D}"/>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ADA</c:v>
                </c:pt>
                <c:pt idx="1">
                  <c:v>ADB</c:v>
                </c:pt>
              </c:strCache>
            </c:strRef>
          </c:cat>
          <c:val>
            <c:numRef>
              <c:f>Sheet1!$C$2:$C$3</c:f>
              <c:numCache>
                <c:formatCode>0%</c:formatCode>
                <c:ptCount val="2"/>
                <c:pt idx="0">
                  <c:v>1</c:v>
                </c:pt>
                <c:pt idx="1">
                  <c:v>1</c:v>
                </c:pt>
              </c:numCache>
            </c:numRef>
          </c:val>
          <c:smooth val="0"/>
          <c:extLst>
            <c:ext xmlns:c16="http://schemas.microsoft.com/office/drawing/2014/chart" uri="{C3380CC4-5D6E-409C-BE32-E72D297353CC}">
              <c16:uniqueId val="{00000000-5C59-4273-A6CC-B2057A5A459D}"/>
            </c:ext>
          </c:extLst>
        </c:ser>
        <c:dLbls>
          <c:showLegendKey val="0"/>
          <c:showVal val="1"/>
          <c:showCatName val="0"/>
          <c:showSerName val="0"/>
          <c:showPercent val="0"/>
          <c:showBubbleSize val="0"/>
        </c:dLbls>
        <c:marker val="1"/>
        <c:smooth val="0"/>
        <c:axId val="372600672"/>
        <c:axId val="372598752"/>
      </c:lineChart>
      <c:catAx>
        <c:axId val="372600672"/>
        <c:scaling>
          <c:orientation val="minMax"/>
        </c:scaling>
        <c:delete val="0"/>
        <c:axPos val="b"/>
        <c:title>
          <c:tx>
            <c:rich>
              <a:bodyPr/>
              <a:lstStyle/>
              <a:p>
                <a:pPr>
                  <a:defRPr/>
                </a:pPr>
                <a:r>
                  <a:rPr lang="en-US" dirty="0"/>
                  <a:t>All Campus Avg.</a:t>
                </a:r>
              </a:p>
            </c:rich>
          </c:tx>
          <c:layout>
            <c:manualLayout>
              <c:xMode val="edge"/>
              <c:yMode val="edge"/>
              <c:x val="0.42343048308259396"/>
              <c:y val="0.42249885000409404"/>
            </c:manualLayout>
          </c:layout>
          <c:overlay val="0"/>
        </c:title>
        <c:numFmt formatCode="General" sourceLinked="1"/>
        <c:majorTickMark val="none"/>
        <c:minorTickMark val="none"/>
        <c:tickLblPos val="nextTo"/>
        <c:txPr>
          <a:bodyPr/>
          <a:lstStyle/>
          <a:p>
            <a:pPr>
              <a:defRPr sz="1100"/>
            </a:pPr>
            <a:endParaRPr lang="en-US"/>
          </a:p>
        </c:txPr>
        <c:crossAx val="372598752"/>
        <c:crosses val="autoZero"/>
        <c:auto val="1"/>
        <c:lblAlgn val="ctr"/>
        <c:lblOffset val="100"/>
        <c:noMultiLvlLbl val="0"/>
      </c:catAx>
      <c:valAx>
        <c:axId val="37259875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372600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r>
              <a:rPr lang="en-US" sz="1200" b="1" dirty="0">
                <a:solidFill>
                  <a:srgbClr val="00249C"/>
                </a:solidFill>
                <a:latin typeface="Tahoma" panose="020B0604030504040204" pitchFamily="34" charset="0"/>
                <a:ea typeface="Tahoma" panose="020B0604030504040204" pitchFamily="34" charset="0"/>
                <a:cs typeface="Tahoma" panose="020B0604030504040204" pitchFamily="34" charset="0"/>
              </a:rPr>
              <a:t>KPI 5 - % of Committee Meetings &amp; Management Review &amp; Committee Meeting Actions Closed</a:t>
            </a:r>
          </a:p>
        </c:rich>
      </c:tx>
      <c:layout>
        <c:manualLayout>
          <c:xMode val="edge"/>
          <c:yMode val="edge"/>
          <c:x val="9.0244213549963093E-2"/>
          <c:y val="0"/>
        </c:manualLayout>
      </c:layout>
      <c:overlay val="0"/>
      <c:spPr>
        <a:noFill/>
        <a:ln>
          <a:noFill/>
        </a:ln>
        <a:effectLst/>
      </c:spPr>
    </c:title>
    <c:autoTitleDeleted val="0"/>
    <c:plotArea>
      <c:layout/>
      <c:barChart>
        <c:barDir val="col"/>
        <c:grouping val="clustered"/>
        <c:varyColors val="0"/>
        <c:ser>
          <c:idx val="0"/>
          <c:order val="0"/>
          <c:tx>
            <c:strRef>
              <c:f>Sheet1!$B$1</c:f>
              <c:strCache>
                <c:ptCount val="1"/>
                <c:pt idx="0">
                  <c:v>Series 1</c:v>
                </c:pt>
              </c:strCache>
            </c:strRef>
          </c:tx>
          <c:spPr>
            <a:solidFill>
              <a:srgbClr val="00249C"/>
            </a:solidFill>
            <a:ln>
              <a:noFill/>
            </a:ln>
            <a:effectLst/>
          </c:spPr>
          <c:invertIfNegative val="0"/>
          <c:dPt>
            <c:idx val="0"/>
            <c:invertIfNegative val="0"/>
            <c:bubble3D val="0"/>
            <c:spPr>
              <a:solidFill>
                <a:srgbClr val="00249C"/>
              </a:solidFill>
            </c:spPr>
            <c:extLst>
              <c:ext xmlns:c16="http://schemas.microsoft.com/office/drawing/2014/chart" uri="{C3380CC4-5D6E-409C-BE32-E72D297353CC}">
                <c16:uniqueId val="{00000000-3284-4EA8-841A-A274FBB17FC9}"/>
              </c:ext>
            </c:extLst>
          </c:dPt>
          <c:dPt>
            <c:idx val="1"/>
            <c:invertIfNegative val="0"/>
            <c:bubble3D val="0"/>
            <c:spPr>
              <a:solidFill>
                <a:srgbClr val="00249C"/>
              </a:solidFill>
            </c:spPr>
            <c:extLst>
              <c:ext xmlns:c16="http://schemas.microsoft.com/office/drawing/2014/chart" uri="{C3380CC4-5D6E-409C-BE32-E72D297353CC}">
                <c16:uniqueId val="{00000001-3284-4EA8-841A-A274FBB17FC9}"/>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ADA</c:v>
                </c:pt>
                <c:pt idx="1">
                  <c:v>ADB</c:v>
                </c:pt>
              </c:strCache>
            </c:strRef>
          </c:cat>
          <c:val>
            <c:numRef>
              <c:f>Sheet1!$B$2:$B$3</c:f>
              <c:numCache>
                <c:formatCode>0%</c:formatCode>
                <c:ptCount val="2"/>
                <c:pt idx="0">
                  <c:v>0</c:v>
                </c:pt>
                <c:pt idx="1">
                  <c:v>0</c:v>
                </c:pt>
              </c:numCache>
            </c:numRef>
          </c:val>
          <c:extLst>
            <c:ext xmlns:c16="http://schemas.microsoft.com/office/drawing/2014/chart" uri="{C3380CC4-5D6E-409C-BE32-E72D297353CC}">
              <c16:uniqueId val="{00000000-46D6-4D77-A0F5-895D5FD4D053}"/>
            </c:ext>
          </c:extLst>
        </c:ser>
        <c:dLbls>
          <c:showLegendKey val="0"/>
          <c:showVal val="1"/>
          <c:showCatName val="0"/>
          <c:showSerName val="0"/>
          <c:showPercent val="0"/>
          <c:showBubbleSize val="0"/>
        </c:dLbls>
        <c:gapWidth val="219"/>
        <c:axId val="372600672"/>
        <c:axId val="372598752"/>
      </c:barChart>
      <c:lineChart>
        <c:grouping val="standard"/>
        <c:varyColors val="0"/>
        <c:ser>
          <c:idx val="1"/>
          <c:order val="1"/>
          <c:tx>
            <c:strRef>
              <c:f>Sheet1!$C$1</c:f>
              <c:strCache>
                <c:ptCount val="1"/>
              </c:strCache>
            </c:strRef>
          </c:tx>
          <c:marker>
            <c:symbol val="none"/>
          </c:marker>
          <c:dLbls>
            <c:dLbl>
              <c:idx val="0"/>
              <c:layout>
                <c:manualLayout>
                  <c:x val="0.14320041174816542"/>
                  <c:y val="-3.811170029198963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8EEA-4987-B2D1-83DC6A1B67DA}"/>
                </c:ext>
              </c:extLst>
            </c:dLbl>
            <c:dLbl>
              <c:idx val="1"/>
              <c:delete val="1"/>
              <c:extLst>
                <c:ext xmlns:c15="http://schemas.microsoft.com/office/drawing/2012/chart" uri="{CE6537A1-D6FC-4f65-9D91-7224C49458BB}"/>
                <c:ext xmlns:c16="http://schemas.microsoft.com/office/drawing/2014/chart" uri="{C3380CC4-5D6E-409C-BE32-E72D297353CC}">
                  <c16:uniqueId val="{00000008-8EEA-4987-B2D1-83DC6A1B67DA}"/>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ADA</c:v>
                </c:pt>
                <c:pt idx="1">
                  <c:v>ADB</c:v>
                </c:pt>
              </c:strCache>
            </c:strRef>
          </c:cat>
          <c:val>
            <c:numRef>
              <c:f>Sheet1!$C$2:$C$3</c:f>
              <c:numCache>
                <c:formatCode>0%</c:formatCode>
                <c:ptCount val="2"/>
                <c:pt idx="0">
                  <c:v>0</c:v>
                </c:pt>
                <c:pt idx="1">
                  <c:v>0</c:v>
                </c:pt>
              </c:numCache>
            </c:numRef>
          </c:val>
          <c:smooth val="0"/>
          <c:extLst>
            <c:ext xmlns:c16="http://schemas.microsoft.com/office/drawing/2014/chart" uri="{C3380CC4-5D6E-409C-BE32-E72D297353CC}">
              <c16:uniqueId val="{00000000-46D6-4D77-A0F5-895D5FD4D053}"/>
            </c:ext>
          </c:extLst>
        </c:ser>
        <c:dLbls>
          <c:showLegendKey val="0"/>
          <c:showVal val="1"/>
          <c:showCatName val="0"/>
          <c:showSerName val="0"/>
          <c:showPercent val="0"/>
          <c:showBubbleSize val="0"/>
        </c:dLbls>
        <c:marker val="1"/>
        <c:smooth val="0"/>
        <c:axId val="372600672"/>
        <c:axId val="372598752"/>
      </c:lineChart>
      <c:catAx>
        <c:axId val="372600672"/>
        <c:scaling>
          <c:orientation val="minMax"/>
        </c:scaling>
        <c:delete val="0"/>
        <c:axPos val="b"/>
        <c:title>
          <c:tx>
            <c:rich>
              <a:bodyPr/>
              <a:lstStyle/>
              <a:p>
                <a:pPr>
                  <a:defRPr/>
                </a:pPr>
                <a:r>
                  <a:rPr lang="en-US" dirty="0"/>
                  <a:t>All Campus Avg.</a:t>
                </a:r>
              </a:p>
            </c:rich>
          </c:tx>
          <c:layout>
            <c:manualLayout>
              <c:xMode val="edge"/>
              <c:yMode val="edge"/>
              <c:x val="0.43057023409367839"/>
              <c:y val="0.32449733496754929"/>
            </c:manualLayout>
          </c:layout>
          <c:overlay val="0"/>
        </c:title>
        <c:numFmt formatCode="General" sourceLinked="1"/>
        <c:majorTickMark val="none"/>
        <c:minorTickMark val="none"/>
        <c:tickLblPos val="nextTo"/>
        <c:txPr>
          <a:bodyPr/>
          <a:lstStyle/>
          <a:p>
            <a:pPr>
              <a:defRPr sz="1100"/>
            </a:pPr>
            <a:endParaRPr lang="en-US"/>
          </a:p>
        </c:txPr>
        <c:crossAx val="372598752"/>
        <c:crosses val="autoZero"/>
        <c:auto val="1"/>
        <c:lblAlgn val="ctr"/>
        <c:lblOffset val="100"/>
        <c:noMultiLvlLbl val="0"/>
      </c:catAx>
      <c:valAx>
        <c:axId val="37259875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372600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r>
              <a:rPr lang="en-US" sz="1200" b="1" dirty="0">
                <a:solidFill>
                  <a:schemeClr val="tx1"/>
                </a:solidFill>
                <a:latin typeface="Tahoma" panose="020B0604030504040204" pitchFamily="34" charset="0"/>
                <a:ea typeface="Tahoma" panose="020B0604030504040204" pitchFamily="34" charset="0"/>
                <a:cs typeface="Tahoma" panose="020B0604030504040204" pitchFamily="34" charset="0"/>
              </a:rPr>
              <a:t>KPI 6 - % of Implemented Control Measures</a:t>
            </a:r>
          </a:p>
        </c:rich>
      </c:tx>
      <c:layout>
        <c:manualLayout>
          <c:xMode val="edge"/>
          <c:yMode val="edge"/>
          <c:x val="0.12046655792616251"/>
          <c:y val="1.7607146275949472E-3"/>
        </c:manualLayout>
      </c:layout>
      <c:overlay val="0"/>
      <c:spPr>
        <a:noFill/>
        <a:ln>
          <a:noFill/>
        </a:ln>
        <a:effectLst/>
      </c:spPr>
    </c:title>
    <c:autoTitleDeleted val="0"/>
    <c:plotArea>
      <c:layout>
        <c:manualLayout>
          <c:layoutTarget val="inner"/>
          <c:xMode val="edge"/>
          <c:yMode val="edge"/>
          <c:x val="0.13616576164414254"/>
          <c:y val="0.26960598301183053"/>
          <c:w val="0.82818454242454165"/>
          <c:h val="0.48962543361654526"/>
        </c:manualLayout>
      </c:layout>
      <c:barChart>
        <c:barDir val="col"/>
        <c:grouping val="clustered"/>
        <c:varyColors val="0"/>
        <c:ser>
          <c:idx val="0"/>
          <c:order val="0"/>
          <c:tx>
            <c:strRef>
              <c:f>Sheet1!$B$1</c:f>
              <c:strCache>
                <c:ptCount val="1"/>
                <c:pt idx="0">
                  <c:v>Series 1</c:v>
                </c:pt>
              </c:strCache>
            </c:strRef>
          </c:tx>
          <c:spPr>
            <a:solidFill>
              <a:schemeClr val="tx1"/>
            </a:solidFill>
            <a:ln>
              <a:noFill/>
            </a:ln>
            <a:effectLst/>
          </c:spPr>
          <c:invertIfNegative val="0"/>
          <c:dPt>
            <c:idx val="0"/>
            <c:invertIfNegative val="0"/>
            <c:bubble3D val="0"/>
            <c:extLst>
              <c:ext xmlns:c16="http://schemas.microsoft.com/office/drawing/2014/chart" uri="{C3380CC4-5D6E-409C-BE32-E72D297353CC}">
                <c16:uniqueId val="{00000001-B144-443F-8F2B-9C378D9AF99F}"/>
              </c:ext>
            </c:extLst>
          </c:dPt>
          <c:dPt>
            <c:idx val="1"/>
            <c:invertIfNegative val="0"/>
            <c:bubble3D val="0"/>
            <c:extLst>
              <c:ext xmlns:c16="http://schemas.microsoft.com/office/drawing/2014/chart" uri="{C3380CC4-5D6E-409C-BE32-E72D297353CC}">
                <c16:uniqueId val="{00000003-B144-443F-8F2B-9C378D9AF99F}"/>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ADA</c:v>
                </c:pt>
                <c:pt idx="1">
                  <c:v>ADB</c:v>
                </c:pt>
              </c:strCache>
            </c:strRef>
          </c:cat>
          <c:val>
            <c:numRef>
              <c:f>Sheet1!$B$2:$B$3</c:f>
              <c:numCache>
                <c:formatCode>0%</c:formatCode>
                <c:ptCount val="2"/>
                <c:pt idx="0">
                  <c:v>1</c:v>
                </c:pt>
                <c:pt idx="1">
                  <c:v>1</c:v>
                </c:pt>
              </c:numCache>
            </c:numRef>
          </c:val>
          <c:extLst>
            <c:ext xmlns:c16="http://schemas.microsoft.com/office/drawing/2014/chart" uri="{C3380CC4-5D6E-409C-BE32-E72D297353CC}">
              <c16:uniqueId val="{00000006-B144-443F-8F2B-9C378D9AF99F}"/>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5666033874714388"/>
                  <c:y val="-5.195417232912599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7752-49B5-8CBD-0834DD513762}"/>
                </c:ext>
              </c:extLst>
            </c:dLbl>
            <c:dLbl>
              <c:idx val="1"/>
              <c:delete val="1"/>
              <c:extLst>
                <c:ext xmlns:c15="http://schemas.microsoft.com/office/drawing/2012/chart" uri="{CE6537A1-D6FC-4f65-9D91-7224C49458BB}"/>
                <c:ext xmlns:c16="http://schemas.microsoft.com/office/drawing/2014/chart" uri="{C3380CC4-5D6E-409C-BE32-E72D297353CC}">
                  <c16:uniqueId val="{00000006-7752-49B5-8CBD-0834DD513762}"/>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ADA</c:v>
                </c:pt>
                <c:pt idx="1">
                  <c:v>ADB</c:v>
                </c:pt>
              </c:strCache>
            </c:strRef>
          </c:cat>
          <c:val>
            <c:numRef>
              <c:f>Sheet1!$C$2:$C$3</c:f>
              <c:numCache>
                <c:formatCode>0%</c:formatCode>
                <c:ptCount val="2"/>
                <c:pt idx="0">
                  <c:v>1</c:v>
                </c:pt>
                <c:pt idx="1">
                  <c:v>1</c:v>
                </c:pt>
              </c:numCache>
            </c:numRef>
          </c:val>
          <c:smooth val="0"/>
          <c:extLst>
            <c:ext xmlns:c16="http://schemas.microsoft.com/office/drawing/2014/chart" uri="{C3380CC4-5D6E-409C-BE32-E72D297353CC}">
              <c16:uniqueId val="{00000006-B144-443F-8F2B-9C378D9AF99F}"/>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368937667636969"/>
              <c:y val="0.34417880089770264"/>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r>
              <a:rPr lang="en-US" b="1" dirty="0">
                <a:solidFill>
                  <a:schemeClr val="tx1"/>
                </a:solidFill>
              </a:rPr>
              <a:t>KPI 9 - % of Planned H&amp;S Training Hours Delivered</a:t>
            </a:r>
          </a:p>
        </c:rich>
      </c:tx>
      <c:layout>
        <c:manualLayout>
          <c:xMode val="edge"/>
          <c:yMode val="edge"/>
          <c:x val="0.12046655792616251"/>
          <c:y val="1.7607146275949472E-3"/>
        </c:manualLayout>
      </c:layout>
      <c:overlay val="0"/>
      <c:spPr>
        <a:noFill/>
        <a:ln>
          <a:noFill/>
        </a:ln>
        <a:effectLst/>
      </c:spPr>
    </c:title>
    <c:autoTitleDeleted val="0"/>
    <c:plotArea>
      <c:layout>
        <c:manualLayout>
          <c:layoutTarget val="inner"/>
          <c:xMode val="edge"/>
          <c:yMode val="edge"/>
          <c:x val="0.13616576164414254"/>
          <c:y val="0.26960598301183053"/>
          <c:w val="0.82818454242454165"/>
          <c:h val="0.48962543361654526"/>
        </c:manualLayout>
      </c:layout>
      <c:barChart>
        <c:barDir val="col"/>
        <c:grouping val="clustered"/>
        <c:varyColors val="0"/>
        <c:ser>
          <c:idx val="0"/>
          <c:order val="0"/>
          <c:tx>
            <c:strRef>
              <c:f>Sheet1!$B$1</c:f>
              <c:strCache>
                <c:ptCount val="1"/>
                <c:pt idx="0">
                  <c:v>Series 1</c:v>
                </c:pt>
              </c:strCache>
            </c:strRef>
          </c:tx>
          <c:spPr>
            <a:solidFill>
              <a:schemeClr val="tx1"/>
            </a:solidFill>
            <a:ln>
              <a:noFill/>
            </a:ln>
            <a:effectLst/>
          </c:spPr>
          <c:invertIfNegative val="0"/>
          <c:dPt>
            <c:idx val="0"/>
            <c:invertIfNegative val="0"/>
            <c:bubble3D val="0"/>
            <c:extLst>
              <c:ext xmlns:c16="http://schemas.microsoft.com/office/drawing/2014/chart" uri="{C3380CC4-5D6E-409C-BE32-E72D297353CC}">
                <c16:uniqueId val="{00000000-CC3F-4460-A19C-432B774282D0}"/>
              </c:ext>
            </c:extLst>
          </c:dPt>
          <c:dPt>
            <c:idx val="1"/>
            <c:invertIfNegative val="0"/>
            <c:bubble3D val="0"/>
            <c:extLst>
              <c:ext xmlns:c16="http://schemas.microsoft.com/office/drawing/2014/chart" uri="{C3380CC4-5D6E-409C-BE32-E72D297353CC}">
                <c16:uniqueId val="{00000001-CC3F-4460-A19C-432B774282D0}"/>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ADA</c:v>
                </c:pt>
                <c:pt idx="1">
                  <c:v>ADB</c:v>
                </c:pt>
              </c:strCache>
            </c:strRef>
          </c:cat>
          <c:val>
            <c:numRef>
              <c:f>Sheet1!$B$2:$B$3</c:f>
              <c:numCache>
                <c:formatCode>0%</c:formatCode>
                <c:ptCount val="2"/>
                <c:pt idx="0">
                  <c:v>1</c:v>
                </c:pt>
                <c:pt idx="1">
                  <c:v>1</c:v>
                </c:pt>
              </c:numCache>
            </c:numRef>
          </c:val>
          <c:extLst>
            <c:ext xmlns:c16="http://schemas.microsoft.com/office/drawing/2014/chart" uri="{C3380CC4-5D6E-409C-BE32-E72D297353CC}">
              <c16:uniqueId val="{00000002-CC3F-4460-A19C-432B774282D0}"/>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5666033874714388"/>
                  <c:y val="-5.195417232912599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C3F-4460-A19C-432B774282D0}"/>
                </c:ext>
              </c:extLst>
            </c:dLbl>
            <c:dLbl>
              <c:idx val="1"/>
              <c:delete val="1"/>
              <c:extLst>
                <c:ext xmlns:c15="http://schemas.microsoft.com/office/drawing/2012/chart" uri="{CE6537A1-D6FC-4f65-9D91-7224C49458BB}"/>
                <c:ext xmlns:c16="http://schemas.microsoft.com/office/drawing/2014/chart" uri="{C3380CC4-5D6E-409C-BE32-E72D297353CC}">
                  <c16:uniqueId val="{00000004-CC3F-4460-A19C-432B774282D0}"/>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ADA</c:v>
                </c:pt>
                <c:pt idx="1">
                  <c:v>ADB</c:v>
                </c:pt>
              </c:strCache>
            </c:strRef>
          </c:cat>
          <c:val>
            <c:numRef>
              <c:f>Sheet1!$C$2:$C$3</c:f>
              <c:numCache>
                <c:formatCode>0%</c:formatCode>
                <c:ptCount val="2"/>
                <c:pt idx="0">
                  <c:v>1</c:v>
                </c:pt>
                <c:pt idx="1">
                  <c:v>1</c:v>
                </c:pt>
              </c:numCache>
            </c:numRef>
          </c:val>
          <c:smooth val="0"/>
          <c:extLst>
            <c:ext xmlns:c16="http://schemas.microsoft.com/office/drawing/2014/chart" uri="{C3380CC4-5D6E-409C-BE32-E72D297353CC}">
              <c16:uniqueId val="{00000005-CC3F-4460-A19C-432B774282D0}"/>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368937667636969"/>
              <c:y val="0.34417880089770264"/>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solidFill>
                  <a:schemeClr val="tx1"/>
                </a:solidFill>
                <a:latin typeface="Tahoma" panose="020B0604030504040204" pitchFamily="34" charset="0"/>
                <a:ea typeface="Tahoma" panose="020B0604030504040204" pitchFamily="34" charset="0"/>
                <a:cs typeface="Tahoma" panose="020B0604030504040204" pitchFamily="34" charset="0"/>
              </a:rPr>
              <a:t>KPI 12 - % of Emergency Drills Conducted on Schedule</a:t>
            </a:r>
          </a:p>
        </c:rich>
      </c:tx>
      <c:layout>
        <c:manualLayout>
          <c:xMode val="edge"/>
          <c:yMode val="edge"/>
          <c:x val="0.1247909075326228"/>
          <c:y val="0"/>
        </c:manualLayout>
      </c:layout>
      <c:overlay val="0"/>
      <c:spPr>
        <a:noFill/>
        <a:ln>
          <a:noFill/>
        </a:ln>
        <a:effectLst/>
      </c:spPr>
    </c:title>
    <c:autoTitleDeleted val="0"/>
    <c:plotArea>
      <c:layout>
        <c:manualLayout>
          <c:layoutTarget val="inner"/>
          <c:xMode val="edge"/>
          <c:yMode val="edge"/>
          <c:x val="0.1208080959678209"/>
          <c:y val="0.25938795561839489"/>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tx1"/>
            </a:solidFill>
            <a:ln>
              <a:noFill/>
            </a:ln>
            <a:effectLst/>
          </c:spPr>
          <c:invertIfNegative val="0"/>
          <c:dPt>
            <c:idx val="0"/>
            <c:invertIfNegative val="0"/>
            <c:bubble3D val="0"/>
            <c:extLst>
              <c:ext xmlns:c16="http://schemas.microsoft.com/office/drawing/2014/chart" uri="{C3380CC4-5D6E-409C-BE32-E72D297353CC}">
                <c16:uniqueId val="{00000000-B7F5-43C8-985D-5A03B9A0F529}"/>
              </c:ext>
            </c:extLst>
          </c:dPt>
          <c:dPt>
            <c:idx val="1"/>
            <c:invertIfNegative val="0"/>
            <c:bubble3D val="0"/>
            <c:extLst>
              <c:ext xmlns:c16="http://schemas.microsoft.com/office/drawing/2014/chart" uri="{C3380CC4-5D6E-409C-BE32-E72D297353CC}">
                <c16:uniqueId val="{00000001-B7F5-43C8-985D-5A03B9A0F529}"/>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ADA</c:v>
                </c:pt>
                <c:pt idx="1">
                  <c:v>ADB</c:v>
                </c:pt>
              </c:strCache>
            </c:strRef>
          </c:cat>
          <c:val>
            <c:numRef>
              <c:f>Sheet1!$B$2:$B$3</c:f>
              <c:numCache>
                <c:formatCode>0%</c:formatCode>
                <c:ptCount val="2"/>
                <c:pt idx="0">
                  <c:v>0</c:v>
                </c:pt>
                <c:pt idx="1">
                  <c:v>0</c:v>
                </c:pt>
              </c:numCache>
            </c:numRef>
          </c:val>
          <c:extLst>
            <c:ext xmlns:c16="http://schemas.microsoft.com/office/drawing/2014/chart" uri="{C3380CC4-5D6E-409C-BE32-E72D297353CC}">
              <c16:uniqueId val="{00000002-B7F5-43C8-985D-5A03B9A0F529}"/>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3707779640375084"/>
                  <c:y val="-4.6258502162448416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7F5-43C8-985D-5A03B9A0F529}"/>
                </c:ext>
              </c:extLst>
            </c:dLbl>
            <c:dLbl>
              <c:idx val="1"/>
              <c:delete val="1"/>
              <c:extLst>
                <c:ext xmlns:c15="http://schemas.microsoft.com/office/drawing/2012/chart" uri="{CE6537A1-D6FC-4f65-9D91-7224C49458BB}"/>
                <c:ext xmlns:c16="http://schemas.microsoft.com/office/drawing/2014/chart" uri="{C3380CC4-5D6E-409C-BE32-E72D297353CC}">
                  <c16:uniqueId val="{00000004-B7F5-43C8-985D-5A03B9A0F529}"/>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ADA</c:v>
                </c:pt>
                <c:pt idx="1">
                  <c:v>ADB</c:v>
                </c:pt>
              </c:strCache>
            </c:strRef>
          </c:cat>
          <c:val>
            <c:numRef>
              <c:f>Sheet1!$C$2:$C$3</c:f>
              <c:numCache>
                <c:formatCode>0%</c:formatCode>
                <c:ptCount val="2"/>
                <c:pt idx="0">
                  <c:v>0</c:v>
                </c:pt>
                <c:pt idx="1">
                  <c:v>0</c:v>
                </c:pt>
              </c:numCache>
            </c:numRef>
          </c:val>
          <c:smooth val="0"/>
          <c:extLst>
            <c:ext xmlns:c16="http://schemas.microsoft.com/office/drawing/2014/chart" uri="{C3380CC4-5D6E-409C-BE32-E72D297353CC}">
              <c16:uniqueId val="{00000005-B7F5-43C8-985D-5A03B9A0F529}"/>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042561961913755"/>
              <c:y val="0.3030746879030829"/>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r>
              <a:rPr lang="en-US" sz="1200" b="1" dirty="0"/>
              <a:t>KPI 11 - % of Compliance to Activities as per Set Health &amp; Safety Procedures</a:t>
            </a:r>
          </a:p>
        </c:rich>
      </c:tx>
      <c:layout>
        <c:manualLayout>
          <c:xMode val="edge"/>
          <c:yMode val="edge"/>
          <c:x val="0.12046655792616251"/>
          <c:y val="1.7607146275949472E-3"/>
        </c:manualLayout>
      </c:layout>
      <c:overlay val="0"/>
      <c:spPr>
        <a:noFill/>
        <a:ln>
          <a:noFill/>
        </a:ln>
        <a:effectLst/>
      </c:spPr>
    </c:title>
    <c:autoTitleDeleted val="0"/>
    <c:plotArea>
      <c:layout>
        <c:manualLayout>
          <c:layoutTarget val="inner"/>
          <c:xMode val="edge"/>
          <c:yMode val="edge"/>
          <c:x val="0.13616576164414254"/>
          <c:y val="0.26960598301183053"/>
          <c:w val="0.82818454242454165"/>
          <c:h val="0.48962543361654526"/>
        </c:manualLayout>
      </c:layout>
      <c:barChart>
        <c:barDir val="col"/>
        <c:grouping val="clustered"/>
        <c:varyColors val="0"/>
        <c:ser>
          <c:idx val="0"/>
          <c:order val="0"/>
          <c:tx>
            <c:strRef>
              <c:f>Sheet1!$B$1</c:f>
              <c:strCache>
                <c:ptCount val="1"/>
                <c:pt idx="0">
                  <c:v>Series 1</c:v>
                </c:pt>
              </c:strCache>
            </c:strRef>
          </c:tx>
          <c:spPr>
            <a:solidFill>
              <a:schemeClr val="tx1"/>
            </a:solidFill>
            <a:ln>
              <a:noFill/>
            </a:ln>
            <a:effectLst/>
          </c:spPr>
          <c:invertIfNegative val="0"/>
          <c:dPt>
            <c:idx val="0"/>
            <c:invertIfNegative val="0"/>
            <c:bubble3D val="0"/>
            <c:extLst>
              <c:ext xmlns:c16="http://schemas.microsoft.com/office/drawing/2014/chart" uri="{C3380CC4-5D6E-409C-BE32-E72D297353CC}">
                <c16:uniqueId val="{00000000-5EBC-4138-91F1-1E2D7DFAAE3C}"/>
              </c:ext>
            </c:extLst>
          </c:dPt>
          <c:dPt>
            <c:idx val="1"/>
            <c:invertIfNegative val="0"/>
            <c:bubble3D val="0"/>
            <c:extLst>
              <c:ext xmlns:c16="http://schemas.microsoft.com/office/drawing/2014/chart" uri="{C3380CC4-5D6E-409C-BE32-E72D297353CC}">
                <c16:uniqueId val="{00000001-5EBC-4138-91F1-1E2D7DFAAE3C}"/>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ADA</c:v>
                </c:pt>
                <c:pt idx="1">
                  <c:v>ADB</c:v>
                </c:pt>
              </c:strCache>
            </c:strRef>
          </c:cat>
          <c:val>
            <c:numRef>
              <c:f>Sheet1!$B$2:$B$3</c:f>
              <c:numCache>
                <c:formatCode>0%</c:formatCode>
                <c:ptCount val="2"/>
                <c:pt idx="0">
                  <c:v>1</c:v>
                </c:pt>
                <c:pt idx="1">
                  <c:v>1</c:v>
                </c:pt>
              </c:numCache>
            </c:numRef>
          </c:val>
          <c:extLst>
            <c:ext xmlns:c16="http://schemas.microsoft.com/office/drawing/2014/chart" uri="{C3380CC4-5D6E-409C-BE32-E72D297353CC}">
              <c16:uniqueId val="{00000002-5EBC-4138-91F1-1E2D7DFAAE3C}"/>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5666033874714388"/>
                  <c:y val="-5.195417232912599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5EBC-4138-91F1-1E2D7DFAAE3C}"/>
                </c:ext>
              </c:extLst>
            </c:dLbl>
            <c:dLbl>
              <c:idx val="1"/>
              <c:delete val="1"/>
              <c:extLst>
                <c:ext xmlns:c15="http://schemas.microsoft.com/office/drawing/2012/chart" uri="{CE6537A1-D6FC-4f65-9D91-7224C49458BB}"/>
                <c:ext xmlns:c16="http://schemas.microsoft.com/office/drawing/2014/chart" uri="{C3380CC4-5D6E-409C-BE32-E72D297353CC}">
                  <c16:uniqueId val="{00000004-5EBC-4138-91F1-1E2D7DFAAE3C}"/>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ADA</c:v>
                </c:pt>
                <c:pt idx="1">
                  <c:v>ADB</c:v>
                </c:pt>
              </c:strCache>
            </c:strRef>
          </c:cat>
          <c:val>
            <c:numRef>
              <c:f>Sheet1!$C$2:$C$3</c:f>
              <c:numCache>
                <c:formatCode>0%</c:formatCode>
                <c:ptCount val="2"/>
                <c:pt idx="0">
                  <c:v>1</c:v>
                </c:pt>
                <c:pt idx="1">
                  <c:v>1</c:v>
                </c:pt>
              </c:numCache>
            </c:numRef>
          </c:val>
          <c:smooth val="0"/>
          <c:extLst>
            <c:ext xmlns:c16="http://schemas.microsoft.com/office/drawing/2014/chart" uri="{C3380CC4-5D6E-409C-BE32-E72D297353CC}">
              <c16:uniqueId val="{00000005-5EBC-4138-91F1-1E2D7DFAAE3C}"/>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368937667636969"/>
              <c:y val="0.34417880089770264"/>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 13 - % Compliance to PTW (Permit-to-Work)</a:t>
            </a:r>
          </a:p>
        </c:rich>
      </c:tx>
      <c:layout>
        <c:manualLayout>
          <c:xMode val="edge"/>
          <c:yMode val="edge"/>
          <c:x val="0.18412601083310351"/>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00249C"/>
              </a:solidFill>
              <a:ln>
                <a:noFill/>
              </a:ln>
              <a:effectLst/>
            </c:spPr>
            <c:extLst>
              <c:ext xmlns:c16="http://schemas.microsoft.com/office/drawing/2014/chart" uri="{C3380CC4-5D6E-409C-BE32-E72D297353CC}">
                <c16:uniqueId val="{00000001-5823-41F5-B8BC-C84EEAE529E0}"/>
              </c:ext>
            </c:extLst>
          </c:dPt>
          <c:dPt>
            <c:idx val="1"/>
            <c:invertIfNegative val="0"/>
            <c:bubble3D val="0"/>
            <c:spPr>
              <a:solidFill>
                <a:srgbClr val="00249C"/>
              </a:solidFill>
              <a:ln>
                <a:noFill/>
              </a:ln>
              <a:effectLst/>
            </c:spPr>
            <c:extLst>
              <c:ext xmlns:c16="http://schemas.microsoft.com/office/drawing/2014/chart" uri="{C3380CC4-5D6E-409C-BE32-E72D297353CC}">
                <c16:uniqueId val="{00000003-5823-41F5-B8BC-C84EEAE529E0}"/>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ADA</c:v>
                </c:pt>
                <c:pt idx="1">
                  <c:v>ADB</c:v>
                </c:pt>
              </c:strCache>
            </c:strRef>
          </c:cat>
          <c:val>
            <c:numRef>
              <c:f>Sheet1!$B$2:$B$3</c:f>
              <c:numCache>
                <c:formatCode>0%</c:formatCode>
                <c:ptCount val="2"/>
                <c:pt idx="0">
                  <c:v>1</c:v>
                </c:pt>
                <c:pt idx="1">
                  <c:v>1</c:v>
                </c:pt>
              </c:numCache>
            </c:numRef>
          </c:val>
          <c:extLst>
            <c:ext xmlns:c16="http://schemas.microsoft.com/office/drawing/2014/chart" uri="{C3380CC4-5D6E-409C-BE32-E72D297353CC}">
              <c16:uniqueId val="{00000006-5823-41F5-B8BC-C84EEAE529E0}"/>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5666033874714388"/>
                  <c:y val="-3.2494602204296397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0DC-48EF-8A2E-ED135A1863AC}"/>
                </c:ext>
              </c:extLst>
            </c:dLbl>
            <c:dLbl>
              <c:idx val="1"/>
              <c:delete val="1"/>
              <c:extLst>
                <c:ext xmlns:c15="http://schemas.microsoft.com/office/drawing/2012/chart" uri="{CE6537A1-D6FC-4f65-9D91-7224C49458BB}"/>
                <c:ext xmlns:c16="http://schemas.microsoft.com/office/drawing/2014/chart" uri="{C3380CC4-5D6E-409C-BE32-E72D297353CC}">
                  <c16:uniqueId val="{00000006-E0DC-48EF-8A2E-ED135A1863AC}"/>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ADA</c:v>
                </c:pt>
                <c:pt idx="1">
                  <c:v>ADB</c:v>
                </c:pt>
              </c:strCache>
            </c:strRef>
          </c:cat>
          <c:val>
            <c:numRef>
              <c:f>Sheet1!$C$2:$C$3</c:f>
              <c:numCache>
                <c:formatCode>0%</c:formatCode>
                <c:ptCount val="2"/>
                <c:pt idx="0">
                  <c:v>1</c:v>
                </c:pt>
                <c:pt idx="1">
                  <c:v>1</c:v>
                </c:pt>
              </c:numCache>
            </c:numRef>
          </c:val>
          <c:smooth val="0"/>
          <c:extLst>
            <c:ext xmlns:c16="http://schemas.microsoft.com/office/drawing/2014/chart" uri="{C3380CC4-5D6E-409C-BE32-E72D297353CC}">
              <c16:uniqueId val="{00000006-5823-41F5-B8BC-C84EEAE529E0}"/>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368937667636969"/>
              <c:y val="0.21662605145989955"/>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 14 - % Compliance to Onsite Safety Induction</a:t>
            </a:r>
          </a:p>
        </c:rich>
      </c:tx>
      <c:layout>
        <c:manualLayout>
          <c:xMode val="edge"/>
          <c:yMode val="edge"/>
          <c:x val="0.17701102044833741"/>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00249C"/>
              </a:solidFill>
              <a:ln>
                <a:noFill/>
              </a:ln>
              <a:effectLst/>
            </c:spPr>
            <c:extLst>
              <c:ext xmlns:c16="http://schemas.microsoft.com/office/drawing/2014/chart" uri="{C3380CC4-5D6E-409C-BE32-E72D297353CC}">
                <c16:uniqueId val="{00000001-8078-459C-87A1-80B8C52926CF}"/>
              </c:ext>
            </c:extLst>
          </c:dPt>
          <c:dPt>
            <c:idx val="1"/>
            <c:invertIfNegative val="0"/>
            <c:bubble3D val="0"/>
            <c:spPr>
              <a:solidFill>
                <a:srgbClr val="00249C"/>
              </a:solidFill>
              <a:ln>
                <a:noFill/>
              </a:ln>
              <a:effectLst/>
            </c:spPr>
            <c:extLst>
              <c:ext xmlns:c16="http://schemas.microsoft.com/office/drawing/2014/chart" uri="{C3380CC4-5D6E-409C-BE32-E72D297353CC}">
                <c16:uniqueId val="{00000003-8078-459C-87A1-80B8C52926CF}"/>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ADA</c:v>
                </c:pt>
                <c:pt idx="1">
                  <c:v>ADB</c:v>
                </c:pt>
              </c:strCache>
            </c:strRef>
          </c:cat>
          <c:val>
            <c:numRef>
              <c:f>Sheet1!$B$2:$B$3</c:f>
              <c:numCache>
                <c:formatCode>0%</c:formatCode>
                <c:ptCount val="2"/>
                <c:pt idx="0">
                  <c:v>0</c:v>
                </c:pt>
                <c:pt idx="1">
                  <c:v>0</c:v>
                </c:pt>
              </c:numCache>
            </c:numRef>
          </c:val>
          <c:extLst>
            <c:ext xmlns:c16="http://schemas.microsoft.com/office/drawing/2014/chart" uri="{C3380CC4-5D6E-409C-BE32-E72D297353CC}">
              <c16:uniqueId val="{00000006-8078-459C-87A1-80B8C52926CF}"/>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4360531051821529"/>
                  <c:y val="-3.713668823348157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C116-4A86-8722-396C53191CA6}"/>
                </c:ext>
              </c:extLst>
            </c:dLbl>
            <c:dLbl>
              <c:idx val="1"/>
              <c:delete val="1"/>
              <c:extLst>
                <c:ext xmlns:c15="http://schemas.microsoft.com/office/drawing/2012/chart" uri="{CE6537A1-D6FC-4f65-9D91-7224C49458BB}"/>
                <c:ext xmlns:c16="http://schemas.microsoft.com/office/drawing/2014/chart" uri="{C3380CC4-5D6E-409C-BE32-E72D297353CC}">
                  <c16:uniqueId val="{00000006-C116-4A86-8722-396C53191CA6}"/>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ADA</c:v>
                </c:pt>
                <c:pt idx="1">
                  <c:v>ADB</c:v>
                </c:pt>
              </c:strCache>
            </c:strRef>
          </c:cat>
          <c:val>
            <c:numRef>
              <c:f>Sheet1!$C$2:$C$3</c:f>
              <c:numCache>
                <c:formatCode>0%</c:formatCode>
                <c:ptCount val="2"/>
                <c:pt idx="0">
                  <c:v>0</c:v>
                </c:pt>
                <c:pt idx="1">
                  <c:v>0</c:v>
                </c:pt>
              </c:numCache>
            </c:numRef>
          </c:val>
          <c:smooth val="0"/>
          <c:extLst>
            <c:ext xmlns:c16="http://schemas.microsoft.com/office/drawing/2014/chart" uri="{C3380CC4-5D6E-409C-BE32-E72D297353CC}">
              <c16:uniqueId val="{00000006-8078-459C-87A1-80B8C52926CF}"/>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695313373360194"/>
              <c:y val="0.21662605145989955"/>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 15 - % of Findings Closed On Time</a:t>
            </a:r>
          </a:p>
        </c:rich>
      </c:tx>
      <c:layout>
        <c:manualLayout>
          <c:xMode val="edge"/>
          <c:yMode val="edge"/>
          <c:x val="0.15196155653970822"/>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00249C"/>
              </a:solidFill>
              <a:ln>
                <a:noFill/>
              </a:ln>
              <a:effectLst/>
            </c:spPr>
            <c:extLst>
              <c:ext xmlns:c16="http://schemas.microsoft.com/office/drawing/2014/chart" uri="{C3380CC4-5D6E-409C-BE32-E72D297353CC}">
                <c16:uniqueId val="{00000001-C836-4C38-B3AF-DB14259D9935}"/>
              </c:ext>
            </c:extLst>
          </c:dPt>
          <c:dPt>
            <c:idx val="1"/>
            <c:invertIfNegative val="0"/>
            <c:bubble3D val="0"/>
            <c:spPr>
              <a:solidFill>
                <a:srgbClr val="00249C"/>
              </a:solidFill>
              <a:ln>
                <a:noFill/>
              </a:ln>
              <a:effectLst/>
            </c:spPr>
            <c:extLst>
              <c:ext xmlns:c16="http://schemas.microsoft.com/office/drawing/2014/chart" uri="{C3380CC4-5D6E-409C-BE32-E72D297353CC}">
                <c16:uniqueId val="{00000003-C836-4C38-B3AF-DB14259D9935}"/>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ADA</c:v>
                </c:pt>
                <c:pt idx="1">
                  <c:v>ADB</c:v>
                </c:pt>
              </c:strCache>
            </c:strRef>
          </c:cat>
          <c:val>
            <c:numRef>
              <c:f>Sheet1!$B$2:$B$3</c:f>
              <c:numCache>
                <c:formatCode>0%</c:formatCode>
                <c:ptCount val="2"/>
                <c:pt idx="0">
                  <c:v>0</c:v>
                </c:pt>
                <c:pt idx="1">
                  <c:v>1</c:v>
                </c:pt>
              </c:numCache>
            </c:numRef>
          </c:val>
          <c:extLst>
            <c:ext xmlns:c16="http://schemas.microsoft.com/office/drawing/2014/chart" uri="{C3380CC4-5D6E-409C-BE32-E72D297353CC}">
              <c16:uniqueId val="{00000006-C836-4C38-B3AF-DB14259D9935}"/>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4686906757544746"/>
                  <c:y val="-4.0476189392142335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1B3B-4B64-8B9D-12433493ED04}"/>
                </c:ext>
              </c:extLst>
            </c:dLbl>
            <c:dLbl>
              <c:idx val="1"/>
              <c:delete val="1"/>
              <c:extLst>
                <c:ext xmlns:c15="http://schemas.microsoft.com/office/drawing/2012/chart" uri="{CE6537A1-D6FC-4f65-9D91-7224C49458BB}"/>
                <c:ext xmlns:c16="http://schemas.microsoft.com/office/drawing/2014/chart" uri="{C3380CC4-5D6E-409C-BE32-E72D297353CC}">
                  <c16:uniqueId val="{00000006-1B3B-4B64-8B9D-12433493ED04}"/>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ADA</c:v>
                </c:pt>
                <c:pt idx="1">
                  <c:v>ADB</c:v>
                </c:pt>
              </c:strCache>
            </c:strRef>
          </c:cat>
          <c:val>
            <c:numRef>
              <c:f>Sheet1!$C$2:$C$3</c:f>
              <c:numCache>
                <c:formatCode>0%</c:formatCode>
                <c:ptCount val="2"/>
                <c:pt idx="0">
                  <c:v>0.5</c:v>
                </c:pt>
                <c:pt idx="1">
                  <c:v>0.5</c:v>
                </c:pt>
              </c:numCache>
            </c:numRef>
          </c:val>
          <c:smooth val="0"/>
          <c:extLst>
            <c:ext xmlns:c16="http://schemas.microsoft.com/office/drawing/2014/chart" uri="{C3380CC4-5D6E-409C-BE32-E72D297353CC}">
              <c16:uniqueId val="{00000006-C836-4C38-B3AF-DB14259D9935}"/>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368937667636969"/>
              <c:y val="0.32620393898430711"/>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 16 - % of Inspections Completed</a:t>
            </a:r>
          </a:p>
        </c:rich>
      </c:tx>
      <c:layout>
        <c:manualLayout>
          <c:xMode val="edge"/>
          <c:yMode val="edge"/>
          <c:x val="0.13443543813111616"/>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00249C"/>
              </a:solidFill>
              <a:ln>
                <a:noFill/>
              </a:ln>
              <a:effectLst/>
            </c:spPr>
            <c:extLst>
              <c:ext xmlns:c16="http://schemas.microsoft.com/office/drawing/2014/chart" uri="{C3380CC4-5D6E-409C-BE32-E72D297353CC}">
                <c16:uniqueId val="{00000001-72E4-4828-BBFD-3DFE83236654}"/>
              </c:ext>
            </c:extLst>
          </c:dPt>
          <c:dPt>
            <c:idx val="1"/>
            <c:invertIfNegative val="0"/>
            <c:bubble3D val="0"/>
            <c:spPr>
              <a:solidFill>
                <a:srgbClr val="00249C"/>
              </a:solidFill>
              <a:ln>
                <a:noFill/>
              </a:ln>
              <a:effectLst/>
            </c:spPr>
            <c:extLst>
              <c:ext xmlns:c16="http://schemas.microsoft.com/office/drawing/2014/chart" uri="{C3380CC4-5D6E-409C-BE32-E72D297353CC}">
                <c16:uniqueId val="{00000003-72E4-4828-BBFD-3DFE83236654}"/>
              </c:ext>
            </c:extLst>
          </c:dPt>
          <c:dLbls>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ADA</c:v>
                </c:pt>
                <c:pt idx="1">
                  <c:v>ADB</c:v>
                </c:pt>
              </c:strCache>
            </c:strRef>
          </c:cat>
          <c:val>
            <c:numRef>
              <c:f>Sheet1!$B$2:$B$3</c:f>
              <c:numCache>
                <c:formatCode>0%</c:formatCode>
                <c:ptCount val="2"/>
                <c:pt idx="0">
                  <c:v>1</c:v>
                </c:pt>
                <c:pt idx="1">
                  <c:v>1</c:v>
                </c:pt>
              </c:numCache>
            </c:numRef>
          </c:val>
          <c:extLst>
            <c:ext xmlns:c16="http://schemas.microsoft.com/office/drawing/2014/chart" uri="{C3380CC4-5D6E-409C-BE32-E72D297353CC}">
              <c16:uniqueId val="{00000006-72E4-4828-BBFD-3DFE83236654}"/>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5013282463267957"/>
                  <c:y val="-4.6258502162448388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5529-433B-85C6-F1DB317FA4D6}"/>
                </c:ext>
              </c:extLst>
            </c:dLbl>
            <c:dLbl>
              <c:idx val="1"/>
              <c:delete val="1"/>
              <c:extLst>
                <c:ext xmlns:c15="http://schemas.microsoft.com/office/drawing/2012/chart" uri="{CE6537A1-D6FC-4f65-9D91-7224C49458BB}"/>
                <c:ext xmlns:c16="http://schemas.microsoft.com/office/drawing/2014/chart" uri="{C3380CC4-5D6E-409C-BE32-E72D297353CC}">
                  <c16:uniqueId val="{00000006-5529-433B-85C6-F1DB317FA4D6}"/>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ADA</c:v>
                </c:pt>
                <c:pt idx="1">
                  <c:v>ADB</c:v>
                </c:pt>
              </c:strCache>
            </c:strRef>
          </c:cat>
          <c:val>
            <c:numRef>
              <c:f>Sheet1!$C$2:$C$3</c:f>
              <c:numCache>
                <c:formatCode>0%</c:formatCode>
                <c:ptCount val="2"/>
                <c:pt idx="0">
                  <c:v>1</c:v>
                </c:pt>
                <c:pt idx="1">
                  <c:v>1</c:v>
                </c:pt>
              </c:numCache>
            </c:numRef>
          </c:val>
          <c:smooth val="0"/>
          <c:extLst>
            <c:ext xmlns:c16="http://schemas.microsoft.com/office/drawing/2014/chart" uri="{C3380CC4-5D6E-409C-BE32-E72D297353CC}">
              <c16:uniqueId val="{00000006-72E4-4828-BBFD-3DFE83236654}"/>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368937667636969"/>
              <c:y val="0.45919713270134621"/>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 17 - % of Incident Notifications Reported On Time</a:t>
            </a:r>
          </a:p>
        </c:rich>
      </c:tx>
      <c:layout>
        <c:manualLayout>
          <c:xMode val="edge"/>
          <c:yMode val="edge"/>
          <c:x val="0.11661532459862856"/>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rgbClr val="00249C"/>
            </a:solidFill>
            <a:ln>
              <a:noFill/>
            </a:ln>
            <a:effectLst/>
          </c:spPr>
          <c:invertIfNegative val="0"/>
          <c:dPt>
            <c:idx val="0"/>
            <c:invertIfNegative val="0"/>
            <c:bubble3D val="0"/>
            <c:spPr>
              <a:solidFill>
                <a:srgbClr val="00249C"/>
              </a:solidFill>
              <a:ln>
                <a:noFill/>
              </a:ln>
              <a:effectLst/>
            </c:spPr>
            <c:extLst>
              <c:ext xmlns:c16="http://schemas.microsoft.com/office/drawing/2014/chart" uri="{C3380CC4-5D6E-409C-BE32-E72D297353CC}">
                <c16:uniqueId val="{00000001-362C-40CF-B7B7-262DD162B280}"/>
              </c:ext>
            </c:extLst>
          </c:dPt>
          <c:dPt>
            <c:idx val="1"/>
            <c:invertIfNegative val="0"/>
            <c:bubble3D val="0"/>
            <c:spPr>
              <a:solidFill>
                <a:srgbClr val="00249C"/>
              </a:solidFill>
              <a:ln>
                <a:noFill/>
              </a:ln>
              <a:effectLst/>
            </c:spPr>
            <c:extLst>
              <c:ext xmlns:c16="http://schemas.microsoft.com/office/drawing/2014/chart" uri="{C3380CC4-5D6E-409C-BE32-E72D297353CC}">
                <c16:uniqueId val="{00000003-362C-40CF-B7B7-262DD162B280}"/>
              </c:ext>
            </c:extLst>
          </c:dPt>
          <c:dLbls>
            <c:dLbl>
              <c:idx val="0"/>
              <c:tx>
                <c:rich>
                  <a:bodyPr/>
                  <a:lstStyle/>
                  <a:p>
                    <a:r>
                      <a:rPr lang="en-US" dirty="0"/>
                      <a:t>79%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62C-40CF-B7B7-262DD162B280}"/>
                </c:ext>
              </c:extLst>
            </c:dLbl>
            <c:dLbl>
              <c:idx val="1"/>
              <c:tx>
                <c:rich>
                  <a:bodyPr/>
                  <a:lstStyle/>
                  <a:p>
                    <a:r>
                      <a:rPr lang="en-US" dirty="0"/>
                      <a:t>79%</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62C-40CF-B7B7-262DD162B280}"/>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ADA</c:v>
                </c:pt>
                <c:pt idx="1">
                  <c:v>ADB</c:v>
                </c:pt>
              </c:strCache>
            </c:strRef>
          </c:cat>
          <c:val>
            <c:numRef>
              <c:f>Sheet1!$B$2:$B$3</c:f>
              <c:numCache>
                <c:formatCode>0%</c:formatCode>
                <c:ptCount val="2"/>
                <c:pt idx="0">
                  <c:v>0.78260869565217395</c:v>
                </c:pt>
                <c:pt idx="1">
                  <c:v>0.8</c:v>
                </c:pt>
              </c:numCache>
            </c:numRef>
          </c:val>
          <c:extLst>
            <c:ext xmlns:c16="http://schemas.microsoft.com/office/drawing/2014/chart" uri="{C3380CC4-5D6E-409C-BE32-E72D297353CC}">
              <c16:uniqueId val="{00000006-362C-40CF-B7B7-262DD162B280}"/>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5992409580437605"/>
                  <c:y val="-3.4693876621836393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40A-4066-B838-7DCA475252F2}"/>
                </c:ext>
              </c:extLst>
            </c:dLbl>
            <c:dLbl>
              <c:idx val="1"/>
              <c:delete val="1"/>
              <c:extLst>
                <c:ext xmlns:c15="http://schemas.microsoft.com/office/drawing/2012/chart" uri="{CE6537A1-D6FC-4f65-9D91-7224C49458BB}"/>
                <c:ext xmlns:c16="http://schemas.microsoft.com/office/drawing/2014/chart" uri="{C3380CC4-5D6E-409C-BE32-E72D297353CC}">
                  <c16:uniqueId val="{00000006-E40A-4066-B838-7DCA475252F2}"/>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ADA</c:v>
                </c:pt>
                <c:pt idx="1">
                  <c:v>ADB</c:v>
                </c:pt>
              </c:strCache>
            </c:strRef>
          </c:cat>
          <c:val>
            <c:numRef>
              <c:f>Sheet1!$C$2:$C$3</c:f>
              <c:numCache>
                <c:formatCode>0%</c:formatCode>
                <c:ptCount val="2"/>
                <c:pt idx="0">
                  <c:v>0.79130434782608705</c:v>
                </c:pt>
                <c:pt idx="1">
                  <c:v>0.79130434782608705</c:v>
                </c:pt>
              </c:numCache>
            </c:numRef>
          </c:val>
          <c:smooth val="0"/>
          <c:extLst>
            <c:ext xmlns:c16="http://schemas.microsoft.com/office/drawing/2014/chart" uri="{C3380CC4-5D6E-409C-BE32-E72D297353CC}">
              <c16:uniqueId val="{00000006-362C-40CF-B7B7-262DD162B280}"/>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2042561961913755"/>
              <c:y val="0.59219032641838543"/>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b="1" dirty="0">
                <a:solidFill>
                  <a:schemeClr val="tx1"/>
                </a:solidFill>
              </a:rPr>
              <a:t>KPI 18 - % of Investigations Completed On Time</a:t>
            </a:r>
          </a:p>
        </c:rich>
      </c:tx>
      <c:layout>
        <c:manualLayout>
          <c:xMode val="edge"/>
          <c:yMode val="edge"/>
          <c:x val="0.15390927423551631"/>
          <c:y val="0"/>
        </c:manualLayout>
      </c:layout>
      <c:overlay val="0"/>
      <c:spPr>
        <a:noFill/>
        <a:ln>
          <a:noFill/>
        </a:ln>
        <a:effectLst/>
      </c:spPr>
    </c:title>
    <c:autoTitleDeleted val="0"/>
    <c:plotArea>
      <c:layout>
        <c:manualLayout>
          <c:layoutTarget val="inner"/>
          <c:xMode val="edge"/>
          <c:yMode val="edge"/>
          <c:x val="0.13616576164414254"/>
          <c:y val="0.19960598301183052"/>
          <c:w val="0.82818454242454165"/>
          <c:h val="0.55962543361654526"/>
        </c:manualLayout>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rgbClr val="FFC000"/>
              </a:solidFill>
              <a:ln>
                <a:noFill/>
              </a:ln>
              <a:effectLst/>
            </c:spPr>
            <c:extLst>
              <c:ext xmlns:c16="http://schemas.microsoft.com/office/drawing/2014/chart" uri="{C3380CC4-5D6E-409C-BE32-E72D297353CC}">
                <c16:uniqueId val="{00000001-3629-480D-8E60-04C4FB5D9ABF}"/>
              </c:ext>
            </c:extLst>
          </c:dPt>
          <c:dPt>
            <c:idx val="1"/>
            <c:invertIfNegative val="0"/>
            <c:bubble3D val="0"/>
            <c:spPr>
              <a:solidFill>
                <a:srgbClr val="00249C"/>
              </a:solidFill>
              <a:ln>
                <a:noFill/>
              </a:ln>
              <a:effectLst/>
            </c:spPr>
            <c:extLst>
              <c:ext xmlns:c16="http://schemas.microsoft.com/office/drawing/2014/chart" uri="{C3380CC4-5D6E-409C-BE32-E72D297353CC}">
                <c16:uniqueId val="{00000003-3629-480D-8E60-04C4FB5D9ABF}"/>
              </c:ext>
            </c:extLst>
          </c:dPt>
          <c:dLbls>
            <c:dLbl>
              <c:idx val="0"/>
              <c:tx>
                <c:rich>
                  <a:bodyPr/>
                  <a:lstStyle/>
                  <a:p>
                    <a:r>
                      <a:rPr lang="en-US" dirty="0"/>
                      <a:t>34%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629-480D-8E60-04C4FB5D9ABF}"/>
                </c:ext>
              </c:extLst>
            </c:dLbl>
            <c:dLbl>
              <c:idx val="1"/>
              <c:tx>
                <c:rich>
                  <a:bodyPr/>
                  <a:lstStyle/>
                  <a:p>
                    <a:r>
                      <a:rPr lang="en-US" dirty="0"/>
                      <a:t>68%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629-480D-8E60-04C4FB5D9ABF}"/>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Sheet1!$A$2:$A$3</c:f>
              <c:strCache>
                <c:ptCount val="2"/>
                <c:pt idx="0">
                  <c:v>ADA</c:v>
                </c:pt>
                <c:pt idx="1">
                  <c:v>ADB</c:v>
                </c:pt>
              </c:strCache>
            </c:strRef>
          </c:cat>
          <c:val>
            <c:numRef>
              <c:f>Sheet1!$B$2:$B$3</c:f>
              <c:numCache>
                <c:formatCode>0%</c:formatCode>
                <c:ptCount val="2"/>
                <c:pt idx="0">
                  <c:v>0.43478260869565216</c:v>
                </c:pt>
                <c:pt idx="1">
                  <c:v>0.66666666666666663</c:v>
                </c:pt>
              </c:numCache>
            </c:numRef>
          </c:val>
          <c:extLst>
            <c:ext xmlns:c16="http://schemas.microsoft.com/office/drawing/2014/chart" uri="{C3380CC4-5D6E-409C-BE32-E72D297353CC}">
              <c16:uniqueId val="{00000006-3629-480D-8E60-04C4FB5D9ABF}"/>
            </c:ext>
          </c:extLst>
        </c:ser>
        <c:dLbls>
          <c:showLegendKey val="0"/>
          <c:showVal val="1"/>
          <c:showCatName val="0"/>
          <c:showSerName val="0"/>
          <c:showPercent val="0"/>
          <c:showBubbleSize val="0"/>
        </c:dLbls>
        <c:gapWidth val="219"/>
        <c:axId val="589694672"/>
        <c:axId val="589695152"/>
      </c:barChart>
      <c:lineChart>
        <c:grouping val="standard"/>
        <c:varyColors val="0"/>
        <c:ser>
          <c:idx val="1"/>
          <c:order val="1"/>
          <c:tx>
            <c:strRef>
              <c:f>Sheet1!$C$1</c:f>
              <c:strCache>
                <c:ptCount val="1"/>
              </c:strCache>
            </c:strRef>
          </c:tx>
          <c:marker>
            <c:symbol val="none"/>
          </c:marker>
          <c:dLbls>
            <c:dLbl>
              <c:idx val="0"/>
              <c:layout>
                <c:manualLayout>
                  <c:x val="0.16318785286160822"/>
                  <c:y val="-5.2040814932754434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47E-4568-8D59-6D5E6867F709}"/>
                </c:ext>
              </c:extLst>
            </c:dLbl>
            <c:dLbl>
              <c:idx val="1"/>
              <c:delete val="1"/>
              <c:extLst>
                <c:ext xmlns:c15="http://schemas.microsoft.com/office/drawing/2012/chart" uri="{CE6537A1-D6FC-4f65-9D91-7224C49458BB}"/>
                <c:ext xmlns:c16="http://schemas.microsoft.com/office/drawing/2014/chart" uri="{C3380CC4-5D6E-409C-BE32-E72D297353CC}">
                  <c16:uniqueId val="{00000006-647E-4568-8D59-6D5E6867F709}"/>
                </c:ext>
              </c:extLst>
            </c:dLbl>
            <c:spPr>
              <a:noFill/>
              <a:ln>
                <a:noFill/>
              </a:ln>
              <a:effectLst/>
            </c:sp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ADA</c:v>
                </c:pt>
                <c:pt idx="1">
                  <c:v>ADB</c:v>
                </c:pt>
              </c:strCache>
            </c:strRef>
          </c:cat>
          <c:val>
            <c:numRef>
              <c:f>Sheet1!$C$2:$C$3</c:f>
              <c:numCache>
                <c:formatCode>0%</c:formatCode>
                <c:ptCount val="2"/>
                <c:pt idx="0">
                  <c:v>0.55072463768115942</c:v>
                </c:pt>
                <c:pt idx="1">
                  <c:v>0.55072463768115942</c:v>
                </c:pt>
              </c:numCache>
            </c:numRef>
          </c:val>
          <c:smooth val="0"/>
          <c:extLst>
            <c:ext xmlns:c16="http://schemas.microsoft.com/office/drawing/2014/chart" uri="{C3380CC4-5D6E-409C-BE32-E72D297353CC}">
              <c16:uniqueId val="{00000006-3629-480D-8E60-04C4FB5D9ABF}"/>
            </c:ext>
          </c:extLst>
        </c:ser>
        <c:dLbls>
          <c:showLegendKey val="0"/>
          <c:showVal val="1"/>
          <c:showCatName val="0"/>
          <c:showSerName val="0"/>
          <c:showPercent val="0"/>
          <c:showBubbleSize val="0"/>
        </c:dLbls>
        <c:marker val="1"/>
        <c:smooth val="0"/>
        <c:axId val="589694672"/>
        <c:axId val="589695152"/>
      </c:lineChart>
      <c:catAx>
        <c:axId val="589694672"/>
        <c:scaling>
          <c:orientation val="minMax"/>
        </c:scaling>
        <c:delete val="0"/>
        <c:axPos val="b"/>
        <c:title>
          <c:tx>
            <c:rich>
              <a:bodyPr/>
              <a:lstStyle/>
              <a:p>
                <a:pPr>
                  <a:defRPr/>
                </a:pPr>
                <a:r>
                  <a:rPr lang="en-US" dirty="0"/>
                  <a:t>All Campus Avg.</a:t>
                </a:r>
              </a:p>
            </c:rich>
          </c:tx>
          <c:layout>
            <c:manualLayout>
              <c:xMode val="edge"/>
              <c:yMode val="edge"/>
              <c:x val="0.43021689079083403"/>
              <c:y val="0.41293863053889784"/>
            </c:manualLayout>
          </c:layout>
          <c:overlay val="0"/>
        </c:title>
        <c:numFmt formatCode="General" sourceLinked="1"/>
        <c:majorTickMark val="none"/>
        <c:minorTickMark val="none"/>
        <c:tickLblPos val="nextTo"/>
        <c:txPr>
          <a:bodyPr/>
          <a:lstStyle/>
          <a:p>
            <a:pPr>
              <a:defRPr sz="1100"/>
            </a:pPr>
            <a:endParaRPr lang="en-US"/>
          </a:p>
        </c:txPr>
        <c:crossAx val="589695152"/>
        <c:crosses val="autoZero"/>
        <c:auto val="1"/>
        <c:lblAlgn val="ctr"/>
        <c:lblOffset val="100"/>
        <c:noMultiLvlLbl val="0"/>
      </c:catAx>
      <c:valAx>
        <c:axId val="589695152"/>
        <c:scaling>
          <c:orientation val="minMax"/>
          <c:max val="1"/>
        </c:scaling>
        <c:delete val="0"/>
        <c:axPos val="l"/>
        <c:majorGridlines>
          <c:spPr>
            <a:ln w="9525" cap="flat" cmpd="sng" algn="ctr">
              <a:solidFill>
                <a:schemeClr val="tx1">
                  <a:lumMod val="15000"/>
                  <a:lumOff val="85000"/>
                </a:schemeClr>
              </a:solidFill>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lgn="ct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crossAx val="589694672"/>
        <c:crosses val="autoZero"/>
        <c:crossBetween val="between"/>
        <c:majorUnit val="0.2"/>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lang="en-US" sz="1000" b="0" i="0" u="none" strike="noStrike" kern="1200" baseline="0">
          <a:solidFill>
            <a:schemeClr val="tx1"/>
          </a:solidFill>
          <a:latin typeface="Tahoma" panose="020B0604030504040204" pitchFamily="34" charset="0"/>
          <a:ea typeface="Tahoma" panose="020B0604030504040204" pitchFamily="34" charset="0"/>
          <a:cs typeface="Tahoma" panose="020B0604030504040204" pitchFamily="34" charset="0"/>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B584398-E3D8-47CD-89AD-77C86836705F}" type="datetimeFigureOut">
              <a:rPr lang="en-US" smtClean="0"/>
              <a:t>14-Sep-26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65F12B-7EB0-406D-84EF-D640CC7DFF5A}" type="slidenum">
              <a:rPr lang="en-US" smtClean="0"/>
              <a:t>‹#›</a:t>
            </a:fld>
            <a:endParaRPr lang="en-US"/>
          </a:p>
        </p:txBody>
      </p:sp>
    </p:spTree>
    <p:extLst>
      <p:ext uri="{BB962C8B-B14F-4D97-AF65-F5344CB8AC3E}">
        <p14:creationId xmlns:p14="http://schemas.microsoft.com/office/powerpoint/2010/main" val="35578487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14D6A2-54AA-1D52-F3C7-9A468033FD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89FAB0-8113-F483-AC58-DA464952552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7467E89-B005-4CBE-74D3-1A18CB276998}"/>
              </a:ext>
            </a:extLst>
          </p:cNvPr>
          <p:cNvSpPr>
            <a:spLocks noGrp="1"/>
          </p:cNvSpPr>
          <p:nvPr>
            <p:ph type="body" idx="1"/>
          </p:nvPr>
        </p:nvSpPr>
        <p:spPr/>
        <p:txBody>
          <a:bodyPr/>
          <a:lstStyle/>
          <a:p>
            <a:endParaRPr lang="en-AE"/>
          </a:p>
        </p:txBody>
      </p:sp>
      <p:sp>
        <p:nvSpPr>
          <p:cNvPr id="4" name="Slide Number Placeholder 3">
            <a:extLst>
              <a:ext uri="{FF2B5EF4-FFF2-40B4-BE49-F238E27FC236}">
                <a16:creationId xmlns:a16="http://schemas.microsoft.com/office/drawing/2014/main" id="{229A1AEE-9619-1CE8-C0D0-283120F516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753AD3-AB46-6045-9BA1-BBC278F09B8C}" type="slidenum">
              <a:rPr kumimoji="0" lang="en-US" sz="1200" b="0" i="0" u="none" strike="noStrike" kern="1200" cap="none" spc="0" normalizeH="0" baseline="0" noProof="0" smtClean="0">
                <a:ln>
                  <a:noFill/>
                </a:ln>
                <a:solidFill>
                  <a:srgbClr val="00249C"/>
                </a:solidFill>
                <a:effectLst/>
                <a:uLnTx/>
                <a:uFillTx/>
                <a:latin typeface="Arial" panose="020B0604020202020204" pitchFamily="34" charset="0"/>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srgbClr val="00249C"/>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1472696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2FD515-7305-BB6F-A3A1-2164EC2B11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00415E-026B-9B08-EBD2-AEFA29D6CE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58FCAD-AAE8-BAC7-7E35-6B1F5D18D6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B3E538-4674-2218-9B8F-6880F3680875}"/>
              </a:ext>
            </a:extLst>
          </p:cNvPr>
          <p:cNvSpPr>
            <a:spLocks noGrp="1"/>
          </p:cNvSpPr>
          <p:nvPr>
            <p:ph type="sldNum" sz="quarter" idx="5"/>
          </p:nvPr>
        </p:nvSpPr>
        <p:spPr/>
        <p:txBody>
          <a:bodyPr/>
          <a:lstStyle/>
          <a:p>
            <a:fld id="{A665F12B-7EB0-406D-84EF-D640CC7DFF5A}" type="slidenum">
              <a:rPr lang="en-US" smtClean="0"/>
              <a:t>4</a:t>
            </a:fld>
            <a:endParaRPr lang="en-US"/>
          </a:p>
        </p:txBody>
      </p:sp>
    </p:spTree>
    <p:extLst>
      <p:ext uri="{BB962C8B-B14F-4D97-AF65-F5344CB8AC3E}">
        <p14:creationId xmlns:p14="http://schemas.microsoft.com/office/powerpoint/2010/main" val="3626578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65F12B-7EB0-406D-84EF-D640CC7DFF5A}" type="slidenum">
              <a:rPr lang="en-US" smtClean="0"/>
              <a:t>12</a:t>
            </a:fld>
            <a:endParaRPr lang="en-US"/>
          </a:p>
        </p:txBody>
      </p:sp>
    </p:spTree>
    <p:extLst>
      <p:ext uri="{BB962C8B-B14F-4D97-AF65-F5344CB8AC3E}">
        <p14:creationId xmlns:p14="http://schemas.microsoft.com/office/powerpoint/2010/main" val="222988910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12.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3.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6.jpeg"/><Relationship Id="rId1" Type="http://schemas.openxmlformats.org/officeDocument/2006/relationships/slideMaster" Target="../slideMasters/slideMaster1.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evider Slides for Session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70734C94-E5A8-F84D-A000-4D877B9CC8C2}"/>
              </a:ext>
            </a:extLst>
          </p:cNvPr>
          <p:cNvSpPr>
            <a:spLocks noGrp="1"/>
          </p:cNvSpPr>
          <p:nvPr>
            <p:ph type="ctrTitle" hasCustomPrompt="1"/>
          </p:nvPr>
        </p:nvSpPr>
        <p:spPr>
          <a:xfrm>
            <a:off x="957273" y="3713060"/>
            <a:ext cx="9143999" cy="1006475"/>
          </a:xfrm>
          <a:prstGeom prst="rect">
            <a:avLst/>
          </a:prstGeom>
        </p:spPr>
        <p:txBody>
          <a:bodyPr anchor="t" anchorCtr="0"/>
          <a:lstStyle>
            <a:lvl1pPr algn="l">
              <a:defRPr sz="4500" b="1">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Session title style</a:t>
            </a:r>
          </a:p>
        </p:txBody>
      </p:sp>
      <p:pic>
        <p:nvPicPr>
          <p:cNvPr id="25" name="Graphic 24">
            <a:extLst>
              <a:ext uri="{FF2B5EF4-FFF2-40B4-BE49-F238E27FC236}">
                <a16:creationId xmlns:a16="http://schemas.microsoft.com/office/drawing/2014/main" id="{4E4DC168-AD7A-524E-9D94-2B3F22C5AB1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88949" y="2051"/>
            <a:ext cx="236191" cy="6858000"/>
          </a:xfrm>
          <a:prstGeom prst="rect">
            <a:avLst/>
          </a:prstGeom>
        </p:spPr>
      </p:pic>
      <p:pic>
        <p:nvPicPr>
          <p:cNvPr id="26" name="Graphic 25">
            <a:extLst>
              <a:ext uri="{FF2B5EF4-FFF2-40B4-BE49-F238E27FC236}">
                <a16:creationId xmlns:a16="http://schemas.microsoft.com/office/drawing/2014/main" id="{8421EEAF-DF6B-B045-AEFE-F3CF6D659E5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50206" y="250603"/>
            <a:ext cx="313679" cy="329298"/>
          </a:xfrm>
          <a:prstGeom prst="rect">
            <a:avLst/>
          </a:prstGeom>
        </p:spPr>
      </p:pic>
      <p:sp>
        <p:nvSpPr>
          <p:cNvPr id="28" name="Text Placeholder 27">
            <a:extLst>
              <a:ext uri="{FF2B5EF4-FFF2-40B4-BE49-F238E27FC236}">
                <a16:creationId xmlns:a16="http://schemas.microsoft.com/office/drawing/2014/main" id="{65C43E3D-0D26-234A-9592-5DAA63D12695}"/>
              </a:ext>
            </a:extLst>
          </p:cNvPr>
          <p:cNvSpPr>
            <a:spLocks noGrp="1"/>
          </p:cNvSpPr>
          <p:nvPr>
            <p:ph type="body" sz="quarter" idx="10" hasCustomPrompt="1"/>
          </p:nvPr>
        </p:nvSpPr>
        <p:spPr>
          <a:xfrm>
            <a:off x="957263" y="2962275"/>
            <a:ext cx="8056562" cy="395288"/>
          </a:xfr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500">
                <a:solidFill>
                  <a:schemeClr val="accent6"/>
                </a:solidFill>
              </a:defRPr>
            </a:lvl1pPr>
          </a:lstStyle>
          <a:p>
            <a:pPr lvl="0"/>
            <a:r>
              <a:rPr lang="en-US"/>
              <a:t>Click to edit Session Details</a:t>
            </a:r>
          </a:p>
          <a:p>
            <a:pPr lvl="0"/>
            <a:endParaRPr lang="en-AE"/>
          </a:p>
        </p:txBody>
      </p:sp>
    </p:spTree>
    <p:extLst>
      <p:ext uri="{BB962C8B-B14F-4D97-AF65-F5344CB8AC3E}">
        <p14:creationId xmlns:p14="http://schemas.microsoft.com/office/powerpoint/2010/main" val="3167178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and Title for the Presentation#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Date Placeholder 8">
            <a:extLst>
              <a:ext uri="{FF2B5EF4-FFF2-40B4-BE49-F238E27FC236}">
                <a16:creationId xmlns:a16="http://schemas.microsoft.com/office/drawing/2014/main" id="{2CFC90AB-DF59-D34A-9818-151D5C1D9CEE}"/>
              </a:ext>
            </a:extLst>
          </p:cNvPr>
          <p:cNvSpPr>
            <a:spLocks noGrp="1"/>
          </p:cNvSpPr>
          <p:nvPr>
            <p:ph type="dt" sz="half" idx="10"/>
          </p:nvPr>
        </p:nvSpPr>
        <p:spPr>
          <a:xfrm>
            <a:off x="955675" y="5981617"/>
            <a:ext cx="3138522" cy="365125"/>
          </a:xfrm>
        </p:spPr>
        <p:txBody>
          <a:bodyPr/>
          <a:lstStyle>
            <a:lvl1pPr>
              <a:defRPr sz="1500">
                <a:solidFill>
                  <a:schemeClr val="bg2"/>
                </a:solidFill>
              </a:defRPr>
            </a:lvl1pPr>
          </a:lstStyle>
          <a:p>
            <a:fld id="{9FB76777-9218-4188-BD26-CF1E318BE795}" type="datetime2">
              <a:rPr lang="en-US" smtClean="0"/>
              <a:pPr/>
              <a:t>Monday, September 14, 2026</a:t>
            </a:fld>
            <a:endParaRPr lang="en-AE"/>
          </a:p>
        </p:txBody>
      </p:sp>
      <p:pic>
        <p:nvPicPr>
          <p:cNvPr id="7" name="Graphic 6">
            <a:extLst>
              <a:ext uri="{FF2B5EF4-FFF2-40B4-BE49-F238E27FC236}">
                <a16:creationId xmlns:a16="http://schemas.microsoft.com/office/drawing/2014/main" id="{E0A69106-6879-3A4D-A621-50E8110948BA}"/>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84844" y="351663"/>
            <a:ext cx="3713566" cy="634596"/>
          </a:xfrm>
          <a:prstGeom prst="rect">
            <a:avLst/>
          </a:prstGeom>
        </p:spPr>
      </p:pic>
      <p:sp>
        <p:nvSpPr>
          <p:cNvPr id="8" name="Subtitle 2">
            <a:extLst>
              <a:ext uri="{FF2B5EF4-FFF2-40B4-BE49-F238E27FC236}">
                <a16:creationId xmlns:a16="http://schemas.microsoft.com/office/drawing/2014/main" id="{D8643B33-FF74-2B49-B6EB-01409F1D0D7F}"/>
              </a:ext>
            </a:extLst>
          </p:cNvPr>
          <p:cNvSpPr>
            <a:spLocks noGrp="1"/>
          </p:cNvSpPr>
          <p:nvPr>
            <p:ph type="subTitle" idx="1"/>
          </p:nvPr>
        </p:nvSpPr>
        <p:spPr>
          <a:xfrm>
            <a:off x="955675" y="3945603"/>
            <a:ext cx="9144000" cy="536329"/>
          </a:xfrm>
          <a:prstGeom prst="rect">
            <a:avLst/>
          </a:prstGeom>
        </p:spPr>
        <p:txBody>
          <a:bodyPr/>
          <a:lstStyle>
            <a:lvl1pPr marL="0" indent="0" algn="l">
              <a:buNone/>
              <a:defRPr sz="2500">
                <a:solidFill>
                  <a:schemeClr val="bg1">
                    <a:lumMod val="40000"/>
                    <a:lumOff val="60000"/>
                  </a:schemeClr>
                </a:solidFill>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3" name="Graphic 12">
            <a:extLst>
              <a:ext uri="{FF2B5EF4-FFF2-40B4-BE49-F238E27FC236}">
                <a16:creationId xmlns:a16="http://schemas.microsoft.com/office/drawing/2014/main" id="{8EF5330E-32F1-7B42-BB39-B2FFE8F8788D}"/>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9516979" y="775699"/>
            <a:ext cx="2675021" cy="315139"/>
          </a:xfrm>
          <a:prstGeom prst="rect">
            <a:avLst/>
          </a:prstGeom>
        </p:spPr>
      </p:pic>
      <p:sp>
        <p:nvSpPr>
          <p:cNvPr id="14" name="Title 3">
            <a:extLst>
              <a:ext uri="{FF2B5EF4-FFF2-40B4-BE49-F238E27FC236}">
                <a16:creationId xmlns:a16="http://schemas.microsoft.com/office/drawing/2014/main" id="{591BC0ED-3260-F844-B525-B5B4D2CC78D0}"/>
              </a:ext>
            </a:extLst>
          </p:cNvPr>
          <p:cNvSpPr>
            <a:spLocks noGrp="1"/>
          </p:cNvSpPr>
          <p:nvPr>
            <p:ph type="title" hasCustomPrompt="1"/>
          </p:nvPr>
        </p:nvSpPr>
        <p:spPr>
          <a:xfrm>
            <a:off x="955675" y="3126852"/>
            <a:ext cx="9144000" cy="818751"/>
          </a:xfrm>
        </p:spPr>
        <p:txBody>
          <a:bodyPr anchor="t" anchorCtr="0"/>
          <a:lstStyle>
            <a:lvl1pPr algn="l">
              <a:defRPr>
                <a:solidFill>
                  <a:schemeClr val="bg2"/>
                </a:solidFill>
              </a:defRPr>
            </a:lvl1pPr>
          </a:lstStyle>
          <a:p>
            <a:r>
              <a:rPr lang="en-US"/>
              <a:t>Click to edit master title style</a:t>
            </a:r>
          </a:p>
        </p:txBody>
      </p:sp>
    </p:spTree>
    <p:extLst>
      <p:ext uri="{BB962C8B-B14F-4D97-AF65-F5344CB8AC3E}">
        <p14:creationId xmlns:p14="http://schemas.microsoft.com/office/powerpoint/2010/main" val="19175418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over and Title for the Presentation#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1" name="Subtitle 2">
            <a:extLst>
              <a:ext uri="{FF2B5EF4-FFF2-40B4-BE49-F238E27FC236}">
                <a16:creationId xmlns:a16="http://schemas.microsoft.com/office/drawing/2014/main" id="{E9241090-81F5-3947-93CB-6896CF7F94E5}"/>
              </a:ext>
            </a:extLst>
          </p:cNvPr>
          <p:cNvSpPr>
            <a:spLocks noGrp="1"/>
          </p:cNvSpPr>
          <p:nvPr>
            <p:ph type="subTitle" idx="1" hasCustomPrompt="1"/>
          </p:nvPr>
        </p:nvSpPr>
        <p:spPr>
          <a:xfrm>
            <a:off x="536339" y="5106074"/>
            <a:ext cx="6971077" cy="698499"/>
          </a:xfrm>
        </p:spPr>
        <p:txBody>
          <a:bodyPr>
            <a:noAutofit/>
          </a:bodyPr>
          <a:lstStyle>
            <a:lvl1pPr marL="0" indent="0" algn="l">
              <a:buNone/>
              <a:defRPr sz="20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12" name="Title 3">
            <a:extLst>
              <a:ext uri="{FF2B5EF4-FFF2-40B4-BE49-F238E27FC236}">
                <a16:creationId xmlns:a16="http://schemas.microsoft.com/office/drawing/2014/main" id="{06DB1578-413F-2C4E-9D70-BBE3D7A5DBD3}"/>
              </a:ext>
            </a:extLst>
          </p:cNvPr>
          <p:cNvSpPr>
            <a:spLocks noGrp="1"/>
          </p:cNvSpPr>
          <p:nvPr>
            <p:ph type="title" hasCustomPrompt="1"/>
          </p:nvPr>
        </p:nvSpPr>
        <p:spPr>
          <a:xfrm>
            <a:off x="536339" y="3607860"/>
            <a:ext cx="5298020" cy="1498214"/>
          </a:xfrm>
        </p:spPr>
        <p:txBody>
          <a:bodyPr/>
          <a:lstStyle>
            <a:lvl1pPr algn="l">
              <a:defRPr>
                <a:solidFill>
                  <a:schemeClr val="tx1"/>
                </a:solidFill>
              </a:defRPr>
            </a:lvl1pPr>
          </a:lstStyle>
          <a:p>
            <a:r>
              <a:rPr lang="en-US"/>
              <a:t>Click to edit master title style</a:t>
            </a:r>
          </a:p>
        </p:txBody>
      </p:sp>
      <p:pic>
        <p:nvPicPr>
          <p:cNvPr id="3" name="Graphic 2">
            <a:extLst>
              <a:ext uri="{FF2B5EF4-FFF2-40B4-BE49-F238E27FC236}">
                <a16:creationId xmlns:a16="http://schemas.microsoft.com/office/drawing/2014/main" id="{7B5CCC4E-CABB-0A42-9BDE-60480B081EF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8058490" y="1061074"/>
            <a:ext cx="3362305" cy="773864"/>
          </a:xfrm>
          <a:prstGeom prst="rect">
            <a:avLst/>
          </a:prstGeom>
        </p:spPr>
      </p:pic>
      <p:sp>
        <p:nvSpPr>
          <p:cNvPr id="10" name="Date Placeholder 8">
            <a:extLst>
              <a:ext uri="{FF2B5EF4-FFF2-40B4-BE49-F238E27FC236}">
                <a16:creationId xmlns:a16="http://schemas.microsoft.com/office/drawing/2014/main" id="{2CFC90AB-DF59-D34A-9818-151D5C1D9CEE}"/>
              </a:ext>
            </a:extLst>
          </p:cNvPr>
          <p:cNvSpPr>
            <a:spLocks noGrp="1"/>
          </p:cNvSpPr>
          <p:nvPr>
            <p:ph type="dt" sz="half" idx="10"/>
          </p:nvPr>
        </p:nvSpPr>
        <p:spPr>
          <a:xfrm>
            <a:off x="536339" y="6029515"/>
            <a:ext cx="3138522" cy="365125"/>
          </a:xfrm>
        </p:spPr>
        <p:txBody>
          <a:bodyPr/>
          <a:lstStyle>
            <a:lvl1pPr>
              <a:defRPr sz="1500">
                <a:solidFill>
                  <a:schemeClr val="accent6">
                    <a:lumMod val="75000"/>
                    <a:lumOff val="25000"/>
                  </a:schemeClr>
                </a:solidFill>
              </a:defRPr>
            </a:lvl1pPr>
          </a:lstStyle>
          <a:p>
            <a:fld id="{9FB76777-9218-4188-BD26-CF1E318BE795}" type="datetime2">
              <a:rPr lang="en-US" smtClean="0"/>
              <a:pPr/>
              <a:t>Monday, September 14, 2026</a:t>
            </a:fld>
            <a:endParaRPr lang="en-AE"/>
          </a:p>
        </p:txBody>
      </p:sp>
    </p:spTree>
    <p:extLst>
      <p:ext uri="{BB962C8B-B14F-4D97-AF65-F5344CB8AC3E}">
        <p14:creationId xmlns:p14="http://schemas.microsoft.com/office/powerpoint/2010/main" val="27684397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over and Title for the Presentation#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Date Placeholder 8">
            <a:extLst>
              <a:ext uri="{FF2B5EF4-FFF2-40B4-BE49-F238E27FC236}">
                <a16:creationId xmlns:a16="http://schemas.microsoft.com/office/drawing/2014/main" id="{2CFC90AB-DF59-D34A-9818-151D5C1D9CEE}"/>
              </a:ext>
            </a:extLst>
          </p:cNvPr>
          <p:cNvSpPr>
            <a:spLocks noGrp="1"/>
          </p:cNvSpPr>
          <p:nvPr>
            <p:ph type="dt" sz="half" idx="10"/>
          </p:nvPr>
        </p:nvSpPr>
        <p:spPr>
          <a:xfrm>
            <a:off x="956140" y="6029515"/>
            <a:ext cx="3138522" cy="365125"/>
          </a:xfrm>
        </p:spPr>
        <p:txBody>
          <a:bodyPr/>
          <a:lstStyle>
            <a:lvl1pPr>
              <a:defRPr sz="1500">
                <a:solidFill>
                  <a:schemeClr val="bg2"/>
                </a:solidFill>
              </a:defRPr>
            </a:lvl1pPr>
          </a:lstStyle>
          <a:p>
            <a:fld id="{9FB76777-9218-4188-BD26-CF1E318BE795}" type="datetime2">
              <a:rPr lang="en-US" smtClean="0"/>
              <a:pPr/>
              <a:t>Monday, September 14, 2026</a:t>
            </a:fld>
            <a:endParaRPr lang="en-AE"/>
          </a:p>
        </p:txBody>
      </p:sp>
      <p:pic>
        <p:nvPicPr>
          <p:cNvPr id="7" name="Graphic 6">
            <a:extLst>
              <a:ext uri="{FF2B5EF4-FFF2-40B4-BE49-F238E27FC236}">
                <a16:creationId xmlns:a16="http://schemas.microsoft.com/office/drawing/2014/main" id="{194BA4BA-37FC-574C-900D-E42453AEA51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57263" y="2371959"/>
            <a:ext cx="4078511" cy="938705"/>
          </a:xfrm>
          <a:prstGeom prst="rect">
            <a:avLst/>
          </a:prstGeom>
        </p:spPr>
      </p:pic>
      <p:sp>
        <p:nvSpPr>
          <p:cNvPr id="8" name="Title 1">
            <a:extLst>
              <a:ext uri="{FF2B5EF4-FFF2-40B4-BE49-F238E27FC236}">
                <a16:creationId xmlns:a16="http://schemas.microsoft.com/office/drawing/2014/main" id="{81495BEB-EE01-9F40-B42D-981879D2A4C3}"/>
              </a:ext>
            </a:extLst>
          </p:cNvPr>
          <p:cNvSpPr>
            <a:spLocks noGrp="1"/>
          </p:cNvSpPr>
          <p:nvPr>
            <p:ph type="ctrTitle"/>
          </p:nvPr>
        </p:nvSpPr>
        <p:spPr>
          <a:xfrm>
            <a:off x="957273" y="3853125"/>
            <a:ext cx="9143999" cy="660171"/>
          </a:xfrm>
          <a:prstGeom prst="rect">
            <a:avLst/>
          </a:prstGeom>
        </p:spPr>
        <p:txBody>
          <a:bodyPr anchor="t" anchorCtr="0"/>
          <a:lstStyle>
            <a:lvl1pPr algn="l">
              <a:defRPr sz="4500" b="1">
                <a:solidFill>
                  <a:schemeClr val="bg2"/>
                </a:solidFill>
                <a:latin typeface="Tahoma" panose="020B0604030504040204" pitchFamily="34" charset="0"/>
                <a:ea typeface="Tahoma" panose="020B0604030504040204" pitchFamily="34" charset="0"/>
                <a:cs typeface="Tahoma" panose="020B0604030504040204" pitchFamily="34" charset="0"/>
              </a:defRPr>
            </a:lvl1pPr>
          </a:lstStyle>
          <a:p>
            <a:r>
              <a:rPr lang="en-US"/>
              <a:t>Click to edit Master title style</a:t>
            </a:r>
          </a:p>
        </p:txBody>
      </p:sp>
      <p:pic>
        <p:nvPicPr>
          <p:cNvPr id="13" name="Graphic 12">
            <a:extLst>
              <a:ext uri="{FF2B5EF4-FFF2-40B4-BE49-F238E27FC236}">
                <a16:creationId xmlns:a16="http://schemas.microsoft.com/office/drawing/2014/main" id="{A0FB12DA-53D5-A041-A382-0D8BFE86F8C7}"/>
              </a:ext>
            </a:extLst>
          </p:cNvPr>
          <p:cNvPicPr>
            <a:picLocks noChangeAspect="1"/>
          </p:cNvPicPr>
          <p:nvPr userDrawn="1"/>
        </p:nvPicPr>
        <p:blipFill>
          <a:blip>
            <a:extLst>
              <a:ext uri="{96DAC541-7B7A-43D3-8B79-37D633B846F1}">
                <asvg:svgBlip xmlns:asvg="http://schemas.microsoft.com/office/drawing/2016/SVG/main" r:embed="rId4"/>
              </a:ext>
            </a:extLst>
          </a:blip>
          <a:srcRect/>
          <a:stretch/>
        </p:blipFill>
        <p:spPr>
          <a:xfrm>
            <a:off x="9516979" y="775699"/>
            <a:ext cx="2675021" cy="315139"/>
          </a:xfrm>
          <a:prstGeom prst="rect">
            <a:avLst/>
          </a:prstGeom>
        </p:spPr>
      </p:pic>
      <p:sp>
        <p:nvSpPr>
          <p:cNvPr id="14" name="Subtitle 2">
            <a:extLst>
              <a:ext uri="{FF2B5EF4-FFF2-40B4-BE49-F238E27FC236}">
                <a16:creationId xmlns:a16="http://schemas.microsoft.com/office/drawing/2014/main" id="{33EBC9D1-1DA5-1B44-9266-C53077B3DFFA}"/>
              </a:ext>
            </a:extLst>
          </p:cNvPr>
          <p:cNvSpPr>
            <a:spLocks noGrp="1"/>
          </p:cNvSpPr>
          <p:nvPr>
            <p:ph type="subTitle" idx="1"/>
          </p:nvPr>
        </p:nvSpPr>
        <p:spPr>
          <a:xfrm>
            <a:off x="956140" y="4519428"/>
            <a:ext cx="9144000" cy="536329"/>
          </a:xfrm>
          <a:prstGeom prst="rect">
            <a:avLst/>
          </a:prstGeom>
        </p:spPr>
        <p:txBody>
          <a:bodyPr/>
          <a:lstStyle>
            <a:lvl1pPr marL="0" indent="0" algn="l">
              <a:buNone/>
              <a:defRPr sz="2500">
                <a:solidFill>
                  <a:schemeClr val="bg1">
                    <a:lumMod val="40000"/>
                    <a:lumOff val="60000"/>
                  </a:schemeClr>
                </a:solidFill>
                <a:latin typeface="Tahoma" panose="020B0604030504040204" pitchFamily="34" charset="0"/>
                <a:ea typeface="Tahoma" panose="020B0604030504040204" pitchFamily="34" charset="0"/>
                <a:cs typeface="Tahoma" panose="020B060403050404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5324442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Slide  Option#1 with Image">
    <p:bg>
      <p:bgPr>
        <a:solidFill>
          <a:schemeClr val="bg2"/>
        </a:solidFill>
        <a:effectLst/>
      </p:bgPr>
    </p:bg>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26908BEE-A825-DA40-9969-1B02C84DEF7A}"/>
              </a:ext>
            </a:extLst>
          </p:cNvPr>
          <p:cNvSpPr>
            <a:spLocks noGrp="1"/>
          </p:cNvSpPr>
          <p:nvPr>
            <p:ph type="title" hasCustomPrompt="1"/>
          </p:nvPr>
        </p:nvSpPr>
        <p:spPr>
          <a:xfrm>
            <a:off x="704800" y="1207003"/>
            <a:ext cx="5874026" cy="557061"/>
          </a:xfrm>
        </p:spPr>
        <p:txBody>
          <a:bodyPr anchor="t">
            <a:normAutofit/>
          </a:bodyPr>
          <a:lstStyle>
            <a:lvl1pPr>
              <a:defRPr sz="3000">
                <a:solidFill>
                  <a:schemeClr val="tx1"/>
                </a:solidFill>
              </a:defRPr>
            </a:lvl1pPr>
          </a:lstStyle>
          <a:p>
            <a:r>
              <a:rPr lang="en-US"/>
              <a:t>Click to edit title style</a:t>
            </a:r>
          </a:p>
        </p:txBody>
      </p:sp>
      <p:sp>
        <p:nvSpPr>
          <p:cNvPr id="6" name="Subtitle 2">
            <a:extLst>
              <a:ext uri="{FF2B5EF4-FFF2-40B4-BE49-F238E27FC236}">
                <a16:creationId xmlns:a16="http://schemas.microsoft.com/office/drawing/2014/main" id="{B6746524-6D09-2F49-8A69-4823C3DCCD24}"/>
              </a:ext>
            </a:extLst>
          </p:cNvPr>
          <p:cNvSpPr>
            <a:spLocks noGrp="1"/>
          </p:cNvSpPr>
          <p:nvPr>
            <p:ph type="subTitle" idx="1" hasCustomPrompt="1"/>
          </p:nvPr>
        </p:nvSpPr>
        <p:spPr>
          <a:xfrm>
            <a:off x="5390087" y="314797"/>
            <a:ext cx="6120159" cy="315424"/>
          </a:xfrm>
        </p:spPr>
        <p:txBody>
          <a:bodyPr>
            <a:noAutofit/>
          </a:bodyPr>
          <a:lstStyle>
            <a:lvl1pPr marL="0" indent="0" algn="r">
              <a:buNone/>
              <a:defRPr sz="12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Presentation Title</a:t>
            </a:r>
          </a:p>
        </p:txBody>
      </p:sp>
      <p:sp>
        <p:nvSpPr>
          <p:cNvPr id="7" name="Slide Number Placeholder 6">
            <a:extLst>
              <a:ext uri="{FF2B5EF4-FFF2-40B4-BE49-F238E27FC236}">
                <a16:creationId xmlns:a16="http://schemas.microsoft.com/office/drawing/2014/main" id="{03FFED15-3BC1-9A47-85CA-5740A1734EB2}"/>
              </a:ext>
            </a:extLst>
          </p:cNvPr>
          <p:cNvSpPr txBox="1">
            <a:spLocks/>
          </p:cNvSpPr>
          <p:nvPr userDrawn="1"/>
        </p:nvSpPr>
        <p:spPr>
          <a:xfrm>
            <a:off x="11377612" y="248602"/>
            <a:ext cx="814388" cy="365125"/>
          </a:xfrm>
          <a:prstGeom prst="rect">
            <a:avLst/>
          </a:prstGeom>
          <a:noFill/>
        </p:spPr>
        <p:txBody>
          <a:bodyPr vert="horz" lIns="91440" tIns="45720" rIns="91440" bIns="45720" rtlCol="0" anchor="ctr"/>
          <a:lstStyle>
            <a:defPPr>
              <a:defRPr lang="en-US"/>
            </a:defPPr>
            <a:lvl1pPr marL="0" algn="ctr" defTabSz="914400" rtl="0" eaLnBrk="1" latinLnBrk="0" hangingPunct="1">
              <a:defRPr sz="1600" b="0" i="0" kern="1200">
                <a:solidFill>
                  <a:schemeClr val="bg1"/>
                </a:solidFill>
                <a:latin typeface="Tahoma" panose="020B0604030504040204" pitchFamily="34" charset="0"/>
                <a:ea typeface="Tahoma" panose="020B0604030504040204" pitchFamily="34" charset="0"/>
                <a:cs typeface="Tahom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91C39B3-71BA-C04A-8F90-02179B3D98C0}" type="slidenum">
              <a:rPr lang="en-US" smtClean="0"/>
              <a:pPr/>
              <a:t>‹#›</a:t>
            </a:fld>
            <a:endParaRPr lang="en-US"/>
          </a:p>
        </p:txBody>
      </p:sp>
      <p:pic>
        <p:nvPicPr>
          <p:cNvPr id="9" name="Graphic 8">
            <a:extLst>
              <a:ext uri="{FF2B5EF4-FFF2-40B4-BE49-F238E27FC236}">
                <a16:creationId xmlns:a16="http://schemas.microsoft.com/office/drawing/2014/main" id="{5893B466-AD85-BF49-A335-E853DA6FB0A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001500" y="306705"/>
            <a:ext cx="177800" cy="248920"/>
          </a:xfrm>
          <a:prstGeom prst="rect">
            <a:avLst/>
          </a:prstGeom>
        </p:spPr>
      </p:pic>
      <p:pic>
        <p:nvPicPr>
          <p:cNvPr id="12" name="Graphic 11">
            <a:extLst>
              <a:ext uri="{FF2B5EF4-FFF2-40B4-BE49-F238E27FC236}">
                <a16:creationId xmlns:a16="http://schemas.microsoft.com/office/drawing/2014/main" id="{35B54686-6941-2541-B096-11C08B1BDEA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88949" y="2051"/>
            <a:ext cx="236191" cy="6858000"/>
          </a:xfrm>
          <a:prstGeom prst="rect">
            <a:avLst/>
          </a:prstGeom>
        </p:spPr>
      </p:pic>
      <p:pic>
        <p:nvPicPr>
          <p:cNvPr id="13" name="Graphic 12">
            <a:extLst>
              <a:ext uri="{FF2B5EF4-FFF2-40B4-BE49-F238E27FC236}">
                <a16:creationId xmlns:a16="http://schemas.microsoft.com/office/drawing/2014/main" id="{A8808B5C-1859-104A-826C-D3A463154C6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50206" y="250603"/>
            <a:ext cx="313679" cy="329298"/>
          </a:xfrm>
          <a:prstGeom prst="rect">
            <a:avLst/>
          </a:prstGeom>
        </p:spPr>
      </p:pic>
      <p:sp>
        <p:nvSpPr>
          <p:cNvPr id="3" name="Text Placeholder 2">
            <a:extLst>
              <a:ext uri="{FF2B5EF4-FFF2-40B4-BE49-F238E27FC236}">
                <a16:creationId xmlns:a16="http://schemas.microsoft.com/office/drawing/2014/main" id="{5B03E28E-79CD-8A43-B374-EF35B43959A1}"/>
              </a:ext>
            </a:extLst>
          </p:cNvPr>
          <p:cNvSpPr>
            <a:spLocks noGrp="1"/>
          </p:cNvSpPr>
          <p:nvPr>
            <p:ph type="body" sz="quarter" idx="10"/>
          </p:nvPr>
        </p:nvSpPr>
        <p:spPr>
          <a:xfrm>
            <a:off x="833439" y="1878013"/>
            <a:ext cx="5745388" cy="37544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E"/>
          </a:p>
        </p:txBody>
      </p:sp>
      <p:sp>
        <p:nvSpPr>
          <p:cNvPr id="14" name="Picture Placeholder 13">
            <a:extLst>
              <a:ext uri="{FF2B5EF4-FFF2-40B4-BE49-F238E27FC236}">
                <a16:creationId xmlns:a16="http://schemas.microsoft.com/office/drawing/2014/main" id="{83E722FE-E668-314D-A8DF-BAA81BA98D5B}"/>
              </a:ext>
            </a:extLst>
          </p:cNvPr>
          <p:cNvSpPr>
            <a:spLocks noGrp="1"/>
          </p:cNvSpPr>
          <p:nvPr>
            <p:ph type="pic" sz="quarter" idx="11"/>
          </p:nvPr>
        </p:nvSpPr>
        <p:spPr>
          <a:xfrm>
            <a:off x="6758486" y="1206500"/>
            <a:ext cx="4619127" cy="4445000"/>
          </a:xfrm>
        </p:spPr>
        <p:txBody>
          <a:bodyPr/>
          <a:lstStyle>
            <a:lvl1pPr marL="0" indent="0">
              <a:buNone/>
              <a:defRPr/>
            </a:lvl1pPr>
          </a:lstStyle>
          <a:p>
            <a:r>
              <a:rPr lang="en-US"/>
              <a:t>Click icon to add picture</a:t>
            </a:r>
            <a:endParaRPr lang="en-AE"/>
          </a:p>
        </p:txBody>
      </p:sp>
    </p:spTree>
    <p:extLst>
      <p:ext uri="{BB962C8B-B14F-4D97-AF65-F5344CB8AC3E}">
        <p14:creationId xmlns:p14="http://schemas.microsoft.com/office/powerpoint/2010/main" val="28438903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ntent Slide  Option#2 with Graph /Data">
    <p:bg>
      <p:bgPr>
        <a:solidFill>
          <a:schemeClr val="bg2"/>
        </a:solidFill>
        <a:effectLst/>
      </p:bgPr>
    </p:bg>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26908BEE-A825-DA40-9969-1B02C84DEF7A}"/>
              </a:ext>
            </a:extLst>
          </p:cNvPr>
          <p:cNvSpPr>
            <a:spLocks noGrp="1"/>
          </p:cNvSpPr>
          <p:nvPr>
            <p:ph type="title" hasCustomPrompt="1"/>
          </p:nvPr>
        </p:nvSpPr>
        <p:spPr>
          <a:xfrm>
            <a:off x="704800" y="1207003"/>
            <a:ext cx="5874026" cy="557061"/>
          </a:xfrm>
        </p:spPr>
        <p:txBody>
          <a:bodyPr anchor="t">
            <a:normAutofit/>
          </a:bodyPr>
          <a:lstStyle>
            <a:lvl1pPr>
              <a:defRPr sz="3000">
                <a:solidFill>
                  <a:schemeClr val="tx1"/>
                </a:solidFill>
              </a:defRPr>
            </a:lvl1pPr>
          </a:lstStyle>
          <a:p>
            <a:r>
              <a:rPr lang="en-US"/>
              <a:t>Click to Add Graph/Data</a:t>
            </a:r>
          </a:p>
        </p:txBody>
      </p:sp>
      <p:sp>
        <p:nvSpPr>
          <p:cNvPr id="6" name="Subtitle 2">
            <a:extLst>
              <a:ext uri="{FF2B5EF4-FFF2-40B4-BE49-F238E27FC236}">
                <a16:creationId xmlns:a16="http://schemas.microsoft.com/office/drawing/2014/main" id="{B6746524-6D09-2F49-8A69-4823C3DCCD24}"/>
              </a:ext>
            </a:extLst>
          </p:cNvPr>
          <p:cNvSpPr>
            <a:spLocks noGrp="1"/>
          </p:cNvSpPr>
          <p:nvPr>
            <p:ph type="subTitle" idx="1" hasCustomPrompt="1"/>
          </p:nvPr>
        </p:nvSpPr>
        <p:spPr>
          <a:xfrm>
            <a:off x="5390087" y="314797"/>
            <a:ext cx="6120159" cy="315424"/>
          </a:xfrm>
        </p:spPr>
        <p:txBody>
          <a:bodyPr>
            <a:noAutofit/>
          </a:bodyPr>
          <a:lstStyle>
            <a:lvl1pPr marL="0" indent="0" algn="r">
              <a:buNone/>
              <a:defRPr sz="12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Presentation Title</a:t>
            </a:r>
          </a:p>
        </p:txBody>
      </p:sp>
      <p:sp>
        <p:nvSpPr>
          <p:cNvPr id="7" name="Slide Number Placeholder 6">
            <a:extLst>
              <a:ext uri="{FF2B5EF4-FFF2-40B4-BE49-F238E27FC236}">
                <a16:creationId xmlns:a16="http://schemas.microsoft.com/office/drawing/2014/main" id="{03FFED15-3BC1-9A47-85CA-5740A1734EB2}"/>
              </a:ext>
            </a:extLst>
          </p:cNvPr>
          <p:cNvSpPr txBox="1">
            <a:spLocks/>
          </p:cNvSpPr>
          <p:nvPr userDrawn="1"/>
        </p:nvSpPr>
        <p:spPr>
          <a:xfrm>
            <a:off x="11377612" y="248602"/>
            <a:ext cx="814388" cy="365125"/>
          </a:xfrm>
          <a:prstGeom prst="rect">
            <a:avLst/>
          </a:prstGeom>
          <a:noFill/>
        </p:spPr>
        <p:txBody>
          <a:bodyPr vert="horz" lIns="91440" tIns="45720" rIns="91440" bIns="45720" rtlCol="0" anchor="ctr"/>
          <a:lstStyle>
            <a:defPPr>
              <a:defRPr lang="en-US"/>
            </a:defPPr>
            <a:lvl1pPr marL="0" algn="ctr" defTabSz="914400" rtl="0" eaLnBrk="1" latinLnBrk="0" hangingPunct="1">
              <a:defRPr sz="1600" b="0" i="0" kern="1200">
                <a:solidFill>
                  <a:schemeClr val="bg1"/>
                </a:solidFill>
                <a:latin typeface="Tahoma" panose="020B0604030504040204" pitchFamily="34" charset="0"/>
                <a:ea typeface="Tahoma" panose="020B0604030504040204" pitchFamily="34" charset="0"/>
                <a:cs typeface="Tahom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91C39B3-71BA-C04A-8F90-02179B3D98C0}" type="slidenum">
              <a:rPr lang="en-US" smtClean="0"/>
              <a:pPr/>
              <a:t>‹#›</a:t>
            </a:fld>
            <a:endParaRPr lang="en-US"/>
          </a:p>
        </p:txBody>
      </p:sp>
      <p:pic>
        <p:nvPicPr>
          <p:cNvPr id="9" name="Graphic 8">
            <a:extLst>
              <a:ext uri="{FF2B5EF4-FFF2-40B4-BE49-F238E27FC236}">
                <a16:creationId xmlns:a16="http://schemas.microsoft.com/office/drawing/2014/main" id="{5893B466-AD85-BF49-A335-E853DA6FB0A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001500" y="306705"/>
            <a:ext cx="177800" cy="248920"/>
          </a:xfrm>
          <a:prstGeom prst="rect">
            <a:avLst/>
          </a:prstGeom>
        </p:spPr>
      </p:pic>
      <p:pic>
        <p:nvPicPr>
          <p:cNvPr id="12" name="Graphic 11">
            <a:extLst>
              <a:ext uri="{FF2B5EF4-FFF2-40B4-BE49-F238E27FC236}">
                <a16:creationId xmlns:a16="http://schemas.microsoft.com/office/drawing/2014/main" id="{35B54686-6941-2541-B096-11C08B1BDEA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88949" y="2051"/>
            <a:ext cx="236191" cy="6858000"/>
          </a:xfrm>
          <a:prstGeom prst="rect">
            <a:avLst/>
          </a:prstGeom>
        </p:spPr>
      </p:pic>
      <p:pic>
        <p:nvPicPr>
          <p:cNvPr id="13" name="Graphic 12">
            <a:extLst>
              <a:ext uri="{FF2B5EF4-FFF2-40B4-BE49-F238E27FC236}">
                <a16:creationId xmlns:a16="http://schemas.microsoft.com/office/drawing/2014/main" id="{A8808B5C-1859-104A-826C-D3A463154C6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50206" y="250603"/>
            <a:ext cx="313679" cy="329298"/>
          </a:xfrm>
          <a:prstGeom prst="rect">
            <a:avLst/>
          </a:prstGeom>
        </p:spPr>
      </p:pic>
      <p:sp>
        <p:nvSpPr>
          <p:cNvPr id="3" name="Text Placeholder 2">
            <a:extLst>
              <a:ext uri="{FF2B5EF4-FFF2-40B4-BE49-F238E27FC236}">
                <a16:creationId xmlns:a16="http://schemas.microsoft.com/office/drawing/2014/main" id="{5B03E28E-79CD-8A43-B374-EF35B43959A1}"/>
              </a:ext>
            </a:extLst>
          </p:cNvPr>
          <p:cNvSpPr>
            <a:spLocks noGrp="1"/>
          </p:cNvSpPr>
          <p:nvPr>
            <p:ph type="body" sz="quarter" idx="10" hasCustomPrompt="1"/>
          </p:nvPr>
        </p:nvSpPr>
        <p:spPr>
          <a:xfrm>
            <a:off x="707473" y="1878013"/>
            <a:ext cx="4054150" cy="3754437"/>
          </a:xfrm>
        </p:spPr>
        <p:txBody>
          <a:bodyPr>
            <a:normAutofit/>
          </a:bodyPr>
          <a:lstStyle>
            <a:lvl1pPr marL="0" indent="0" algn="l">
              <a:lnSpc>
                <a:spcPct val="95000"/>
              </a:lnSpc>
              <a:buFontTx/>
              <a:buNone/>
              <a:defRPr sz="2000"/>
            </a:lvl1pPr>
            <a:lvl2pPr marL="457200" indent="0" algn="l">
              <a:buFontTx/>
              <a:buNone/>
              <a:defRPr/>
            </a:lvl2pPr>
            <a:lvl3pPr marL="914400" indent="0" algn="l">
              <a:buFontTx/>
              <a:buNone/>
              <a:defRPr/>
            </a:lvl3pPr>
            <a:lvl4pPr marL="1371600" indent="0" algn="l">
              <a:buFontTx/>
              <a:buNone/>
              <a:defRPr/>
            </a:lvl4pPr>
            <a:lvl5pPr marL="1828800" indent="0" algn="l">
              <a:buFontTx/>
              <a:buNone/>
              <a:defRPr/>
            </a:lvl5pPr>
          </a:lstStyle>
          <a:p>
            <a:pPr lvl="0"/>
            <a:r>
              <a:rPr lang="en-AE"/>
              <a:t>Add your </a:t>
            </a:r>
            <a:r>
              <a:rPr lang="en-US"/>
              <a:t>An analytical paragraph,  is a form of descriptive writing which is written on the basis of a given chart, graph, data, outline, clues, table etc.</a:t>
            </a:r>
            <a:endParaRPr lang="en-AE"/>
          </a:p>
        </p:txBody>
      </p:sp>
      <p:sp>
        <p:nvSpPr>
          <p:cNvPr id="4" name="Chart Placeholder 3">
            <a:extLst>
              <a:ext uri="{FF2B5EF4-FFF2-40B4-BE49-F238E27FC236}">
                <a16:creationId xmlns:a16="http://schemas.microsoft.com/office/drawing/2014/main" id="{62D93862-01E6-C24F-A335-F79089BEC504}"/>
              </a:ext>
            </a:extLst>
          </p:cNvPr>
          <p:cNvSpPr>
            <a:spLocks noGrp="1"/>
          </p:cNvSpPr>
          <p:nvPr>
            <p:ph type="chart" sz="quarter" idx="11"/>
          </p:nvPr>
        </p:nvSpPr>
        <p:spPr>
          <a:xfrm>
            <a:off x="5138738" y="1878013"/>
            <a:ext cx="6053137" cy="3754437"/>
          </a:xfrm>
        </p:spPr>
        <p:txBody>
          <a:bodyPr/>
          <a:lstStyle/>
          <a:p>
            <a:r>
              <a:rPr lang="en-US"/>
              <a:t>Click icon to add chart</a:t>
            </a:r>
            <a:endParaRPr lang="en-AE"/>
          </a:p>
        </p:txBody>
      </p:sp>
    </p:spTree>
    <p:extLst>
      <p:ext uri="{BB962C8B-B14F-4D97-AF65-F5344CB8AC3E}">
        <p14:creationId xmlns:p14="http://schemas.microsoft.com/office/powerpoint/2010/main" val="2895762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Content Slide  Option#3 with Table">
    <p:bg>
      <p:bgPr>
        <a:solidFill>
          <a:schemeClr val="bg2"/>
        </a:solidFill>
        <a:effectLst/>
      </p:bgPr>
    </p:bg>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26908BEE-A825-DA40-9969-1B02C84DEF7A}"/>
              </a:ext>
            </a:extLst>
          </p:cNvPr>
          <p:cNvSpPr>
            <a:spLocks noGrp="1"/>
          </p:cNvSpPr>
          <p:nvPr>
            <p:ph type="title" hasCustomPrompt="1"/>
          </p:nvPr>
        </p:nvSpPr>
        <p:spPr>
          <a:xfrm>
            <a:off x="704800" y="1207003"/>
            <a:ext cx="5874026" cy="557061"/>
          </a:xfrm>
        </p:spPr>
        <p:txBody>
          <a:bodyPr anchor="t">
            <a:normAutofit/>
          </a:bodyPr>
          <a:lstStyle>
            <a:lvl1pPr>
              <a:defRPr sz="3000">
                <a:solidFill>
                  <a:schemeClr val="tx1"/>
                </a:solidFill>
              </a:defRPr>
            </a:lvl1pPr>
          </a:lstStyle>
          <a:p>
            <a:r>
              <a:rPr lang="en-US"/>
              <a:t>Click to Table Title</a:t>
            </a:r>
          </a:p>
        </p:txBody>
      </p:sp>
      <p:sp>
        <p:nvSpPr>
          <p:cNvPr id="6" name="Subtitle 2">
            <a:extLst>
              <a:ext uri="{FF2B5EF4-FFF2-40B4-BE49-F238E27FC236}">
                <a16:creationId xmlns:a16="http://schemas.microsoft.com/office/drawing/2014/main" id="{B6746524-6D09-2F49-8A69-4823C3DCCD24}"/>
              </a:ext>
            </a:extLst>
          </p:cNvPr>
          <p:cNvSpPr>
            <a:spLocks noGrp="1"/>
          </p:cNvSpPr>
          <p:nvPr>
            <p:ph type="subTitle" idx="1" hasCustomPrompt="1"/>
          </p:nvPr>
        </p:nvSpPr>
        <p:spPr>
          <a:xfrm>
            <a:off x="5390087" y="314797"/>
            <a:ext cx="6120159" cy="315424"/>
          </a:xfrm>
        </p:spPr>
        <p:txBody>
          <a:bodyPr>
            <a:noAutofit/>
          </a:bodyPr>
          <a:lstStyle>
            <a:lvl1pPr marL="0" indent="0" algn="r">
              <a:buNone/>
              <a:defRPr sz="1200">
                <a:solidFill>
                  <a:schemeClr val="accent6"/>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Presentation Title</a:t>
            </a:r>
          </a:p>
        </p:txBody>
      </p:sp>
      <p:sp>
        <p:nvSpPr>
          <p:cNvPr id="7" name="Slide Number Placeholder 6">
            <a:extLst>
              <a:ext uri="{FF2B5EF4-FFF2-40B4-BE49-F238E27FC236}">
                <a16:creationId xmlns:a16="http://schemas.microsoft.com/office/drawing/2014/main" id="{03FFED15-3BC1-9A47-85CA-5740A1734EB2}"/>
              </a:ext>
            </a:extLst>
          </p:cNvPr>
          <p:cNvSpPr txBox="1">
            <a:spLocks/>
          </p:cNvSpPr>
          <p:nvPr userDrawn="1"/>
        </p:nvSpPr>
        <p:spPr>
          <a:xfrm>
            <a:off x="11377612" y="248602"/>
            <a:ext cx="814388" cy="365125"/>
          </a:xfrm>
          <a:prstGeom prst="rect">
            <a:avLst/>
          </a:prstGeom>
          <a:noFill/>
        </p:spPr>
        <p:txBody>
          <a:bodyPr vert="horz" lIns="91440" tIns="45720" rIns="91440" bIns="45720" rtlCol="0" anchor="ctr"/>
          <a:lstStyle>
            <a:defPPr>
              <a:defRPr lang="en-US"/>
            </a:defPPr>
            <a:lvl1pPr marL="0" algn="ctr" defTabSz="914400" rtl="0" eaLnBrk="1" latinLnBrk="0" hangingPunct="1">
              <a:defRPr sz="1600" b="0" i="0" kern="1200">
                <a:solidFill>
                  <a:schemeClr val="bg1"/>
                </a:solidFill>
                <a:latin typeface="Tahoma" panose="020B0604030504040204" pitchFamily="34" charset="0"/>
                <a:ea typeface="Tahoma" panose="020B0604030504040204" pitchFamily="34" charset="0"/>
                <a:cs typeface="Tahoma" panose="020B060403050404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91C39B3-71BA-C04A-8F90-02179B3D98C0}" type="slidenum">
              <a:rPr lang="en-US" smtClean="0"/>
              <a:pPr/>
              <a:t>‹#›</a:t>
            </a:fld>
            <a:endParaRPr lang="en-US"/>
          </a:p>
        </p:txBody>
      </p:sp>
      <p:pic>
        <p:nvPicPr>
          <p:cNvPr id="9" name="Graphic 8">
            <a:extLst>
              <a:ext uri="{FF2B5EF4-FFF2-40B4-BE49-F238E27FC236}">
                <a16:creationId xmlns:a16="http://schemas.microsoft.com/office/drawing/2014/main" id="{5893B466-AD85-BF49-A335-E853DA6FB0A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2001500" y="306705"/>
            <a:ext cx="177800" cy="248920"/>
          </a:xfrm>
          <a:prstGeom prst="rect">
            <a:avLst/>
          </a:prstGeom>
        </p:spPr>
      </p:pic>
      <p:pic>
        <p:nvPicPr>
          <p:cNvPr id="12" name="Graphic 11">
            <a:extLst>
              <a:ext uri="{FF2B5EF4-FFF2-40B4-BE49-F238E27FC236}">
                <a16:creationId xmlns:a16="http://schemas.microsoft.com/office/drawing/2014/main" id="{35B54686-6941-2541-B096-11C08B1BDEA0}"/>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288949" y="2051"/>
            <a:ext cx="236191" cy="6858000"/>
          </a:xfrm>
          <a:prstGeom prst="rect">
            <a:avLst/>
          </a:prstGeom>
        </p:spPr>
      </p:pic>
      <p:pic>
        <p:nvPicPr>
          <p:cNvPr id="13" name="Graphic 12">
            <a:extLst>
              <a:ext uri="{FF2B5EF4-FFF2-40B4-BE49-F238E27FC236}">
                <a16:creationId xmlns:a16="http://schemas.microsoft.com/office/drawing/2014/main" id="{A8808B5C-1859-104A-826C-D3A463154C6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250206" y="250603"/>
            <a:ext cx="313679" cy="329298"/>
          </a:xfrm>
          <a:prstGeom prst="rect">
            <a:avLst/>
          </a:prstGeom>
        </p:spPr>
      </p:pic>
      <p:sp>
        <p:nvSpPr>
          <p:cNvPr id="3" name="Text Placeholder 2">
            <a:extLst>
              <a:ext uri="{FF2B5EF4-FFF2-40B4-BE49-F238E27FC236}">
                <a16:creationId xmlns:a16="http://schemas.microsoft.com/office/drawing/2014/main" id="{5B03E28E-79CD-8A43-B374-EF35B43959A1}"/>
              </a:ext>
            </a:extLst>
          </p:cNvPr>
          <p:cNvSpPr>
            <a:spLocks noGrp="1"/>
          </p:cNvSpPr>
          <p:nvPr>
            <p:ph type="body" sz="quarter" idx="10" hasCustomPrompt="1"/>
          </p:nvPr>
        </p:nvSpPr>
        <p:spPr>
          <a:xfrm>
            <a:off x="704800" y="1878013"/>
            <a:ext cx="4054150" cy="3754437"/>
          </a:xfrm>
        </p:spPr>
        <p:txBody>
          <a:bodyPr>
            <a:noAutofit/>
          </a:bodyPr>
          <a:lstStyle>
            <a:lvl1pPr marL="0" indent="0" algn="l">
              <a:lnSpc>
                <a:spcPct val="95000"/>
              </a:lnSpc>
              <a:buFontTx/>
              <a:buNone/>
              <a:defRPr lang="en-US" sz="2000" b="0" i="0" smtClean="0">
                <a:effectLst/>
              </a:defRPr>
            </a:lvl1pPr>
            <a:lvl2pPr marL="457200" indent="0" algn="l">
              <a:buFontTx/>
              <a:buNone/>
              <a:defRPr/>
            </a:lvl2pPr>
            <a:lvl3pPr marL="914400" indent="0" algn="l">
              <a:buFontTx/>
              <a:buNone/>
              <a:defRPr/>
            </a:lvl3pPr>
            <a:lvl4pPr marL="1371600" indent="0" algn="l">
              <a:buFontTx/>
              <a:buNone/>
              <a:defRPr/>
            </a:lvl4pPr>
            <a:lvl5pPr marL="1828800" indent="0" algn="l">
              <a:buFontTx/>
              <a:buNone/>
              <a:defRPr/>
            </a:lvl5pPr>
          </a:lstStyle>
          <a:p>
            <a:pPr lvl="0"/>
            <a:r>
              <a:rPr lang="en-US"/>
              <a:t>A Table refers to any data which is presented in orderly rows across and/or down the page, often enclosed within borders. A Figure refers to any other form of presentation such as a bar or pie chart, a graph, a diagram, a map, a photograph, a line drawing or a sample of material.</a:t>
            </a:r>
            <a:endParaRPr lang="en-AE"/>
          </a:p>
        </p:txBody>
      </p:sp>
      <p:sp>
        <p:nvSpPr>
          <p:cNvPr id="8" name="Table Placeholder 7">
            <a:extLst>
              <a:ext uri="{FF2B5EF4-FFF2-40B4-BE49-F238E27FC236}">
                <a16:creationId xmlns:a16="http://schemas.microsoft.com/office/drawing/2014/main" id="{78A247DE-41CC-5245-986E-449D869DC74D}"/>
              </a:ext>
            </a:extLst>
          </p:cNvPr>
          <p:cNvSpPr>
            <a:spLocks noGrp="1"/>
          </p:cNvSpPr>
          <p:nvPr>
            <p:ph type="tbl" sz="quarter" idx="11"/>
          </p:nvPr>
        </p:nvSpPr>
        <p:spPr>
          <a:xfrm>
            <a:off x="5154613" y="1878013"/>
            <a:ext cx="6356350" cy="3754437"/>
          </a:xfrm>
        </p:spPr>
        <p:txBody>
          <a:bodyPr/>
          <a:lstStyle/>
          <a:p>
            <a:r>
              <a:rPr lang="en-US"/>
              <a:t>Click icon to add table</a:t>
            </a:r>
            <a:endParaRPr lang="en-AE"/>
          </a:p>
        </p:txBody>
      </p:sp>
    </p:spTree>
    <p:extLst>
      <p:ext uri="{BB962C8B-B14F-4D97-AF65-F5344CB8AC3E}">
        <p14:creationId xmlns:p14="http://schemas.microsoft.com/office/powerpoint/2010/main" val="50089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Slide Option#4 with Infographic">
    <p:bg>
      <p:bgPr>
        <a:solidFill>
          <a:schemeClr val="bg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C46900-ACA7-B546-8A78-DFF39C7FE4BE}"/>
              </a:ext>
            </a:extLst>
          </p:cNvPr>
          <p:cNvSpPr>
            <a:spLocks noGrp="1"/>
          </p:cNvSpPr>
          <p:nvPr>
            <p:ph type="title" hasCustomPrompt="1"/>
          </p:nvPr>
        </p:nvSpPr>
        <p:spPr>
          <a:xfrm>
            <a:off x="704800" y="1207004"/>
            <a:ext cx="9770717" cy="597928"/>
          </a:xfrm>
        </p:spPr>
        <p:txBody>
          <a:bodyPr anchor="t">
            <a:normAutofit/>
          </a:bodyPr>
          <a:lstStyle>
            <a:lvl1pPr>
              <a:defRPr sz="3000">
                <a:solidFill>
                  <a:schemeClr val="tx1"/>
                </a:solidFill>
              </a:defRPr>
            </a:lvl1pPr>
          </a:lstStyle>
          <a:p>
            <a:r>
              <a:rPr lang="en-US"/>
              <a:t>Click to Add Icons/Infographics Title</a:t>
            </a:r>
          </a:p>
        </p:txBody>
      </p:sp>
      <p:pic>
        <p:nvPicPr>
          <p:cNvPr id="10" name="Graphic 9">
            <a:extLst>
              <a:ext uri="{FF2B5EF4-FFF2-40B4-BE49-F238E27FC236}">
                <a16:creationId xmlns:a16="http://schemas.microsoft.com/office/drawing/2014/main" id="{C71104D3-4DE6-8346-AD98-5A101FEABA6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6200000" flipH="1">
            <a:off x="11501786" y="73025"/>
            <a:ext cx="406400" cy="260350"/>
          </a:xfrm>
          <a:prstGeom prst="rect">
            <a:avLst/>
          </a:prstGeom>
        </p:spPr>
      </p:pic>
      <p:sp>
        <p:nvSpPr>
          <p:cNvPr id="11" name="Slide Number Placeholder 6">
            <a:extLst>
              <a:ext uri="{FF2B5EF4-FFF2-40B4-BE49-F238E27FC236}">
                <a16:creationId xmlns:a16="http://schemas.microsoft.com/office/drawing/2014/main" id="{7957831C-872D-CF44-8DFE-BC74ADA53052}"/>
              </a:ext>
            </a:extLst>
          </p:cNvPr>
          <p:cNvSpPr>
            <a:spLocks noGrp="1"/>
          </p:cNvSpPr>
          <p:nvPr>
            <p:ph type="sldNum" sz="quarter" idx="12"/>
          </p:nvPr>
        </p:nvSpPr>
        <p:spPr>
          <a:xfrm>
            <a:off x="11297792" y="406400"/>
            <a:ext cx="814388" cy="365125"/>
          </a:xfrm>
          <a:noFill/>
        </p:spPr>
        <p:txBody>
          <a:bodyPr/>
          <a:lstStyle>
            <a:lvl1pPr algn="ctr">
              <a:defRPr sz="1600">
                <a:solidFill>
                  <a:schemeClr val="bg1"/>
                </a:solidFill>
              </a:defRPr>
            </a:lvl1pPr>
          </a:lstStyle>
          <a:p>
            <a:fld id="{A91C39B3-71BA-C04A-8F90-02179B3D98C0}" type="slidenum">
              <a:rPr lang="en-US" smtClean="0"/>
              <a:pPr/>
              <a:t>‹#›</a:t>
            </a:fld>
            <a:endParaRPr lang="en-US"/>
          </a:p>
        </p:txBody>
      </p:sp>
      <p:pic>
        <p:nvPicPr>
          <p:cNvPr id="12" name="Picture 5">
            <a:extLst>
              <a:ext uri="{FF2B5EF4-FFF2-40B4-BE49-F238E27FC236}">
                <a16:creationId xmlns:a16="http://schemas.microsoft.com/office/drawing/2014/main" id="{810453EF-472B-6940-A88C-A88100363B0F}"/>
              </a:ext>
            </a:extLst>
          </p:cNvPr>
          <p:cNvPicPr>
            <a:picLocks noChangeAspect="1"/>
          </p:cNvPicPr>
          <p:nvPr userDrawn="1"/>
        </p:nvPicPr>
        <p:blipFill>
          <a:blip>
            <a:extLst>
              <a:ext uri="{96DAC541-7B7A-43D3-8B79-37D633B846F1}">
                <asvg:svgBlip xmlns:asvg="http://schemas.microsoft.com/office/drawing/2016/SVG/main" r:embed="rId3"/>
              </a:ext>
            </a:extLst>
          </a:blip>
          <a:srcRect/>
          <a:stretch/>
        </p:blipFill>
        <p:spPr>
          <a:xfrm>
            <a:off x="9982275" y="5759451"/>
            <a:ext cx="2209725" cy="1098549"/>
          </a:xfrm>
          <a:prstGeom prst="rect">
            <a:avLst/>
          </a:prstGeom>
        </p:spPr>
      </p:pic>
      <p:pic>
        <p:nvPicPr>
          <p:cNvPr id="13" name="Graphic 12">
            <a:extLst>
              <a:ext uri="{FF2B5EF4-FFF2-40B4-BE49-F238E27FC236}">
                <a16:creationId xmlns:a16="http://schemas.microsoft.com/office/drawing/2014/main" id="{7051FCF3-192E-C34F-AAE3-E07D038D817C}"/>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11310248" y="6030989"/>
            <a:ext cx="529126" cy="555472"/>
          </a:xfrm>
          <a:prstGeom prst="rect">
            <a:avLst/>
          </a:prstGeom>
        </p:spPr>
      </p:pic>
      <p:sp>
        <p:nvSpPr>
          <p:cNvPr id="8" name="Text Placeholder 2">
            <a:extLst>
              <a:ext uri="{FF2B5EF4-FFF2-40B4-BE49-F238E27FC236}">
                <a16:creationId xmlns:a16="http://schemas.microsoft.com/office/drawing/2014/main" id="{9F5D8C5A-4EF8-D744-8722-B704B694B773}"/>
              </a:ext>
            </a:extLst>
          </p:cNvPr>
          <p:cNvSpPr>
            <a:spLocks noGrp="1"/>
          </p:cNvSpPr>
          <p:nvPr>
            <p:ph type="body" sz="quarter" idx="10" hasCustomPrompt="1"/>
          </p:nvPr>
        </p:nvSpPr>
        <p:spPr>
          <a:xfrm>
            <a:off x="704800" y="1804931"/>
            <a:ext cx="4441187" cy="4423024"/>
          </a:xfrm>
        </p:spPr>
        <p:txBody>
          <a:bodyPr>
            <a:normAutofit/>
          </a:bodyPr>
          <a:lstStyle>
            <a:lvl1pPr marL="0" marR="0" indent="0" algn="l" defTabSz="914400" rtl="0" eaLnBrk="1" fontAlgn="auto" latinLnBrk="0" hangingPunct="1">
              <a:lnSpc>
                <a:spcPct val="95000"/>
              </a:lnSpc>
              <a:spcBef>
                <a:spcPts val="1000"/>
              </a:spcBef>
              <a:spcAft>
                <a:spcPts val="0"/>
              </a:spcAft>
              <a:buClrTx/>
              <a:buSzTx/>
              <a:buFontTx/>
              <a:buNone/>
              <a:tabLst/>
              <a:defRPr lang="en-US" sz="2000" b="0" i="0" smtClean="0">
                <a:effectLst/>
              </a:defRPr>
            </a:lvl1pPr>
            <a:lvl2pPr marL="457200" indent="0" algn="l">
              <a:buFontTx/>
              <a:buNone/>
              <a:defRPr/>
            </a:lvl2pPr>
            <a:lvl3pPr marL="914400" indent="0" algn="l">
              <a:buFontTx/>
              <a:buNone/>
              <a:defRPr/>
            </a:lvl3pPr>
            <a:lvl4pPr marL="1371600" indent="0" algn="l">
              <a:buFontTx/>
              <a:buNone/>
              <a:defRPr/>
            </a:lvl4pPr>
            <a:lvl5pPr marL="1828800" indent="0" algn="l">
              <a:buFontTx/>
              <a:buNone/>
              <a:defRPr/>
            </a:lvl5pPr>
          </a:lstStyle>
          <a:p>
            <a:pPr marL="0" marR="0" lvl="0" indent="0" algn="l" defTabSz="914400" rtl="0" eaLnBrk="1" fontAlgn="auto" latinLnBrk="0" hangingPunct="1">
              <a:lnSpc>
                <a:spcPct val="90000"/>
              </a:lnSpc>
              <a:spcBef>
                <a:spcPts val="1000"/>
              </a:spcBef>
              <a:spcAft>
                <a:spcPts val="0"/>
              </a:spcAft>
              <a:buClrTx/>
              <a:buSzTx/>
              <a:buFontTx/>
              <a:buNone/>
              <a:tabLst/>
              <a:defRPr/>
            </a:pPr>
            <a:r>
              <a:rPr lang="en-AE"/>
              <a:t>Add your </a:t>
            </a:r>
            <a:r>
              <a:rPr lang="en-US"/>
              <a:t>standard icons or infographics. Which are graphic visual representations of information, data, or knowledge intended to present information quickly and clearly. They can improve cognition by utilizing graphics to enhance the human visual system's ability to see patterns and trends.</a:t>
            </a:r>
            <a:endParaRPr lang="en-AE"/>
          </a:p>
        </p:txBody>
      </p:sp>
    </p:spTree>
    <p:extLst>
      <p:ext uri="{BB962C8B-B14F-4D97-AF65-F5344CB8AC3E}">
        <p14:creationId xmlns:p14="http://schemas.microsoft.com/office/powerpoint/2010/main" val="22719748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losing P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70C30162-B6ED-7641-A0EB-BA573B76DA6D}"/>
              </a:ext>
            </a:extLst>
          </p:cNvPr>
          <p:cNvSpPr>
            <a:spLocks noGrp="1"/>
          </p:cNvSpPr>
          <p:nvPr>
            <p:ph type="ctrTitle" hasCustomPrompt="1"/>
          </p:nvPr>
        </p:nvSpPr>
        <p:spPr>
          <a:xfrm>
            <a:off x="0" y="3258981"/>
            <a:ext cx="12192000" cy="1006475"/>
          </a:xfrm>
          <a:prstGeom prst="rect">
            <a:avLst/>
          </a:prstGeom>
        </p:spPr>
        <p:txBody>
          <a:bodyPr anchor="ctr" anchorCtr="0">
            <a:noAutofit/>
          </a:bodyPr>
          <a:lstStyle>
            <a:lvl1pPr algn="ctr">
              <a:defRPr sz="7200" b="1">
                <a:solidFill>
                  <a:schemeClr val="bg2"/>
                </a:solidFill>
                <a:latin typeface="Tahoma" panose="020B0604030504040204" pitchFamily="34" charset="0"/>
                <a:ea typeface="Tahoma" panose="020B0604030504040204" pitchFamily="34" charset="0"/>
                <a:cs typeface="Tahoma" panose="020B0604030504040204" pitchFamily="34" charset="0"/>
              </a:defRPr>
            </a:lvl1pPr>
          </a:lstStyle>
          <a:p>
            <a:r>
              <a:rPr lang="en-US"/>
              <a:t>Thank You</a:t>
            </a:r>
          </a:p>
        </p:txBody>
      </p:sp>
      <p:pic>
        <p:nvPicPr>
          <p:cNvPr id="14" name="Graphic 13">
            <a:extLst>
              <a:ext uri="{FF2B5EF4-FFF2-40B4-BE49-F238E27FC236}">
                <a16:creationId xmlns:a16="http://schemas.microsoft.com/office/drawing/2014/main" id="{C698337F-7DD8-7B42-AE9F-1C15A834B6E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32578" y="1380677"/>
            <a:ext cx="4126844" cy="949829"/>
          </a:xfrm>
          <a:prstGeom prst="rect">
            <a:avLst/>
          </a:prstGeom>
        </p:spPr>
      </p:pic>
      <p:grpSp>
        <p:nvGrpSpPr>
          <p:cNvPr id="3" name="Group 2">
            <a:extLst>
              <a:ext uri="{FF2B5EF4-FFF2-40B4-BE49-F238E27FC236}">
                <a16:creationId xmlns:a16="http://schemas.microsoft.com/office/drawing/2014/main" id="{A15B8D55-1D7F-D740-8AB9-DB23116BE410}"/>
              </a:ext>
            </a:extLst>
          </p:cNvPr>
          <p:cNvGrpSpPr/>
          <p:nvPr userDrawn="1"/>
        </p:nvGrpSpPr>
        <p:grpSpPr>
          <a:xfrm>
            <a:off x="1963849" y="5952904"/>
            <a:ext cx="8456037" cy="400326"/>
            <a:chOff x="1896939" y="5952904"/>
            <a:chExt cx="8456037" cy="400326"/>
          </a:xfrm>
        </p:grpSpPr>
        <p:sp>
          <p:nvSpPr>
            <p:cNvPr id="10" name="TextBox 9">
              <a:extLst>
                <a:ext uri="{FF2B5EF4-FFF2-40B4-BE49-F238E27FC236}">
                  <a16:creationId xmlns:a16="http://schemas.microsoft.com/office/drawing/2014/main" id="{7B799641-4B53-2B4F-86DB-18C35E61614E}"/>
                </a:ext>
              </a:extLst>
            </p:cNvPr>
            <p:cNvSpPr txBox="1"/>
            <p:nvPr userDrawn="1"/>
          </p:nvSpPr>
          <p:spPr>
            <a:xfrm>
              <a:off x="2188374" y="5964056"/>
              <a:ext cx="2659052" cy="353045"/>
            </a:xfrm>
            <a:prstGeom prst="rect">
              <a:avLst/>
            </a:prstGeom>
            <a:noFill/>
          </p:spPr>
          <p:txBody>
            <a:bodyPr wrap="square" rtlCol="0">
              <a:spAutoFit/>
            </a:bodyPr>
            <a:lstStyle/>
            <a:p>
              <a:pPr lvl="0">
                <a:lnSpc>
                  <a:spcPts val="2300"/>
                </a:lnSpc>
              </a:pPr>
              <a:r>
                <a:rPr lang="en-US" sz="1500" b="1">
                  <a:solidFill>
                    <a:schemeClr val="bg2"/>
                  </a:solidFill>
                  <a:latin typeface="Tahoma" panose="020B0604030504040204" pitchFamily="34" charset="0"/>
                  <a:ea typeface="Tahoma" panose="020B0604030504040204" pitchFamily="34" charset="0"/>
                  <a:cs typeface="Tahoma" panose="020B0604030504040204" pitchFamily="34" charset="0"/>
                </a:rPr>
                <a:t>800 </a:t>
              </a:r>
              <a:r>
                <a:rPr lang="en-US" sz="1500" b="1" err="1">
                  <a:solidFill>
                    <a:schemeClr val="bg2"/>
                  </a:solidFill>
                  <a:latin typeface="Tahoma" panose="020B0604030504040204" pitchFamily="34" charset="0"/>
                  <a:ea typeface="Tahoma" panose="020B0604030504040204" pitchFamily="34" charset="0"/>
                  <a:cs typeface="Tahoma" panose="020B0604030504040204" pitchFamily="34" charset="0"/>
                </a:rPr>
                <a:t>MyHCT</a:t>
              </a:r>
              <a:r>
                <a:rPr lang="en-US" sz="1500" b="1">
                  <a:solidFill>
                    <a:schemeClr val="bg2"/>
                  </a:solidFill>
                  <a:latin typeface="Tahoma" panose="020B0604030504040204" pitchFamily="34" charset="0"/>
                  <a:ea typeface="Tahoma" panose="020B0604030504040204" pitchFamily="34" charset="0"/>
                  <a:cs typeface="Tahoma" panose="020B0604030504040204" pitchFamily="34" charset="0"/>
                </a:rPr>
                <a:t> (800 69428)</a:t>
              </a:r>
            </a:p>
          </p:txBody>
        </p:sp>
        <p:pic>
          <p:nvPicPr>
            <p:cNvPr id="11" name="Graphic 10">
              <a:extLst>
                <a:ext uri="{FF2B5EF4-FFF2-40B4-BE49-F238E27FC236}">
                  <a16:creationId xmlns:a16="http://schemas.microsoft.com/office/drawing/2014/main" id="{2334549F-B791-094D-904B-02DFE9589DAE}"/>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5002299" y="6003908"/>
              <a:ext cx="273124" cy="273124"/>
            </a:xfrm>
            <a:prstGeom prst="rect">
              <a:avLst/>
            </a:prstGeom>
          </p:spPr>
        </p:pic>
        <p:pic>
          <p:nvPicPr>
            <p:cNvPr id="16" name="Graphic 15">
              <a:extLst>
                <a:ext uri="{FF2B5EF4-FFF2-40B4-BE49-F238E27FC236}">
                  <a16:creationId xmlns:a16="http://schemas.microsoft.com/office/drawing/2014/main" id="{B95E0A5D-6B5A-574A-952B-5CCC36F4248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896939" y="6065869"/>
              <a:ext cx="276096" cy="184064"/>
            </a:xfrm>
            <a:prstGeom prst="rect">
              <a:avLst/>
            </a:prstGeom>
          </p:spPr>
        </p:pic>
        <p:sp>
          <p:nvSpPr>
            <p:cNvPr id="17" name="TextBox 16">
              <a:extLst>
                <a:ext uri="{FF2B5EF4-FFF2-40B4-BE49-F238E27FC236}">
                  <a16:creationId xmlns:a16="http://schemas.microsoft.com/office/drawing/2014/main" id="{B2A00D36-E1AC-D74E-998F-CC798B2ACD8B}"/>
                </a:ext>
              </a:extLst>
            </p:cNvPr>
            <p:cNvSpPr txBox="1"/>
            <p:nvPr userDrawn="1"/>
          </p:nvSpPr>
          <p:spPr>
            <a:xfrm>
              <a:off x="5293734" y="5952904"/>
              <a:ext cx="2659052" cy="353045"/>
            </a:xfrm>
            <a:prstGeom prst="rect">
              <a:avLst/>
            </a:prstGeom>
            <a:noFill/>
          </p:spPr>
          <p:txBody>
            <a:bodyPr wrap="square" rtlCol="0">
              <a:spAutoFit/>
            </a:bodyPr>
            <a:lstStyle/>
            <a:p>
              <a:pPr lvl="0">
                <a:lnSpc>
                  <a:spcPts val="2300"/>
                </a:lnSpc>
              </a:pPr>
              <a:r>
                <a:rPr lang="en-US" sz="1500" b="1" err="1">
                  <a:solidFill>
                    <a:schemeClr val="bg2"/>
                  </a:solidFill>
                  <a:latin typeface="Tahoma" panose="020B0604030504040204" pitchFamily="34" charset="0"/>
                  <a:ea typeface="Tahoma" panose="020B0604030504040204" pitchFamily="34" charset="0"/>
                  <a:cs typeface="Tahoma" panose="020B0604030504040204" pitchFamily="34" charset="0"/>
                </a:rPr>
                <a:t>www.hct.ac.ae</a:t>
              </a:r>
              <a:endParaRPr lang="en-US" sz="1500" b="1">
                <a:solidFill>
                  <a:schemeClr val="bg2"/>
                </a:solidFill>
                <a:latin typeface="Tahoma" panose="020B0604030504040204" pitchFamily="34" charset="0"/>
                <a:ea typeface="Tahoma" panose="020B0604030504040204" pitchFamily="34" charset="0"/>
                <a:cs typeface="Tahoma" panose="020B0604030504040204" pitchFamily="34" charset="0"/>
              </a:endParaRPr>
            </a:p>
          </p:txBody>
        </p:sp>
        <p:pic>
          <p:nvPicPr>
            <p:cNvPr id="13" name="Graphic 12">
              <a:extLst>
                <a:ext uri="{FF2B5EF4-FFF2-40B4-BE49-F238E27FC236}">
                  <a16:creationId xmlns:a16="http://schemas.microsoft.com/office/drawing/2014/main" id="{BCEE45B5-14AA-FB49-B39F-4EEAEEE0834E}"/>
                </a:ext>
              </a:extLst>
            </p:cNvPr>
            <p:cNvPicPr>
              <a:picLocks noChangeAspect="1"/>
            </p:cNvPicPr>
            <p:nvPr userDrawn="1"/>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91430" y="5976856"/>
              <a:ext cx="3161546" cy="376374"/>
            </a:xfrm>
            <a:prstGeom prst="rect">
              <a:avLst/>
            </a:prstGeom>
          </p:spPr>
        </p:pic>
      </p:grpSp>
    </p:spTree>
    <p:extLst>
      <p:ext uri="{BB962C8B-B14F-4D97-AF65-F5344CB8AC3E}">
        <p14:creationId xmlns:p14="http://schemas.microsoft.com/office/powerpoint/2010/main" val="948808612"/>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252A1A-53F2-9E44-9217-EF55FD212434}"/>
              </a:ext>
            </a:extLst>
          </p:cNvPr>
          <p:cNvSpPr>
            <a:spLocks noGrp="1"/>
          </p:cNvSpPr>
          <p:nvPr>
            <p:ph type="title"/>
          </p:nvPr>
        </p:nvSpPr>
        <p:spPr>
          <a:xfrm>
            <a:off x="356840" y="365125"/>
            <a:ext cx="11471616" cy="119062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BEEBABE-8E1F-FD45-BACB-85DFCD7888BA}"/>
              </a:ext>
            </a:extLst>
          </p:cNvPr>
          <p:cNvSpPr>
            <a:spLocks noGrp="1"/>
          </p:cNvSpPr>
          <p:nvPr>
            <p:ph type="body" idx="1"/>
          </p:nvPr>
        </p:nvSpPr>
        <p:spPr>
          <a:xfrm>
            <a:off x="356839" y="1825625"/>
            <a:ext cx="11471617"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22EEEB-82E9-5B41-A455-E99055A3997A}"/>
              </a:ext>
            </a:extLst>
          </p:cNvPr>
          <p:cNvSpPr>
            <a:spLocks noGrp="1"/>
          </p:cNvSpPr>
          <p:nvPr>
            <p:ph type="dt" sz="half" idx="2"/>
          </p:nvPr>
        </p:nvSpPr>
        <p:spPr>
          <a:xfrm>
            <a:off x="1430790" y="6356350"/>
            <a:ext cx="1633538" cy="365125"/>
          </a:xfrm>
          <a:prstGeom prst="rect">
            <a:avLst/>
          </a:prstGeom>
        </p:spPr>
        <p:txBody>
          <a:bodyPr vert="horz" lIns="91440" tIns="45720" rIns="91440" bIns="45720" rtlCol="0" anchor="ctr"/>
          <a:lstStyle>
            <a:lvl1pPr algn="l">
              <a:defRPr sz="1200" b="0" i="0">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fld id="{4FFDA522-F4CE-F942-9609-C40C1E1F3554}" type="datetime1">
              <a:rPr lang="en-US" smtClean="0"/>
              <a:t>14-Sep-26</a:t>
            </a:fld>
            <a:endParaRPr lang="en-US"/>
          </a:p>
        </p:txBody>
      </p:sp>
      <p:sp>
        <p:nvSpPr>
          <p:cNvPr id="5" name="Footer Placeholder 4">
            <a:extLst>
              <a:ext uri="{FF2B5EF4-FFF2-40B4-BE49-F238E27FC236}">
                <a16:creationId xmlns:a16="http://schemas.microsoft.com/office/drawing/2014/main" id="{CEF76DFF-6753-9D4F-95EE-BAA691F44C16}"/>
              </a:ext>
            </a:extLst>
          </p:cNvPr>
          <p:cNvSpPr>
            <a:spLocks noGrp="1"/>
          </p:cNvSpPr>
          <p:nvPr>
            <p:ph type="ftr" sz="quarter" idx="3"/>
          </p:nvPr>
        </p:nvSpPr>
        <p:spPr>
          <a:xfrm>
            <a:off x="3319119" y="6356350"/>
            <a:ext cx="5148000" cy="365125"/>
          </a:xfrm>
          <a:prstGeom prst="rect">
            <a:avLst/>
          </a:prstGeom>
        </p:spPr>
        <p:txBody>
          <a:bodyPr vert="horz" lIns="91440" tIns="45720" rIns="91440" bIns="45720" rtlCol="0" anchor="ctr"/>
          <a:lstStyle>
            <a:lvl1pPr algn="l">
              <a:defRPr sz="1200" b="0" i="0">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r>
              <a:rPr lang="en-US"/>
              <a:t>Footer goes here</a:t>
            </a:r>
          </a:p>
        </p:txBody>
      </p:sp>
      <p:sp>
        <p:nvSpPr>
          <p:cNvPr id="6" name="Slide Number Placeholder 5">
            <a:extLst>
              <a:ext uri="{FF2B5EF4-FFF2-40B4-BE49-F238E27FC236}">
                <a16:creationId xmlns:a16="http://schemas.microsoft.com/office/drawing/2014/main" id="{86E950D9-1D75-D24F-9D65-E9F8AAA0ADE9}"/>
              </a:ext>
            </a:extLst>
          </p:cNvPr>
          <p:cNvSpPr>
            <a:spLocks noGrp="1"/>
          </p:cNvSpPr>
          <p:nvPr>
            <p:ph type="sldNum" sz="quarter" idx="4"/>
          </p:nvPr>
        </p:nvSpPr>
        <p:spPr>
          <a:xfrm>
            <a:off x="356839" y="6356350"/>
            <a:ext cx="814388" cy="365125"/>
          </a:xfrm>
          <a:prstGeom prst="rect">
            <a:avLst/>
          </a:prstGeom>
        </p:spPr>
        <p:txBody>
          <a:bodyPr vert="horz" lIns="91440" tIns="45720" rIns="91440" bIns="45720" rtlCol="0" anchor="ctr"/>
          <a:lstStyle>
            <a:lvl1pPr algn="l">
              <a:defRPr sz="1200" b="0" i="0">
                <a:solidFill>
                  <a:schemeClr val="tx2"/>
                </a:solidFill>
                <a:latin typeface="Tahoma" panose="020B0604030504040204" pitchFamily="34" charset="0"/>
                <a:ea typeface="Tahoma" panose="020B0604030504040204" pitchFamily="34" charset="0"/>
                <a:cs typeface="Tahoma" panose="020B0604030504040204" pitchFamily="34" charset="0"/>
              </a:defRPr>
            </a:lvl1pPr>
          </a:lstStyle>
          <a:p>
            <a:fld id="{A91C39B3-71BA-C04A-8F90-02179B3D98C0}" type="slidenum">
              <a:rPr lang="en-US" smtClean="0"/>
              <a:pPr/>
              <a:t>‹#›</a:t>
            </a:fld>
            <a:endParaRPr lang="en-US"/>
          </a:p>
        </p:txBody>
      </p:sp>
      <p:pic>
        <p:nvPicPr>
          <p:cNvPr id="8" name="Picture 7">
            <a:extLst>
              <a:ext uri="{FF2B5EF4-FFF2-40B4-BE49-F238E27FC236}">
                <a16:creationId xmlns:a16="http://schemas.microsoft.com/office/drawing/2014/main" id="{7FAA968D-3E7E-6787-F0E5-FD50B7DD0955}"/>
              </a:ext>
            </a:extLst>
          </p:cNvPr>
          <p:cNvPicPr>
            <a:picLocks noChangeAspect="1"/>
          </p:cNvPicPr>
          <p:nvPr userDrawn="1"/>
        </p:nvPicPr>
        <p:blipFill>
          <a:blip r:embed="rId11"/>
          <a:stretch>
            <a:fillRect/>
          </a:stretch>
        </p:blipFill>
        <p:spPr>
          <a:xfrm>
            <a:off x="-1884218" y="-104461"/>
            <a:ext cx="1810327" cy="3036593"/>
          </a:xfrm>
          <a:prstGeom prst="rect">
            <a:avLst/>
          </a:prstGeom>
        </p:spPr>
      </p:pic>
    </p:spTree>
    <p:extLst>
      <p:ext uri="{BB962C8B-B14F-4D97-AF65-F5344CB8AC3E}">
        <p14:creationId xmlns:p14="http://schemas.microsoft.com/office/powerpoint/2010/main" val="2467174432"/>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Lst>
  <p:hf hdr="0"/>
  <p:txStyles>
    <p:titleStyle>
      <a:lvl1pPr algn="l" defTabSz="914400" rtl="0" eaLnBrk="1" latinLnBrk="0" hangingPunct="1">
        <a:lnSpc>
          <a:spcPct val="90000"/>
        </a:lnSpc>
        <a:spcBef>
          <a:spcPct val="0"/>
        </a:spcBef>
        <a:buNone/>
        <a:defRPr sz="4400" b="1" kern="1200">
          <a:solidFill>
            <a:schemeClr val="tx2"/>
          </a:solidFill>
          <a:latin typeface="Tahoma" panose="020B0604030504040204" pitchFamily="34" charset="0"/>
          <a:ea typeface="Tahoma" panose="020B0604030504040204" pitchFamily="34" charset="0"/>
          <a:cs typeface="Tahoma" panose="020B060403050404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chart" Target="../charts/chart12.xml"/><Relationship Id="rId2" Type="http://schemas.openxmlformats.org/officeDocument/2006/relationships/chart" Target="../charts/chart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chart" Target="../charts/char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BD85ED-066A-F1BC-38E5-F4C8C64E1178}"/>
              </a:ext>
            </a:extLst>
          </p:cNvPr>
          <p:cNvSpPr>
            <a:spLocks noGrp="1"/>
          </p:cNvSpPr>
          <p:nvPr>
            <p:ph type="dt" sz="half" idx="10"/>
          </p:nvPr>
        </p:nvSpPr>
        <p:spPr/>
        <p:txBody>
          <a:bodyPr/>
          <a:lstStyle/>
          <a:p>
            <a:r>
              <a:rPr lang="en-US" dirty="0"/>
              <a:t>Date: XXXX</a:t>
            </a:r>
            <a:endParaRPr lang="en-AE" dirty="0"/>
          </a:p>
        </p:txBody>
      </p:sp>
      <p:sp>
        <p:nvSpPr>
          <p:cNvPr id="3" name="Subtitle 2">
            <a:extLst>
              <a:ext uri="{FF2B5EF4-FFF2-40B4-BE49-F238E27FC236}">
                <a16:creationId xmlns:a16="http://schemas.microsoft.com/office/drawing/2014/main" id="{03E5333C-65B7-CE2E-504F-859AF9D7ED07}"/>
              </a:ext>
            </a:extLst>
          </p:cNvPr>
          <p:cNvSpPr>
            <a:spLocks noGrp="1"/>
          </p:cNvSpPr>
          <p:nvPr>
            <p:ph type="subTitle" idx="1"/>
          </p:nvPr>
        </p:nvSpPr>
        <p:spPr/>
        <p:txBody>
          <a:bodyPr/>
          <a:lstStyle/>
          <a:p>
            <a:r>
              <a:rPr lang="en-US" dirty="0"/>
              <a:t>XXXX</a:t>
            </a:r>
          </a:p>
        </p:txBody>
      </p:sp>
      <p:sp>
        <p:nvSpPr>
          <p:cNvPr id="4" name="Title 3">
            <a:extLst>
              <a:ext uri="{FF2B5EF4-FFF2-40B4-BE49-F238E27FC236}">
                <a16:creationId xmlns:a16="http://schemas.microsoft.com/office/drawing/2014/main" id="{9AC55BC0-EFDB-4FAE-63AF-800DC4706298}"/>
              </a:ext>
            </a:extLst>
          </p:cNvPr>
          <p:cNvSpPr>
            <a:spLocks noGrp="1"/>
          </p:cNvSpPr>
          <p:nvPr>
            <p:ph type="title"/>
          </p:nvPr>
        </p:nvSpPr>
        <p:spPr>
          <a:xfrm>
            <a:off x="955674" y="2786385"/>
            <a:ext cx="9915525" cy="818751"/>
          </a:xfrm>
        </p:spPr>
        <p:txBody>
          <a:bodyPr>
            <a:normAutofit fontScale="90000"/>
          </a:bodyPr>
          <a:lstStyle/>
          <a:p>
            <a:r>
              <a:rPr lang="en-US" dirty="0"/>
              <a:t>EHS Committee Meeting June 2026</a:t>
            </a:r>
          </a:p>
        </p:txBody>
      </p:sp>
    </p:spTree>
    <p:extLst>
      <p:ext uri="{BB962C8B-B14F-4D97-AF65-F5344CB8AC3E}">
        <p14:creationId xmlns:p14="http://schemas.microsoft.com/office/powerpoint/2010/main" val="25741329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E0101-3D17-4E82-41CA-EF4FE7E88453}"/>
            </a:ext>
          </a:extLst>
        </p:cNvPr>
        <p:cNvGrpSpPr/>
        <p:nvPr/>
      </p:nvGrpSpPr>
      <p:grpSpPr>
        <a:xfrm>
          <a:off x="0" y="0"/>
          <a:ext cx="0" cy="0"/>
          <a:chOff x="0" y="0"/>
          <a:chExt cx="0" cy="0"/>
        </a:xfrm>
      </p:grpSpPr>
      <p:sp>
        <p:nvSpPr>
          <p:cNvPr id="24" name="Title 1">
            <a:extLst>
              <a:ext uri="{FF2B5EF4-FFF2-40B4-BE49-F238E27FC236}">
                <a16:creationId xmlns:a16="http://schemas.microsoft.com/office/drawing/2014/main" id="{88FF79D9-1B51-6633-5EF3-455E1F0B669D}"/>
              </a:ext>
            </a:extLst>
          </p:cNvPr>
          <p:cNvSpPr txBox="1">
            <a:spLocks/>
          </p:cNvSpPr>
          <p:nvPr/>
        </p:nvSpPr>
        <p:spPr>
          <a:xfrm>
            <a:off x="680720" y="0"/>
            <a:ext cx="10150301" cy="557061"/>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Agenda</a:t>
            </a:r>
          </a:p>
        </p:txBody>
      </p:sp>
      <p:sp>
        <p:nvSpPr>
          <p:cNvPr id="62" name="TextBox 61">
            <a:extLst>
              <a:ext uri="{FF2B5EF4-FFF2-40B4-BE49-F238E27FC236}">
                <a16:creationId xmlns:a16="http://schemas.microsoft.com/office/drawing/2014/main" id="{4E471528-9CBB-6568-41E6-D2AF7AA2740A}"/>
              </a:ext>
            </a:extLst>
          </p:cNvPr>
          <p:cNvSpPr txBox="1"/>
          <p:nvPr/>
        </p:nvSpPr>
        <p:spPr>
          <a:xfrm>
            <a:off x="538480" y="557061"/>
            <a:ext cx="11379199" cy="5632311"/>
          </a:xfrm>
          <a:prstGeom prst="rect">
            <a:avLst/>
          </a:prstGeom>
          <a:noFill/>
        </p:spPr>
        <p:txBody>
          <a:bodyPr wrap="square" rtlCol="0">
            <a:spAutoFit/>
          </a:bodyPr>
          <a:lstStyle/>
          <a:p>
            <a:pPr marL="342900" indent="-342900">
              <a:lnSpc>
                <a:spcPct val="150000"/>
              </a:lnSpc>
              <a:buFont typeface="+mj-lt"/>
              <a:buAutoNum type="arabicPeriod"/>
            </a:pPr>
            <a:r>
              <a:rPr lang="en-US" dirty="0"/>
              <a:t>Welcome</a:t>
            </a:r>
          </a:p>
          <a:p>
            <a:pPr marL="342900" indent="-342900">
              <a:lnSpc>
                <a:spcPct val="150000"/>
              </a:lnSpc>
              <a:buFont typeface="+mj-lt"/>
              <a:buAutoNum type="arabicPeriod"/>
            </a:pPr>
            <a:r>
              <a:rPr lang="en-US" dirty="0"/>
              <a:t>EHS KPI dashboard</a:t>
            </a:r>
          </a:p>
          <a:p>
            <a:pPr marL="342900" indent="-342900">
              <a:lnSpc>
                <a:spcPct val="150000"/>
              </a:lnSpc>
              <a:buFont typeface="+mj-lt"/>
              <a:buAutoNum type="arabicPeriod"/>
            </a:pPr>
            <a:r>
              <a:rPr lang="en-US" dirty="0"/>
              <a:t>Summary of decisions and actions</a:t>
            </a:r>
          </a:p>
          <a:p>
            <a:pPr marL="342900" indent="-342900">
              <a:lnSpc>
                <a:spcPct val="150000"/>
              </a:lnSpc>
              <a:buFont typeface="+mj-lt"/>
              <a:buAutoNum type="arabicPeriod"/>
            </a:pPr>
            <a:r>
              <a:rPr lang="en-US" dirty="0"/>
              <a:t>Incident and near miss review</a:t>
            </a:r>
          </a:p>
          <a:p>
            <a:pPr marL="342900" indent="-342900">
              <a:lnSpc>
                <a:spcPct val="150000"/>
              </a:lnSpc>
              <a:buFont typeface="+mj-lt"/>
              <a:buAutoNum type="arabicPeriod"/>
            </a:pPr>
            <a:r>
              <a:rPr lang="en-US" dirty="0"/>
              <a:t>Risk assessments and rectification plans</a:t>
            </a:r>
          </a:p>
          <a:p>
            <a:pPr marL="342900" indent="-342900">
              <a:lnSpc>
                <a:spcPct val="150000"/>
              </a:lnSpc>
              <a:buFont typeface="+mj-lt"/>
              <a:buAutoNum type="arabicPeriod"/>
            </a:pPr>
            <a:r>
              <a:rPr lang="en-US" dirty="0"/>
              <a:t>Audit updates (internal/external/regulatory)</a:t>
            </a:r>
          </a:p>
          <a:p>
            <a:pPr marL="342900" indent="-342900">
              <a:lnSpc>
                <a:spcPct val="150000"/>
              </a:lnSpc>
              <a:buFont typeface="+mj-lt"/>
              <a:buAutoNum type="arabicPeriod"/>
            </a:pPr>
            <a:r>
              <a:rPr lang="en-US" dirty="0"/>
              <a:t>Inspection findings and CAPA status</a:t>
            </a:r>
          </a:p>
          <a:p>
            <a:pPr marL="342900" indent="-342900">
              <a:lnSpc>
                <a:spcPct val="150000"/>
              </a:lnSpc>
              <a:buFont typeface="+mj-lt"/>
              <a:buAutoNum type="arabicPeriod"/>
            </a:pPr>
            <a:r>
              <a:rPr lang="en-US" dirty="0"/>
              <a:t>Training, competency and awareness and feedback</a:t>
            </a:r>
          </a:p>
          <a:p>
            <a:pPr marL="342900" indent="-342900">
              <a:lnSpc>
                <a:spcPct val="150000"/>
              </a:lnSpc>
              <a:buFont typeface="+mj-lt"/>
              <a:buAutoNum type="arabicPeriod"/>
            </a:pPr>
            <a:r>
              <a:rPr lang="en-US" dirty="0"/>
              <a:t>Emergency preparedness and drills</a:t>
            </a:r>
          </a:p>
          <a:p>
            <a:pPr marL="342900" indent="-342900">
              <a:lnSpc>
                <a:spcPct val="150000"/>
              </a:lnSpc>
              <a:buFont typeface="+mj-lt"/>
              <a:buAutoNum type="arabicPeriod"/>
            </a:pPr>
            <a:r>
              <a:rPr lang="en-US" dirty="0"/>
              <a:t>Environmental/waste management performance</a:t>
            </a:r>
          </a:p>
          <a:p>
            <a:pPr marL="342900" indent="-342900">
              <a:lnSpc>
                <a:spcPct val="150000"/>
              </a:lnSpc>
              <a:buFont typeface="+mj-lt"/>
              <a:buAutoNum type="arabicPeriod"/>
            </a:pPr>
            <a:r>
              <a:rPr lang="en-US" dirty="0"/>
              <a:t>Review, update and approval of previous minutes</a:t>
            </a:r>
          </a:p>
          <a:p>
            <a:pPr marL="342900" indent="-342900">
              <a:lnSpc>
                <a:spcPct val="150000"/>
              </a:lnSpc>
              <a:buFont typeface="+mj-lt"/>
              <a:buAutoNum type="arabicPeriod"/>
            </a:pPr>
            <a:r>
              <a:rPr lang="en-US" dirty="0"/>
              <a:t>Legal/compliance updates</a:t>
            </a:r>
          </a:p>
          <a:p>
            <a:pPr marL="342900" indent="-342900">
              <a:buFont typeface="+mj-lt"/>
              <a:buAutoNum type="arabicPeriod"/>
            </a:pPr>
            <a:r>
              <a:rPr lang="en-US" dirty="0"/>
              <a:t>Next meeting (Proposed date/time and venue)</a:t>
            </a:r>
            <a:endParaRPr lang="en-US" sz="2000" dirty="0">
              <a:latin typeface="Tahoma" panose="020B0604030504040204" pitchFamily="34" charset="0"/>
              <a:ea typeface="Tahoma" panose="020B0604030504040204" pitchFamily="34" charset="0"/>
              <a:cs typeface="Tahoma" panose="020B0604030504040204" pitchFamily="34" charset="0"/>
            </a:endParaRPr>
          </a:p>
          <a:p>
            <a:endParaRPr lang="en-US"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20576608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E27DCC-5E00-0635-43F5-6B252E573325}"/>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A37879D8-A518-75F7-338E-597F2C4C7D25}"/>
              </a:ext>
            </a:extLst>
          </p:cNvPr>
          <p:cNvSpPr txBox="1">
            <a:spLocks/>
          </p:cNvSpPr>
          <p:nvPr/>
        </p:nvSpPr>
        <p:spPr>
          <a:xfrm>
            <a:off x="731785" y="223762"/>
            <a:ext cx="10150301" cy="986177"/>
          </a:xfrm>
          <a:prstGeom prst="rect">
            <a:avLst/>
          </a:prstGeom>
        </p:spPr>
        <p:txBody>
          <a:bodyPr vert="horz" lIns="91440" tIns="45720" rIns="91440" bIns="45720" rtlCol="0" anchor="ctr" anchorCtr="0">
            <a:normAutofit fontScale="92500" lnSpcReduction="20000"/>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2. </a:t>
            </a:r>
            <a:r>
              <a:rPr lang="en-US" sz="3200" dirty="0"/>
              <a:t>EHS KPI Dashboard</a:t>
            </a:r>
          </a:p>
          <a:p>
            <a:endParaRPr lang="en-US" sz="3000" dirty="0"/>
          </a:p>
          <a:p>
            <a:r>
              <a:rPr lang="en-US" sz="2400" b="0" dirty="0"/>
              <a:t>Campus KPI Scoring Breakdown</a:t>
            </a:r>
          </a:p>
        </p:txBody>
      </p:sp>
      <p:graphicFrame>
        <p:nvGraphicFramePr>
          <p:cNvPr id="13" name="Chart 12">
            <a:extLst>
              <a:ext uri="{FF2B5EF4-FFF2-40B4-BE49-F238E27FC236}">
                <a16:creationId xmlns:a16="http://schemas.microsoft.com/office/drawing/2014/main" id="{270BB58F-3E87-E938-A921-3DDE6303E9EA}"/>
              </a:ext>
            </a:extLst>
          </p:cNvPr>
          <p:cNvGraphicFramePr>
            <a:graphicFrameLocks/>
          </p:cNvGraphicFramePr>
          <p:nvPr/>
        </p:nvGraphicFramePr>
        <p:xfrm>
          <a:off x="1852646" y="1209939"/>
          <a:ext cx="8486707" cy="553630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27806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52324-451F-D0B8-57F6-026148947624}"/>
            </a:ext>
          </a:extLst>
        </p:cNvPr>
        <p:cNvGrpSpPr/>
        <p:nvPr/>
      </p:nvGrpSpPr>
      <p:grpSpPr>
        <a:xfrm>
          <a:off x="0" y="0"/>
          <a:ext cx="0" cy="0"/>
          <a:chOff x="0" y="0"/>
          <a:chExt cx="0" cy="0"/>
        </a:xfrm>
      </p:grpSpPr>
      <p:sp>
        <p:nvSpPr>
          <p:cNvPr id="5" name="Text 11">
            <a:extLst>
              <a:ext uri="{FF2B5EF4-FFF2-40B4-BE49-F238E27FC236}">
                <a16:creationId xmlns:a16="http://schemas.microsoft.com/office/drawing/2014/main" id="{3F55F258-627E-C342-6D0B-0A85728E5409}"/>
              </a:ext>
            </a:extLst>
          </p:cNvPr>
          <p:cNvSpPr/>
          <p:nvPr/>
        </p:nvSpPr>
        <p:spPr>
          <a:xfrm>
            <a:off x="998202" y="2020357"/>
            <a:ext cx="2938864" cy="640080"/>
          </a:xfrm>
          <a:prstGeom prst="rect">
            <a:avLst/>
          </a:prstGeom>
          <a:solidFill>
            <a:srgbClr val="00249C"/>
          </a:solidFill>
          <a:ln>
            <a:solidFill>
              <a:srgbClr val="00249C"/>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lstStyle/>
          <a:p>
            <a:pPr marL="0" indent="0" algn="ctr">
              <a:buNone/>
            </a:pPr>
            <a:r>
              <a:rPr lang="en-US" sz="1200" b="1" dirty="0">
                <a:solidFill>
                  <a:schemeClr val="bg2"/>
                </a:solidFill>
                <a:latin typeface="Tahoma" panose="020B0604030504040204" pitchFamily="34" charset="0"/>
                <a:ea typeface="Tahoma" panose="020B0604030504040204" pitchFamily="34" charset="0"/>
                <a:cs typeface="Tahoma" panose="020B0604030504040204" pitchFamily="34" charset="0"/>
              </a:rPr>
              <a:t>1. Leadership, Accountability &amp; Engagement (20%)</a:t>
            </a:r>
          </a:p>
        </p:txBody>
      </p:sp>
      <p:sp>
        <p:nvSpPr>
          <p:cNvPr id="6" name="Shape 12">
            <a:extLst>
              <a:ext uri="{FF2B5EF4-FFF2-40B4-BE49-F238E27FC236}">
                <a16:creationId xmlns:a16="http://schemas.microsoft.com/office/drawing/2014/main" id="{C06D5E10-AB68-9754-5AF4-A9ECBEB80A1A}"/>
              </a:ext>
            </a:extLst>
          </p:cNvPr>
          <p:cNvSpPr/>
          <p:nvPr/>
        </p:nvSpPr>
        <p:spPr>
          <a:xfrm>
            <a:off x="4409537" y="2236239"/>
            <a:ext cx="1463040" cy="201168"/>
          </a:xfrm>
          <a:prstGeom prst="rect">
            <a:avLst/>
          </a:prstGeom>
          <a:solidFill>
            <a:schemeClr val="bg2"/>
          </a:solidFill>
          <a:ln w="12700">
            <a:solidFill>
              <a:srgbClr val="1E3A4A"/>
            </a:solidFill>
            <a:prstDash val="solid"/>
          </a:ln>
        </p:spPr>
        <p:txBody>
          <a:bodyPr/>
          <a:lstStyle/>
          <a:p>
            <a:endParaRPr lang="en-US" dirty="0"/>
          </a:p>
        </p:txBody>
      </p:sp>
      <p:sp>
        <p:nvSpPr>
          <p:cNvPr id="7" name="Shape 13">
            <a:extLst>
              <a:ext uri="{FF2B5EF4-FFF2-40B4-BE49-F238E27FC236}">
                <a16:creationId xmlns:a16="http://schemas.microsoft.com/office/drawing/2014/main" id="{7C5B943F-16FF-C711-37D4-7D6F94F64EC2}"/>
              </a:ext>
            </a:extLst>
          </p:cNvPr>
          <p:cNvSpPr/>
          <p:nvPr/>
        </p:nvSpPr>
        <p:spPr>
          <a:xfrm>
            <a:off x="4409537" y="2236239"/>
            <a:ext cx="1442139" cy="201168"/>
          </a:xfrm>
          <a:prstGeom prst="rect">
            <a:avLst/>
          </a:prstGeom>
          <a:solidFill>
            <a:srgbClr val="00249C"/>
          </a:solidFill>
          <a:ln w="12700">
            <a:solidFill>
              <a:srgbClr val="C0DD97"/>
            </a:solidFill>
            <a:prstDash val="solid"/>
          </a:ln>
        </p:spPr>
        <p:txBody>
          <a:bodyPr/>
          <a:lstStyle/>
          <a:p>
            <a:endParaRPr lang="en-US" dirty="0"/>
          </a:p>
        </p:txBody>
      </p:sp>
      <p:sp>
        <p:nvSpPr>
          <p:cNvPr id="16" name="Text 14">
            <a:extLst>
              <a:ext uri="{FF2B5EF4-FFF2-40B4-BE49-F238E27FC236}">
                <a16:creationId xmlns:a16="http://schemas.microsoft.com/office/drawing/2014/main" id="{752B5F82-3B5D-4CED-B410-8BF3D74D3644}"/>
              </a:ext>
            </a:extLst>
          </p:cNvPr>
          <p:cNvSpPr/>
          <p:nvPr/>
        </p:nvSpPr>
        <p:spPr>
          <a:xfrm>
            <a:off x="4409537" y="2035071"/>
            <a:ext cx="1463040"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99%</a:t>
            </a:r>
            <a:endParaRPr lang="en-US" sz="1400" dirty="0">
              <a:solidFill>
                <a:schemeClr val="tx1">
                  <a:lumMod val="75000"/>
                </a:schemeClr>
              </a:solidFill>
            </a:endParaRPr>
          </a:p>
        </p:txBody>
      </p:sp>
      <p:sp>
        <p:nvSpPr>
          <p:cNvPr id="24" name="Shape 15">
            <a:extLst>
              <a:ext uri="{FF2B5EF4-FFF2-40B4-BE49-F238E27FC236}">
                <a16:creationId xmlns:a16="http://schemas.microsoft.com/office/drawing/2014/main" id="{AEE15EB6-F47F-6F38-F0EA-91CDF1FFFC84}"/>
              </a:ext>
            </a:extLst>
          </p:cNvPr>
          <p:cNvSpPr/>
          <p:nvPr/>
        </p:nvSpPr>
        <p:spPr>
          <a:xfrm>
            <a:off x="6564959" y="2236239"/>
            <a:ext cx="1316736" cy="201168"/>
          </a:xfrm>
          <a:prstGeom prst="rect">
            <a:avLst/>
          </a:prstGeom>
          <a:solidFill>
            <a:schemeClr val="bg2"/>
          </a:solidFill>
          <a:ln w="12700">
            <a:solidFill>
              <a:srgbClr val="2A1A0A"/>
            </a:solidFill>
            <a:prstDash val="solid"/>
          </a:ln>
        </p:spPr>
        <p:txBody>
          <a:bodyPr/>
          <a:lstStyle/>
          <a:p>
            <a:endParaRPr lang="en-US"/>
          </a:p>
        </p:txBody>
      </p:sp>
      <p:sp>
        <p:nvSpPr>
          <p:cNvPr id="32" name="Shape 16">
            <a:extLst>
              <a:ext uri="{FF2B5EF4-FFF2-40B4-BE49-F238E27FC236}">
                <a16:creationId xmlns:a16="http://schemas.microsoft.com/office/drawing/2014/main" id="{B6650983-EAA8-9A33-9361-7A7E630E5B61}"/>
              </a:ext>
            </a:extLst>
          </p:cNvPr>
          <p:cNvSpPr/>
          <p:nvPr/>
        </p:nvSpPr>
        <p:spPr>
          <a:xfrm>
            <a:off x="6564959" y="2236239"/>
            <a:ext cx="1297925" cy="201168"/>
          </a:xfrm>
          <a:prstGeom prst="rect">
            <a:avLst/>
          </a:prstGeom>
          <a:solidFill>
            <a:srgbClr val="00249C"/>
          </a:solidFill>
          <a:ln w="12700">
            <a:solidFill>
              <a:srgbClr val="C0DD97"/>
            </a:solidFill>
            <a:prstDash val="solid"/>
          </a:ln>
        </p:spPr>
        <p:txBody>
          <a:bodyPr/>
          <a:lstStyle/>
          <a:p>
            <a:endParaRPr lang="en-US"/>
          </a:p>
        </p:txBody>
      </p:sp>
      <p:sp>
        <p:nvSpPr>
          <p:cNvPr id="40" name="Text 17">
            <a:extLst>
              <a:ext uri="{FF2B5EF4-FFF2-40B4-BE49-F238E27FC236}">
                <a16:creationId xmlns:a16="http://schemas.microsoft.com/office/drawing/2014/main" id="{ACD0D2E3-CD3A-D539-C9D0-47D2352CFAA2}"/>
              </a:ext>
            </a:extLst>
          </p:cNvPr>
          <p:cNvSpPr/>
          <p:nvPr/>
        </p:nvSpPr>
        <p:spPr>
          <a:xfrm>
            <a:off x="6564959" y="2035071"/>
            <a:ext cx="1316736"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99%</a:t>
            </a:r>
            <a:endParaRPr lang="en-US" sz="1400" dirty="0">
              <a:solidFill>
                <a:schemeClr val="tx1">
                  <a:lumMod val="75000"/>
                </a:schemeClr>
              </a:solidFill>
            </a:endParaRPr>
          </a:p>
        </p:txBody>
      </p:sp>
      <p:sp>
        <p:nvSpPr>
          <p:cNvPr id="57" name="Text 18">
            <a:extLst>
              <a:ext uri="{FF2B5EF4-FFF2-40B4-BE49-F238E27FC236}">
                <a16:creationId xmlns:a16="http://schemas.microsoft.com/office/drawing/2014/main" id="{A3C7168E-F4F7-4A66-D258-D673834E9AA6}"/>
              </a:ext>
            </a:extLst>
          </p:cNvPr>
          <p:cNvSpPr/>
          <p:nvPr/>
        </p:nvSpPr>
        <p:spPr>
          <a:xfrm>
            <a:off x="9076660" y="2160300"/>
            <a:ext cx="731520" cy="411480"/>
          </a:xfrm>
          <a:prstGeom prst="rect">
            <a:avLst/>
          </a:prstGeom>
          <a:solidFill>
            <a:schemeClr val="accent4">
              <a:lumMod val="60000"/>
              <a:lumOff val="40000"/>
            </a:schemeClr>
          </a:solidFill>
          <a:ln/>
        </p:spPr>
        <p:txBody>
          <a:bodyPr wrap="square" lIns="0" tIns="0" rIns="0" bIns="0" rtlCol="0" anchor="ctr"/>
          <a:lstStyle/>
          <a:p>
            <a:pPr marL="0" indent="0" algn="ctr">
              <a:buNone/>
            </a:pPr>
            <a:r>
              <a:rPr lang="en-US" sz="1400" dirty="0">
                <a:solidFill>
                  <a:schemeClr val="tx1">
                    <a:lumMod val="75000"/>
                  </a:schemeClr>
                </a:solidFill>
                <a:latin typeface="Calibri" pitchFamily="34" charset="0"/>
                <a:ea typeface="Calibri" pitchFamily="34" charset="-122"/>
                <a:cs typeface="Calibri" pitchFamily="34" charset="-120"/>
              </a:rPr>
              <a:t>96%</a:t>
            </a:r>
            <a:endParaRPr lang="en-US" sz="1400" dirty="0">
              <a:solidFill>
                <a:schemeClr val="tx1">
                  <a:lumMod val="75000"/>
                </a:schemeClr>
              </a:solidFill>
            </a:endParaRPr>
          </a:p>
        </p:txBody>
      </p:sp>
      <p:sp>
        <p:nvSpPr>
          <p:cNvPr id="58" name="Shape 23">
            <a:extLst>
              <a:ext uri="{FF2B5EF4-FFF2-40B4-BE49-F238E27FC236}">
                <a16:creationId xmlns:a16="http://schemas.microsoft.com/office/drawing/2014/main" id="{97ADCB36-D4B7-4612-6078-1953767AA242}"/>
              </a:ext>
            </a:extLst>
          </p:cNvPr>
          <p:cNvSpPr/>
          <p:nvPr/>
        </p:nvSpPr>
        <p:spPr>
          <a:xfrm>
            <a:off x="4409537" y="2998292"/>
            <a:ext cx="1463040" cy="201168"/>
          </a:xfrm>
          <a:prstGeom prst="rect">
            <a:avLst/>
          </a:prstGeom>
          <a:solidFill>
            <a:srgbClr val="1E3A4A"/>
          </a:solidFill>
          <a:ln w="12700">
            <a:solidFill>
              <a:srgbClr val="1E3A4A"/>
            </a:solidFill>
            <a:prstDash val="solid"/>
          </a:ln>
        </p:spPr>
        <p:txBody>
          <a:bodyPr/>
          <a:lstStyle/>
          <a:p>
            <a:endParaRPr lang="en-US"/>
          </a:p>
        </p:txBody>
      </p:sp>
      <p:sp>
        <p:nvSpPr>
          <p:cNvPr id="60" name="Shape 24">
            <a:extLst>
              <a:ext uri="{FF2B5EF4-FFF2-40B4-BE49-F238E27FC236}">
                <a16:creationId xmlns:a16="http://schemas.microsoft.com/office/drawing/2014/main" id="{E229C519-03FB-884B-C2A8-1A83E96A514D}"/>
              </a:ext>
            </a:extLst>
          </p:cNvPr>
          <p:cNvSpPr/>
          <p:nvPr/>
        </p:nvSpPr>
        <p:spPr>
          <a:xfrm>
            <a:off x="4409537" y="2998292"/>
            <a:ext cx="1463040" cy="230807"/>
          </a:xfrm>
          <a:prstGeom prst="rect">
            <a:avLst/>
          </a:prstGeom>
          <a:solidFill>
            <a:srgbClr val="00249C"/>
          </a:solidFill>
          <a:ln w="12700">
            <a:solidFill>
              <a:srgbClr val="C0DD97"/>
            </a:solidFill>
            <a:prstDash val="solid"/>
          </a:ln>
        </p:spPr>
        <p:txBody>
          <a:bodyPr/>
          <a:lstStyle/>
          <a:p>
            <a:endParaRPr lang="en-US" dirty="0"/>
          </a:p>
        </p:txBody>
      </p:sp>
      <p:sp>
        <p:nvSpPr>
          <p:cNvPr id="61" name="Text 25">
            <a:extLst>
              <a:ext uri="{FF2B5EF4-FFF2-40B4-BE49-F238E27FC236}">
                <a16:creationId xmlns:a16="http://schemas.microsoft.com/office/drawing/2014/main" id="{7D3E2696-1C7D-E887-C8A6-7B5E664FC0B9}"/>
              </a:ext>
            </a:extLst>
          </p:cNvPr>
          <p:cNvSpPr/>
          <p:nvPr/>
        </p:nvSpPr>
        <p:spPr>
          <a:xfrm>
            <a:off x="4409537" y="2797124"/>
            <a:ext cx="1463040"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100%</a:t>
            </a:r>
            <a:endParaRPr lang="en-US" sz="1400" dirty="0">
              <a:solidFill>
                <a:schemeClr val="tx1">
                  <a:lumMod val="75000"/>
                </a:schemeClr>
              </a:solidFill>
            </a:endParaRPr>
          </a:p>
        </p:txBody>
      </p:sp>
      <p:sp>
        <p:nvSpPr>
          <p:cNvPr id="62" name="Shape 26">
            <a:extLst>
              <a:ext uri="{FF2B5EF4-FFF2-40B4-BE49-F238E27FC236}">
                <a16:creationId xmlns:a16="http://schemas.microsoft.com/office/drawing/2014/main" id="{477B2D49-C06E-3204-0FD8-897075906B95}"/>
              </a:ext>
            </a:extLst>
          </p:cNvPr>
          <p:cNvSpPr/>
          <p:nvPr/>
        </p:nvSpPr>
        <p:spPr>
          <a:xfrm>
            <a:off x="6564959" y="2998292"/>
            <a:ext cx="1316736" cy="201168"/>
          </a:xfrm>
          <a:prstGeom prst="rect">
            <a:avLst/>
          </a:prstGeom>
          <a:solidFill>
            <a:schemeClr val="bg2"/>
          </a:solidFill>
          <a:ln w="12700">
            <a:solidFill>
              <a:srgbClr val="2A1A0A"/>
            </a:solidFill>
            <a:prstDash val="solid"/>
          </a:ln>
        </p:spPr>
        <p:txBody>
          <a:bodyPr/>
          <a:lstStyle/>
          <a:p>
            <a:endParaRPr lang="en-US"/>
          </a:p>
        </p:txBody>
      </p:sp>
      <p:sp>
        <p:nvSpPr>
          <p:cNvPr id="63" name="Shape 27">
            <a:extLst>
              <a:ext uri="{FF2B5EF4-FFF2-40B4-BE49-F238E27FC236}">
                <a16:creationId xmlns:a16="http://schemas.microsoft.com/office/drawing/2014/main" id="{6C635BCA-F263-5450-502D-CE63C0214550}"/>
              </a:ext>
            </a:extLst>
          </p:cNvPr>
          <p:cNvSpPr/>
          <p:nvPr/>
        </p:nvSpPr>
        <p:spPr>
          <a:xfrm>
            <a:off x="6564959" y="2998292"/>
            <a:ext cx="1277234" cy="201168"/>
          </a:xfrm>
          <a:prstGeom prst="rect">
            <a:avLst/>
          </a:prstGeom>
          <a:solidFill>
            <a:srgbClr val="FFC000"/>
          </a:solidFill>
          <a:ln w="12700">
            <a:solidFill>
              <a:srgbClr val="C0DD97"/>
            </a:solidFill>
            <a:prstDash val="solid"/>
          </a:ln>
        </p:spPr>
        <p:txBody>
          <a:bodyPr/>
          <a:lstStyle/>
          <a:p>
            <a:endParaRPr lang="en-US"/>
          </a:p>
        </p:txBody>
      </p:sp>
      <p:sp>
        <p:nvSpPr>
          <p:cNvPr id="64" name="Text 28">
            <a:extLst>
              <a:ext uri="{FF2B5EF4-FFF2-40B4-BE49-F238E27FC236}">
                <a16:creationId xmlns:a16="http://schemas.microsoft.com/office/drawing/2014/main" id="{5F7C0F9F-D9CD-DD83-5F75-017B43BCB500}"/>
              </a:ext>
            </a:extLst>
          </p:cNvPr>
          <p:cNvSpPr/>
          <p:nvPr/>
        </p:nvSpPr>
        <p:spPr>
          <a:xfrm>
            <a:off x="6564959" y="2797124"/>
            <a:ext cx="1316736"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97%</a:t>
            </a:r>
            <a:endParaRPr lang="en-US" sz="1400" dirty="0">
              <a:solidFill>
                <a:schemeClr val="tx1">
                  <a:lumMod val="75000"/>
                </a:schemeClr>
              </a:solidFill>
            </a:endParaRPr>
          </a:p>
        </p:txBody>
      </p:sp>
      <p:sp>
        <p:nvSpPr>
          <p:cNvPr id="65" name="Text 29">
            <a:extLst>
              <a:ext uri="{FF2B5EF4-FFF2-40B4-BE49-F238E27FC236}">
                <a16:creationId xmlns:a16="http://schemas.microsoft.com/office/drawing/2014/main" id="{FC4FA658-F281-1852-ABCB-2B9E53858B4B}"/>
              </a:ext>
            </a:extLst>
          </p:cNvPr>
          <p:cNvSpPr/>
          <p:nvPr/>
        </p:nvSpPr>
        <p:spPr>
          <a:xfrm>
            <a:off x="9076660" y="2911059"/>
            <a:ext cx="731520" cy="411480"/>
          </a:xfrm>
          <a:prstGeom prst="rect">
            <a:avLst/>
          </a:prstGeom>
          <a:solidFill>
            <a:schemeClr val="accent4">
              <a:lumMod val="60000"/>
              <a:lumOff val="40000"/>
            </a:schemeClr>
          </a:solidFill>
          <a:ln/>
        </p:spPr>
        <p:txBody>
          <a:bodyPr wrap="square" lIns="0" tIns="0" rIns="0" bIns="0" rtlCol="0" anchor="ctr"/>
          <a:lstStyle/>
          <a:p>
            <a:pPr marL="0" indent="0" algn="ctr">
              <a:buNone/>
            </a:pPr>
            <a:r>
              <a:rPr lang="en-US" sz="1400" dirty="0">
                <a:solidFill>
                  <a:schemeClr val="tx1">
                    <a:lumMod val="75000"/>
                  </a:schemeClr>
                </a:solidFill>
                <a:latin typeface="Calibri" pitchFamily="34" charset="0"/>
                <a:ea typeface="Calibri" pitchFamily="34" charset="-122"/>
                <a:cs typeface="Calibri" pitchFamily="34" charset="-120"/>
              </a:rPr>
              <a:t>99%</a:t>
            </a:r>
            <a:endParaRPr lang="en-US" sz="1400" dirty="0">
              <a:solidFill>
                <a:schemeClr val="tx1">
                  <a:lumMod val="75000"/>
                </a:schemeClr>
              </a:solidFill>
            </a:endParaRPr>
          </a:p>
        </p:txBody>
      </p:sp>
      <p:sp>
        <p:nvSpPr>
          <p:cNvPr id="66" name="Shape 34">
            <a:extLst>
              <a:ext uri="{FF2B5EF4-FFF2-40B4-BE49-F238E27FC236}">
                <a16:creationId xmlns:a16="http://schemas.microsoft.com/office/drawing/2014/main" id="{61F34F27-6FAD-DA29-8AE4-E43586B41147}"/>
              </a:ext>
            </a:extLst>
          </p:cNvPr>
          <p:cNvSpPr/>
          <p:nvPr/>
        </p:nvSpPr>
        <p:spPr>
          <a:xfrm>
            <a:off x="4409537" y="3719086"/>
            <a:ext cx="1463040" cy="201168"/>
          </a:xfrm>
          <a:prstGeom prst="rect">
            <a:avLst/>
          </a:prstGeom>
          <a:solidFill>
            <a:schemeClr val="bg2"/>
          </a:solidFill>
          <a:ln w="12700">
            <a:solidFill>
              <a:srgbClr val="1E3A4A"/>
            </a:solidFill>
            <a:prstDash val="solid"/>
          </a:ln>
        </p:spPr>
        <p:txBody>
          <a:bodyPr/>
          <a:lstStyle/>
          <a:p>
            <a:endParaRPr lang="en-US"/>
          </a:p>
        </p:txBody>
      </p:sp>
      <p:sp>
        <p:nvSpPr>
          <p:cNvPr id="67" name="Shape 35">
            <a:extLst>
              <a:ext uri="{FF2B5EF4-FFF2-40B4-BE49-F238E27FC236}">
                <a16:creationId xmlns:a16="http://schemas.microsoft.com/office/drawing/2014/main" id="{D08D1D90-1BCB-ED87-C828-968E7B8CF13F}"/>
              </a:ext>
            </a:extLst>
          </p:cNvPr>
          <p:cNvSpPr/>
          <p:nvPr/>
        </p:nvSpPr>
        <p:spPr>
          <a:xfrm>
            <a:off x="4409537" y="3719086"/>
            <a:ext cx="1463040" cy="201168"/>
          </a:xfrm>
          <a:prstGeom prst="rect">
            <a:avLst/>
          </a:prstGeom>
          <a:solidFill>
            <a:srgbClr val="00249C"/>
          </a:solidFill>
          <a:ln w="12700">
            <a:solidFill>
              <a:srgbClr val="F7C1C1"/>
            </a:solidFill>
            <a:prstDash val="solid"/>
          </a:ln>
        </p:spPr>
        <p:txBody>
          <a:bodyPr/>
          <a:lstStyle/>
          <a:p>
            <a:endParaRPr lang="en-US"/>
          </a:p>
        </p:txBody>
      </p:sp>
      <p:sp>
        <p:nvSpPr>
          <p:cNvPr id="68" name="Text 36">
            <a:extLst>
              <a:ext uri="{FF2B5EF4-FFF2-40B4-BE49-F238E27FC236}">
                <a16:creationId xmlns:a16="http://schemas.microsoft.com/office/drawing/2014/main" id="{30C476F7-DAE0-A2F9-356C-0D443B75B487}"/>
              </a:ext>
            </a:extLst>
          </p:cNvPr>
          <p:cNvSpPr/>
          <p:nvPr/>
        </p:nvSpPr>
        <p:spPr>
          <a:xfrm>
            <a:off x="4409537" y="3517918"/>
            <a:ext cx="1463040"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100%</a:t>
            </a:r>
            <a:endParaRPr lang="en-US" sz="1400" dirty="0">
              <a:solidFill>
                <a:schemeClr val="tx1">
                  <a:lumMod val="75000"/>
                </a:schemeClr>
              </a:solidFill>
            </a:endParaRPr>
          </a:p>
        </p:txBody>
      </p:sp>
      <p:sp>
        <p:nvSpPr>
          <p:cNvPr id="69" name="Shape 37">
            <a:extLst>
              <a:ext uri="{FF2B5EF4-FFF2-40B4-BE49-F238E27FC236}">
                <a16:creationId xmlns:a16="http://schemas.microsoft.com/office/drawing/2014/main" id="{26365B79-35D5-0C07-B7F7-E345FBDA90C3}"/>
              </a:ext>
            </a:extLst>
          </p:cNvPr>
          <p:cNvSpPr/>
          <p:nvPr/>
        </p:nvSpPr>
        <p:spPr>
          <a:xfrm>
            <a:off x="6564959" y="3719086"/>
            <a:ext cx="1316736" cy="201168"/>
          </a:xfrm>
          <a:prstGeom prst="rect">
            <a:avLst/>
          </a:prstGeom>
          <a:solidFill>
            <a:schemeClr val="bg2"/>
          </a:solidFill>
          <a:ln w="12700">
            <a:solidFill>
              <a:srgbClr val="2A1A0A"/>
            </a:solidFill>
            <a:prstDash val="solid"/>
          </a:ln>
        </p:spPr>
        <p:txBody>
          <a:bodyPr/>
          <a:lstStyle/>
          <a:p>
            <a:endParaRPr lang="en-US"/>
          </a:p>
        </p:txBody>
      </p:sp>
      <p:sp>
        <p:nvSpPr>
          <p:cNvPr id="70" name="Shape 38">
            <a:extLst>
              <a:ext uri="{FF2B5EF4-FFF2-40B4-BE49-F238E27FC236}">
                <a16:creationId xmlns:a16="http://schemas.microsoft.com/office/drawing/2014/main" id="{79E2A930-C51E-B5CD-72F7-12AF9147F652}"/>
              </a:ext>
            </a:extLst>
          </p:cNvPr>
          <p:cNvSpPr/>
          <p:nvPr/>
        </p:nvSpPr>
        <p:spPr>
          <a:xfrm>
            <a:off x="6564959" y="3719086"/>
            <a:ext cx="1316736" cy="201168"/>
          </a:xfrm>
          <a:prstGeom prst="rect">
            <a:avLst/>
          </a:prstGeom>
          <a:solidFill>
            <a:srgbClr val="00249C"/>
          </a:solidFill>
          <a:ln w="12700">
            <a:solidFill>
              <a:srgbClr val="F7C1C1"/>
            </a:solidFill>
            <a:prstDash val="solid"/>
          </a:ln>
        </p:spPr>
        <p:txBody>
          <a:bodyPr/>
          <a:lstStyle/>
          <a:p>
            <a:endParaRPr lang="en-US"/>
          </a:p>
        </p:txBody>
      </p:sp>
      <p:sp>
        <p:nvSpPr>
          <p:cNvPr id="71" name="Text 39">
            <a:extLst>
              <a:ext uri="{FF2B5EF4-FFF2-40B4-BE49-F238E27FC236}">
                <a16:creationId xmlns:a16="http://schemas.microsoft.com/office/drawing/2014/main" id="{469FCAB6-937E-6D60-4424-9C8141132417}"/>
              </a:ext>
            </a:extLst>
          </p:cNvPr>
          <p:cNvSpPr/>
          <p:nvPr/>
        </p:nvSpPr>
        <p:spPr>
          <a:xfrm>
            <a:off x="6615326" y="3508177"/>
            <a:ext cx="1316736"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100%</a:t>
            </a:r>
            <a:endParaRPr lang="en-US" sz="1400" dirty="0">
              <a:solidFill>
                <a:schemeClr val="tx1">
                  <a:lumMod val="75000"/>
                </a:schemeClr>
              </a:solidFill>
            </a:endParaRPr>
          </a:p>
        </p:txBody>
      </p:sp>
      <p:sp>
        <p:nvSpPr>
          <p:cNvPr id="72" name="Text 40">
            <a:extLst>
              <a:ext uri="{FF2B5EF4-FFF2-40B4-BE49-F238E27FC236}">
                <a16:creationId xmlns:a16="http://schemas.microsoft.com/office/drawing/2014/main" id="{4A2C479A-2749-80D7-F7B8-CB82A41E95E7}"/>
              </a:ext>
            </a:extLst>
          </p:cNvPr>
          <p:cNvSpPr/>
          <p:nvPr/>
        </p:nvSpPr>
        <p:spPr>
          <a:xfrm>
            <a:off x="9076660" y="3614106"/>
            <a:ext cx="731520" cy="411480"/>
          </a:xfrm>
          <a:prstGeom prst="rect">
            <a:avLst/>
          </a:prstGeom>
          <a:solidFill>
            <a:schemeClr val="accent4">
              <a:lumMod val="60000"/>
              <a:lumOff val="40000"/>
            </a:schemeClr>
          </a:solidFill>
          <a:ln/>
        </p:spPr>
        <p:txBody>
          <a:bodyPr wrap="square" lIns="0" tIns="0" rIns="0" bIns="0" rtlCol="0" anchor="ctr"/>
          <a:lstStyle/>
          <a:p>
            <a:pPr marL="0" indent="0" algn="ctr">
              <a:buNone/>
            </a:pPr>
            <a:r>
              <a:rPr lang="en-US" sz="1400" dirty="0">
                <a:solidFill>
                  <a:schemeClr val="tx1">
                    <a:lumMod val="75000"/>
                  </a:schemeClr>
                </a:solidFill>
                <a:latin typeface="Calibri" pitchFamily="34" charset="0"/>
                <a:ea typeface="Calibri" pitchFamily="34" charset="-122"/>
                <a:cs typeface="Calibri" pitchFamily="34" charset="-120"/>
              </a:rPr>
              <a:t>100%</a:t>
            </a:r>
            <a:endParaRPr lang="en-US" sz="1400" dirty="0">
              <a:solidFill>
                <a:schemeClr val="tx1">
                  <a:lumMod val="75000"/>
                </a:schemeClr>
              </a:solidFill>
            </a:endParaRPr>
          </a:p>
        </p:txBody>
      </p:sp>
      <p:sp>
        <p:nvSpPr>
          <p:cNvPr id="73" name="Shape 45">
            <a:extLst>
              <a:ext uri="{FF2B5EF4-FFF2-40B4-BE49-F238E27FC236}">
                <a16:creationId xmlns:a16="http://schemas.microsoft.com/office/drawing/2014/main" id="{69B39C9B-0F8B-78DA-355A-C9709C587F93}"/>
              </a:ext>
            </a:extLst>
          </p:cNvPr>
          <p:cNvSpPr/>
          <p:nvPr/>
        </p:nvSpPr>
        <p:spPr>
          <a:xfrm>
            <a:off x="4409537" y="4410241"/>
            <a:ext cx="1463040" cy="201168"/>
          </a:xfrm>
          <a:prstGeom prst="rect">
            <a:avLst/>
          </a:prstGeom>
          <a:solidFill>
            <a:schemeClr val="bg2"/>
          </a:solidFill>
          <a:ln w="12700">
            <a:solidFill>
              <a:srgbClr val="1E3A4A"/>
            </a:solidFill>
            <a:prstDash val="solid"/>
          </a:ln>
        </p:spPr>
        <p:txBody>
          <a:bodyPr/>
          <a:lstStyle/>
          <a:p>
            <a:endParaRPr lang="en-US"/>
          </a:p>
        </p:txBody>
      </p:sp>
      <p:sp>
        <p:nvSpPr>
          <p:cNvPr id="74" name="Shape 46">
            <a:extLst>
              <a:ext uri="{FF2B5EF4-FFF2-40B4-BE49-F238E27FC236}">
                <a16:creationId xmlns:a16="http://schemas.microsoft.com/office/drawing/2014/main" id="{41E4B394-1A07-1E7D-D80C-08A58E1835F4}"/>
              </a:ext>
            </a:extLst>
          </p:cNvPr>
          <p:cNvSpPr/>
          <p:nvPr/>
        </p:nvSpPr>
        <p:spPr>
          <a:xfrm>
            <a:off x="4409536" y="4410241"/>
            <a:ext cx="1463040" cy="201168"/>
          </a:xfrm>
          <a:prstGeom prst="rect">
            <a:avLst/>
          </a:prstGeom>
          <a:solidFill>
            <a:srgbClr val="00249C"/>
          </a:solidFill>
          <a:ln w="12700">
            <a:solidFill>
              <a:srgbClr val="C0DD97"/>
            </a:solidFill>
            <a:prstDash val="solid"/>
          </a:ln>
        </p:spPr>
        <p:txBody>
          <a:bodyPr/>
          <a:lstStyle/>
          <a:p>
            <a:endParaRPr lang="en-US"/>
          </a:p>
        </p:txBody>
      </p:sp>
      <p:sp>
        <p:nvSpPr>
          <p:cNvPr id="75" name="Text 47">
            <a:extLst>
              <a:ext uri="{FF2B5EF4-FFF2-40B4-BE49-F238E27FC236}">
                <a16:creationId xmlns:a16="http://schemas.microsoft.com/office/drawing/2014/main" id="{50B1D3C1-444C-2099-C9E4-B27A564B7059}"/>
              </a:ext>
            </a:extLst>
          </p:cNvPr>
          <p:cNvSpPr/>
          <p:nvPr/>
        </p:nvSpPr>
        <p:spPr>
          <a:xfrm>
            <a:off x="4409537" y="4209073"/>
            <a:ext cx="1463040"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100%</a:t>
            </a:r>
            <a:endParaRPr lang="en-US" sz="1400" dirty="0">
              <a:solidFill>
                <a:schemeClr val="tx1">
                  <a:lumMod val="75000"/>
                </a:schemeClr>
              </a:solidFill>
            </a:endParaRPr>
          </a:p>
        </p:txBody>
      </p:sp>
      <p:sp>
        <p:nvSpPr>
          <p:cNvPr id="76" name="Shape 48">
            <a:extLst>
              <a:ext uri="{FF2B5EF4-FFF2-40B4-BE49-F238E27FC236}">
                <a16:creationId xmlns:a16="http://schemas.microsoft.com/office/drawing/2014/main" id="{68CE2CAD-EC87-780D-125D-7EAC58DBB473}"/>
              </a:ext>
            </a:extLst>
          </p:cNvPr>
          <p:cNvSpPr/>
          <p:nvPr/>
        </p:nvSpPr>
        <p:spPr>
          <a:xfrm>
            <a:off x="6564959" y="4410241"/>
            <a:ext cx="1316736" cy="201168"/>
          </a:xfrm>
          <a:prstGeom prst="rect">
            <a:avLst/>
          </a:prstGeom>
          <a:solidFill>
            <a:schemeClr val="bg2"/>
          </a:solidFill>
          <a:ln w="12700">
            <a:solidFill>
              <a:srgbClr val="2A1A0A"/>
            </a:solidFill>
            <a:prstDash val="solid"/>
          </a:ln>
        </p:spPr>
        <p:txBody>
          <a:bodyPr/>
          <a:lstStyle/>
          <a:p>
            <a:endParaRPr lang="en-US"/>
          </a:p>
        </p:txBody>
      </p:sp>
      <p:sp>
        <p:nvSpPr>
          <p:cNvPr id="77" name="Shape 49">
            <a:extLst>
              <a:ext uri="{FF2B5EF4-FFF2-40B4-BE49-F238E27FC236}">
                <a16:creationId xmlns:a16="http://schemas.microsoft.com/office/drawing/2014/main" id="{F799BC8F-C149-BFFE-939C-686F6532FFE1}"/>
              </a:ext>
            </a:extLst>
          </p:cNvPr>
          <p:cNvSpPr/>
          <p:nvPr/>
        </p:nvSpPr>
        <p:spPr>
          <a:xfrm>
            <a:off x="6564959" y="4410241"/>
            <a:ext cx="1316736" cy="201168"/>
          </a:xfrm>
          <a:prstGeom prst="rect">
            <a:avLst/>
          </a:prstGeom>
          <a:solidFill>
            <a:srgbClr val="00249C"/>
          </a:solidFill>
          <a:ln w="12700">
            <a:solidFill>
              <a:srgbClr val="C0DD97"/>
            </a:solidFill>
            <a:prstDash val="solid"/>
          </a:ln>
        </p:spPr>
        <p:txBody>
          <a:bodyPr/>
          <a:lstStyle/>
          <a:p>
            <a:endParaRPr lang="en-US"/>
          </a:p>
        </p:txBody>
      </p:sp>
      <p:sp>
        <p:nvSpPr>
          <p:cNvPr id="78" name="Text 50">
            <a:extLst>
              <a:ext uri="{FF2B5EF4-FFF2-40B4-BE49-F238E27FC236}">
                <a16:creationId xmlns:a16="http://schemas.microsoft.com/office/drawing/2014/main" id="{CC3F8160-8295-4FD1-5C99-5896053FACBF}"/>
              </a:ext>
            </a:extLst>
          </p:cNvPr>
          <p:cNvSpPr/>
          <p:nvPr/>
        </p:nvSpPr>
        <p:spPr>
          <a:xfrm>
            <a:off x="6564959" y="4209073"/>
            <a:ext cx="1316736"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100%</a:t>
            </a:r>
            <a:endParaRPr lang="en-US" sz="1400" dirty="0">
              <a:solidFill>
                <a:schemeClr val="tx1">
                  <a:lumMod val="75000"/>
                </a:schemeClr>
              </a:solidFill>
            </a:endParaRPr>
          </a:p>
        </p:txBody>
      </p:sp>
      <p:sp>
        <p:nvSpPr>
          <p:cNvPr id="79" name="Text 51">
            <a:extLst>
              <a:ext uri="{FF2B5EF4-FFF2-40B4-BE49-F238E27FC236}">
                <a16:creationId xmlns:a16="http://schemas.microsoft.com/office/drawing/2014/main" id="{4A4F5897-6C14-39EE-3703-A1235A3C886B}"/>
              </a:ext>
            </a:extLst>
          </p:cNvPr>
          <p:cNvSpPr/>
          <p:nvPr/>
        </p:nvSpPr>
        <p:spPr>
          <a:xfrm>
            <a:off x="9076660" y="4306636"/>
            <a:ext cx="731520" cy="411480"/>
          </a:xfrm>
          <a:prstGeom prst="rect">
            <a:avLst/>
          </a:prstGeom>
          <a:solidFill>
            <a:schemeClr val="accent4">
              <a:lumMod val="60000"/>
              <a:lumOff val="40000"/>
            </a:schemeClr>
          </a:solidFill>
          <a:ln/>
        </p:spPr>
        <p:txBody>
          <a:bodyPr wrap="square" lIns="0" tIns="0" rIns="0" bIns="0" rtlCol="0" anchor="ctr"/>
          <a:lstStyle/>
          <a:p>
            <a:pPr marL="0" indent="0" algn="ctr">
              <a:buNone/>
            </a:pPr>
            <a:r>
              <a:rPr lang="en-US" sz="1400" dirty="0">
                <a:solidFill>
                  <a:schemeClr val="tx1">
                    <a:lumMod val="75000"/>
                  </a:schemeClr>
                </a:solidFill>
                <a:latin typeface="Calibri" pitchFamily="34" charset="0"/>
                <a:ea typeface="Calibri" pitchFamily="34" charset="-122"/>
                <a:cs typeface="Calibri" pitchFamily="34" charset="-120"/>
              </a:rPr>
              <a:t>99%</a:t>
            </a:r>
            <a:endParaRPr lang="en-US" sz="1400" dirty="0">
              <a:solidFill>
                <a:schemeClr val="tx1">
                  <a:lumMod val="75000"/>
                </a:schemeClr>
              </a:solidFill>
            </a:endParaRPr>
          </a:p>
        </p:txBody>
      </p:sp>
      <p:sp>
        <p:nvSpPr>
          <p:cNvPr id="80" name="Shape 56">
            <a:extLst>
              <a:ext uri="{FF2B5EF4-FFF2-40B4-BE49-F238E27FC236}">
                <a16:creationId xmlns:a16="http://schemas.microsoft.com/office/drawing/2014/main" id="{A8989166-20AE-A56B-BB14-6B4BA81E880D}"/>
              </a:ext>
            </a:extLst>
          </p:cNvPr>
          <p:cNvSpPr/>
          <p:nvPr/>
        </p:nvSpPr>
        <p:spPr>
          <a:xfrm>
            <a:off x="4409538" y="5151026"/>
            <a:ext cx="1463040" cy="201168"/>
          </a:xfrm>
          <a:prstGeom prst="rect">
            <a:avLst/>
          </a:prstGeom>
          <a:solidFill>
            <a:schemeClr val="bg2"/>
          </a:solidFill>
          <a:ln w="12700">
            <a:solidFill>
              <a:srgbClr val="1E3A4A"/>
            </a:solidFill>
            <a:prstDash val="solid"/>
          </a:ln>
        </p:spPr>
        <p:txBody>
          <a:bodyPr/>
          <a:lstStyle/>
          <a:p>
            <a:endParaRPr lang="en-US"/>
          </a:p>
        </p:txBody>
      </p:sp>
      <p:sp>
        <p:nvSpPr>
          <p:cNvPr id="81" name="Shape 57">
            <a:extLst>
              <a:ext uri="{FF2B5EF4-FFF2-40B4-BE49-F238E27FC236}">
                <a16:creationId xmlns:a16="http://schemas.microsoft.com/office/drawing/2014/main" id="{0B06808D-3535-90C9-D5A5-1EE0021CD71D}"/>
              </a:ext>
            </a:extLst>
          </p:cNvPr>
          <p:cNvSpPr/>
          <p:nvPr/>
        </p:nvSpPr>
        <p:spPr>
          <a:xfrm>
            <a:off x="4409538" y="5151026"/>
            <a:ext cx="1024128" cy="201168"/>
          </a:xfrm>
          <a:prstGeom prst="rect">
            <a:avLst/>
          </a:prstGeom>
          <a:solidFill>
            <a:srgbClr val="FFC000"/>
          </a:solidFill>
          <a:ln w="12700">
            <a:solidFill>
              <a:srgbClr val="F7C1C1"/>
            </a:solidFill>
            <a:prstDash val="solid"/>
          </a:ln>
        </p:spPr>
        <p:txBody>
          <a:bodyPr/>
          <a:lstStyle/>
          <a:p>
            <a:endParaRPr lang="en-US"/>
          </a:p>
        </p:txBody>
      </p:sp>
      <p:sp>
        <p:nvSpPr>
          <p:cNvPr id="82" name="Text 58">
            <a:extLst>
              <a:ext uri="{FF2B5EF4-FFF2-40B4-BE49-F238E27FC236}">
                <a16:creationId xmlns:a16="http://schemas.microsoft.com/office/drawing/2014/main" id="{1FEACE66-747E-3DA6-B004-A02E95301C59}"/>
              </a:ext>
            </a:extLst>
          </p:cNvPr>
          <p:cNvSpPr/>
          <p:nvPr/>
        </p:nvSpPr>
        <p:spPr>
          <a:xfrm>
            <a:off x="4409538" y="4949858"/>
            <a:ext cx="1463040"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70%</a:t>
            </a:r>
            <a:endParaRPr lang="en-US" sz="1400" dirty="0">
              <a:solidFill>
                <a:schemeClr val="tx1">
                  <a:lumMod val="75000"/>
                </a:schemeClr>
              </a:solidFill>
            </a:endParaRPr>
          </a:p>
        </p:txBody>
      </p:sp>
      <p:sp>
        <p:nvSpPr>
          <p:cNvPr id="83" name="Shape 59">
            <a:extLst>
              <a:ext uri="{FF2B5EF4-FFF2-40B4-BE49-F238E27FC236}">
                <a16:creationId xmlns:a16="http://schemas.microsoft.com/office/drawing/2014/main" id="{7BFCC5D1-D0CB-047D-A133-3F217E5F89B1}"/>
              </a:ext>
            </a:extLst>
          </p:cNvPr>
          <p:cNvSpPr/>
          <p:nvPr/>
        </p:nvSpPr>
        <p:spPr>
          <a:xfrm>
            <a:off x="6564960" y="5151026"/>
            <a:ext cx="1316736" cy="201168"/>
          </a:xfrm>
          <a:prstGeom prst="rect">
            <a:avLst/>
          </a:prstGeom>
          <a:solidFill>
            <a:schemeClr val="bg2"/>
          </a:solidFill>
          <a:ln w="12700">
            <a:solidFill>
              <a:srgbClr val="2A1A0A"/>
            </a:solidFill>
            <a:prstDash val="solid"/>
          </a:ln>
        </p:spPr>
        <p:txBody>
          <a:bodyPr/>
          <a:lstStyle/>
          <a:p>
            <a:endParaRPr lang="en-US"/>
          </a:p>
        </p:txBody>
      </p:sp>
      <p:sp>
        <p:nvSpPr>
          <p:cNvPr id="84" name="Shape 60">
            <a:extLst>
              <a:ext uri="{FF2B5EF4-FFF2-40B4-BE49-F238E27FC236}">
                <a16:creationId xmlns:a16="http://schemas.microsoft.com/office/drawing/2014/main" id="{ABD24DCA-17EA-C8D1-2B67-308309075D0C}"/>
              </a:ext>
            </a:extLst>
          </p:cNvPr>
          <p:cNvSpPr/>
          <p:nvPr/>
        </p:nvSpPr>
        <p:spPr>
          <a:xfrm>
            <a:off x="6564960" y="5151026"/>
            <a:ext cx="855878" cy="201168"/>
          </a:xfrm>
          <a:prstGeom prst="rect">
            <a:avLst/>
          </a:prstGeom>
          <a:solidFill>
            <a:srgbClr val="FFC000"/>
          </a:solidFill>
          <a:ln w="12700">
            <a:solidFill>
              <a:srgbClr val="F7C1C1"/>
            </a:solidFill>
            <a:prstDash val="solid"/>
          </a:ln>
        </p:spPr>
        <p:txBody>
          <a:bodyPr/>
          <a:lstStyle/>
          <a:p>
            <a:endParaRPr lang="en-US"/>
          </a:p>
        </p:txBody>
      </p:sp>
      <p:sp>
        <p:nvSpPr>
          <p:cNvPr id="85" name="Text 61">
            <a:extLst>
              <a:ext uri="{FF2B5EF4-FFF2-40B4-BE49-F238E27FC236}">
                <a16:creationId xmlns:a16="http://schemas.microsoft.com/office/drawing/2014/main" id="{EB6684DE-5CE5-E2C2-94F5-7397A99093DA}"/>
              </a:ext>
            </a:extLst>
          </p:cNvPr>
          <p:cNvSpPr/>
          <p:nvPr/>
        </p:nvSpPr>
        <p:spPr>
          <a:xfrm>
            <a:off x="6564960" y="4949858"/>
            <a:ext cx="1316736" cy="201168"/>
          </a:xfrm>
          <a:prstGeom prst="rect">
            <a:avLst/>
          </a:prstGeom>
          <a:noFill/>
          <a:ln/>
        </p:spPr>
        <p:txBody>
          <a:bodyPr wrap="square" lIns="0" tIns="0" rIns="0" bIns="0" rtlCol="0" anchor="ctr"/>
          <a:lstStyle/>
          <a:p>
            <a:pPr marL="0" indent="0" algn="ctr">
              <a:buNone/>
            </a:pPr>
            <a:r>
              <a:rPr lang="en-US" sz="1400" b="1" dirty="0">
                <a:solidFill>
                  <a:schemeClr val="tx1">
                    <a:lumMod val="75000"/>
                  </a:schemeClr>
                </a:solidFill>
                <a:latin typeface="Calibri" pitchFamily="34" charset="0"/>
                <a:ea typeface="Calibri" pitchFamily="34" charset="-122"/>
                <a:cs typeface="Calibri" pitchFamily="34" charset="-120"/>
              </a:rPr>
              <a:t>65%</a:t>
            </a:r>
            <a:endParaRPr lang="en-US" sz="1400" dirty="0">
              <a:solidFill>
                <a:schemeClr val="tx1">
                  <a:lumMod val="75000"/>
                </a:schemeClr>
              </a:solidFill>
            </a:endParaRPr>
          </a:p>
        </p:txBody>
      </p:sp>
      <p:sp>
        <p:nvSpPr>
          <p:cNvPr id="86" name="Text 62">
            <a:extLst>
              <a:ext uri="{FF2B5EF4-FFF2-40B4-BE49-F238E27FC236}">
                <a16:creationId xmlns:a16="http://schemas.microsoft.com/office/drawing/2014/main" id="{C844CE18-33A1-23A6-4FF9-2B2099AA500C}"/>
              </a:ext>
            </a:extLst>
          </p:cNvPr>
          <p:cNvSpPr/>
          <p:nvPr/>
        </p:nvSpPr>
        <p:spPr>
          <a:xfrm>
            <a:off x="9076661" y="5057253"/>
            <a:ext cx="731520" cy="411480"/>
          </a:xfrm>
          <a:prstGeom prst="rect">
            <a:avLst/>
          </a:prstGeom>
          <a:solidFill>
            <a:schemeClr val="accent4">
              <a:lumMod val="60000"/>
              <a:lumOff val="40000"/>
            </a:schemeClr>
          </a:solidFill>
          <a:ln/>
        </p:spPr>
        <p:txBody>
          <a:bodyPr wrap="square" lIns="0" tIns="0" rIns="0" bIns="0" rtlCol="0" anchor="ctr"/>
          <a:lstStyle/>
          <a:p>
            <a:pPr marL="0" indent="0" algn="ctr">
              <a:buNone/>
            </a:pPr>
            <a:r>
              <a:rPr lang="en-US" sz="1400" dirty="0">
                <a:solidFill>
                  <a:schemeClr val="tx1">
                    <a:lumMod val="75000"/>
                  </a:schemeClr>
                </a:solidFill>
                <a:latin typeface="Calibri" pitchFamily="34" charset="0"/>
                <a:ea typeface="Calibri" pitchFamily="34" charset="-122"/>
                <a:cs typeface="Calibri" pitchFamily="34" charset="-120"/>
              </a:rPr>
              <a:t>84%</a:t>
            </a:r>
            <a:endParaRPr lang="en-US" sz="1400" dirty="0">
              <a:solidFill>
                <a:schemeClr val="tx1">
                  <a:lumMod val="75000"/>
                </a:schemeClr>
              </a:solidFill>
            </a:endParaRPr>
          </a:p>
        </p:txBody>
      </p:sp>
      <p:sp>
        <p:nvSpPr>
          <p:cNvPr id="87" name="Text 11">
            <a:extLst>
              <a:ext uri="{FF2B5EF4-FFF2-40B4-BE49-F238E27FC236}">
                <a16:creationId xmlns:a16="http://schemas.microsoft.com/office/drawing/2014/main" id="{917D5CD2-EEF6-C0AE-3008-6D3CAC039BF5}"/>
              </a:ext>
            </a:extLst>
          </p:cNvPr>
          <p:cNvSpPr/>
          <p:nvPr/>
        </p:nvSpPr>
        <p:spPr>
          <a:xfrm>
            <a:off x="998202" y="2745183"/>
            <a:ext cx="2938864" cy="640080"/>
          </a:xfrm>
          <a:prstGeom prst="rect">
            <a:avLst/>
          </a:prstGeom>
          <a:solidFill>
            <a:srgbClr val="00249C"/>
          </a:solidFill>
          <a:ln>
            <a:solidFill>
              <a:srgbClr val="00249C"/>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lstStyle/>
          <a:p>
            <a:pPr algn="ctr"/>
            <a:r>
              <a:rPr lang="en-US" sz="1200" b="1" dirty="0">
                <a:solidFill>
                  <a:schemeClr val="bg2"/>
                </a:solidFill>
                <a:latin typeface="Tahoma" panose="020B0604030504040204" pitchFamily="34" charset="0"/>
                <a:ea typeface="Tahoma" panose="020B0604030504040204" pitchFamily="34" charset="0"/>
                <a:cs typeface="Tahoma" panose="020B0604030504040204" pitchFamily="34" charset="0"/>
              </a:rPr>
              <a:t>2. Risk Management &amp; Planning (20%)</a:t>
            </a:r>
          </a:p>
        </p:txBody>
      </p:sp>
      <p:sp>
        <p:nvSpPr>
          <p:cNvPr id="88" name="Text 11">
            <a:extLst>
              <a:ext uri="{FF2B5EF4-FFF2-40B4-BE49-F238E27FC236}">
                <a16:creationId xmlns:a16="http://schemas.microsoft.com/office/drawing/2014/main" id="{7F86E6F3-81BB-01AF-2D9F-6A1991D63281}"/>
              </a:ext>
            </a:extLst>
          </p:cNvPr>
          <p:cNvSpPr/>
          <p:nvPr/>
        </p:nvSpPr>
        <p:spPr>
          <a:xfrm>
            <a:off x="998202" y="3479437"/>
            <a:ext cx="2938864" cy="640080"/>
          </a:xfrm>
          <a:prstGeom prst="rect">
            <a:avLst/>
          </a:prstGeom>
          <a:solidFill>
            <a:srgbClr val="00249C"/>
          </a:solidFill>
          <a:ln>
            <a:solidFill>
              <a:srgbClr val="00249C"/>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lstStyle/>
          <a:p>
            <a:pPr algn="ctr"/>
            <a:r>
              <a:rPr lang="en-US" sz="1200" b="1" dirty="0">
                <a:solidFill>
                  <a:schemeClr val="bg2"/>
                </a:solidFill>
                <a:latin typeface="Tahoma" panose="020B0604030504040204" pitchFamily="34" charset="0"/>
                <a:ea typeface="Tahoma" panose="020B0604030504040204" pitchFamily="34" charset="0"/>
                <a:cs typeface="Tahoma" panose="020B0604030504040204" pitchFamily="34" charset="0"/>
              </a:rPr>
              <a:t>3. Training &amp; Awareness (10%)</a:t>
            </a:r>
          </a:p>
        </p:txBody>
      </p:sp>
      <p:sp>
        <p:nvSpPr>
          <p:cNvPr id="89" name="Text 11">
            <a:extLst>
              <a:ext uri="{FF2B5EF4-FFF2-40B4-BE49-F238E27FC236}">
                <a16:creationId xmlns:a16="http://schemas.microsoft.com/office/drawing/2014/main" id="{FBBB0DA6-AC6E-CF5B-16A3-16D32590C3AA}"/>
              </a:ext>
            </a:extLst>
          </p:cNvPr>
          <p:cNvSpPr/>
          <p:nvPr/>
        </p:nvSpPr>
        <p:spPr>
          <a:xfrm>
            <a:off x="998202" y="4207826"/>
            <a:ext cx="2938864" cy="640080"/>
          </a:xfrm>
          <a:prstGeom prst="rect">
            <a:avLst/>
          </a:prstGeom>
          <a:solidFill>
            <a:srgbClr val="00249C"/>
          </a:solidFill>
          <a:ln>
            <a:solidFill>
              <a:srgbClr val="00249C"/>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lstStyle/>
          <a:p>
            <a:pPr algn="ctr"/>
            <a:r>
              <a:rPr lang="en-US" sz="1200" b="1" dirty="0">
                <a:solidFill>
                  <a:schemeClr val="bg2"/>
                </a:solidFill>
                <a:latin typeface="Tahoma" panose="020B0604030504040204" pitchFamily="34" charset="0"/>
                <a:ea typeface="Tahoma" panose="020B0604030504040204" pitchFamily="34" charset="0"/>
                <a:cs typeface="Tahoma" panose="020B0604030504040204" pitchFamily="34" charset="0"/>
              </a:rPr>
              <a:t>4. Operational Control &amp; Emergency Preparedness (25%)</a:t>
            </a:r>
          </a:p>
        </p:txBody>
      </p:sp>
      <p:sp>
        <p:nvSpPr>
          <p:cNvPr id="90" name="Text 11">
            <a:extLst>
              <a:ext uri="{FF2B5EF4-FFF2-40B4-BE49-F238E27FC236}">
                <a16:creationId xmlns:a16="http://schemas.microsoft.com/office/drawing/2014/main" id="{24DE36AD-FE9C-9906-C01C-1D9E5DC42CDD}"/>
              </a:ext>
            </a:extLst>
          </p:cNvPr>
          <p:cNvSpPr/>
          <p:nvPr/>
        </p:nvSpPr>
        <p:spPr>
          <a:xfrm>
            <a:off x="998202" y="4939856"/>
            <a:ext cx="2938864" cy="640080"/>
          </a:xfrm>
          <a:prstGeom prst="rect">
            <a:avLst/>
          </a:prstGeom>
          <a:solidFill>
            <a:srgbClr val="00249C"/>
          </a:solidFill>
          <a:ln>
            <a:solidFill>
              <a:srgbClr val="00249C"/>
            </a:solidFill>
          </a:ln>
        </p:spPr>
        <p:style>
          <a:lnRef idx="2">
            <a:schemeClr val="accent1"/>
          </a:lnRef>
          <a:fillRef idx="1">
            <a:schemeClr val="lt1"/>
          </a:fillRef>
          <a:effectRef idx="0">
            <a:schemeClr val="accent1"/>
          </a:effectRef>
          <a:fontRef idx="minor">
            <a:schemeClr val="dk1"/>
          </a:fontRef>
        </p:style>
        <p:txBody>
          <a:bodyPr wrap="square" lIns="0" tIns="0" rIns="0" bIns="0" rtlCol="0" anchor="ctr"/>
          <a:lstStyle/>
          <a:p>
            <a:pPr algn="ctr"/>
            <a:r>
              <a:rPr lang="en-US" sz="1200" b="1" dirty="0">
                <a:solidFill>
                  <a:schemeClr val="bg2"/>
                </a:solidFill>
                <a:latin typeface="Tahoma" panose="020B0604030504040204" pitchFamily="34" charset="0"/>
                <a:ea typeface="Tahoma" panose="020B0604030504040204" pitchFamily="34" charset="0"/>
                <a:cs typeface="Tahoma" panose="020B0604030504040204" pitchFamily="34" charset="0"/>
              </a:rPr>
              <a:t>5. Performance Evaluation &amp; Continuous Improvement (25%)</a:t>
            </a:r>
          </a:p>
        </p:txBody>
      </p:sp>
      <p:sp>
        <p:nvSpPr>
          <p:cNvPr id="91" name="Text 3">
            <a:extLst>
              <a:ext uri="{FF2B5EF4-FFF2-40B4-BE49-F238E27FC236}">
                <a16:creationId xmlns:a16="http://schemas.microsoft.com/office/drawing/2014/main" id="{4F70E5BA-29BD-30FB-2776-2823F9A26413}"/>
              </a:ext>
            </a:extLst>
          </p:cNvPr>
          <p:cNvSpPr/>
          <p:nvPr/>
        </p:nvSpPr>
        <p:spPr>
          <a:xfrm>
            <a:off x="998201" y="1577237"/>
            <a:ext cx="2938863" cy="296249"/>
          </a:xfrm>
          <a:prstGeom prst="rect">
            <a:avLst/>
          </a:prstGeom>
          <a:noFill/>
          <a:ln/>
        </p:spPr>
        <p:txBody>
          <a:bodyPr wrap="square" lIns="0" tIns="0" rIns="0" bIns="0" rtlCol="0" anchor="ctr"/>
          <a:lstStyle/>
          <a:p>
            <a:pPr marL="0" indent="0" algn="ctr">
              <a:buNone/>
            </a:pPr>
            <a:r>
              <a:rPr lang="en-US" sz="1600" dirty="0">
                <a:solidFill>
                  <a:srgbClr val="00249C"/>
                </a:solidFill>
                <a:latin typeface="Calibri" pitchFamily="34" charset="0"/>
                <a:ea typeface="Calibri" pitchFamily="34" charset="-122"/>
                <a:cs typeface="Calibri" pitchFamily="34" charset="-120"/>
              </a:rPr>
              <a:t>Pillar</a:t>
            </a:r>
            <a:endParaRPr lang="en-US" sz="1600" dirty="0">
              <a:solidFill>
                <a:srgbClr val="00249C"/>
              </a:solidFill>
            </a:endParaRPr>
          </a:p>
        </p:txBody>
      </p:sp>
      <p:sp>
        <p:nvSpPr>
          <p:cNvPr id="92" name="Text 4">
            <a:extLst>
              <a:ext uri="{FF2B5EF4-FFF2-40B4-BE49-F238E27FC236}">
                <a16:creationId xmlns:a16="http://schemas.microsoft.com/office/drawing/2014/main" id="{D7A36F8B-6D54-086E-C3F8-C1347A7D3E6C}"/>
              </a:ext>
            </a:extLst>
          </p:cNvPr>
          <p:cNvSpPr/>
          <p:nvPr/>
        </p:nvSpPr>
        <p:spPr>
          <a:xfrm>
            <a:off x="4164458" y="1571795"/>
            <a:ext cx="1831378" cy="248846"/>
          </a:xfrm>
          <a:prstGeom prst="rect">
            <a:avLst/>
          </a:prstGeom>
          <a:noFill/>
          <a:ln/>
        </p:spPr>
        <p:txBody>
          <a:bodyPr wrap="square" lIns="0" tIns="0" rIns="0" bIns="0" rtlCol="0" anchor="ctr"/>
          <a:lstStyle/>
          <a:p>
            <a:pPr marL="0" indent="0" algn="ctr">
              <a:buNone/>
            </a:pPr>
            <a:r>
              <a:rPr lang="en-US" sz="1600" dirty="0">
                <a:solidFill>
                  <a:srgbClr val="00249C"/>
                </a:solidFill>
                <a:latin typeface="Calibri" pitchFamily="34" charset="0"/>
                <a:ea typeface="Calibri" pitchFamily="34" charset="-122"/>
                <a:cs typeface="Calibri" pitchFamily="34" charset="-120"/>
              </a:rPr>
              <a:t>Campus X</a:t>
            </a:r>
            <a:endParaRPr lang="en-US" sz="1600" dirty="0">
              <a:solidFill>
                <a:srgbClr val="00249C"/>
              </a:solidFill>
            </a:endParaRPr>
          </a:p>
        </p:txBody>
      </p:sp>
      <p:sp>
        <p:nvSpPr>
          <p:cNvPr id="93" name="Text 5">
            <a:extLst>
              <a:ext uri="{FF2B5EF4-FFF2-40B4-BE49-F238E27FC236}">
                <a16:creationId xmlns:a16="http://schemas.microsoft.com/office/drawing/2014/main" id="{F852F043-5104-652E-EADA-52E6968D0F19}"/>
              </a:ext>
            </a:extLst>
          </p:cNvPr>
          <p:cNvSpPr/>
          <p:nvPr/>
        </p:nvSpPr>
        <p:spPr>
          <a:xfrm>
            <a:off x="6336148" y="1592923"/>
            <a:ext cx="1774358" cy="251945"/>
          </a:xfrm>
          <a:prstGeom prst="rect">
            <a:avLst/>
          </a:prstGeom>
          <a:noFill/>
          <a:ln/>
        </p:spPr>
        <p:txBody>
          <a:bodyPr wrap="square" lIns="0" tIns="0" rIns="0" bIns="0" rtlCol="0" anchor="ctr"/>
          <a:lstStyle/>
          <a:p>
            <a:pPr algn="ctr"/>
            <a:br>
              <a:rPr lang="en-US" sz="1600" dirty="0">
                <a:solidFill>
                  <a:srgbClr val="00249C"/>
                </a:solidFill>
                <a:latin typeface="Calibri" pitchFamily="34" charset="0"/>
                <a:ea typeface="Calibri" pitchFamily="34" charset="-122"/>
                <a:cs typeface="Calibri" pitchFamily="34" charset="-120"/>
              </a:rPr>
            </a:br>
            <a:r>
              <a:rPr lang="en-US" sz="1600" dirty="0">
                <a:solidFill>
                  <a:srgbClr val="00249C"/>
                </a:solidFill>
                <a:latin typeface="Calibri" pitchFamily="34" charset="0"/>
                <a:ea typeface="Calibri" pitchFamily="34" charset="-122"/>
                <a:cs typeface="Calibri" pitchFamily="34" charset="-120"/>
              </a:rPr>
              <a:t>Campus Y</a:t>
            </a:r>
            <a:endParaRPr lang="en-US" sz="1600" dirty="0">
              <a:solidFill>
                <a:srgbClr val="00249C"/>
              </a:solidFill>
            </a:endParaRPr>
          </a:p>
          <a:p>
            <a:pPr marL="0" indent="0" algn="ctr">
              <a:buNone/>
            </a:pPr>
            <a:endParaRPr lang="en-US" sz="1600" dirty="0">
              <a:solidFill>
                <a:srgbClr val="00249C"/>
              </a:solidFill>
              <a:latin typeface="Calibri" pitchFamily="34" charset="0"/>
              <a:ea typeface="Calibri" pitchFamily="34" charset="-122"/>
              <a:cs typeface="Calibri" pitchFamily="34" charset="-120"/>
            </a:endParaRPr>
          </a:p>
        </p:txBody>
      </p:sp>
      <p:sp>
        <p:nvSpPr>
          <p:cNvPr id="94" name="Text 6">
            <a:extLst>
              <a:ext uri="{FF2B5EF4-FFF2-40B4-BE49-F238E27FC236}">
                <a16:creationId xmlns:a16="http://schemas.microsoft.com/office/drawing/2014/main" id="{1E43C59F-9345-7D15-5069-F608DAE42EE6}"/>
              </a:ext>
            </a:extLst>
          </p:cNvPr>
          <p:cNvSpPr/>
          <p:nvPr/>
        </p:nvSpPr>
        <p:spPr>
          <a:xfrm>
            <a:off x="8450818" y="1595450"/>
            <a:ext cx="2124260" cy="246889"/>
          </a:xfrm>
          <a:prstGeom prst="rect">
            <a:avLst/>
          </a:prstGeom>
          <a:noFill/>
          <a:ln/>
        </p:spPr>
        <p:txBody>
          <a:bodyPr wrap="square" lIns="0" tIns="0" rIns="0" bIns="0" rtlCol="0" anchor="ctr"/>
          <a:lstStyle/>
          <a:p>
            <a:pPr marL="0" indent="0" algn="ctr">
              <a:buNone/>
            </a:pPr>
            <a:r>
              <a:rPr lang="en-US" sz="1600" dirty="0">
                <a:solidFill>
                  <a:srgbClr val="00249C"/>
                </a:solidFill>
                <a:latin typeface="Calibri" pitchFamily="34" charset="0"/>
                <a:ea typeface="Calibri" pitchFamily="34" charset="-122"/>
                <a:cs typeface="Calibri" pitchFamily="34" charset="-120"/>
              </a:rPr>
              <a:t>Avg Across Campuses </a:t>
            </a:r>
            <a:endParaRPr lang="en-US" sz="1600" dirty="0">
              <a:solidFill>
                <a:srgbClr val="00249C"/>
              </a:solidFill>
            </a:endParaRPr>
          </a:p>
        </p:txBody>
      </p:sp>
      <p:cxnSp>
        <p:nvCxnSpPr>
          <p:cNvPr id="95" name="Straight Connector 94">
            <a:extLst>
              <a:ext uri="{FF2B5EF4-FFF2-40B4-BE49-F238E27FC236}">
                <a16:creationId xmlns:a16="http://schemas.microsoft.com/office/drawing/2014/main" id="{42D10289-80BB-B0EA-E1D3-66ED48D5518F}"/>
              </a:ext>
            </a:extLst>
          </p:cNvPr>
          <p:cNvCxnSpPr/>
          <p:nvPr/>
        </p:nvCxnSpPr>
        <p:spPr>
          <a:xfrm>
            <a:off x="998202" y="1932032"/>
            <a:ext cx="9604942" cy="0"/>
          </a:xfrm>
          <a:prstGeom prst="line">
            <a:avLst/>
          </a:prstGeom>
          <a:ln>
            <a:solidFill>
              <a:srgbClr val="00249C"/>
            </a:solidFill>
          </a:ln>
        </p:spPr>
        <p:style>
          <a:lnRef idx="1">
            <a:schemeClr val="accent1"/>
          </a:lnRef>
          <a:fillRef idx="0">
            <a:schemeClr val="accent1"/>
          </a:fillRef>
          <a:effectRef idx="0">
            <a:schemeClr val="accent1"/>
          </a:effectRef>
          <a:fontRef idx="minor">
            <a:schemeClr val="tx1"/>
          </a:fontRef>
        </p:style>
      </p:cxnSp>
      <p:sp>
        <p:nvSpPr>
          <p:cNvPr id="2" name="Shape 3">
            <a:extLst>
              <a:ext uri="{FF2B5EF4-FFF2-40B4-BE49-F238E27FC236}">
                <a16:creationId xmlns:a16="http://schemas.microsoft.com/office/drawing/2014/main" id="{20B80BA5-F304-C2A3-8802-DC97E50A4ED0}"/>
              </a:ext>
            </a:extLst>
          </p:cNvPr>
          <p:cNvSpPr/>
          <p:nvPr/>
        </p:nvSpPr>
        <p:spPr>
          <a:xfrm>
            <a:off x="4405066" y="5656773"/>
            <a:ext cx="2011680" cy="1143000"/>
          </a:xfrm>
          <a:prstGeom prst="roundRect">
            <a:avLst>
              <a:gd name="adj" fmla="val 6400"/>
            </a:avLst>
          </a:prstGeom>
          <a:solidFill>
            <a:srgbClr val="FFFFFF"/>
          </a:solidFill>
          <a:ln w="8890">
            <a:solidFill>
              <a:srgbClr val="DDE6F3"/>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3" name="Shape 4">
            <a:extLst>
              <a:ext uri="{FF2B5EF4-FFF2-40B4-BE49-F238E27FC236}">
                <a16:creationId xmlns:a16="http://schemas.microsoft.com/office/drawing/2014/main" id="{A29C7D7B-77B4-22D1-782D-3E48EA43A63E}"/>
              </a:ext>
            </a:extLst>
          </p:cNvPr>
          <p:cNvSpPr/>
          <p:nvPr/>
        </p:nvSpPr>
        <p:spPr>
          <a:xfrm>
            <a:off x="4412015" y="5656773"/>
            <a:ext cx="73152" cy="1143000"/>
          </a:xfrm>
          <a:prstGeom prst="rect">
            <a:avLst/>
          </a:prstGeom>
          <a:solidFill>
            <a:srgbClr val="B5D4F4"/>
          </a:solidFill>
          <a:ln w="12700">
            <a:solidFill>
              <a:srgbClr val="B5D4F4"/>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4" name="Text 5">
            <a:extLst>
              <a:ext uri="{FF2B5EF4-FFF2-40B4-BE49-F238E27FC236}">
                <a16:creationId xmlns:a16="http://schemas.microsoft.com/office/drawing/2014/main" id="{CC5A3054-ECB2-4DC3-FFBD-C7D890E4F142}"/>
              </a:ext>
            </a:extLst>
          </p:cNvPr>
          <p:cNvSpPr/>
          <p:nvPr/>
        </p:nvSpPr>
        <p:spPr>
          <a:xfrm>
            <a:off x="4606234" y="5803077"/>
            <a:ext cx="1691640" cy="201168"/>
          </a:xfrm>
          <a:prstGeom prst="rect">
            <a:avLst/>
          </a:prstGeom>
          <a:noFill/>
          <a:ln/>
        </p:spPr>
        <p:txBody>
          <a:bodyPr wrap="square" lIns="0" tIns="0" rIns="0" bIns="0" rtlCol="0" anchor="ctr">
            <a:normAutofit/>
          </a:bodyPr>
          <a:lstStyle/>
          <a:p>
            <a:r>
              <a:rPr lang="en-US" sz="900" dirty="0">
                <a:solidFill>
                  <a:srgbClr val="00249C"/>
                </a:solidFill>
                <a:latin typeface="Calibri" pitchFamily="34" charset="0"/>
                <a:ea typeface="Calibri" pitchFamily="34" charset="-122"/>
                <a:cs typeface="Calibri" pitchFamily="34" charset="-120"/>
              </a:rPr>
              <a:t>Campus X </a:t>
            </a:r>
            <a:r>
              <a:rPr lang="en-US" sz="850" b="1" dirty="0">
                <a:solidFill>
                  <a:srgbClr val="00249C"/>
                </a:solidFill>
                <a:latin typeface="Tahoma" panose="020B0604030504040204" pitchFamily="34" charset="0"/>
                <a:ea typeface="Tahoma" panose="020B0604030504040204" pitchFamily="34" charset="0"/>
                <a:cs typeface="Tahoma" panose="020B0604030504040204" pitchFamily="34" charset="0"/>
              </a:rPr>
              <a:t>Total Score</a:t>
            </a:r>
            <a:endParaRPr lang="en-US" sz="850" dirty="0">
              <a:solidFill>
                <a:srgbClr val="00249C"/>
              </a:solidFill>
              <a:latin typeface="Tahoma" panose="020B0604030504040204" pitchFamily="34" charset="0"/>
              <a:ea typeface="Tahoma" panose="020B0604030504040204" pitchFamily="34" charset="0"/>
              <a:cs typeface="Tahoma" panose="020B0604030504040204" pitchFamily="34" charset="0"/>
            </a:endParaRPr>
          </a:p>
        </p:txBody>
      </p:sp>
      <p:sp>
        <p:nvSpPr>
          <p:cNvPr id="8" name="Text 6">
            <a:extLst>
              <a:ext uri="{FF2B5EF4-FFF2-40B4-BE49-F238E27FC236}">
                <a16:creationId xmlns:a16="http://schemas.microsoft.com/office/drawing/2014/main" id="{23838B55-691B-071B-E85E-A6B74C8CCFBF}"/>
              </a:ext>
            </a:extLst>
          </p:cNvPr>
          <p:cNvSpPr/>
          <p:nvPr/>
        </p:nvSpPr>
        <p:spPr>
          <a:xfrm>
            <a:off x="4606234" y="6068253"/>
            <a:ext cx="1691640" cy="384048"/>
          </a:xfrm>
          <a:prstGeom prst="rect">
            <a:avLst/>
          </a:prstGeom>
          <a:noFill/>
          <a:ln/>
        </p:spPr>
        <p:txBody>
          <a:bodyPr wrap="square" lIns="0" tIns="0" rIns="0" bIns="0" rtlCol="0" anchor="ctr"/>
          <a:lstStyle/>
          <a:p>
            <a:pPr marL="0" indent="0">
              <a:buNone/>
            </a:pPr>
            <a:r>
              <a:rPr lang="en-US" sz="2400" b="1" dirty="0">
                <a:solidFill>
                  <a:srgbClr val="4F9D3D"/>
                </a:solidFill>
                <a:latin typeface="Tahoma" panose="020B0604030504040204" pitchFamily="34" charset="0"/>
                <a:ea typeface="Tahoma" panose="020B0604030504040204" pitchFamily="34" charset="0"/>
                <a:cs typeface="Tahoma" panose="020B0604030504040204" pitchFamily="34" charset="0"/>
              </a:rPr>
              <a:t>92%</a:t>
            </a:r>
            <a:endParaRPr lang="en-US" sz="2400" dirty="0">
              <a:solidFill>
                <a:srgbClr val="C0DD97"/>
              </a:solidFill>
              <a:latin typeface="Tahoma" panose="020B0604030504040204" pitchFamily="34" charset="0"/>
              <a:ea typeface="Tahoma" panose="020B0604030504040204" pitchFamily="34" charset="0"/>
              <a:cs typeface="Tahoma" panose="020B0604030504040204" pitchFamily="34" charset="0"/>
            </a:endParaRPr>
          </a:p>
        </p:txBody>
      </p:sp>
      <p:sp>
        <p:nvSpPr>
          <p:cNvPr id="9" name="Text 7">
            <a:extLst>
              <a:ext uri="{FF2B5EF4-FFF2-40B4-BE49-F238E27FC236}">
                <a16:creationId xmlns:a16="http://schemas.microsoft.com/office/drawing/2014/main" id="{8F485DFD-C27F-DE27-6A11-1CBB09C4CED7}"/>
              </a:ext>
            </a:extLst>
          </p:cNvPr>
          <p:cNvSpPr/>
          <p:nvPr/>
        </p:nvSpPr>
        <p:spPr>
          <a:xfrm>
            <a:off x="4606234" y="6498021"/>
            <a:ext cx="1691640" cy="228600"/>
          </a:xfrm>
          <a:prstGeom prst="rect">
            <a:avLst/>
          </a:prstGeom>
          <a:noFill/>
          <a:ln/>
        </p:spPr>
        <p:txBody>
          <a:bodyPr wrap="square" lIns="0" tIns="0" rIns="0" bIns="0" rtlCol="0" anchor="ctr">
            <a:normAutofit/>
          </a:bodyPr>
          <a:lstStyle/>
          <a:p>
            <a:pPr marL="0" indent="0">
              <a:buNone/>
            </a:pPr>
            <a:r>
              <a:rPr lang="en-US" sz="800" dirty="0">
                <a:solidFill>
                  <a:srgbClr val="00249C"/>
                </a:solidFill>
                <a:latin typeface="Tahoma" panose="020B0604030504040204" pitchFamily="34" charset="0"/>
                <a:ea typeface="Tahoma" panose="020B0604030504040204" pitchFamily="34" charset="0"/>
                <a:cs typeface="Tahoma" panose="020B0604030504040204" pitchFamily="34" charset="0"/>
              </a:rPr>
              <a:t>Target: 100%</a:t>
            </a:r>
          </a:p>
        </p:txBody>
      </p:sp>
      <p:sp>
        <p:nvSpPr>
          <p:cNvPr id="10" name="Shape 8">
            <a:extLst>
              <a:ext uri="{FF2B5EF4-FFF2-40B4-BE49-F238E27FC236}">
                <a16:creationId xmlns:a16="http://schemas.microsoft.com/office/drawing/2014/main" id="{D490E1E8-506F-A5B9-A4CC-784E98FE5337}"/>
              </a:ext>
            </a:extLst>
          </p:cNvPr>
          <p:cNvSpPr/>
          <p:nvPr/>
        </p:nvSpPr>
        <p:spPr>
          <a:xfrm>
            <a:off x="6558010" y="5656773"/>
            <a:ext cx="2011680" cy="1143000"/>
          </a:xfrm>
          <a:prstGeom prst="roundRect">
            <a:avLst>
              <a:gd name="adj" fmla="val 6400"/>
            </a:avLst>
          </a:prstGeom>
          <a:solidFill>
            <a:srgbClr val="FFFFFF"/>
          </a:solidFill>
          <a:ln w="8890">
            <a:solidFill>
              <a:srgbClr val="DDE6F3"/>
            </a:solidFill>
            <a:prstDash val="solid"/>
          </a:ln>
        </p:spPr>
        <p:txBody>
          <a:bodyPr/>
          <a:lstStyle/>
          <a:p>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11" name="Shape 9">
            <a:extLst>
              <a:ext uri="{FF2B5EF4-FFF2-40B4-BE49-F238E27FC236}">
                <a16:creationId xmlns:a16="http://schemas.microsoft.com/office/drawing/2014/main" id="{DE9DDCEF-95FE-FC55-11BB-730BFF4CE7E0}"/>
              </a:ext>
            </a:extLst>
          </p:cNvPr>
          <p:cNvSpPr/>
          <p:nvPr/>
        </p:nvSpPr>
        <p:spPr>
          <a:xfrm>
            <a:off x="6564959" y="5656773"/>
            <a:ext cx="73152" cy="1143000"/>
          </a:xfrm>
          <a:prstGeom prst="rect">
            <a:avLst/>
          </a:prstGeom>
          <a:solidFill>
            <a:srgbClr val="B5D4F4"/>
          </a:solidFill>
          <a:ln w="12700">
            <a:solidFill>
              <a:srgbClr val="B5D4F4"/>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12" name="Text 10">
            <a:extLst>
              <a:ext uri="{FF2B5EF4-FFF2-40B4-BE49-F238E27FC236}">
                <a16:creationId xmlns:a16="http://schemas.microsoft.com/office/drawing/2014/main" id="{F94524AF-AAB9-6972-CCEF-22D6F85BB006}"/>
              </a:ext>
            </a:extLst>
          </p:cNvPr>
          <p:cNvSpPr/>
          <p:nvPr/>
        </p:nvSpPr>
        <p:spPr>
          <a:xfrm>
            <a:off x="6759178" y="5803077"/>
            <a:ext cx="1691640" cy="201168"/>
          </a:xfrm>
          <a:prstGeom prst="rect">
            <a:avLst/>
          </a:prstGeom>
          <a:noFill/>
          <a:ln/>
        </p:spPr>
        <p:txBody>
          <a:bodyPr wrap="square" lIns="0" tIns="0" rIns="0" bIns="0" rtlCol="0" anchor="ctr">
            <a:normAutofit/>
          </a:bodyPr>
          <a:lstStyle/>
          <a:p>
            <a:r>
              <a:rPr lang="en-US" sz="900" dirty="0">
                <a:solidFill>
                  <a:srgbClr val="00249C"/>
                </a:solidFill>
                <a:latin typeface="Calibri" pitchFamily="34" charset="0"/>
                <a:ea typeface="Calibri" pitchFamily="34" charset="-122"/>
                <a:cs typeface="Calibri" pitchFamily="34" charset="-120"/>
              </a:rPr>
              <a:t>Campus Y</a:t>
            </a:r>
            <a:r>
              <a:rPr lang="en-US" sz="850" b="1" dirty="0">
                <a:solidFill>
                  <a:srgbClr val="00249C"/>
                </a:solidFill>
                <a:latin typeface="Tahoma" panose="020B0604030504040204" pitchFamily="34" charset="0"/>
                <a:ea typeface="Tahoma" panose="020B0604030504040204" pitchFamily="34" charset="0"/>
                <a:cs typeface="Tahoma" panose="020B0604030504040204" pitchFamily="34" charset="0"/>
              </a:rPr>
              <a:t> Total Score</a:t>
            </a:r>
            <a:endParaRPr lang="en-US" sz="850" dirty="0">
              <a:solidFill>
                <a:srgbClr val="00249C"/>
              </a:solidFill>
              <a:latin typeface="Tahoma" panose="020B0604030504040204" pitchFamily="34" charset="0"/>
              <a:ea typeface="Tahoma" panose="020B0604030504040204" pitchFamily="34" charset="0"/>
              <a:cs typeface="Tahoma" panose="020B0604030504040204" pitchFamily="34" charset="0"/>
            </a:endParaRPr>
          </a:p>
        </p:txBody>
      </p:sp>
      <p:sp>
        <p:nvSpPr>
          <p:cNvPr id="13" name="Text 11">
            <a:extLst>
              <a:ext uri="{FF2B5EF4-FFF2-40B4-BE49-F238E27FC236}">
                <a16:creationId xmlns:a16="http://schemas.microsoft.com/office/drawing/2014/main" id="{AB5F7F04-7F88-D15D-9522-74A54C148186}"/>
              </a:ext>
            </a:extLst>
          </p:cNvPr>
          <p:cNvSpPr/>
          <p:nvPr/>
        </p:nvSpPr>
        <p:spPr>
          <a:xfrm>
            <a:off x="6759178" y="6068253"/>
            <a:ext cx="1691640" cy="384048"/>
          </a:xfrm>
          <a:prstGeom prst="rect">
            <a:avLst/>
          </a:prstGeom>
          <a:noFill/>
          <a:ln/>
        </p:spPr>
        <p:txBody>
          <a:bodyPr wrap="square" lIns="0" tIns="0" rIns="0" bIns="0" rtlCol="0" anchor="ctr"/>
          <a:lstStyle/>
          <a:p>
            <a:pPr marL="0" indent="0">
              <a:buNone/>
            </a:pPr>
            <a:r>
              <a:rPr lang="en-US" sz="2400" b="1" dirty="0">
                <a:solidFill>
                  <a:srgbClr val="D64545"/>
                </a:solidFill>
                <a:latin typeface="Tahoma" panose="020B0604030504040204" pitchFamily="34" charset="0"/>
                <a:ea typeface="Tahoma" panose="020B0604030504040204" pitchFamily="34" charset="0"/>
                <a:cs typeface="Tahoma" panose="020B0604030504040204" pitchFamily="34" charset="0"/>
              </a:rPr>
              <a:t>90%</a:t>
            </a:r>
            <a:endParaRPr lang="en-US" sz="2400" dirty="0">
              <a:solidFill>
                <a:srgbClr val="F7C1C1"/>
              </a:solidFill>
              <a:latin typeface="Tahoma" panose="020B0604030504040204" pitchFamily="34" charset="0"/>
              <a:ea typeface="Tahoma" panose="020B0604030504040204" pitchFamily="34" charset="0"/>
              <a:cs typeface="Tahoma" panose="020B0604030504040204" pitchFamily="34" charset="0"/>
            </a:endParaRPr>
          </a:p>
        </p:txBody>
      </p:sp>
      <p:sp>
        <p:nvSpPr>
          <p:cNvPr id="14" name="Text 12">
            <a:extLst>
              <a:ext uri="{FF2B5EF4-FFF2-40B4-BE49-F238E27FC236}">
                <a16:creationId xmlns:a16="http://schemas.microsoft.com/office/drawing/2014/main" id="{C38DF26B-7C62-9920-49B6-52D3654044D0}"/>
              </a:ext>
            </a:extLst>
          </p:cNvPr>
          <p:cNvSpPr/>
          <p:nvPr/>
        </p:nvSpPr>
        <p:spPr>
          <a:xfrm>
            <a:off x="6759178" y="6498021"/>
            <a:ext cx="1691640" cy="228600"/>
          </a:xfrm>
          <a:prstGeom prst="rect">
            <a:avLst/>
          </a:prstGeom>
          <a:noFill/>
          <a:ln/>
        </p:spPr>
        <p:txBody>
          <a:bodyPr wrap="square" lIns="0" tIns="0" rIns="0" bIns="0" rtlCol="0" anchor="ctr">
            <a:normAutofit/>
          </a:bodyPr>
          <a:lstStyle/>
          <a:p>
            <a:pPr marL="0" indent="0">
              <a:buNone/>
            </a:pPr>
            <a:r>
              <a:rPr lang="en-US" sz="800" dirty="0">
                <a:solidFill>
                  <a:srgbClr val="00249C"/>
                </a:solidFill>
                <a:latin typeface="Tahoma" panose="020B0604030504040204" pitchFamily="34" charset="0"/>
                <a:ea typeface="Tahoma" panose="020B0604030504040204" pitchFamily="34" charset="0"/>
                <a:cs typeface="Tahoma" panose="020B0604030504040204" pitchFamily="34" charset="0"/>
              </a:rPr>
              <a:t>Target: 100%</a:t>
            </a:r>
          </a:p>
        </p:txBody>
      </p:sp>
      <p:sp>
        <p:nvSpPr>
          <p:cNvPr id="15" name="Shape 13">
            <a:extLst>
              <a:ext uri="{FF2B5EF4-FFF2-40B4-BE49-F238E27FC236}">
                <a16:creationId xmlns:a16="http://schemas.microsoft.com/office/drawing/2014/main" id="{85582E47-FDA5-7BD3-9993-ACA0D7136A1C}"/>
              </a:ext>
            </a:extLst>
          </p:cNvPr>
          <p:cNvSpPr/>
          <p:nvPr/>
        </p:nvSpPr>
        <p:spPr>
          <a:xfrm>
            <a:off x="8710954" y="5663225"/>
            <a:ext cx="2011680" cy="1143000"/>
          </a:xfrm>
          <a:prstGeom prst="roundRect">
            <a:avLst>
              <a:gd name="adj" fmla="val 6400"/>
            </a:avLst>
          </a:prstGeom>
          <a:solidFill>
            <a:srgbClr val="FFFFFF"/>
          </a:solidFill>
          <a:ln w="8890">
            <a:solidFill>
              <a:srgbClr val="DDE6F3"/>
            </a:solidFill>
            <a:prstDash val="solid"/>
          </a:ln>
        </p:spPr>
        <p:txBody>
          <a:bodyPr/>
          <a:lstStyle/>
          <a:p>
            <a:endParaRPr lang="en-US" dirty="0">
              <a:latin typeface="Tahoma" panose="020B0604030504040204" pitchFamily="34" charset="0"/>
              <a:ea typeface="Tahoma" panose="020B0604030504040204" pitchFamily="34" charset="0"/>
              <a:cs typeface="Tahoma" panose="020B0604030504040204" pitchFamily="34" charset="0"/>
            </a:endParaRPr>
          </a:p>
        </p:txBody>
      </p:sp>
      <p:sp>
        <p:nvSpPr>
          <p:cNvPr id="17" name="Shape 14">
            <a:extLst>
              <a:ext uri="{FF2B5EF4-FFF2-40B4-BE49-F238E27FC236}">
                <a16:creationId xmlns:a16="http://schemas.microsoft.com/office/drawing/2014/main" id="{360916A7-3E42-58AE-F5C2-8C3004CBCB12}"/>
              </a:ext>
            </a:extLst>
          </p:cNvPr>
          <p:cNvSpPr/>
          <p:nvPr/>
        </p:nvSpPr>
        <p:spPr>
          <a:xfrm>
            <a:off x="8710954" y="5663225"/>
            <a:ext cx="73152" cy="1143000"/>
          </a:xfrm>
          <a:prstGeom prst="rect">
            <a:avLst/>
          </a:prstGeom>
          <a:solidFill>
            <a:srgbClr val="B5D4F4"/>
          </a:solidFill>
          <a:ln w="12700">
            <a:solidFill>
              <a:srgbClr val="B5D4F4"/>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18" name="Text 15">
            <a:extLst>
              <a:ext uri="{FF2B5EF4-FFF2-40B4-BE49-F238E27FC236}">
                <a16:creationId xmlns:a16="http://schemas.microsoft.com/office/drawing/2014/main" id="{4B09F206-B6DA-38C5-5B9A-AE66D7E02895}"/>
              </a:ext>
            </a:extLst>
          </p:cNvPr>
          <p:cNvSpPr/>
          <p:nvPr/>
        </p:nvSpPr>
        <p:spPr>
          <a:xfrm>
            <a:off x="8912122" y="5809529"/>
            <a:ext cx="1691640" cy="201168"/>
          </a:xfrm>
          <a:prstGeom prst="rect">
            <a:avLst/>
          </a:prstGeom>
          <a:noFill/>
          <a:ln/>
        </p:spPr>
        <p:txBody>
          <a:bodyPr wrap="square" lIns="0" tIns="0" rIns="0" bIns="0" rtlCol="0" anchor="ctr">
            <a:normAutofit/>
          </a:bodyPr>
          <a:lstStyle/>
          <a:p>
            <a:pPr marL="0" indent="0">
              <a:buNone/>
            </a:pPr>
            <a:r>
              <a:rPr lang="en-US" sz="850" b="1" dirty="0">
                <a:solidFill>
                  <a:srgbClr val="00249C"/>
                </a:solidFill>
                <a:latin typeface="Tahoma" panose="020B0604030504040204" pitchFamily="34" charset="0"/>
                <a:ea typeface="Tahoma" panose="020B0604030504040204" pitchFamily="34" charset="0"/>
                <a:cs typeface="Tahoma" panose="020B0604030504040204" pitchFamily="34" charset="0"/>
              </a:rPr>
              <a:t>Avg Across Campuses</a:t>
            </a:r>
            <a:endParaRPr lang="en-US" sz="850" dirty="0">
              <a:solidFill>
                <a:srgbClr val="00249C"/>
              </a:solidFill>
              <a:latin typeface="Tahoma" panose="020B0604030504040204" pitchFamily="34" charset="0"/>
              <a:ea typeface="Tahoma" panose="020B0604030504040204" pitchFamily="34" charset="0"/>
              <a:cs typeface="Tahoma" panose="020B0604030504040204" pitchFamily="34" charset="0"/>
            </a:endParaRPr>
          </a:p>
        </p:txBody>
      </p:sp>
      <p:sp>
        <p:nvSpPr>
          <p:cNvPr id="19" name="Text 16">
            <a:extLst>
              <a:ext uri="{FF2B5EF4-FFF2-40B4-BE49-F238E27FC236}">
                <a16:creationId xmlns:a16="http://schemas.microsoft.com/office/drawing/2014/main" id="{36836A9C-BE22-08D0-60CB-84A1FDB6FE39}"/>
              </a:ext>
            </a:extLst>
          </p:cNvPr>
          <p:cNvSpPr/>
          <p:nvPr/>
        </p:nvSpPr>
        <p:spPr>
          <a:xfrm>
            <a:off x="8912122" y="6074705"/>
            <a:ext cx="1691640" cy="384048"/>
          </a:xfrm>
          <a:prstGeom prst="rect">
            <a:avLst/>
          </a:prstGeom>
          <a:noFill/>
          <a:ln/>
        </p:spPr>
        <p:txBody>
          <a:bodyPr wrap="square" lIns="0" tIns="0" rIns="0" bIns="0" rtlCol="0" anchor="ctr"/>
          <a:lstStyle/>
          <a:p>
            <a:pPr marL="0" indent="0">
              <a:buNone/>
            </a:pPr>
            <a:r>
              <a:rPr lang="en-US" sz="2400" b="1" dirty="0">
                <a:solidFill>
                  <a:srgbClr val="2F6FB0"/>
                </a:solidFill>
                <a:latin typeface="Tahoma" panose="020B0604030504040204" pitchFamily="34" charset="0"/>
                <a:ea typeface="Tahoma" panose="020B0604030504040204" pitchFamily="34" charset="0"/>
                <a:cs typeface="Tahoma" panose="020B0604030504040204" pitchFamily="34" charset="0"/>
              </a:rPr>
              <a:t>95%</a:t>
            </a:r>
            <a:endParaRPr lang="en-US" sz="2400" dirty="0">
              <a:solidFill>
                <a:srgbClr val="B5D4F4"/>
              </a:solidFill>
              <a:latin typeface="Tahoma" panose="020B0604030504040204" pitchFamily="34" charset="0"/>
              <a:ea typeface="Tahoma" panose="020B0604030504040204" pitchFamily="34" charset="0"/>
              <a:cs typeface="Tahoma" panose="020B0604030504040204" pitchFamily="34" charset="0"/>
            </a:endParaRPr>
          </a:p>
        </p:txBody>
      </p:sp>
      <p:sp>
        <p:nvSpPr>
          <p:cNvPr id="20" name="Text 17">
            <a:extLst>
              <a:ext uri="{FF2B5EF4-FFF2-40B4-BE49-F238E27FC236}">
                <a16:creationId xmlns:a16="http://schemas.microsoft.com/office/drawing/2014/main" id="{7624AC58-4425-0C3E-F731-43A967488991}"/>
              </a:ext>
            </a:extLst>
          </p:cNvPr>
          <p:cNvSpPr/>
          <p:nvPr/>
        </p:nvSpPr>
        <p:spPr>
          <a:xfrm>
            <a:off x="8912122" y="6504473"/>
            <a:ext cx="1691640" cy="228600"/>
          </a:xfrm>
          <a:prstGeom prst="rect">
            <a:avLst/>
          </a:prstGeom>
          <a:noFill/>
          <a:ln/>
        </p:spPr>
        <p:txBody>
          <a:bodyPr wrap="square" lIns="0" tIns="0" rIns="0" bIns="0" rtlCol="0" anchor="ctr">
            <a:normAutofit/>
          </a:bodyPr>
          <a:lstStyle/>
          <a:p>
            <a:pPr marL="0" indent="0">
              <a:buNone/>
            </a:pPr>
            <a:r>
              <a:rPr lang="en-US" sz="800" dirty="0">
                <a:solidFill>
                  <a:srgbClr val="00249C"/>
                </a:solidFill>
                <a:latin typeface="Tahoma" panose="020B0604030504040204" pitchFamily="34" charset="0"/>
                <a:ea typeface="Tahoma" panose="020B0604030504040204" pitchFamily="34" charset="0"/>
                <a:cs typeface="Tahoma" panose="020B0604030504040204" pitchFamily="34" charset="0"/>
              </a:rPr>
              <a:t>Benchmark comparison</a:t>
            </a:r>
          </a:p>
        </p:txBody>
      </p:sp>
      <p:sp>
        <p:nvSpPr>
          <p:cNvPr id="22" name="Title 1">
            <a:extLst>
              <a:ext uri="{FF2B5EF4-FFF2-40B4-BE49-F238E27FC236}">
                <a16:creationId xmlns:a16="http://schemas.microsoft.com/office/drawing/2014/main" id="{CD5AC918-06A5-5101-85FB-F4BB67E22D83}"/>
              </a:ext>
            </a:extLst>
          </p:cNvPr>
          <p:cNvSpPr txBox="1">
            <a:spLocks/>
          </p:cNvSpPr>
          <p:nvPr/>
        </p:nvSpPr>
        <p:spPr>
          <a:xfrm>
            <a:off x="572333" y="99680"/>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2. EHS KPI Dashboard</a:t>
            </a:r>
          </a:p>
          <a:p>
            <a:r>
              <a:rPr lang="en-US" sz="2400" b="0" dirty="0"/>
              <a:t>	</a:t>
            </a:r>
          </a:p>
        </p:txBody>
      </p:sp>
    </p:spTree>
    <p:extLst>
      <p:ext uri="{BB962C8B-B14F-4D97-AF65-F5344CB8AC3E}">
        <p14:creationId xmlns:p14="http://schemas.microsoft.com/office/powerpoint/2010/main" val="7737803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D99B9-3820-B971-B1D7-620DEE0071F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F0CA8B27-2052-82D9-14D5-4BBDD783CF5D}"/>
              </a:ext>
            </a:extLst>
          </p:cNvPr>
          <p:cNvSpPr txBox="1">
            <a:spLocks/>
          </p:cNvSpPr>
          <p:nvPr/>
        </p:nvSpPr>
        <p:spPr>
          <a:xfrm>
            <a:off x="659213" y="144976"/>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2800" dirty="0"/>
              <a:t>2. EHS KPI Dashboard</a:t>
            </a:r>
          </a:p>
          <a:p>
            <a:r>
              <a:rPr lang="en-US" sz="2400" b="0" dirty="0"/>
              <a:t>1. Leadership, Accountability &amp; Engagement - </a:t>
            </a:r>
            <a:r>
              <a:rPr lang="en-US" sz="2400" b="0" i="1" dirty="0"/>
              <a:t>Accountability</a:t>
            </a:r>
          </a:p>
        </p:txBody>
      </p:sp>
      <p:graphicFrame>
        <p:nvGraphicFramePr>
          <p:cNvPr id="12" name="Chart 11">
            <a:extLst>
              <a:ext uri="{FF2B5EF4-FFF2-40B4-BE49-F238E27FC236}">
                <a16:creationId xmlns:a16="http://schemas.microsoft.com/office/drawing/2014/main" id="{5FF326FB-2CC1-18F7-D4A2-2E078F7AC456}"/>
              </a:ext>
            </a:extLst>
          </p:cNvPr>
          <p:cNvGraphicFramePr/>
          <p:nvPr/>
        </p:nvGraphicFramePr>
        <p:xfrm>
          <a:off x="7879851" y="1332825"/>
          <a:ext cx="3891221" cy="2196353"/>
        </p:xfrm>
        <a:graphic>
          <a:graphicData uri="http://schemas.openxmlformats.org/drawingml/2006/chart">
            <c:chart xmlns:c="http://schemas.openxmlformats.org/drawingml/2006/chart" xmlns:r="http://schemas.openxmlformats.org/officeDocument/2006/relationships" r:id="rId2"/>
          </a:graphicData>
        </a:graphic>
      </p:graphicFrame>
      <p:sp>
        <p:nvSpPr>
          <p:cNvPr id="3" name="Rectangle 2">
            <a:extLst>
              <a:ext uri="{FF2B5EF4-FFF2-40B4-BE49-F238E27FC236}">
                <a16:creationId xmlns:a16="http://schemas.microsoft.com/office/drawing/2014/main" id="{FCBC2F13-6120-B3B1-D8C6-492868C999A7}"/>
              </a:ext>
            </a:extLst>
          </p:cNvPr>
          <p:cNvSpPr/>
          <p:nvPr/>
        </p:nvSpPr>
        <p:spPr>
          <a:xfrm>
            <a:off x="4295554" y="1334435"/>
            <a:ext cx="3454707" cy="15339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solidFill>
                  <a:srgbClr val="00249C"/>
                </a:solidFill>
                <a:latin typeface="Tahoma" panose="020B0604030504040204" pitchFamily="34" charset="0"/>
                <a:ea typeface="Tahoma" panose="020B0604030504040204" pitchFamily="34" charset="0"/>
                <a:cs typeface="Tahoma" panose="020B0604030504040204" pitchFamily="34" charset="0"/>
              </a:rPr>
              <a:t>KPI 2 – External Audit Findings Closed (%)</a:t>
            </a:r>
            <a:br>
              <a:rPr lang="en-US" sz="1100" b="1" dirty="0">
                <a:solidFill>
                  <a:srgbClr val="00249C"/>
                </a:solidFill>
                <a:latin typeface="Tahoma" panose="020B0604030504040204" pitchFamily="34" charset="0"/>
                <a:ea typeface="Tahoma" panose="020B0604030504040204" pitchFamily="34" charset="0"/>
                <a:cs typeface="Tahoma" panose="020B0604030504040204" pitchFamily="34" charset="0"/>
              </a:rPr>
            </a:br>
            <a:endParaRPr lang="en-US" sz="1100" dirty="0">
              <a:solidFill>
                <a:srgbClr val="00249C"/>
              </a:solidFill>
              <a:latin typeface="Tahoma" panose="020B0604030504040204" pitchFamily="34" charset="0"/>
              <a:ea typeface="Tahoma" panose="020B0604030504040204" pitchFamily="34" charset="0"/>
              <a:cs typeface="Tahoma" panose="020B0604030504040204" pitchFamily="34" charset="0"/>
            </a:endParaRPr>
          </a:p>
          <a:p>
            <a:pPr indent="-285750" algn="ctr">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dirty="0">
                <a:solidFill>
                  <a:srgbClr val="00249C"/>
                </a:solidFill>
                <a:latin typeface="Tahoma" panose="020B0604030504040204" pitchFamily="34" charset="0"/>
                <a:ea typeface="Tahoma" panose="020B0604030504040204" pitchFamily="34" charset="0"/>
                <a:cs typeface="Tahoma" panose="020B0604030504040204" pitchFamily="34" charset="0"/>
              </a:rPr>
              <a:t>No scoring for this quarter</a:t>
            </a:r>
          </a:p>
        </p:txBody>
      </p:sp>
      <p:sp>
        <p:nvSpPr>
          <p:cNvPr id="7" name="Rectangle 6">
            <a:extLst>
              <a:ext uri="{FF2B5EF4-FFF2-40B4-BE49-F238E27FC236}">
                <a16:creationId xmlns:a16="http://schemas.microsoft.com/office/drawing/2014/main" id="{5B5A5FD2-6ECA-AACF-4679-872C97F3E7DF}"/>
              </a:ext>
            </a:extLst>
          </p:cNvPr>
          <p:cNvSpPr/>
          <p:nvPr/>
        </p:nvSpPr>
        <p:spPr>
          <a:xfrm>
            <a:off x="857443" y="1332825"/>
            <a:ext cx="3454707" cy="15339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solidFill>
                  <a:srgbClr val="00249C"/>
                </a:solidFill>
                <a:latin typeface="Tahoma" panose="020B0604030504040204" pitchFamily="34" charset="0"/>
                <a:ea typeface="Tahoma" panose="020B0604030504040204" pitchFamily="34" charset="0"/>
                <a:cs typeface="Tahoma" panose="020B0604030504040204" pitchFamily="34" charset="0"/>
              </a:rPr>
              <a:t>KPI 1 - </a:t>
            </a:r>
            <a:r>
              <a:rPr lang="en-US" sz="1200" b="1" dirty="0">
                <a:solidFill>
                  <a:srgbClr val="00249C"/>
                </a:solidFill>
              </a:rPr>
              <a:t>Health and Safety Quarterly KPI Reports Submitted &amp; Presented (%)</a:t>
            </a:r>
            <a:endParaRPr lang="en-US" sz="1200" b="1" dirty="0">
              <a:solidFill>
                <a:srgbClr val="00249C"/>
              </a:solidFill>
              <a:latin typeface="Tahoma" panose="020B0604030504040204" pitchFamily="34" charset="0"/>
              <a:ea typeface="Tahoma" panose="020B0604030504040204" pitchFamily="34" charset="0"/>
              <a:cs typeface="Tahoma" panose="020B0604030504040204" pitchFamily="34" charset="0"/>
            </a:endParaRPr>
          </a:p>
          <a:p>
            <a:endParaRPr lang="en-US" sz="1100" dirty="0">
              <a:solidFill>
                <a:srgbClr val="00249C"/>
              </a:solidFill>
              <a:latin typeface="Tahoma" panose="020B0604030504040204" pitchFamily="34" charset="0"/>
              <a:ea typeface="Tahoma" panose="020B0604030504040204" pitchFamily="34" charset="0"/>
              <a:cs typeface="Tahoma" panose="020B0604030504040204" pitchFamily="34" charset="0"/>
            </a:endParaRPr>
          </a:p>
          <a:p>
            <a:pPr indent="-285750" algn="ctr">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dirty="0">
                <a:solidFill>
                  <a:srgbClr val="00249C"/>
                </a:solidFill>
                <a:latin typeface="Tahoma" panose="020B0604030504040204" pitchFamily="34" charset="0"/>
                <a:ea typeface="Tahoma" panose="020B0604030504040204" pitchFamily="34" charset="0"/>
                <a:cs typeface="Tahoma" panose="020B0604030504040204" pitchFamily="34" charset="0"/>
              </a:rPr>
              <a:t>No scoring for this quarter</a:t>
            </a:r>
          </a:p>
        </p:txBody>
      </p:sp>
      <p:sp>
        <p:nvSpPr>
          <p:cNvPr id="4" name="Text Placeholder 3">
            <a:extLst>
              <a:ext uri="{FF2B5EF4-FFF2-40B4-BE49-F238E27FC236}">
                <a16:creationId xmlns:a16="http://schemas.microsoft.com/office/drawing/2014/main" id="{49CA75BD-9031-538F-8B3C-226E069DFF28}"/>
              </a:ext>
            </a:extLst>
          </p:cNvPr>
          <p:cNvSpPr txBox="1">
            <a:spLocks/>
          </p:cNvSpPr>
          <p:nvPr/>
        </p:nvSpPr>
        <p:spPr>
          <a:xfrm>
            <a:off x="659213" y="4119936"/>
            <a:ext cx="3116208"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 – (Reports presented on time ÷ planned submission) × 100</a:t>
            </a:r>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rgbClr val="000000"/>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rgbClr val="000000"/>
                </a:solidFill>
              </a:rPr>
              <a:t>Key Observations:</a:t>
            </a: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rgbClr val="000000"/>
              </a:solidFill>
            </a:endParaRPr>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rgbClr val="000000"/>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rgbClr val="000000"/>
                </a:solidFill>
              </a:rPr>
              <a:t>Rectification:</a:t>
            </a:r>
            <a:endParaRPr lang="en-US" sz="1100" dirty="0"/>
          </a:p>
        </p:txBody>
      </p:sp>
      <p:sp>
        <p:nvSpPr>
          <p:cNvPr id="8" name="Text Placeholder 3">
            <a:extLst>
              <a:ext uri="{FF2B5EF4-FFF2-40B4-BE49-F238E27FC236}">
                <a16:creationId xmlns:a16="http://schemas.microsoft.com/office/drawing/2014/main" id="{20EB3E1D-B7DD-894A-0B5E-ACFB6F6A7D8E}"/>
              </a:ext>
            </a:extLst>
          </p:cNvPr>
          <p:cNvSpPr txBox="1">
            <a:spLocks/>
          </p:cNvSpPr>
          <p:nvPr/>
        </p:nvSpPr>
        <p:spPr>
          <a:xfrm>
            <a:off x="4176259" y="4119936"/>
            <a:ext cx="3116208"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2 – (Audit findings closed ÷ Total findings identified) × 100</a:t>
            </a:r>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rgbClr val="000000"/>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rgbClr val="000000"/>
                </a:solidFill>
              </a:rPr>
              <a:t>Key Observations</a:t>
            </a:r>
            <a:r>
              <a:rPr lang="en-US" sz="1100" b="1" dirty="0">
                <a:solidFill>
                  <a:schemeClr val="tx2"/>
                </a:solidFill>
              </a:rPr>
              <a:t>:</a:t>
            </a:r>
            <a:endParaRPr lang="en-US" sz="1100" dirty="0"/>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rgbClr val="000000"/>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rgbClr val="000000"/>
                </a:solidFill>
              </a:rPr>
              <a:t>Rectification:</a:t>
            </a:r>
            <a:endParaRPr lang="en-US" sz="1100" dirty="0"/>
          </a:p>
        </p:txBody>
      </p:sp>
      <p:sp>
        <p:nvSpPr>
          <p:cNvPr id="10" name="Text Placeholder 3">
            <a:extLst>
              <a:ext uri="{FF2B5EF4-FFF2-40B4-BE49-F238E27FC236}">
                <a16:creationId xmlns:a16="http://schemas.microsoft.com/office/drawing/2014/main" id="{1F7F5507-8298-7E1B-661A-CF5BD32A2D03}"/>
              </a:ext>
            </a:extLst>
          </p:cNvPr>
          <p:cNvSpPr txBox="1">
            <a:spLocks/>
          </p:cNvSpPr>
          <p:nvPr/>
        </p:nvSpPr>
        <p:spPr>
          <a:xfrm>
            <a:off x="7950245" y="4119936"/>
            <a:ext cx="3891221" cy="2616836"/>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3 – (Legal requirements complied with ÷ Total compliance requirement ) × 100</a:t>
            </a:r>
          </a:p>
          <a:p>
            <a:pPr marL="171450" indent="-171450">
              <a:buFont typeface="Arial" panose="020B0604020202020204" pitchFamily="34" charset="0"/>
              <a:buChar char="•"/>
            </a:pPr>
            <a:r>
              <a:rPr lang="en-US" sz="1100" b="1" dirty="0">
                <a:solidFill>
                  <a:schemeClr val="accent6"/>
                </a:solidFill>
              </a:rPr>
              <a:t>Key Observations:</a:t>
            </a:r>
            <a:r>
              <a:rPr lang="en-GB" sz="1100" dirty="0"/>
              <a:t>. </a:t>
            </a:r>
            <a:endParaRPr lang="en-US" sz="1100" dirty="0"/>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Rectification:</a:t>
            </a:r>
            <a:endParaRPr lang="en-US" sz="1100" dirty="0"/>
          </a:p>
        </p:txBody>
      </p:sp>
    </p:spTree>
    <p:extLst>
      <p:ext uri="{BB962C8B-B14F-4D97-AF65-F5344CB8AC3E}">
        <p14:creationId xmlns:p14="http://schemas.microsoft.com/office/powerpoint/2010/main" val="1268995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AA4CD-1E57-C9A4-DB22-BF3E48579D7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A3E015FF-C9AB-9D7B-9D92-48500A7C48B7}"/>
              </a:ext>
            </a:extLst>
          </p:cNvPr>
          <p:cNvSpPr txBox="1">
            <a:spLocks/>
          </p:cNvSpPr>
          <p:nvPr/>
        </p:nvSpPr>
        <p:spPr>
          <a:xfrm>
            <a:off x="721625" y="192797"/>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2. EHS KPI Dashboard</a:t>
            </a:r>
          </a:p>
          <a:p>
            <a:r>
              <a:rPr lang="en-US" sz="2400" b="0" dirty="0"/>
              <a:t>1. Leadership, Accountability &amp; Engagement – </a:t>
            </a:r>
            <a:r>
              <a:rPr lang="en-US" sz="2400" b="0" i="1" dirty="0"/>
              <a:t>Leadership Engagement</a:t>
            </a:r>
          </a:p>
        </p:txBody>
      </p:sp>
      <p:graphicFrame>
        <p:nvGraphicFramePr>
          <p:cNvPr id="9" name="Chart 8">
            <a:extLst>
              <a:ext uri="{FF2B5EF4-FFF2-40B4-BE49-F238E27FC236}">
                <a16:creationId xmlns:a16="http://schemas.microsoft.com/office/drawing/2014/main" id="{B7768753-BF2A-DA9D-47FD-667D71695908}"/>
              </a:ext>
            </a:extLst>
          </p:cNvPr>
          <p:cNvGraphicFramePr/>
          <p:nvPr/>
        </p:nvGraphicFramePr>
        <p:xfrm>
          <a:off x="1793673" y="1281390"/>
          <a:ext cx="3883249" cy="264037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Chart 11">
            <a:extLst>
              <a:ext uri="{FF2B5EF4-FFF2-40B4-BE49-F238E27FC236}">
                <a16:creationId xmlns:a16="http://schemas.microsoft.com/office/drawing/2014/main" id="{E9591459-A4B3-4D98-B316-4579A05903C4}"/>
              </a:ext>
            </a:extLst>
          </p:cNvPr>
          <p:cNvGraphicFramePr/>
          <p:nvPr/>
        </p:nvGraphicFramePr>
        <p:xfrm>
          <a:off x="6515079" y="1281391"/>
          <a:ext cx="4256971" cy="264037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 Placeholder 3">
            <a:extLst>
              <a:ext uri="{FF2B5EF4-FFF2-40B4-BE49-F238E27FC236}">
                <a16:creationId xmlns:a16="http://schemas.microsoft.com/office/drawing/2014/main" id="{F6587B1D-9142-773F-D64A-EF82772BFAF5}"/>
              </a:ext>
            </a:extLst>
          </p:cNvPr>
          <p:cNvSpPr txBox="1">
            <a:spLocks/>
          </p:cNvSpPr>
          <p:nvPr/>
        </p:nvSpPr>
        <p:spPr>
          <a:xfrm>
            <a:off x="1905554" y="4239492"/>
            <a:ext cx="3891221" cy="2332617"/>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4 – (Meeting conducted ÷ meetings Planned) </a:t>
            </a:r>
            <a:br>
              <a:rPr lang="en-US" sz="1200" b="1" dirty="0"/>
            </a:br>
            <a:r>
              <a:rPr lang="en-US" sz="1200" b="1" dirty="0"/>
              <a:t>× 100</a:t>
            </a:r>
          </a:p>
          <a:p>
            <a:pPr marL="171450" indent="-171450">
              <a:buFont typeface="Arial" panose="020B0604020202020204" pitchFamily="34" charset="0"/>
              <a:buChar char="•"/>
            </a:pPr>
            <a:r>
              <a:rPr lang="en-US" sz="1100" b="1" dirty="0">
                <a:solidFill>
                  <a:schemeClr val="accent6"/>
                </a:solidFill>
              </a:rPr>
              <a:t>Key Observations: </a:t>
            </a:r>
            <a:endParaRPr lang="en-US" sz="1100" dirty="0"/>
          </a:p>
          <a:p>
            <a:endParaRPr lang="en-US" sz="1100" dirty="0"/>
          </a:p>
          <a:p>
            <a:pPr marL="171450" indent="-171450">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Rectification:</a:t>
            </a:r>
            <a:endParaRPr lang="en-US" sz="1100" dirty="0"/>
          </a:p>
        </p:txBody>
      </p:sp>
      <p:sp>
        <p:nvSpPr>
          <p:cNvPr id="6" name="Text Placeholder 3">
            <a:extLst>
              <a:ext uri="{FF2B5EF4-FFF2-40B4-BE49-F238E27FC236}">
                <a16:creationId xmlns:a16="http://schemas.microsoft.com/office/drawing/2014/main" id="{161A0F8E-7F8A-37D0-0053-D203200D3E78}"/>
              </a:ext>
            </a:extLst>
          </p:cNvPr>
          <p:cNvSpPr txBox="1">
            <a:spLocks/>
          </p:cNvSpPr>
          <p:nvPr/>
        </p:nvSpPr>
        <p:spPr>
          <a:xfrm>
            <a:off x="6749348" y="4239492"/>
            <a:ext cx="4191102" cy="2332617"/>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5 – (Action closed  ÷ Total actions raised) × 100</a:t>
            </a:r>
          </a:p>
          <a:p>
            <a:pPr marL="171450" indent="-171450">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Key Observations:</a:t>
            </a:r>
          </a:p>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a:p>
            <a:pPr marL="171450" indent="-171450">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Rectification:</a:t>
            </a:r>
          </a:p>
        </p:txBody>
      </p:sp>
    </p:spTree>
    <p:extLst>
      <p:ext uri="{BB962C8B-B14F-4D97-AF65-F5344CB8AC3E}">
        <p14:creationId xmlns:p14="http://schemas.microsoft.com/office/powerpoint/2010/main" val="519161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797ABFA-DAB7-9613-394A-E9B024961208}"/>
              </a:ext>
            </a:extLst>
          </p:cNvPr>
          <p:cNvSpPr txBox="1">
            <a:spLocks/>
          </p:cNvSpPr>
          <p:nvPr/>
        </p:nvSpPr>
        <p:spPr>
          <a:xfrm>
            <a:off x="620025" y="0"/>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2. EHS KPI Dashboard</a:t>
            </a:r>
          </a:p>
          <a:p>
            <a:r>
              <a:rPr lang="en-US" sz="2400" b="0" dirty="0"/>
              <a:t>2. Risk Management &amp; Planning</a:t>
            </a:r>
            <a:endParaRPr lang="en-US" sz="2400" b="0" i="1" dirty="0"/>
          </a:p>
        </p:txBody>
      </p:sp>
      <p:graphicFrame>
        <p:nvGraphicFramePr>
          <p:cNvPr id="7" name="Chart 6">
            <a:extLst>
              <a:ext uri="{FF2B5EF4-FFF2-40B4-BE49-F238E27FC236}">
                <a16:creationId xmlns:a16="http://schemas.microsoft.com/office/drawing/2014/main" id="{9068B047-347B-7049-D055-BC230F63ADFD}"/>
              </a:ext>
            </a:extLst>
          </p:cNvPr>
          <p:cNvGraphicFramePr/>
          <p:nvPr/>
        </p:nvGraphicFramePr>
        <p:xfrm>
          <a:off x="897225" y="1149364"/>
          <a:ext cx="3891221" cy="2444462"/>
        </p:xfrm>
        <a:graphic>
          <a:graphicData uri="http://schemas.openxmlformats.org/drawingml/2006/chart">
            <c:chart xmlns:c="http://schemas.openxmlformats.org/drawingml/2006/chart" xmlns:r="http://schemas.openxmlformats.org/officeDocument/2006/relationships" r:id="rId2"/>
          </a:graphicData>
        </a:graphic>
      </p:graphicFrame>
      <p:sp>
        <p:nvSpPr>
          <p:cNvPr id="4" name="Rectangle 3">
            <a:extLst>
              <a:ext uri="{FF2B5EF4-FFF2-40B4-BE49-F238E27FC236}">
                <a16:creationId xmlns:a16="http://schemas.microsoft.com/office/drawing/2014/main" id="{2FEB19D3-34FE-6141-8A2F-4B2F00EAD15A}"/>
              </a:ext>
            </a:extLst>
          </p:cNvPr>
          <p:cNvSpPr/>
          <p:nvPr/>
        </p:nvSpPr>
        <p:spPr>
          <a:xfrm>
            <a:off x="4600773" y="1149364"/>
            <a:ext cx="3454707" cy="15339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solidFill>
                  <a:srgbClr val="00249C"/>
                </a:solidFill>
                <a:latin typeface="Tahoma" panose="020B0604030504040204" pitchFamily="34" charset="0"/>
                <a:ea typeface="Tahoma" panose="020B0604030504040204" pitchFamily="34" charset="0"/>
                <a:cs typeface="Tahoma" panose="020B0604030504040204" pitchFamily="34" charset="0"/>
              </a:rPr>
              <a:t>KPI 7 - </a:t>
            </a:r>
            <a:r>
              <a:rPr lang="en-US" sz="1200" b="1" dirty="0">
                <a:solidFill>
                  <a:srgbClr val="00249C"/>
                </a:solidFill>
                <a:latin typeface="Tahoma" panose="020B0604030504040204" pitchFamily="34" charset="0"/>
              </a:rPr>
              <a:t>Risk Assessments Closed (%)</a:t>
            </a:r>
            <a:endParaRPr lang="en-US" sz="1200" b="1" dirty="0">
              <a:solidFill>
                <a:srgbClr val="00249C"/>
              </a:solidFill>
              <a:latin typeface="Tahoma" panose="020B0604030504040204" pitchFamily="34" charset="0"/>
              <a:ea typeface="Tahoma" panose="020B0604030504040204" pitchFamily="34" charset="0"/>
              <a:cs typeface="Tahoma" panose="020B0604030504040204" pitchFamily="34" charset="0"/>
            </a:endParaRPr>
          </a:p>
          <a:p>
            <a:endParaRPr lang="en-US" sz="1100" dirty="0">
              <a:solidFill>
                <a:srgbClr val="002060"/>
              </a:solidFill>
              <a:latin typeface="Tahoma" panose="020B0604030504040204" pitchFamily="34" charset="0"/>
              <a:ea typeface="Tahoma" panose="020B0604030504040204" pitchFamily="34" charset="0"/>
              <a:cs typeface="Tahoma" panose="020B0604030504040204" pitchFamily="34" charset="0"/>
            </a:endParaRPr>
          </a:p>
          <a:p>
            <a:pPr indent="-285750" algn="ctr">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dirty="0">
                <a:solidFill>
                  <a:srgbClr val="00249C"/>
                </a:solidFill>
                <a:latin typeface="Tahoma" panose="020B0604030504040204" pitchFamily="34" charset="0"/>
                <a:ea typeface="Tahoma" panose="020B0604030504040204" pitchFamily="34" charset="0"/>
                <a:cs typeface="Tahoma" panose="020B0604030504040204" pitchFamily="34" charset="0"/>
              </a:rPr>
              <a:t>No scoring for this quarter</a:t>
            </a:r>
          </a:p>
        </p:txBody>
      </p:sp>
      <p:sp>
        <p:nvSpPr>
          <p:cNvPr id="8" name="Rectangle 7">
            <a:extLst>
              <a:ext uri="{FF2B5EF4-FFF2-40B4-BE49-F238E27FC236}">
                <a16:creationId xmlns:a16="http://schemas.microsoft.com/office/drawing/2014/main" id="{2F639488-5E1D-46B4-4C6D-5CE6438D852B}"/>
              </a:ext>
            </a:extLst>
          </p:cNvPr>
          <p:cNvSpPr/>
          <p:nvPr/>
        </p:nvSpPr>
        <p:spPr>
          <a:xfrm>
            <a:off x="8223348" y="1149364"/>
            <a:ext cx="3454707" cy="15339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rgbClr val="00249C"/>
                </a:solidFill>
                <a:latin typeface="Tahoma" panose="020B0604030504040204" pitchFamily="34" charset="0"/>
                <a:ea typeface="Tahoma" panose="020B0604030504040204" pitchFamily="34" charset="0"/>
                <a:cs typeface="Tahoma" panose="020B0604030504040204" pitchFamily="34" charset="0"/>
              </a:rPr>
              <a:t>KPI 8 - Risk Assessments and Validation (%)</a:t>
            </a:r>
            <a:endParaRPr lang="en-US" sz="1100" dirty="0">
              <a:solidFill>
                <a:srgbClr val="00249C"/>
              </a:solidFill>
              <a:latin typeface="Tahoma" panose="020B0604030504040204" pitchFamily="34" charset="0"/>
              <a:ea typeface="Tahoma" panose="020B0604030504040204" pitchFamily="34" charset="0"/>
              <a:cs typeface="Tahoma" panose="020B0604030504040204" pitchFamily="34" charset="0"/>
            </a:endParaRPr>
          </a:p>
          <a:p>
            <a:pPr indent="-285750" algn="ctr">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200" dirty="0">
              <a:solidFill>
                <a:srgbClr val="00249C"/>
              </a:solidFill>
              <a:latin typeface="Tahoma" panose="020B0604030504040204" pitchFamily="34" charset="0"/>
              <a:ea typeface="Tahoma" panose="020B0604030504040204" pitchFamily="34" charset="0"/>
              <a:cs typeface="Tahoma" panose="020B0604030504040204" pitchFamily="34" charset="0"/>
            </a:endParaRPr>
          </a:p>
          <a:p>
            <a:pPr indent="-285750" algn="ctr">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dirty="0">
                <a:solidFill>
                  <a:srgbClr val="00249C"/>
                </a:solidFill>
                <a:latin typeface="Tahoma" panose="020B0604030504040204" pitchFamily="34" charset="0"/>
                <a:ea typeface="Tahoma" panose="020B0604030504040204" pitchFamily="34" charset="0"/>
                <a:cs typeface="Tahoma" panose="020B0604030504040204" pitchFamily="34" charset="0"/>
              </a:rPr>
              <a:t>No scoring for this quarter</a:t>
            </a:r>
          </a:p>
        </p:txBody>
      </p:sp>
      <p:sp>
        <p:nvSpPr>
          <p:cNvPr id="3" name="Text Placeholder 3">
            <a:extLst>
              <a:ext uri="{FF2B5EF4-FFF2-40B4-BE49-F238E27FC236}">
                <a16:creationId xmlns:a16="http://schemas.microsoft.com/office/drawing/2014/main" id="{844037F6-B55D-B0BF-A92C-0B931FF20410}"/>
              </a:ext>
            </a:extLst>
          </p:cNvPr>
          <p:cNvSpPr txBox="1">
            <a:spLocks/>
          </p:cNvSpPr>
          <p:nvPr/>
        </p:nvSpPr>
        <p:spPr>
          <a:xfrm>
            <a:off x="826047" y="3524801"/>
            <a:ext cx="375568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6 – (Implemented Controls ÷ Total Controls Identified) × 100</a:t>
            </a:r>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 </a:t>
            </a:r>
          </a:p>
          <a:p>
            <a:pPr marL="171450" indent="-171450" algn="just">
              <a:buFont typeface="Arial" panose="020B0604020202020204" pitchFamily="34" charset="0"/>
              <a:buChar char="•"/>
            </a:pPr>
            <a:r>
              <a:rPr lang="en-US" sz="1100" b="1" dirty="0">
                <a:solidFill>
                  <a:schemeClr val="accent6"/>
                </a:solidFill>
              </a:rPr>
              <a:t>Key Observations:</a:t>
            </a:r>
          </a:p>
          <a:p>
            <a:pPr algn="just"/>
            <a:endParaRPr lang="en-US" sz="1100" dirty="0"/>
          </a:p>
          <a:p>
            <a:pPr marL="171450" indent="-171450" algn="just">
              <a:buFont typeface="Arial" panose="020B0604020202020204" pitchFamily="34" charset="0"/>
              <a:buChar char="•"/>
            </a:pPr>
            <a:r>
              <a:rPr lang="en-US" sz="1100" b="1" dirty="0">
                <a:solidFill>
                  <a:schemeClr val="accent6"/>
                </a:solidFill>
              </a:rPr>
              <a:t>Rectifications:</a:t>
            </a:r>
            <a:r>
              <a:rPr lang="en-US" sz="1100" b="1" dirty="0"/>
              <a:t> </a:t>
            </a:r>
            <a:endParaRPr lang="en-US" sz="1100" dirty="0"/>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9" name="Text Placeholder 3">
            <a:extLst>
              <a:ext uri="{FF2B5EF4-FFF2-40B4-BE49-F238E27FC236}">
                <a16:creationId xmlns:a16="http://schemas.microsoft.com/office/drawing/2014/main" id="{F32BC78C-E652-FABE-6179-EF2DCA67C5D4}"/>
              </a:ext>
            </a:extLst>
          </p:cNvPr>
          <p:cNvSpPr txBox="1">
            <a:spLocks/>
          </p:cNvSpPr>
          <p:nvPr/>
        </p:nvSpPr>
        <p:spPr>
          <a:xfrm>
            <a:off x="4859624" y="3524801"/>
            <a:ext cx="3647873"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7 – (Risk Assessment closed ÷ Total Risk Assessments registered) × 100</a:t>
            </a:r>
          </a:p>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chemeClr val="accent6"/>
              </a:solidFill>
            </a:endParaRPr>
          </a:p>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chemeClr val="accent6"/>
              </a:solidFill>
            </a:endParaRPr>
          </a:p>
          <a:p>
            <a:pPr marL="171450" indent="-171450" algn="just">
              <a:lnSpc>
                <a:spcPct val="100000"/>
              </a:lnSpc>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Key Observations:</a:t>
            </a:r>
          </a:p>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br>
              <a:rPr lang="en-US" sz="1100" dirty="0"/>
            </a:br>
            <a:endParaRPr lang="en-US" sz="1100" dirty="0"/>
          </a:p>
          <a:p>
            <a:pPr marL="171450" indent="-171450" algn="just">
              <a:lnSpc>
                <a:spcPct val="100000"/>
              </a:lnSpc>
              <a:spcBef>
                <a:spcPts val="0"/>
              </a:spcBef>
              <a:buFont typeface="Arial" panose="020B0604020202020204" pitchFamily="34" charset="0"/>
              <a:buChar char="•"/>
            </a:pPr>
            <a:endParaRPr lang="en-US" sz="1100" b="1" dirty="0"/>
          </a:p>
          <a:p>
            <a:pPr marL="171450" indent="-171450" algn="just">
              <a:lnSpc>
                <a:spcPct val="100000"/>
              </a:lnSpc>
              <a:spcBef>
                <a:spcPts val="0"/>
              </a:spcBef>
              <a:buFont typeface="Arial" panose="020B0604020202020204" pitchFamily="34" charset="0"/>
              <a:buChar char="•"/>
            </a:pPr>
            <a:r>
              <a:rPr lang="en-US" sz="1100" b="1" dirty="0">
                <a:solidFill>
                  <a:srgbClr val="000000"/>
                </a:solidFill>
              </a:rPr>
              <a:t>Rectifications:</a:t>
            </a:r>
            <a:r>
              <a:rPr lang="en-US" sz="1100" b="1" dirty="0"/>
              <a:t> </a:t>
            </a:r>
            <a:endParaRPr lang="en-US" sz="1100" dirty="0"/>
          </a:p>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11" name="Text Placeholder 3">
            <a:extLst>
              <a:ext uri="{FF2B5EF4-FFF2-40B4-BE49-F238E27FC236}">
                <a16:creationId xmlns:a16="http://schemas.microsoft.com/office/drawing/2014/main" id="{5CD6623F-E288-AEF1-8E54-94CD83245ACE}"/>
              </a:ext>
            </a:extLst>
          </p:cNvPr>
          <p:cNvSpPr txBox="1">
            <a:spLocks/>
          </p:cNvSpPr>
          <p:nvPr/>
        </p:nvSpPr>
        <p:spPr>
          <a:xfrm>
            <a:off x="8578675" y="3524801"/>
            <a:ext cx="3430303" cy="272310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8 – (Monthly Risk Assessment validated and signed off  ÷ Total assessments register) × 100</a:t>
            </a:r>
          </a:p>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chemeClr val="accent6"/>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Key Observation</a:t>
            </a:r>
            <a:r>
              <a:rPr lang="en-US" sz="1100" b="1" dirty="0">
                <a:solidFill>
                  <a:srgbClr val="000000"/>
                </a:solidFill>
              </a:rPr>
              <a:t>s: </a:t>
            </a:r>
            <a:endParaRPr lang="en-GB" sz="1100" b="1" dirty="0">
              <a:solidFill>
                <a:srgbClr val="00249C"/>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GB" sz="1100" b="1" dirty="0">
              <a:solidFill>
                <a:srgbClr val="00249C"/>
              </a:solidFill>
            </a:endParaRPr>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GB" sz="1200" b="1" dirty="0">
              <a:solidFill>
                <a:srgbClr val="00249C"/>
              </a:solidFill>
            </a:endParaRPr>
          </a:p>
          <a:p>
            <a:pPr marL="171450" indent="-171450" algn="just">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chemeClr val="accent6"/>
              </a:solidFill>
            </a:endParaRPr>
          </a:p>
          <a:p>
            <a:pPr marL="171450" indent="-171450" algn="just">
              <a:lnSpc>
                <a:spcPct val="100000"/>
              </a:lnSpc>
              <a:spcBef>
                <a:spcPts val="0"/>
              </a:spcBef>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rgbClr val="000000"/>
                </a:solidFill>
              </a:rPr>
              <a:t>Rectifications:</a:t>
            </a:r>
            <a:r>
              <a:rPr lang="en-US" sz="1100" b="1" dirty="0">
                <a:solidFill>
                  <a:schemeClr val="accent6"/>
                </a:solidFill>
              </a:rPr>
              <a:t> </a:t>
            </a:r>
            <a:endParaRPr lang="en-US" sz="1100" dirty="0"/>
          </a:p>
        </p:txBody>
      </p:sp>
    </p:spTree>
    <p:extLst>
      <p:ext uri="{BB962C8B-B14F-4D97-AF65-F5344CB8AC3E}">
        <p14:creationId xmlns:p14="http://schemas.microsoft.com/office/powerpoint/2010/main" val="29683749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81E45-EE28-8639-6952-C4C9C7E4C8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088CA5-25ED-25B8-0604-F703B959ED40}"/>
              </a:ext>
            </a:extLst>
          </p:cNvPr>
          <p:cNvSpPr txBox="1">
            <a:spLocks/>
          </p:cNvSpPr>
          <p:nvPr/>
        </p:nvSpPr>
        <p:spPr>
          <a:xfrm>
            <a:off x="659214" y="111461"/>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2. EHS KPI Dashboard </a:t>
            </a:r>
          </a:p>
          <a:p>
            <a:r>
              <a:rPr lang="en-US" sz="2400" b="0" dirty="0"/>
              <a:t>3. Training &amp; Awareness</a:t>
            </a:r>
            <a:endParaRPr lang="en-US" sz="2400" b="0" i="1" dirty="0"/>
          </a:p>
        </p:txBody>
      </p:sp>
      <p:sp>
        <p:nvSpPr>
          <p:cNvPr id="5" name="Rectangle 4">
            <a:extLst>
              <a:ext uri="{FF2B5EF4-FFF2-40B4-BE49-F238E27FC236}">
                <a16:creationId xmlns:a16="http://schemas.microsoft.com/office/drawing/2014/main" id="{46B0E9A4-CCA6-0150-2EF8-970CFF445AD2}"/>
              </a:ext>
            </a:extLst>
          </p:cNvPr>
          <p:cNvSpPr/>
          <p:nvPr/>
        </p:nvSpPr>
        <p:spPr>
          <a:xfrm>
            <a:off x="6969217" y="1175478"/>
            <a:ext cx="3454707" cy="15339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solidFill>
                  <a:schemeClr val="tx1"/>
                </a:solidFill>
                <a:latin typeface="Tahoma" panose="020B0604030504040204" pitchFamily="34" charset="0"/>
                <a:ea typeface="Tahoma" panose="020B0604030504040204" pitchFamily="34" charset="0"/>
                <a:cs typeface="Tahoma" panose="020B0604030504040204" pitchFamily="34" charset="0"/>
              </a:rPr>
              <a:t>KPI 10 - H&amp;S Awareness Campaigns Conducted (%)</a:t>
            </a:r>
          </a:p>
          <a:p>
            <a:pPr algn="ct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200" dirty="0">
              <a:solidFill>
                <a:srgbClr val="00249C"/>
              </a:solidFill>
              <a:latin typeface="Tahoma" panose="020B0604030504040204" pitchFamily="34" charset="0"/>
              <a:ea typeface="Tahoma" panose="020B0604030504040204" pitchFamily="34" charset="0"/>
              <a:cs typeface="Tahoma" panose="020B0604030504040204" pitchFamily="34" charset="0"/>
            </a:endParaRPr>
          </a:p>
          <a:p>
            <a:pPr indent="-285750" algn="ctr">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dirty="0">
                <a:solidFill>
                  <a:srgbClr val="00249C"/>
                </a:solidFill>
                <a:latin typeface="Tahoma" panose="020B0604030504040204" pitchFamily="34" charset="0"/>
                <a:ea typeface="Tahoma" panose="020B0604030504040204" pitchFamily="34" charset="0"/>
                <a:cs typeface="Tahoma" panose="020B0604030504040204" pitchFamily="34" charset="0"/>
              </a:rPr>
              <a:t>No scoring for this quarter</a:t>
            </a:r>
          </a:p>
        </p:txBody>
      </p:sp>
      <p:sp>
        <p:nvSpPr>
          <p:cNvPr id="6" name="Text Placeholder 3">
            <a:extLst>
              <a:ext uri="{FF2B5EF4-FFF2-40B4-BE49-F238E27FC236}">
                <a16:creationId xmlns:a16="http://schemas.microsoft.com/office/drawing/2014/main" id="{15303702-20EF-EA8A-734A-D7E4E1124329}"/>
              </a:ext>
            </a:extLst>
          </p:cNvPr>
          <p:cNvSpPr txBox="1">
            <a:spLocks/>
          </p:cNvSpPr>
          <p:nvPr/>
        </p:nvSpPr>
        <p:spPr>
          <a:xfrm>
            <a:off x="1843143" y="3936061"/>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9 – (Actual Training Hours ÷ Planned Training Hours) × 100</a:t>
            </a:r>
          </a:p>
          <a:p>
            <a:pPr marL="171450" indent="-171450">
              <a:buFont typeface="Arial" panose="020B0604020202020204" pitchFamily="34" charset="0"/>
              <a:buChar char="•"/>
            </a:pPr>
            <a:r>
              <a:rPr lang="en-US" sz="1100" b="1" dirty="0">
                <a:solidFill>
                  <a:srgbClr val="000000"/>
                </a:solidFill>
              </a:rPr>
              <a:t>Key Observations: </a:t>
            </a:r>
          </a:p>
          <a:p>
            <a:pPr marL="171450" indent="-171450">
              <a:buFont typeface="Arial" panose="020B0604020202020204" pitchFamily="34" charset="0"/>
              <a:buChar char="•"/>
            </a:pPr>
            <a:endParaRPr lang="en-US" sz="1100" b="1" dirty="0">
              <a:solidFill>
                <a:srgbClr val="000000"/>
              </a:solidFill>
            </a:endParaRPr>
          </a:p>
          <a:p>
            <a:pPr marL="171450" indent="-171450">
              <a:buFont typeface="Arial" panose="020B0604020202020204" pitchFamily="34" charset="0"/>
              <a:buChar char="•"/>
            </a:pPr>
            <a:r>
              <a:rPr lang="en-US" sz="1100" b="1" dirty="0">
                <a:solidFill>
                  <a:srgbClr val="000000"/>
                </a:solidFill>
              </a:rPr>
              <a:t>Rectification:</a:t>
            </a:r>
            <a:endParaRPr lang="en-US" sz="1100" b="1" dirty="0"/>
          </a:p>
          <a:p>
            <a:pPr marL="171450" indent="-171450" algn="just">
              <a:buFont typeface="Arial" panose="020B0604020202020204" pitchFamily="34" charset="0"/>
              <a:buChar char="•"/>
            </a:pPr>
            <a:endParaRPr lang="en-US" sz="1100" dirty="0"/>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8" name="Text Placeholder 3">
            <a:extLst>
              <a:ext uri="{FF2B5EF4-FFF2-40B4-BE49-F238E27FC236}">
                <a16:creationId xmlns:a16="http://schemas.microsoft.com/office/drawing/2014/main" id="{707E2012-D42B-B7D3-82E9-58F6AD089025}"/>
              </a:ext>
            </a:extLst>
          </p:cNvPr>
          <p:cNvSpPr txBox="1">
            <a:spLocks/>
          </p:cNvSpPr>
          <p:nvPr/>
        </p:nvSpPr>
        <p:spPr>
          <a:xfrm>
            <a:off x="6969217" y="3936061"/>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10 – (Number of Campaigns conducted ÷ Total Planned Campaigns) × 100</a:t>
            </a:r>
          </a:p>
          <a:p>
            <a:pPr marL="171450" indent="-171450" algn="just">
              <a:buFont typeface="Arial" panose="020B0604020202020204" pitchFamily="34" charset="0"/>
              <a:buChar char="•"/>
            </a:pPr>
            <a:r>
              <a:rPr lang="en-US" sz="1100" b="1" dirty="0">
                <a:solidFill>
                  <a:srgbClr val="000000"/>
                </a:solidFill>
              </a:rPr>
              <a:t>Key Observations: </a:t>
            </a:r>
          </a:p>
          <a:p>
            <a:pPr algn="just"/>
            <a:endParaRPr lang="en-US" sz="1100" b="1" dirty="0"/>
          </a:p>
          <a:p>
            <a:pPr marL="171450" indent="-171450" algn="just">
              <a:buFont typeface="Arial" panose="020B0604020202020204" pitchFamily="34" charset="0"/>
              <a:buChar char="•"/>
            </a:pPr>
            <a:r>
              <a:rPr lang="en-US" sz="1100" b="1" dirty="0">
                <a:solidFill>
                  <a:srgbClr val="000000"/>
                </a:solidFill>
              </a:rPr>
              <a:t>Rectification:</a:t>
            </a:r>
            <a:endParaRPr lang="en-US" sz="1100" dirty="0"/>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graphicFrame>
        <p:nvGraphicFramePr>
          <p:cNvPr id="10" name="Chart 9">
            <a:extLst>
              <a:ext uri="{FF2B5EF4-FFF2-40B4-BE49-F238E27FC236}">
                <a16:creationId xmlns:a16="http://schemas.microsoft.com/office/drawing/2014/main" id="{D025C30D-1483-1512-51B9-BB2B2B34CF36}"/>
              </a:ext>
            </a:extLst>
          </p:cNvPr>
          <p:cNvGraphicFramePr/>
          <p:nvPr/>
        </p:nvGraphicFramePr>
        <p:xfrm>
          <a:off x="1641504" y="1175478"/>
          <a:ext cx="3891221" cy="244446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742486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42C9E53-0198-9672-5698-D316A6CC6F60}"/>
              </a:ext>
            </a:extLst>
          </p:cNvPr>
          <p:cNvSpPr txBox="1">
            <a:spLocks/>
          </p:cNvSpPr>
          <p:nvPr/>
        </p:nvSpPr>
        <p:spPr>
          <a:xfrm>
            <a:off x="647879" y="71327"/>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2800" dirty="0"/>
              <a:t>2. EHS KPI Dashboard</a:t>
            </a:r>
          </a:p>
          <a:p>
            <a:r>
              <a:rPr lang="en-US" sz="2400" b="0" dirty="0"/>
              <a:t>4. Operational Control &amp; Emergency Preparedness</a:t>
            </a:r>
          </a:p>
        </p:txBody>
      </p:sp>
      <p:graphicFrame>
        <p:nvGraphicFramePr>
          <p:cNvPr id="5" name="Chart 4">
            <a:extLst>
              <a:ext uri="{FF2B5EF4-FFF2-40B4-BE49-F238E27FC236}">
                <a16:creationId xmlns:a16="http://schemas.microsoft.com/office/drawing/2014/main" id="{36339A9F-2013-852C-02F6-55DF64E65F84}"/>
              </a:ext>
            </a:extLst>
          </p:cNvPr>
          <p:cNvGraphicFramePr/>
          <p:nvPr/>
        </p:nvGraphicFramePr>
        <p:xfrm>
          <a:off x="6906958" y="1232647"/>
          <a:ext cx="3891221" cy="233682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2A66153D-7434-E195-0549-F50434BF9DBC}"/>
              </a:ext>
            </a:extLst>
          </p:cNvPr>
          <p:cNvGraphicFramePr/>
          <p:nvPr/>
        </p:nvGraphicFramePr>
        <p:xfrm>
          <a:off x="1831808" y="1232647"/>
          <a:ext cx="3891221" cy="2444462"/>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Placeholder 3">
            <a:extLst>
              <a:ext uri="{FF2B5EF4-FFF2-40B4-BE49-F238E27FC236}">
                <a16:creationId xmlns:a16="http://schemas.microsoft.com/office/drawing/2014/main" id="{52D0CF08-BABD-87BC-6633-CE46243CD5D7}"/>
              </a:ext>
            </a:extLst>
          </p:cNvPr>
          <p:cNvSpPr txBox="1">
            <a:spLocks/>
          </p:cNvSpPr>
          <p:nvPr/>
        </p:nvSpPr>
        <p:spPr>
          <a:xfrm>
            <a:off x="1831807" y="3976195"/>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11 – (Number of activities in compliance ÷ Total Activities Checked) × 100</a:t>
            </a:r>
          </a:p>
          <a:p>
            <a:pPr marL="171450" indent="-171450" algn="just">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Key Observations:</a:t>
            </a:r>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solidFill>
                <a:schemeClr val="accent6"/>
              </a:solidFill>
            </a:endParaRPr>
          </a:p>
          <a:p>
            <a:pPr marL="171450" indent="-171450" algn="just">
              <a:buFont typeface="Arial" panose="020B0604020202020204" pitchFamily="34" charset="0"/>
              <a:buChar char="•"/>
            </a:pPr>
            <a:r>
              <a:rPr lang="en-US" sz="1100" b="1" dirty="0">
                <a:solidFill>
                  <a:schemeClr val="accent6"/>
                </a:solidFill>
              </a:rPr>
              <a:t>Rectification:</a:t>
            </a:r>
            <a:endParaRPr lang="en-US" sz="1100" dirty="0"/>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10" name="Text Placeholder 3">
            <a:extLst>
              <a:ext uri="{FF2B5EF4-FFF2-40B4-BE49-F238E27FC236}">
                <a16:creationId xmlns:a16="http://schemas.microsoft.com/office/drawing/2014/main" id="{AE76E0EC-6ECD-6151-80E8-FD7286759550}"/>
              </a:ext>
            </a:extLst>
          </p:cNvPr>
          <p:cNvSpPr txBox="1">
            <a:spLocks/>
          </p:cNvSpPr>
          <p:nvPr/>
        </p:nvSpPr>
        <p:spPr>
          <a:xfrm>
            <a:off x="6906958" y="3976195"/>
            <a:ext cx="3891221" cy="292450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12 – (Number of activities in compliance ÷ Total Activities Checked) × 100</a:t>
            </a:r>
          </a:p>
          <a:p>
            <a:pPr marL="171450" indent="-171450" algn="just">
              <a:lnSpc>
                <a:spcPct val="100000"/>
              </a:lnSpc>
              <a:spcBef>
                <a:spcPts val="0"/>
              </a:spcBef>
              <a:buFont typeface="Arial" panose="020B0604020202020204" pitchFamily="34" charset="0"/>
              <a:buChar char="•"/>
            </a:pPr>
            <a:endParaRPr lang="en-US" sz="1100" b="1" dirty="0">
              <a:solidFill>
                <a:schemeClr val="accent6"/>
              </a:solidFill>
            </a:endParaRPr>
          </a:p>
          <a:p>
            <a:pPr marL="171450" indent="-171450" algn="just">
              <a:spcBef>
                <a:spcPts val="0"/>
              </a:spcBef>
              <a:buFont typeface="Arial" panose="020B0604020202020204" pitchFamily="34" charset="0"/>
              <a:buChar char="•"/>
            </a:pPr>
            <a:r>
              <a:rPr lang="en-US" sz="1100" b="1" dirty="0">
                <a:solidFill>
                  <a:schemeClr val="accent6"/>
                </a:solidFill>
              </a:rPr>
              <a:t>Key Observations:</a:t>
            </a:r>
          </a:p>
          <a:p>
            <a:pPr algn="just">
              <a:spcBef>
                <a:spcPts val="0"/>
              </a:spcBef>
            </a:pPr>
            <a:endParaRPr lang="en-US" sz="1100" b="1" strike="sngStrike" dirty="0">
              <a:solidFill>
                <a:schemeClr val="accent6"/>
              </a:solidFill>
            </a:endParaRPr>
          </a:p>
          <a:p>
            <a:pPr algn="just">
              <a:spcBef>
                <a:spcPts val="0"/>
              </a:spcBef>
            </a:pPr>
            <a:endParaRPr lang="en-US" sz="1100" strike="sngStrike" dirty="0"/>
          </a:p>
          <a:p>
            <a:pPr marL="171450" indent="-171450" algn="just">
              <a:lnSpc>
                <a:spcPct val="100000"/>
              </a:lnSpc>
              <a:spcBef>
                <a:spcPts val="0"/>
              </a:spcBef>
              <a:buFont typeface="Arial" panose="020B0604020202020204" pitchFamily="34" charset="0"/>
              <a:buChar char="•"/>
            </a:pPr>
            <a:r>
              <a:rPr lang="en-US" sz="1100" b="1" dirty="0">
                <a:solidFill>
                  <a:srgbClr val="000000"/>
                </a:solidFill>
              </a:rPr>
              <a:t>Rectification:</a:t>
            </a:r>
            <a:endParaRPr lang="en-US" sz="1100" dirty="0"/>
          </a:p>
          <a:p>
            <a:pPr algn="just">
              <a:lnSpc>
                <a:spcPct val="100000"/>
              </a:lnSpc>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Tree>
    <p:extLst>
      <p:ext uri="{BB962C8B-B14F-4D97-AF65-F5344CB8AC3E}">
        <p14:creationId xmlns:p14="http://schemas.microsoft.com/office/powerpoint/2010/main" val="2516270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5184A6D8-A2DE-2807-E45F-2D1BDC29A312}"/>
              </a:ext>
            </a:extLst>
          </p:cNvPr>
          <p:cNvSpPr txBox="1">
            <a:spLocks/>
          </p:cNvSpPr>
          <p:nvPr/>
        </p:nvSpPr>
        <p:spPr>
          <a:xfrm>
            <a:off x="648881" y="76269"/>
            <a:ext cx="10150301" cy="986177"/>
          </a:xfrm>
          <a:prstGeom prst="rect">
            <a:avLst/>
          </a:prstGeom>
        </p:spPr>
        <p:txBody>
          <a:bodyPr vert="horz" lIns="91440" tIns="45720" rIns="91440" bIns="45720" rtlCol="0" anchor="ctr" anchorCtr="0">
            <a:normAutofit fontScale="92500"/>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2. EHS KPI Dashboard</a:t>
            </a:r>
          </a:p>
          <a:p>
            <a:r>
              <a:rPr lang="en-US" sz="2400" b="0" dirty="0"/>
              <a:t>4. Operational Control &amp; Emergency Preparedness – </a:t>
            </a:r>
            <a:r>
              <a:rPr lang="en-US" sz="2400" b="0" i="1" dirty="0"/>
              <a:t>Contractor Management</a:t>
            </a:r>
          </a:p>
        </p:txBody>
      </p:sp>
      <p:graphicFrame>
        <p:nvGraphicFramePr>
          <p:cNvPr id="3" name="Chart 2">
            <a:extLst>
              <a:ext uri="{FF2B5EF4-FFF2-40B4-BE49-F238E27FC236}">
                <a16:creationId xmlns:a16="http://schemas.microsoft.com/office/drawing/2014/main" id="{F23FE170-2F9A-9DA2-06BF-F395DF2446B3}"/>
              </a:ext>
            </a:extLst>
          </p:cNvPr>
          <p:cNvGraphicFramePr/>
          <p:nvPr/>
        </p:nvGraphicFramePr>
        <p:xfrm>
          <a:off x="1583601" y="1135121"/>
          <a:ext cx="3891221" cy="273583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940826D0-25B5-CD46-4D87-A1035D150A0A}"/>
              </a:ext>
            </a:extLst>
          </p:cNvPr>
          <p:cNvGraphicFramePr/>
          <p:nvPr/>
        </p:nvGraphicFramePr>
        <p:xfrm>
          <a:off x="6717178" y="1135121"/>
          <a:ext cx="3891221" cy="2735839"/>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Placeholder 3">
            <a:extLst>
              <a:ext uri="{FF2B5EF4-FFF2-40B4-BE49-F238E27FC236}">
                <a16:creationId xmlns:a16="http://schemas.microsoft.com/office/drawing/2014/main" id="{01449395-4F4A-B434-1376-1121669CE194}"/>
              </a:ext>
            </a:extLst>
          </p:cNvPr>
          <p:cNvSpPr txBox="1">
            <a:spLocks/>
          </p:cNvSpPr>
          <p:nvPr/>
        </p:nvSpPr>
        <p:spPr>
          <a:xfrm>
            <a:off x="1721825" y="3870960"/>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13 – (Number of PTWs Issued ÷ Total works registered) × 100</a:t>
            </a:r>
          </a:p>
          <a:p>
            <a:pPr marL="171450" indent="-171450">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Key Observations: </a:t>
            </a:r>
            <a:endParaRPr lang="en-GB" sz="1100" b="1" dirty="0">
              <a:solidFill>
                <a:srgbClr val="00249C"/>
              </a:solidFill>
            </a:endParaRPr>
          </a:p>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solidFill>
                <a:srgbClr val="00249C"/>
              </a:solidFill>
            </a:endParaRPr>
          </a:p>
          <a:p>
            <a:pPr marL="171450" indent="-171450">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Rectification:</a:t>
            </a:r>
            <a:endParaRPr lang="en-US" sz="1100" dirty="0"/>
          </a:p>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7" name="Text Placeholder 3">
            <a:extLst>
              <a:ext uri="{FF2B5EF4-FFF2-40B4-BE49-F238E27FC236}">
                <a16:creationId xmlns:a16="http://schemas.microsoft.com/office/drawing/2014/main" id="{DBE691A8-24AE-18D2-1933-64685FAE5C76}"/>
              </a:ext>
            </a:extLst>
          </p:cNvPr>
          <p:cNvSpPr txBox="1">
            <a:spLocks/>
          </p:cNvSpPr>
          <p:nvPr/>
        </p:nvSpPr>
        <p:spPr>
          <a:xfrm>
            <a:off x="6717178" y="3870960"/>
            <a:ext cx="3455832"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14 – (Inducted Contractors ÷ Total Active Contractors) × 100</a:t>
            </a:r>
          </a:p>
          <a:p>
            <a:pPr marL="171450" indent="-171450">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Key Observations:</a:t>
            </a:r>
          </a:p>
          <a:p>
            <a:pP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GB" sz="1100" dirty="0">
              <a:solidFill>
                <a:srgbClr val="00249C"/>
              </a:solidFill>
            </a:endParaRPr>
          </a:p>
          <a:p>
            <a:pPr marL="171450" indent="-171450">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Rectification:</a:t>
            </a:r>
            <a:endParaRPr lang="en-US" sz="1100" dirty="0"/>
          </a:p>
        </p:txBody>
      </p:sp>
    </p:spTree>
    <p:extLst>
      <p:ext uri="{BB962C8B-B14F-4D97-AF65-F5344CB8AC3E}">
        <p14:creationId xmlns:p14="http://schemas.microsoft.com/office/powerpoint/2010/main" val="18888884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EF55A08-F697-3A45-E43B-FA6FC37B68CE}"/>
              </a:ext>
            </a:extLst>
          </p:cNvPr>
          <p:cNvSpPr txBox="1">
            <a:spLocks/>
          </p:cNvSpPr>
          <p:nvPr/>
        </p:nvSpPr>
        <p:spPr>
          <a:xfrm>
            <a:off x="659213" y="0"/>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2. EHS KPI Dashboard</a:t>
            </a:r>
          </a:p>
          <a:p>
            <a:r>
              <a:rPr lang="en-US" sz="2400" b="0" dirty="0"/>
              <a:t>5. Performance Evaluation &amp; Continual Improvement - </a:t>
            </a:r>
            <a:r>
              <a:rPr lang="en-US" sz="2400" b="0" i="1" dirty="0"/>
              <a:t>Inspection</a:t>
            </a:r>
          </a:p>
        </p:txBody>
      </p:sp>
      <p:graphicFrame>
        <p:nvGraphicFramePr>
          <p:cNvPr id="3" name="Chart 2">
            <a:extLst>
              <a:ext uri="{FF2B5EF4-FFF2-40B4-BE49-F238E27FC236}">
                <a16:creationId xmlns:a16="http://schemas.microsoft.com/office/drawing/2014/main" id="{73A4CE0F-E630-2A03-13A4-68EA0BCDEA03}"/>
              </a:ext>
            </a:extLst>
          </p:cNvPr>
          <p:cNvGraphicFramePr/>
          <p:nvPr/>
        </p:nvGraphicFramePr>
        <p:xfrm>
          <a:off x="1953072" y="1138895"/>
          <a:ext cx="3891221" cy="219635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D5EE6D26-5BDD-8B90-5A83-65934333BC35}"/>
              </a:ext>
            </a:extLst>
          </p:cNvPr>
          <p:cNvGraphicFramePr/>
          <p:nvPr/>
        </p:nvGraphicFramePr>
        <p:xfrm>
          <a:off x="6669240" y="1138895"/>
          <a:ext cx="3891221" cy="2196353"/>
        </p:xfrm>
        <a:graphic>
          <a:graphicData uri="http://schemas.openxmlformats.org/drawingml/2006/chart">
            <c:chart xmlns:c="http://schemas.openxmlformats.org/drawingml/2006/chart" xmlns:r="http://schemas.openxmlformats.org/officeDocument/2006/relationships" r:id="rId3"/>
          </a:graphicData>
        </a:graphic>
      </p:graphicFrame>
      <p:sp>
        <p:nvSpPr>
          <p:cNvPr id="4" name="Text Placeholder 3">
            <a:extLst>
              <a:ext uri="{FF2B5EF4-FFF2-40B4-BE49-F238E27FC236}">
                <a16:creationId xmlns:a16="http://schemas.microsoft.com/office/drawing/2014/main" id="{98429F78-E0E3-316A-D21F-9A30E0DC71ED}"/>
              </a:ext>
            </a:extLst>
          </p:cNvPr>
          <p:cNvSpPr txBox="1">
            <a:spLocks/>
          </p:cNvSpPr>
          <p:nvPr/>
        </p:nvSpPr>
        <p:spPr>
          <a:xfrm>
            <a:off x="1759215" y="3706775"/>
            <a:ext cx="4085078"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15 – (Findings Closed ÷ Total Findings) × 100</a:t>
            </a:r>
          </a:p>
          <a:p>
            <a:pPr marL="171450" indent="-171450" algn="just">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b="1" dirty="0">
              <a:solidFill>
                <a:schemeClr val="accent6"/>
              </a:solidFill>
            </a:endParaRPr>
          </a:p>
          <a:p>
            <a:pPr marL="171450" indent="-171450" algn="just">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Key Observations: </a:t>
            </a:r>
            <a:endParaRPr lang="en-GB" sz="1100" b="1" dirty="0">
              <a:solidFill>
                <a:srgbClr val="00249C"/>
              </a:solidFill>
            </a:endParaRPr>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GB" sz="1100" dirty="0">
              <a:solidFill>
                <a:srgbClr val="00249C"/>
              </a:solidFill>
            </a:endParaRPr>
          </a:p>
          <a:p>
            <a:pPr marL="171450" indent="-171450" algn="just">
              <a:buFont typeface="Arial" panose="020B0604020202020204" pitchFamily="34" charset="0"/>
              <a:buChar char="•"/>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100" b="1" dirty="0">
                <a:solidFill>
                  <a:schemeClr val="accent6"/>
                </a:solidFill>
              </a:rPr>
              <a:t>Rectification: </a:t>
            </a:r>
            <a:endParaRPr lang="en-US" sz="1100" dirty="0"/>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7" name="Text Placeholder 3">
            <a:extLst>
              <a:ext uri="{FF2B5EF4-FFF2-40B4-BE49-F238E27FC236}">
                <a16:creationId xmlns:a16="http://schemas.microsoft.com/office/drawing/2014/main" id="{7052B10D-0697-F183-66E1-91D3053DAC9A}"/>
              </a:ext>
            </a:extLst>
          </p:cNvPr>
          <p:cNvSpPr txBox="1">
            <a:spLocks/>
          </p:cNvSpPr>
          <p:nvPr/>
        </p:nvSpPr>
        <p:spPr>
          <a:xfrm>
            <a:off x="6669240" y="3706775"/>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16 – (Inspections Completed ÷ Inspections Planned) × 100</a:t>
            </a:r>
          </a:p>
          <a:p>
            <a:pPr marL="171450" indent="-171450" algn="just">
              <a:buFont typeface="Arial" panose="020B0604020202020204" pitchFamily="34" charset="0"/>
              <a:buChar char="•"/>
            </a:pPr>
            <a:r>
              <a:rPr lang="en-US" sz="1100" b="1" dirty="0">
                <a:solidFill>
                  <a:schemeClr val="accent6"/>
                </a:solidFill>
              </a:rPr>
              <a:t>Key Observations: </a:t>
            </a:r>
            <a:endParaRPr lang="en-GB" sz="1100" b="1" dirty="0">
              <a:solidFill>
                <a:schemeClr val="accent6"/>
              </a:solidFill>
            </a:endParaRPr>
          </a:p>
          <a:p>
            <a:pPr marL="171450" indent="-171450" algn="just">
              <a:buFont typeface="Arial" panose="020B0604020202020204" pitchFamily="34" charset="0"/>
              <a:buChar char="•"/>
            </a:pPr>
            <a:endParaRPr lang="en-GB" sz="1100" b="1" dirty="0">
              <a:solidFill>
                <a:schemeClr val="accent6"/>
              </a:solidFill>
            </a:endParaRPr>
          </a:p>
          <a:p>
            <a:pPr marL="171450" indent="-171450" algn="just">
              <a:buFont typeface="Arial" panose="020B0604020202020204" pitchFamily="34" charset="0"/>
              <a:buChar char="•"/>
            </a:pPr>
            <a:r>
              <a:rPr lang="en-US" sz="1100" b="1" dirty="0">
                <a:solidFill>
                  <a:schemeClr val="accent6"/>
                </a:solidFill>
              </a:rPr>
              <a:t>Rectification: </a:t>
            </a:r>
            <a:endParaRPr lang="en-US" sz="1100" dirty="0">
              <a:solidFill>
                <a:srgbClr val="00249C"/>
              </a:solidFill>
            </a:endParaRPr>
          </a:p>
          <a:p>
            <a:pPr marL="171450" indent="-171450" algn="just">
              <a:buFont typeface="Arial" panose="020B0604020202020204" pitchFamily="34" charset="0"/>
              <a:buChar char="•"/>
            </a:pPr>
            <a:endParaRPr lang="en-US" sz="1100" dirty="0"/>
          </a:p>
          <a:p>
            <a:pPr algn="just">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Tree>
    <p:extLst>
      <p:ext uri="{BB962C8B-B14F-4D97-AF65-F5344CB8AC3E}">
        <p14:creationId xmlns:p14="http://schemas.microsoft.com/office/powerpoint/2010/main" val="37307969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B144D033-06C2-3F95-4417-5E6D9DD59579}"/>
              </a:ext>
            </a:extLst>
          </p:cNvPr>
          <p:cNvSpPr txBox="1">
            <a:spLocks/>
          </p:cNvSpPr>
          <p:nvPr/>
        </p:nvSpPr>
        <p:spPr>
          <a:xfrm>
            <a:off x="659213" y="76269"/>
            <a:ext cx="11358615" cy="986177"/>
          </a:xfrm>
          <a:prstGeom prst="rect">
            <a:avLst/>
          </a:prstGeom>
        </p:spPr>
        <p:txBody>
          <a:bodyPr vert="horz" lIns="91440" tIns="45720" rIns="91440" bIns="45720" rtlCol="0" anchor="ctr" anchorCtr="0">
            <a:normAutofit fontScale="92500"/>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2. EHS KPI Dashboard</a:t>
            </a:r>
          </a:p>
          <a:p>
            <a:r>
              <a:rPr lang="en-US" sz="2400" b="0" dirty="0"/>
              <a:t>5. Performance Evaluation &amp; Continual Improvement – </a:t>
            </a:r>
            <a:r>
              <a:rPr lang="en-US" sz="2400" b="0" i="1" dirty="0"/>
              <a:t>Incident Reporting &amp; Investigation</a:t>
            </a:r>
          </a:p>
        </p:txBody>
      </p:sp>
      <p:graphicFrame>
        <p:nvGraphicFramePr>
          <p:cNvPr id="3" name="Chart 2">
            <a:extLst>
              <a:ext uri="{FF2B5EF4-FFF2-40B4-BE49-F238E27FC236}">
                <a16:creationId xmlns:a16="http://schemas.microsoft.com/office/drawing/2014/main" id="{4E07165A-AF93-1A17-D5D1-6E06E9317A93}"/>
              </a:ext>
            </a:extLst>
          </p:cNvPr>
          <p:cNvGraphicFramePr/>
          <p:nvPr/>
        </p:nvGraphicFramePr>
        <p:xfrm>
          <a:off x="1858093" y="1146403"/>
          <a:ext cx="3891221" cy="2196353"/>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691AD59B-9452-2B67-D87D-86759B46F6B8}"/>
              </a:ext>
            </a:extLst>
          </p:cNvPr>
          <p:cNvGraphicFramePr/>
          <p:nvPr/>
        </p:nvGraphicFramePr>
        <p:xfrm>
          <a:off x="6637310" y="1151425"/>
          <a:ext cx="3891221" cy="2196353"/>
        </p:xfrm>
        <a:graphic>
          <a:graphicData uri="http://schemas.openxmlformats.org/drawingml/2006/chart">
            <c:chart xmlns:c="http://schemas.openxmlformats.org/drawingml/2006/chart" xmlns:r="http://schemas.openxmlformats.org/officeDocument/2006/relationships" r:id="rId4"/>
          </a:graphicData>
        </a:graphic>
      </p:graphicFrame>
      <p:sp>
        <p:nvSpPr>
          <p:cNvPr id="4" name="Text Placeholder 3">
            <a:extLst>
              <a:ext uri="{FF2B5EF4-FFF2-40B4-BE49-F238E27FC236}">
                <a16:creationId xmlns:a16="http://schemas.microsoft.com/office/drawing/2014/main" id="{40FA2E22-C3E1-A0B9-1219-AE9FF837FBB3}"/>
              </a:ext>
            </a:extLst>
          </p:cNvPr>
          <p:cNvSpPr txBox="1">
            <a:spLocks/>
          </p:cNvSpPr>
          <p:nvPr/>
        </p:nvSpPr>
        <p:spPr>
          <a:xfrm>
            <a:off x="1858093" y="3515245"/>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17 – (Notifications Submitted Within Target ÷ Total Incidents) × 100</a:t>
            </a:r>
          </a:p>
          <a:p>
            <a:pPr marL="171450" indent="-171450" algn="just">
              <a:spcBef>
                <a:spcPts val="0"/>
              </a:spcBef>
              <a:buFont typeface="Arial" panose="020B0604020202020204" pitchFamily="34" charset="0"/>
              <a:buChar char="•"/>
            </a:pPr>
            <a:endParaRPr lang="en-US" sz="1100" b="1" dirty="0">
              <a:solidFill>
                <a:schemeClr val="accent6"/>
              </a:solidFill>
            </a:endParaRPr>
          </a:p>
          <a:p>
            <a:pPr marL="171450" indent="-171450">
              <a:buFont typeface="Arial" panose="020B0604020202020204" pitchFamily="34" charset="0"/>
              <a:buChar char="•"/>
            </a:pPr>
            <a:r>
              <a:rPr lang="en-US" sz="1100" b="1" dirty="0">
                <a:solidFill>
                  <a:schemeClr val="accent6"/>
                </a:solidFill>
              </a:rPr>
              <a:t>Key Observations</a:t>
            </a:r>
            <a:r>
              <a:rPr lang="en-US" sz="1100" b="1" dirty="0">
                <a:solidFill>
                  <a:schemeClr val="tx2"/>
                </a:solidFill>
              </a:rPr>
              <a:t>:</a:t>
            </a:r>
          </a:p>
          <a:p>
            <a:endParaRPr lang="en-US" sz="1100" b="1" dirty="0">
              <a:solidFill>
                <a:schemeClr val="accent6"/>
              </a:solidFill>
            </a:endParaRPr>
          </a:p>
          <a:p>
            <a:pPr marL="171450" indent="-171450" algn="just">
              <a:spcBef>
                <a:spcPts val="0"/>
              </a:spcBef>
              <a:buFont typeface="Arial" panose="020B0604020202020204" pitchFamily="34" charset="0"/>
              <a:buChar char="•"/>
            </a:pPr>
            <a:endParaRPr lang="en-US" sz="1100" b="1" dirty="0">
              <a:solidFill>
                <a:schemeClr val="accent6"/>
              </a:solidFill>
            </a:endParaRPr>
          </a:p>
          <a:p>
            <a:pPr marL="171450" indent="-171450" algn="just">
              <a:spcBef>
                <a:spcPts val="0"/>
              </a:spcBef>
              <a:buFont typeface="Arial" panose="020B0604020202020204" pitchFamily="34" charset="0"/>
              <a:buChar char="•"/>
            </a:pPr>
            <a:r>
              <a:rPr lang="en-US" sz="1100" b="1" dirty="0">
                <a:solidFill>
                  <a:schemeClr val="accent6"/>
                </a:solidFill>
              </a:rPr>
              <a:t>Rectification: </a:t>
            </a:r>
            <a:endParaRPr lang="en-GB" sz="1100" dirty="0"/>
          </a:p>
          <a:p>
            <a:pPr marL="171450" indent="-171450" algn="just">
              <a:spcBef>
                <a:spcPts val="0"/>
              </a:spcBef>
              <a:buFont typeface="Arial" panose="020B0604020202020204" pitchFamily="34" charset="0"/>
              <a:buChar char="•"/>
            </a:pPr>
            <a:endParaRPr lang="en-US" sz="1100" dirty="0">
              <a:solidFill>
                <a:srgbClr val="00249C"/>
              </a:solidFill>
            </a:endParaRPr>
          </a:p>
          <a:p>
            <a:pPr marL="171450" indent="-171450" algn="just">
              <a:spcBef>
                <a:spcPts val="0"/>
              </a:spcBef>
              <a:buFont typeface="Arial" panose="020B0604020202020204" pitchFamily="34" charset="0"/>
              <a:buChar char="•"/>
            </a:pPr>
            <a:endParaRPr lang="en-US" sz="1100" dirty="0"/>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
        <p:nvSpPr>
          <p:cNvPr id="7" name="Text Placeholder 3">
            <a:extLst>
              <a:ext uri="{FF2B5EF4-FFF2-40B4-BE49-F238E27FC236}">
                <a16:creationId xmlns:a16="http://schemas.microsoft.com/office/drawing/2014/main" id="{30AD88EC-F553-C99C-F97E-976D56FF4159}"/>
              </a:ext>
            </a:extLst>
          </p:cNvPr>
          <p:cNvSpPr txBox="1">
            <a:spLocks/>
          </p:cNvSpPr>
          <p:nvPr/>
        </p:nvSpPr>
        <p:spPr>
          <a:xfrm>
            <a:off x="6637310" y="3521746"/>
            <a:ext cx="3891221" cy="2810478"/>
          </a:xfrm>
          <a:prstGeom prst="rect">
            <a:avLst/>
          </a:prstGeom>
        </p:spPr>
        <p:txBody>
          <a:bodyPr vert="horz" lIns="91440" tIns="45720" rIns="91440" bIns="45720" rtlCol="0">
            <a:no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r>
              <a:rPr lang="en-US" sz="1200" b="1" dirty="0"/>
              <a:t>KPI 18 – (Investigations Completed ÷ Total Incidents Investigated) × 100</a:t>
            </a:r>
          </a:p>
          <a:p>
            <a:pPr marL="171450" indent="-171450" algn="just">
              <a:spcBef>
                <a:spcPts val="0"/>
              </a:spcBef>
              <a:buFont typeface="Arial" panose="020B0604020202020204" pitchFamily="34" charset="0"/>
              <a:buChar char="•"/>
            </a:pPr>
            <a:endParaRPr lang="en-US" sz="1100" b="1" dirty="0">
              <a:solidFill>
                <a:schemeClr val="accent6"/>
              </a:solidFill>
            </a:endParaRPr>
          </a:p>
          <a:p>
            <a:pPr marL="171450" indent="-171450">
              <a:buFont typeface="Arial" panose="020B0604020202020204" pitchFamily="34" charset="0"/>
              <a:buChar char="•"/>
            </a:pPr>
            <a:r>
              <a:rPr lang="en-US" sz="1100" b="1" dirty="0">
                <a:solidFill>
                  <a:schemeClr val="accent6"/>
                </a:solidFill>
              </a:rPr>
              <a:t>Key Observations: </a:t>
            </a:r>
            <a:endParaRPr lang="en-GB" sz="1100" b="1" dirty="0">
              <a:solidFill>
                <a:schemeClr val="accent6"/>
              </a:solidFill>
            </a:endParaRPr>
          </a:p>
          <a:p>
            <a:endParaRPr lang="en-GB" sz="1100" b="1" dirty="0">
              <a:solidFill>
                <a:schemeClr val="accent6"/>
              </a:solidFill>
            </a:endParaRPr>
          </a:p>
          <a:p>
            <a:endParaRPr lang="en-GB" sz="1100" b="1" dirty="0">
              <a:solidFill>
                <a:schemeClr val="accent6"/>
              </a:solidFill>
            </a:endParaRPr>
          </a:p>
          <a:p>
            <a:pPr marL="171450" indent="-171450" algn="just">
              <a:spcBef>
                <a:spcPts val="0"/>
              </a:spcBef>
              <a:buFont typeface="Arial" panose="020B0604020202020204" pitchFamily="34" charset="0"/>
              <a:buChar char="•"/>
            </a:pPr>
            <a:r>
              <a:rPr lang="en-US" sz="1100" b="1" dirty="0">
                <a:solidFill>
                  <a:schemeClr val="accent6"/>
                </a:solidFill>
              </a:rPr>
              <a:t>Rectification: </a:t>
            </a:r>
            <a:endParaRPr lang="en-GB" sz="1100" dirty="0">
              <a:solidFill>
                <a:srgbClr val="00249C"/>
              </a:solidFill>
            </a:endParaRPr>
          </a:p>
          <a:p>
            <a:pPr marL="171450" indent="-171450" algn="just">
              <a:spcBef>
                <a:spcPts val="0"/>
              </a:spcBef>
              <a:buFont typeface="Arial" panose="020B0604020202020204" pitchFamily="34" charset="0"/>
              <a:buChar char="•"/>
            </a:pPr>
            <a:endParaRPr lang="en-US" sz="1100" b="1" dirty="0">
              <a:solidFill>
                <a:schemeClr val="accent6"/>
              </a:solidFill>
            </a:endParaRPr>
          </a:p>
          <a:p>
            <a:pPr marL="171450" indent="-171450" algn="just">
              <a:spcBef>
                <a:spcPts val="0"/>
              </a:spcBef>
              <a:buFont typeface="Arial" panose="020B0604020202020204" pitchFamily="34" charset="0"/>
              <a:buChar char="•"/>
            </a:pPr>
            <a:endParaRPr lang="en-US" sz="1100" dirty="0"/>
          </a:p>
          <a:p>
            <a:pPr algn="just">
              <a:spcBef>
                <a:spcPts val="0"/>
              </a:spcBef>
              <a:defRPr lang="en-US" sz="1200" b="0" i="0" u="none" strike="noStrike" kern="1200" spc="0" baseline="0">
                <a:solidFill>
                  <a:srgbClr val="00249C"/>
                </a:solidFill>
                <a:latin typeface="Tahoma" panose="020B0604030504040204" pitchFamily="34" charset="0"/>
                <a:ea typeface="Tahoma" panose="020B0604030504040204" pitchFamily="34" charset="0"/>
                <a:cs typeface="Tahoma" panose="020B0604030504040204" pitchFamily="34" charset="0"/>
              </a:defRPr>
            </a:pPr>
            <a:endParaRPr lang="en-US" sz="1100" dirty="0"/>
          </a:p>
        </p:txBody>
      </p:sp>
    </p:spTree>
    <p:extLst>
      <p:ext uri="{BB962C8B-B14F-4D97-AF65-F5344CB8AC3E}">
        <p14:creationId xmlns:p14="http://schemas.microsoft.com/office/powerpoint/2010/main" val="1066704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8C182EB-ACBA-E746-28B0-D4C21B8FF75C}"/>
              </a:ext>
            </a:extLst>
          </p:cNvPr>
          <p:cNvSpPr txBox="1">
            <a:spLocks/>
          </p:cNvSpPr>
          <p:nvPr/>
        </p:nvSpPr>
        <p:spPr>
          <a:xfrm>
            <a:off x="589545" y="-76131"/>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3. Summary of Decisions and Actions</a:t>
            </a:r>
            <a:endParaRPr lang="en-US" sz="2400" b="0" i="1" dirty="0"/>
          </a:p>
        </p:txBody>
      </p:sp>
      <p:graphicFrame>
        <p:nvGraphicFramePr>
          <p:cNvPr id="2" name="Table 1">
            <a:extLst>
              <a:ext uri="{FF2B5EF4-FFF2-40B4-BE49-F238E27FC236}">
                <a16:creationId xmlns:a16="http://schemas.microsoft.com/office/drawing/2014/main" id="{AFBB3CA4-063C-BD2A-CF99-415AC915C9E3}"/>
              </a:ext>
            </a:extLst>
          </p:cNvPr>
          <p:cNvGraphicFramePr>
            <a:graphicFrameLocks noGrp="1"/>
          </p:cNvGraphicFramePr>
          <p:nvPr>
            <p:extLst>
              <p:ext uri="{D42A27DB-BD31-4B8C-83A1-F6EECF244321}">
                <p14:modId xmlns:p14="http://schemas.microsoft.com/office/powerpoint/2010/main" val="1031804904"/>
              </p:ext>
            </p:extLst>
          </p:nvPr>
        </p:nvGraphicFramePr>
        <p:xfrm>
          <a:off x="1026159" y="719666"/>
          <a:ext cx="10576293" cy="5400040"/>
        </p:xfrm>
        <a:graphic>
          <a:graphicData uri="http://schemas.openxmlformats.org/drawingml/2006/table">
            <a:tbl>
              <a:tblPr firstRow="1" bandRow="1">
                <a:tableStyleId>{5C22544A-7EE6-4342-B048-85BDC9FD1C3A}</a:tableStyleId>
              </a:tblPr>
              <a:tblGrid>
                <a:gridCol w="1510899">
                  <a:extLst>
                    <a:ext uri="{9D8B030D-6E8A-4147-A177-3AD203B41FA5}">
                      <a16:colId xmlns:a16="http://schemas.microsoft.com/office/drawing/2014/main" val="2246145420"/>
                    </a:ext>
                  </a:extLst>
                </a:gridCol>
                <a:gridCol w="1510899">
                  <a:extLst>
                    <a:ext uri="{9D8B030D-6E8A-4147-A177-3AD203B41FA5}">
                      <a16:colId xmlns:a16="http://schemas.microsoft.com/office/drawing/2014/main" val="876729999"/>
                    </a:ext>
                  </a:extLst>
                </a:gridCol>
                <a:gridCol w="1510899">
                  <a:extLst>
                    <a:ext uri="{9D8B030D-6E8A-4147-A177-3AD203B41FA5}">
                      <a16:colId xmlns:a16="http://schemas.microsoft.com/office/drawing/2014/main" val="2075662073"/>
                    </a:ext>
                  </a:extLst>
                </a:gridCol>
                <a:gridCol w="1510899">
                  <a:extLst>
                    <a:ext uri="{9D8B030D-6E8A-4147-A177-3AD203B41FA5}">
                      <a16:colId xmlns:a16="http://schemas.microsoft.com/office/drawing/2014/main" val="483095837"/>
                    </a:ext>
                  </a:extLst>
                </a:gridCol>
                <a:gridCol w="1510899">
                  <a:extLst>
                    <a:ext uri="{9D8B030D-6E8A-4147-A177-3AD203B41FA5}">
                      <a16:colId xmlns:a16="http://schemas.microsoft.com/office/drawing/2014/main" val="1300932443"/>
                    </a:ext>
                  </a:extLst>
                </a:gridCol>
                <a:gridCol w="1510899">
                  <a:extLst>
                    <a:ext uri="{9D8B030D-6E8A-4147-A177-3AD203B41FA5}">
                      <a16:colId xmlns:a16="http://schemas.microsoft.com/office/drawing/2014/main" val="901963811"/>
                    </a:ext>
                  </a:extLst>
                </a:gridCol>
                <a:gridCol w="1510899">
                  <a:extLst>
                    <a:ext uri="{9D8B030D-6E8A-4147-A177-3AD203B41FA5}">
                      <a16:colId xmlns:a16="http://schemas.microsoft.com/office/drawing/2014/main" val="3711049632"/>
                    </a:ext>
                  </a:extLst>
                </a:gridCol>
              </a:tblGrid>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600" dirty="0">
                          <a:solidFill>
                            <a:schemeClr val="bg2"/>
                          </a:solidFill>
                          <a:latin typeface="+mn-lt"/>
                          <a:ea typeface="Tahoma" panose="020B0604030504040204" pitchFamily="34" charset="0"/>
                          <a:cs typeface="Tahoma" panose="020B0604030504040204" pitchFamily="34" charset="0"/>
                        </a:rPr>
                        <a:t>#</a:t>
                      </a:r>
                    </a:p>
                    <a:p>
                      <a:endParaRPr lang="en-US" sz="1600" dirty="0">
                        <a:solidFill>
                          <a:schemeClr val="bg2"/>
                        </a:solidFill>
                        <a:latin typeface="+mn-lt"/>
                      </a:endParaRPr>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tx1"/>
                    </a:solidFill>
                  </a:tcPr>
                </a:tc>
                <a:tc>
                  <a:txBody>
                    <a:bodyPr/>
                    <a:lstStyle/>
                    <a:p>
                      <a:r>
                        <a:rPr lang="en-US" sz="1600" dirty="0">
                          <a:solidFill>
                            <a:schemeClr val="bg2"/>
                          </a:solidFill>
                          <a:latin typeface="+mn-lt"/>
                        </a:rPr>
                        <a:t>Type</a:t>
                      </a:r>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600" dirty="0">
                          <a:solidFill>
                            <a:schemeClr val="bg2"/>
                          </a:solidFill>
                          <a:latin typeface="+mn-lt"/>
                          <a:ea typeface="Tahoma" panose="020B0604030504040204" pitchFamily="34" charset="0"/>
                          <a:cs typeface="Tahoma" panose="020B0604030504040204" pitchFamily="34" charset="0"/>
                        </a:rPr>
                        <a:t>Status</a:t>
                      </a:r>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600" dirty="0">
                          <a:solidFill>
                            <a:schemeClr val="bg2"/>
                          </a:solidFill>
                          <a:latin typeface="+mn-lt"/>
                          <a:ea typeface="Tahoma" panose="020B0604030504040204" pitchFamily="34" charset="0"/>
                          <a:cs typeface="Tahoma" panose="020B0604030504040204" pitchFamily="34" charset="0"/>
                        </a:rPr>
                        <a:t>Discussion Points</a:t>
                      </a:r>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600" dirty="0">
                          <a:solidFill>
                            <a:schemeClr val="bg2"/>
                          </a:solidFill>
                          <a:latin typeface="+mn-lt"/>
                          <a:ea typeface="Tahoma" panose="020B0604030504040204" pitchFamily="34" charset="0"/>
                          <a:cs typeface="Tahoma" panose="020B0604030504040204" pitchFamily="34" charset="0"/>
                        </a:rPr>
                        <a:t>Action Required</a:t>
                      </a:r>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600" dirty="0">
                          <a:solidFill>
                            <a:schemeClr val="bg2"/>
                          </a:solidFill>
                          <a:latin typeface="+mn-lt"/>
                          <a:ea typeface="Tahoma" panose="020B0604030504040204" pitchFamily="34" charset="0"/>
                          <a:cs typeface="Tahoma" panose="020B0604030504040204" pitchFamily="34" charset="0"/>
                        </a:rPr>
                        <a:t>Target Date</a:t>
                      </a:r>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tx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600" dirty="0">
                          <a:solidFill>
                            <a:schemeClr val="bg2"/>
                          </a:solidFill>
                          <a:latin typeface="+mn-lt"/>
                          <a:ea typeface="Tahoma" panose="020B0604030504040204" pitchFamily="34" charset="0"/>
                          <a:cs typeface="Tahoma" panose="020B0604030504040204" pitchFamily="34" charset="0"/>
                        </a:rPr>
                        <a:t>Owner </a:t>
                      </a:r>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tx1"/>
                    </a:solidFill>
                  </a:tcPr>
                </a:tc>
                <a:extLst>
                  <a:ext uri="{0D108BD9-81ED-4DB2-BD59-A6C34878D82A}">
                    <a16:rowId xmlns:a16="http://schemas.microsoft.com/office/drawing/2014/main" val="1226965156"/>
                  </a:ext>
                </a:extLst>
              </a:tr>
              <a:tr h="370840">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extLst>
                  <a:ext uri="{0D108BD9-81ED-4DB2-BD59-A6C34878D82A}">
                    <a16:rowId xmlns:a16="http://schemas.microsoft.com/office/drawing/2014/main" val="2899601372"/>
                  </a:ext>
                </a:extLst>
              </a:tr>
              <a:tr h="370840">
                <a:tc>
                  <a:txBody>
                    <a:bodyPr/>
                    <a:lstStyle/>
                    <a:p>
                      <a:endParaRPr lang="en-US"/>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extLst>
                  <a:ext uri="{0D108BD9-81ED-4DB2-BD59-A6C34878D82A}">
                    <a16:rowId xmlns:a16="http://schemas.microsoft.com/office/drawing/2014/main" val="135040718"/>
                  </a:ext>
                </a:extLst>
              </a:tr>
              <a:tr h="370840">
                <a:tc>
                  <a:txBody>
                    <a:bodyPr/>
                    <a:lstStyle/>
                    <a:p>
                      <a:endParaRPr lang="en-US"/>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extLst>
                  <a:ext uri="{0D108BD9-81ED-4DB2-BD59-A6C34878D82A}">
                    <a16:rowId xmlns:a16="http://schemas.microsoft.com/office/drawing/2014/main" val="2207541846"/>
                  </a:ext>
                </a:extLst>
              </a:tr>
              <a:tr h="370840">
                <a:tc>
                  <a:txBody>
                    <a:bodyPr/>
                    <a:lstStyle/>
                    <a:p>
                      <a:endParaRPr lang="en-US"/>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extLst>
                  <a:ext uri="{0D108BD9-81ED-4DB2-BD59-A6C34878D82A}">
                    <a16:rowId xmlns:a16="http://schemas.microsoft.com/office/drawing/2014/main" val="1687376168"/>
                  </a:ext>
                </a:extLst>
              </a:tr>
              <a:tr h="370840">
                <a:tc>
                  <a:txBody>
                    <a:bodyPr/>
                    <a:lstStyle/>
                    <a:p>
                      <a:endParaRPr lang="en-US"/>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extLst>
                  <a:ext uri="{0D108BD9-81ED-4DB2-BD59-A6C34878D82A}">
                    <a16:rowId xmlns:a16="http://schemas.microsoft.com/office/drawing/2014/main" val="2352880616"/>
                  </a:ext>
                </a:extLst>
              </a:tr>
              <a:tr h="370840">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extLst>
                  <a:ext uri="{0D108BD9-81ED-4DB2-BD59-A6C34878D82A}">
                    <a16:rowId xmlns:a16="http://schemas.microsoft.com/office/drawing/2014/main" val="3114824503"/>
                  </a:ext>
                </a:extLst>
              </a:tr>
              <a:tr h="370840">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extLst>
                  <a:ext uri="{0D108BD9-81ED-4DB2-BD59-A6C34878D82A}">
                    <a16:rowId xmlns:a16="http://schemas.microsoft.com/office/drawing/2014/main" val="4024034780"/>
                  </a:ext>
                </a:extLst>
              </a:tr>
              <a:tr h="370840">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extLst>
                  <a:ext uri="{0D108BD9-81ED-4DB2-BD59-A6C34878D82A}">
                    <a16:rowId xmlns:a16="http://schemas.microsoft.com/office/drawing/2014/main" val="2900625144"/>
                  </a:ext>
                </a:extLst>
              </a:tr>
              <a:tr h="370840">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extLst>
                  <a:ext uri="{0D108BD9-81ED-4DB2-BD59-A6C34878D82A}">
                    <a16:rowId xmlns:a16="http://schemas.microsoft.com/office/drawing/2014/main" val="3277630296"/>
                  </a:ext>
                </a:extLst>
              </a:tr>
              <a:tr h="370840">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extLst>
                  <a:ext uri="{0D108BD9-81ED-4DB2-BD59-A6C34878D82A}">
                    <a16:rowId xmlns:a16="http://schemas.microsoft.com/office/drawing/2014/main" val="1871092944"/>
                  </a:ext>
                </a:extLst>
              </a:tr>
              <a:tr h="370840">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extLst>
                  <a:ext uri="{0D108BD9-81ED-4DB2-BD59-A6C34878D82A}">
                    <a16:rowId xmlns:a16="http://schemas.microsoft.com/office/drawing/2014/main" val="275340408"/>
                  </a:ext>
                </a:extLst>
              </a:tr>
              <a:tr h="370840">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extLst>
                  <a:ext uri="{0D108BD9-81ED-4DB2-BD59-A6C34878D82A}">
                    <a16:rowId xmlns:a16="http://schemas.microsoft.com/office/drawing/2014/main" val="1766348699"/>
                  </a:ext>
                </a:extLst>
              </a:tr>
              <a:tr h="370840">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tc>
                  <a:txBody>
                    <a:bodyPr/>
                    <a:lstStyle/>
                    <a:p>
                      <a:endParaRPr lang="en-US" dirty="0"/>
                    </a:p>
                  </a:txBody>
                  <a:tcPr>
                    <a:lnL w="12700" cap="flat" cmpd="sng" algn="ctr">
                      <a:solidFill>
                        <a:srgbClr val="00249C"/>
                      </a:solidFill>
                      <a:prstDash val="solid"/>
                      <a:round/>
                      <a:headEnd type="none" w="med" len="med"/>
                      <a:tailEnd type="none" w="med" len="med"/>
                    </a:lnL>
                    <a:lnR w="12700" cap="flat" cmpd="sng" algn="ctr">
                      <a:solidFill>
                        <a:srgbClr val="00249C"/>
                      </a:solidFill>
                      <a:prstDash val="solid"/>
                      <a:round/>
                      <a:headEnd type="none" w="med" len="med"/>
                      <a:tailEnd type="none" w="med" len="med"/>
                    </a:lnR>
                    <a:lnT w="12700" cap="flat" cmpd="sng" algn="ctr">
                      <a:solidFill>
                        <a:srgbClr val="00249C"/>
                      </a:solidFill>
                      <a:prstDash val="solid"/>
                      <a:round/>
                      <a:headEnd type="none" w="med" len="med"/>
                      <a:tailEnd type="none" w="med" len="med"/>
                    </a:lnT>
                    <a:lnB w="12700" cap="flat" cmpd="sng" algn="ctr">
                      <a:solidFill>
                        <a:srgbClr val="00249C"/>
                      </a:solidFill>
                      <a:prstDash val="solid"/>
                      <a:round/>
                      <a:headEnd type="none" w="med" len="med"/>
                      <a:tailEnd type="none" w="med" len="med"/>
                    </a:lnB>
                    <a:solidFill>
                      <a:schemeClr val="bg2"/>
                    </a:solidFill>
                  </a:tcPr>
                </a:tc>
                <a:extLst>
                  <a:ext uri="{0D108BD9-81ED-4DB2-BD59-A6C34878D82A}">
                    <a16:rowId xmlns:a16="http://schemas.microsoft.com/office/drawing/2014/main" val="1499162646"/>
                  </a:ext>
                </a:extLst>
              </a:tr>
            </a:tbl>
          </a:graphicData>
        </a:graphic>
      </p:graphicFrame>
      <p:sp>
        <p:nvSpPr>
          <p:cNvPr id="5" name="TextBox 4">
            <a:extLst>
              <a:ext uri="{FF2B5EF4-FFF2-40B4-BE49-F238E27FC236}">
                <a16:creationId xmlns:a16="http://schemas.microsoft.com/office/drawing/2014/main" id="{4D067AE5-8949-1503-A2C4-87D0BF9076C4}"/>
              </a:ext>
            </a:extLst>
          </p:cNvPr>
          <p:cNvSpPr txBox="1"/>
          <p:nvPr/>
        </p:nvSpPr>
        <p:spPr>
          <a:xfrm>
            <a:off x="1638300" y="3239701"/>
            <a:ext cx="7035800" cy="276999"/>
          </a:xfrm>
          <a:prstGeom prst="rect">
            <a:avLst/>
          </a:prstGeom>
          <a:noFill/>
        </p:spPr>
        <p:txBody>
          <a:bodyPr wrap="square">
            <a:spAutoFit/>
          </a:bodyPr>
          <a:lstStyle/>
          <a:p>
            <a:pPr algn="ctr"/>
            <a:r>
              <a:rPr lang="en-AU" sz="1200" dirty="0">
                <a:solidFill>
                  <a:schemeClr val="bg2"/>
                </a:solidFill>
                <a:latin typeface="Tahoma" panose="020B0604030504040204" pitchFamily="34" charset="0"/>
                <a:ea typeface="Tahoma" panose="020B0604030504040204" pitchFamily="34" charset="0"/>
                <a:cs typeface="Tahoma" panose="020B0604030504040204" pitchFamily="34" charset="0"/>
              </a:rPr>
              <a:t>#</a:t>
            </a:r>
          </a:p>
        </p:txBody>
      </p:sp>
    </p:spTree>
    <p:extLst>
      <p:ext uri="{BB962C8B-B14F-4D97-AF65-F5344CB8AC3E}">
        <p14:creationId xmlns:p14="http://schemas.microsoft.com/office/powerpoint/2010/main" val="22048150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02AA6A-C66A-3E80-93F8-E6D106FEDADF}"/>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960E4AD0-35A9-AD18-2915-8D19E4B6A12D}"/>
              </a:ext>
            </a:extLst>
          </p:cNvPr>
          <p:cNvSpPr txBox="1">
            <a:spLocks/>
          </p:cNvSpPr>
          <p:nvPr/>
        </p:nvSpPr>
        <p:spPr>
          <a:xfrm>
            <a:off x="659213" y="91440"/>
            <a:ext cx="11358615" cy="737326"/>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4. Incident and Near Miss Review</a:t>
            </a:r>
          </a:p>
        </p:txBody>
      </p:sp>
      <p:sp>
        <p:nvSpPr>
          <p:cNvPr id="13" name="Text Placeholder 3">
            <a:extLst>
              <a:ext uri="{FF2B5EF4-FFF2-40B4-BE49-F238E27FC236}">
                <a16:creationId xmlns:a16="http://schemas.microsoft.com/office/drawing/2014/main" id="{7F10BB4D-90A9-225D-EBE1-AE93559676DE}"/>
              </a:ext>
            </a:extLst>
          </p:cNvPr>
          <p:cNvSpPr>
            <a:spLocks noGrp="1"/>
          </p:cNvSpPr>
          <p:nvPr>
            <p:ph type="body" sz="quarter" idx="10"/>
          </p:nvPr>
        </p:nvSpPr>
        <p:spPr>
          <a:xfrm>
            <a:off x="659214" y="4915569"/>
            <a:ext cx="8020198" cy="1724717"/>
          </a:xfrm>
        </p:spPr>
        <p:txBody>
          <a:bodyPr>
            <a:normAutofit/>
          </a:bodyPr>
          <a:lstStyle/>
          <a:p>
            <a:r>
              <a:rPr lang="en-US" sz="1400" b="1" dirty="0"/>
              <a:t>Key Observations: </a:t>
            </a:r>
          </a:p>
          <a:p>
            <a:r>
              <a:rPr lang="en-US" sz="1200" dirty="0"/>
              <a:t>By Campus EHS Specialists </a:t>
            </a:r>
          </a:p>
          <a:p>
            <a:endParaRPr lang="en-US" sz="1400" dirty="0"/>
          </a:p>
          <a:p>
            <a:endParaRPr lang="en-US" sz="1400" dirty="0"/>
          </a:p>
        </p:txBody>
      </p:sp>
    </p:spTree>
    <p:extLst>
      <p:ext uri="{BB962C8B-B14F-4D97-AF65-F5344CB8AC3E}">
        <p14:creationId xmlns:p14="http://schemas.microsoft.com/office/powerpoint/2010/main" val="15500885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FE2A3-FC7E-B6BA-AE34-6D9174D51C8C}"/>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3BC71534-F3EB-F535-1AFA-C302C1F68971}"/>
              </a:ext>
            </a:extLst>
          </p:cNvPr>
          <p:cNvSpPr txBox="1">
            <a:spLocks/>
          </p:cNvSpPr>
          <p:nvPr/>
        </p:nvSpPr>
        <p:spPr>
          <a:xfrm>
            <a:off x="659213" y="91440"/>
            <a:ext cx="11358615" cy="737326"/>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5. Risk Assessments and Rectification Plans</a:t>
            </a:r>
          </a:p>
        </p:txBody>
      </p:sp>
      <p:sp>
        <p:nvSpPr>
          <p:cNvPr id="13" name="Text Placeholder 3">
            <a:extLst>
              <a:ext uri="{FF2B5EF4-FFF2-40B4-BE49-F238E27FC236}">
                <a16:creationId xmlns:a16="http://schemas.microsoft.com/office/drawing/2014/main" id="{48468371-BC90-87BC-A153-A70ED62F2170}"/>
              </a:ext>
            </a:extLst>
          </p:cNvPr>
          <p:cNvSpPr>
            <a:spLocks noGrp="1"/>
          </p:cNvSpPr>
          <p:nvPr>
            <p:ph type="body" sz="quarter" idx="10"/>
          </p:nvPr>
        </p:nvSpPr>
        <p:spPr>
          <a:xfrm>
            <a:off x="659214" y="4915569"/>
            <a:ext cx="8020198" cy="1724717"/>
          </a:xfrm>
        </p:spPr>
        <p:txBody>
          <a:bodyPr>
            <a:normAutofit/>
          </a:bodyPr>
          <a:lstStyle/>
          <a:p>
            <a:r>
              <a:rPr lang="en-US" sz="1400" b="1" dirty="0"/>
              <a:t>Key Observations: </a:t>
            </a:r>
          </a:p>
          <a:p>
            <a:r>
              <a:rPr lang="en-US" sz="1200" dirty="0"/>
              <a:t>By Campus EHS Specialists </a:t>
            </a:r>
          </a:p>
          <a:p>
            <a:endParaRPr lang="en-US" sz="1400" dirty="0"/>
          </a:p>
          <a:p>
            <a:endParaRPr lang="en-US" sz="1400" dirty="0"/>
          </a:p>
          <a:p>
            <a:endParaRPr lang="en-US" sz="1400" dirty="0"/>
          </a:p>
          <a:p>
            <a:endParaRPr lang="en-US" sz="1400" dirty="0"/>
          </a:p>
        </p:txBody>
      </p:sp>
    </p:spTree>
    <p:extLst>
      <p:ext uri="{BB962C8B-B14F-4D97-AF65-F5344CB8AC3E}">
        <p14:creationId xmlns:p14="http://schemas.microsoft.com/office/powerpoint/2010/main" val="37746617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341E7-F77A-A58B-193B-305ACE933273}"/>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B6B212B0-211F-C6DF-64FC-DF27DE344A32}"/>
              </a:ext>
            </a:extLst>
          </p:cNvPr>
          <p:cNvSpPr txBox="1">
            <a:spLocks/>
          </p:cNvSpPr>
          <p:nvPr/>
        </p:nvSpPr>
        <p:spPr>
          <a:xfrm>
            <a:off x="659213" y="91440"/>
            <a:ext cx="11358615" cy="737326"/>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6. Audit Updates (Internal/External/Regulatory)</a:t>
            </a:r>
          </a:p>
        </p:txBody>
      </p:sp>
      <p:sp>
        <p:nvSpPr>
          <p:cNvPr id="13" name="Text Placeholder 3">
            <a:extLst>
              <a:ext uri="{FF2B5EF4-FFF2-40B4-BE49-F238E27FC236}">
                <a16:creationId xmlns:a16="http://schemas.microsoft.com/office/drawing/2014/main" id="{855C5857-0A59-9B71-B939-170A87D075F3}"/>
              </a:ext>
            </a:extLst>
          </p:cNvPr>
          <p:cNvSpPr>
            <a:spLocks noGrp="1"/>
          </p:cNvSpPr>
          <p:nvPr>
            <p:ph type="body" sz="quarter" idx="10"/>
          </p:nvPr>
        </p:nvSpPr>
        <p:spPr>
          <a:xfrm>
            <a:off x="659214" y="4915569"/>
            <a:ext cx="8020198" cy="1724717"/>
          </a:xfrm>
        </p:spPr>
        <p:txBody>
          <a:bodyPr>
            <a:normAutofit/>
          </a:bodyPr>
          <a:lstStyle/>
          <a:p>
            <a:r>
              <a:rPr lang="en-US" sz="1400" b="1" dirty="0"/>
              <a:t>Key Observations: </a:t>
            </a:r>
          </a:p>
          <a:p>
            <a:r>
              <a:rPr lang="en-US" sz="1200" dirty="0"/>
              <a:t>By Campus EHS Specialists </a:t>
            </a:r>
          </a:p>
          <a:p>
            <a:endParaRPr lang="en-US" sz="1400" dirty="0"/>
          </a:p>
          <a:p>
            <a:endParaRPr lang="en-US" sz="1400" dirty="0"/>
          </a:p>
          <a:p>
            <a:endParaRPr lang="en-US" sz="1400" dirty="0"/>
          </a:p>
        </p:txBody>
      </p:sp>
    </p:spTree>
    <p:extLst>
      <p:ext uri="{BB962C8B-B14F-4D97-AF65-F5344CB8AC3E}">
        <p14:creationId xmlns:p14="http://schemas.microsoft.com/office/powerpoint/2010/main" val="18799306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32251-02A2-62F0-BC2E-A07DDA5B9B17}"/>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80266443-C7A2-CA38-3509-E3CF2DFEDEFD}"/>
              </a:ext>
            </a:extLst>
          </p:cNvPr>
          <p:cNvSpPr txBox="1">
            <a:spLocks/>
          </p:cNvSpPr>
          <p:nvPr/>
        </p:nvSpPr>
        <p:spPr>
          <a:xfrm>
            <a:off x="659213" y="91440"/>
            <a:ext cx="11358615" cy="737326"/>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7. Inspection Findings and CAPA status</a:t>
            </a:r>
          </a:p>
        </p:txBody>
      </p:sp>
      <p:graphicFrame>
        <p:nvGraphicFramePr>
          <p:cNvPr id="6" name="Table 5">
            <a:extLst>
              <a:ext uri="{FF2B5EF4-FFF2-40B4-BE49-F238E27FC236}">
                <a16:creationId xmlns:a16="http://schemas.microsoft.com/office/drawing/2014/main" id="{B97482A6-6C2B-E790-7F30-E339D65E0701}"/>
              </a:ext>
            </a:extLst>
          </p:cNvPr>
          <p:cNvGraphicFramePr>
            <a:graphicFrameLocks noGrp="1"/>
          </p:cNvGraphicFramePr>
          <p:nvPr>
            <p:extLst>
              <p:ext uri="{D42A27DB-BD31-4B8C-83A1-F6EECF244321}">
                <p14:modId xmlns:p14="http://schemas.microsoft.com/office/powerpoint/2010/main" val="1271392884"/>
              </p:ext>
            </p:extLst>
          </p:nvPr>
        </p:nvGraphicFramePr>
        <p:xfrm>
          <a:off x="659213" y="828766"/>
          <a:ext cx="11360067" cy="4797838"/>
        </p:xfrm>
        <a:graphic>
          <a:graphicData uri="http://schemas.openxmlformats.org/drawingml/2006/table">
            <a:tbl>
              <a:tblPr firstRow="1" bandRow="1">
                <a:tableStyleId>{7E9639D4-E3E2-4D34-9284-5A2195B3D0D7}</a:tableStyleId>
              </a:tblPr>
              <a:tblGrid>
                <a:gridCol w="1344759">
                  <a:extLst>
                    <a:ext uri="{9D8B030D-6E8A-4147-A177-3AD203B41FA5}">
                      <a16:colId xmlns:a16="http://schemas.microsoft.com/office/drawing/2014/main" val="3007617848"/>
                    </a:ext>
                  </a:extLst>
                </a:gridCol>
                <a:gridCol w="8125548">
                  <a:extLst>
                    <a:ext uri="{9D8B030D-6E8A-4147-A177-3AD203B41FA5}">
                      <a16:colId xmlns:a16="http://schemas.microsoft.com/office/drawing/2014/main" val="862515432"/>
                    </a:ext>
                  </a:extLst>
                </a:gridCol>
                <a:gridCol w="1889760">
                  <a:extLst>
                    <a:ext uri="{9D8B030D-6E8A-4147-A177-3AD203B41FA5}">
                      <a16:colId xmlns:a16="http://schemas.microsoft.com/office/drawing/2014/main" val="3360428314"/>
                    </a:ext>
                  </a:extLst>
                </a:gridCol>
              </a:tblGrid>
              <a:tr h="361244">
                <a:tc gridSpan="2">
                  <a:txBody>
                    <a:bodyPr/>
                    <a:lstStyle/>
                    <a:p>
                      <a:r>
                        <a:rPr lang="en-US" sz="1600" dirty="0">
                          <a:solidFill>
                            <a:schemeClr val="bg2"/>
                          </a:solidFill>
                        </a:rPr>
                        <a:t>Discussion Points:</a:t>
                      </a:r>
                      <a:endParaRPr lang="en-US" sz="1600" dirty="0">
                        <a:solidFill>
                          <a:schemeClr val="bg2"/>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dirty="0"/>
                    </a:p>
                  </a:txBody>
                  <a:tcPr/>
                </a:tc>
                <a:tc>
                  <a:txBody>
                    <a:bodyPr/>
                    <a:lstStyle/>
                    <a:p>
                      <a:endParaRPr lang="en-US" sz="1600" dirty="0">
                        <a:solidFill>
                          <a:schemeClr val="bg2"/>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4244739"/>
                  </a:ext>
                </a:extLst>
              </a:tr>
              <a:tr h="361244">
                <a:tc>
                  <a:txBody>
                    <a:bodyPr/>
                    <a:lstStyle/>
                    <a:p>
                      <a:pPr algn="ctr"/>
                      <a:r>
                        <a:rPr lang="en-US" sz="1400" dirty="0">
                          <a:solidFill>
                            <a:schemeClr val="accent6"/>
                          </a:solidFill>
                        </a:rPr>
                        <a:t>Date</a:t>
                      </a:r>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solidFill>
                            <a:schemeClr val="accent6"/>
                          </a:solidFill>
                        </a:rPr>
                        <a:t>Inspection Findings</a:t>
                      </a:r>
                      <a:endParaRPr lang="en-US" sz="1400"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solidFill>
                            <a:schemeClr val="accent6"/>
                          </a:solidFill>
                          <a:latin typeface="Tahoma" panose="020B0604030504040204" pitchFamily="34" charset="0"/>
                          <a:ea typeface="Tahoma" panose="020B0604030504040204" pitchFamily="34" charset="0"/>
                          <a:cs typeface="Tahoma" panose="020B0604030504040204" pitchFamily="34" charset="0"/>
                        </a:rPr>
                        <a:t>CAPA Status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13682750"/>
                  </a:ext>
                </a:extLst>
              </a:tr>
              <a:tr h="407535">
                <a:tc>
                  <a:txBody>
                    <a:bodyPr/>
                    <a:lstStyle/>
                    <a:p>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37728267"/>
                  </a:ext>
                </a:extLst>
              </a:tr>
              <a:tr h="407535">
                <a:tc>
                  <a:txBody>
                    <a:bodyPr/>
                    <a:lstStyle/>
                    <a:p>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199890"/>
                  </a:ext>
                </a:extLst>
              </a:tr>
              <a:tr h="407535">
                <a:tc>
                  <a:txBody>
                    <a:bodyPr/>
                    <a:lstStyle/>
                    <a:p>
                      <a:endParaRPr lang="en-US">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4612084"/>
                  </a:ext>
                </a:extLst>
              </a:tr>
              <a:tr h="407535">
                <a:tc>
                  <a:txBody>
                    <a:bodyPr/>
                    <a:lstStyle/>
                    <a:p>
                      <a:endParaRPr lang="en-US">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287631"/>
                  </a:ext>
                </a:extLst>
              </a:tr>
              <a:tr h="407535">
                <a:tc>
                  <a:txBody>
                    <a:bodyPr/>
                    <a:lstStyle/>
                    <a:p>
                      <a:endParaRPr lang="en-US">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7290254"/>
                  </a:ext>
                </a:extLst>
              </a:tr>
              <a:tr h="407535">
                <a:tc>
                  <a:txBody>
                    <a:bodyPr/>
                    <a:lstStyle/>
                    <a:p>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6393848"/>
                  </a:ext>
                </a:extLst>
              </a:tr>
              <a:tr h="407535">
                <a:tc>
                  <a:txBody>
                    <a:bodyPr/>
                    <a:lstStyle/>
                    <a:p>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5347133"/>
                  </a:ext>
                </a:extLst>
              </a:tr>
              <a:tr h="407535">
                <a:tc>
                  <a:txBody>
                    <a:bodyPr/>
                    <a:lstStyle/>
                    <a:p>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3345986"/>
                  </a:ext>
                </a:extLst>
              </a:tr>
              <a:tr h="407535">
                <a:tc>
                  <a:txBody>
                    <a:bodyPr/>
                    <a:lstStyle/>
                    <a:p>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9690845"/>
                  </a:ext>
                </a:extLst>
              </a:tr>
              <a:tr h="407535">
                <a:tc>
                  <a:txBody>
                    <a:bodyPr/>
                    <a:lstStyle/>
                    <a:p>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dirty="0">
                        <a:solidFill>
                          <a:schemeClr val="accent6"/>
                        </a:solidFill>
                        <a:latin typeface="Tahoma" panose="020B0604030504040204" pitchFamily="34" charset="0"/>
                        <a:ea typeface="Tahoma" panose="020B0604030504040204" pitchFamily="34" charset="0"/>
                        <a:cs typeface="Tahoma" panose="020B060403050404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9606146"/>
                  </a:ext>
                </a:extLst>
              </a:tr>
            </a:tbl>
          </a:graphicData>
        </a:graphic>
      </p:graphicFrame>
      <p:sp>
        <p:nvSpPr>
          <p:cNvPr id="10" name="TextBox 9">
            <a:extLst>
              <a:ext uri="{FF2B5EF4-FFF2-40B4-BE49-F238E27FC236}">
                <a16:creationId xmlns:a16="http://schemas.microsoft.com/office/drawing/2014/main" id="{AD655E69-CDD8-23BB-413A-9052A41FC530}"/>
              </a:ext>
            </a:extLst>
          </p:cNvPr>
          <p:cNvSpPr txBox="1"/>
          <p:nvPr/>
        </p:nvSpPr>
        <p:spPr>
          <a:xfrm>
            <a:off x="659213" y="5812453"/>
            <a:ext cx="11358614" cy="954107"/>
          </a:xfrm>
          <a:prstGeom prst="rect">
            <a:avLst/>
          </a:prstGeom>
          <a:solidFill>
            <a:schemeClr val="bg2"/>
          </a:solidFill>
          <a:ln>
            <a:solidFill>
              <a:schemeClr val="tx1"/>
            </a:solidFill>
          </a:ln>
        </p:spPr>
        <p:txBody>
          <a:bodyPr wrap="square" rtlCol="0">
            <a:spAutoFit/>
          </a:bodyPr>
          <a:lstStyle>
            <a:defPPr>
              <a:defRPr lang="en-US"/>
            </a:defPPr>
            <a:lvl1pPr>
              <a:defRPr sz="1400"/>
            </a:lvl1pPr>
          </a:lstStyle>
          <a:p>
            <a:r>
              <a:rPr lang="en-US" dirty="0">
                <a:latin typeface="Tahoma" panose="020B0604030504040204" pitchFamily="34" charset="0"/>
                <a:ea typeface="Tahoma" panose="020B0604030504040204" pitchFamily="34" charset="0"/>
                <a:cs typeface="Tahoma" panose="020B0604030504040204" pitchFamily="34" charset="0"/>
              </a:rPr>
              <a:t>Critical risks and issues that needs immediate attention</a:t>
            </a:r>
          </a:p>
          <a:p>
            <a:r>
              <a:rPr lang="en-US" dirty="0">
                <a:latin typeface="Tahoma" panose="020B0604030504040204" pitchFamily="34" charset="0"/>
                <a:ea typeface="Tahoma" panose="020B0604030504040204" pitchFamily="34" charset="0"/>
                <a:cs typeface="Tahoma" panose="020B0604030504040204" pitchFamily="34" charset="0"/>
              </a:rPr>
              <a:t>1. </a:t>
            </a:r>
          </a:p>
          <a:p>
            <a:r>
              <a:rPr lang="en-US" dirty="0">
                <a:latin typeface="Tahoma" panose="020B0604030504040204" pitchFamily="34" charset="0"/>
                <a:ea typeface="Tahoma" panose="020B0604030504040204" pitchFamily="34" charset="0"/>
                <a:cs typeface="Tahoma" panose="020B0604030504040204" pitchFamily="34" charset="0"/>
              </a:rPr>
              <a:t>2.</a:t>
            </a:r>
          </a:p>
          <a:p>
            <a:r>
              <a:rPr lang="en-US" dirty="0">
                <a:latin typeface="Tahoma" panose="020B0604030504040204" pitchFamily="34" charset="0"/>
                <a:ea typeface="Tahoma" panose="020B0604030504040204" pitchFamily="34" charset="0"/>
                <a:cs typeface="Tahoma" panose="020B0604030504040204" pitchFamily="34" charset="0"/>
              </a:rPr>
              <a:t>3.</a:t>
            </a:r>
          </a:p>
        </p:txBody>
      </p:sp>
    </p:spTree>
    <p:extLst>
      <p:ext uri="{BB962C8B-B14F-4D97-AF65-F5344CB8AC3E}">
        <p14:creationId xmlns:p14="http://schemas.microsoft.com/office/powerpoint/2010/main" val="14911579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138C3-6740-7B5E-D88D-073FA6B5FC1E}"/>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65FB7BD5-A895-5D7E-EDF7-B7875E044968}"/>
              </a:ext>
            </a:extLst>
          </p:cNvPr>
          <p:cNvSpPr txBox="1">
            <a:spLocks/>
          </p:cNvSpPr>
          <p:nvPr/>
        </p:nvSpPr>
        <p:spPr>
          <a:xfrm>
            <a:off x="659213" y="91440"/>
            <a:ext cx="11358615" cy="737326"/>
          </a:xfrm>
          <a:prstGeom prst="rect">
            <a:avLst/>
          </a:prstGeom>
        </p:spPr>
        <p:txBody>
          <a:bodyPr vert="horz" lIns="91440" tIns="45720" rIns="91440" bIns="45720" rtlCol="0" anchor="ctr" anchorCtr="0">
            <a:normAutofit fontScale="70000" lnSpcReduction="20000"/>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dirty="0"/>
              <a:t>8. Training, Competency and Awareness and Feedback</a:t>
            </a:r>
          </a:p>
        </p:txBody>
      </p:sp>
      <p:sp>
        <p:nvSpPr>
          <p:cNvPr id="13" name="Text Placeholder 3">
            <a:extLst>
              <a:ext uri="{FF2B5EF4-FFF2-40B4-BE49-F238E27FC236}">
                <a16:creationId xmlns:a16="http://schemas.microsoft.com/office/drawing/2014/main" id="{348AE932-5115-ECB8-5B2D-85B3D8D0B670}"/>
              </a:ext>
            </a:extLst>
          </p:cNvPr>
          <p:cNvSpPr>
            <a:spLocks noGrp="1"/>
          </p:cNvSpPr>
          <p:nvPr>
            <p:ph type="body" sz="quarter" idx="10"/>
          </p:nvPr>
        </p:nvSpPr>
        <p:spPr>
          <a:xfrm>
            <a:off x="659214" y="4915569"/>
            <a:ext cx="8020198" cy="1724717"/>
          </a:xfrm>
        </p:spPr>
        <p:txBody>
          <a:bodyPr>
            <a:normAutofit/>
          </a:bodyPr>
          <a:lstStyle/>
          <a:p>
            <a:r>
              <a:rPr lang="en-US" sz="1400" b="1" dirty="0"/>
              <a:t>Key Observations: </a:t>
            </a:r>
          </a:p>
          <a:p>
            <a:r>
              <a:rPr lang="en-US" sz="1200" dirty="0"/>
              <a:t>By Campus EHS Specialists </a:t>
            </a:r>
          </a:p>
          <a:p>
            <a:endParaRPr lang="en-US" sz="1400" dirty="0"/>
          </a:p>
          <a:p>
            <a:endParaRPr lang="en-US" sz="1400" dirty="0"/>
          </a:p>
          <a:p>
            <a:endParaRPr lang="en-US" sz="1400" dirty="0"/>
          </a:p>
        </p:txBody>
      </p:sp>
    </p:spTree>
    <p:extLst>
      <p:ext uri="{BB962C8B-B14F-4D97-AF65-F5344CB8AC3E}">
        <p14:creationId xmlns:p14="http://schemas.microsoft.com/office/powerpoint/2010/main" val="27414747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6697B6-818A-FE3D-CCD4-3FB63FA1E595}"/>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03605453-E48A-FE10-432C-DE6FFEFD4146}"/>
              </a:ext>
            </a:extLst>
          </p:cNvPr>
          <p:cNvSpPr txBox="1">
            <a:spLocks/>
          </p:cNvSpPr>
          <p:nvPr/>
        </p:nvSpPr>
        <p:spPr>
          <a:xfrm>
            <a:off x="659213" y="91440"/>
            <a:ext cx="11358615" cy="737326"/>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9. Emergency Preparedness and Drills</a:t>
            </a:r>
          </a:p>
        </p:txBody>
      </p:sp>
      <p:sp>
        <p:nvSpPr>
          <p:cNvPr id="13" name="Text Placeholder 3">
            <a:extLst>
              <a:ext uri="{FF2B5EF4-FFF2-40B4-BE49-F238E27FC236}">
                <a16:creationId xmlns:a16="http://schemas.microsoft.com/office/drawing/2014/main" id="{D0F28088-3FB3-E96C-78D9-47D168F8D369}"/>
              </a:ext>
            </a:extLst>
          </p:cNvPr>
          <p:cNvSpPr>
            <a:spLocks noGrp="1"/>
          </p:cNvSpPr>
          <p:nvPr>
            <p:ph type="body" sz="quarter" idx="10"/>
          </p:nvPr>
        </p:nvSpPr>
        <p:spPr>
          <a:xfrm>
            <a:off x="659214" y="4915569"/>
            <a:ext cx="8020198" cy="1724717"/>
          </a:xfrm>
        </p:spPr>
        <p:txBody>
          <a:bodyPr>
            <a:normAutofit/>
          </a:bodyPr>
          <a:lstStyle/>
          <a:p>
            <a:r>
              <a:rPr lang="en-US" sz="1400" b="1" dirty="0"/>
              <a:t>Key Observations: </a:t>
            </a:r>
          </a:p>
          <a:p>
            <a:r>
              <a:rPr lang="en-US" sz="1200" dirty="0"/>
              <a:t>By Campus EHS Specialists </a:t>
            </a:r>
          </a:p>
          <a:p>
            <a:endParaRPr lang="en-US" sz="1400" dirty="0"/>
          </a:p>
          <a:p>
            <a:endParaRPr lang="en-US" sz="1400" dirty="0"/>
          </a:p>
          <a:p>
            <a:endParaRPr lang="en-US" sz="1400" dirty="0"/>
          </a:p>
        </p:txBody>
      </p:sp>
      <p:sp>
        <p:nvSpPr>
          <p:cNvPr id="3" name="Text Placeholder 3">
            <a:extLst>
              <a:ext uri="{FF2B5EF4-FFF2-40B4-BE49-F238E27FC236}">
                <a16:creationId xmlns:a16="http://schemas.microsoft.com/office/drawing/2014/main" id="{815695D7-1265-3DF5-E335-CEB7755754B2}"/>
              </a:ext>
            </a:extLst>
          </p:cNvPr>
          <p:cNvSpPr txBox="1">
            <a:spLocks/>
          </p:cNvSpPr>
          <p:nvPr/>
        </p:nvSpPr>
        <p:spPr>
          <a:xfrm>
            <a:off x="659212" y="1189292"/>
            <a:ext cx="6503588" cy="903668"/>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i="1" dirty="0"/>
              <a:t>Show data for emergency preparedness and drills for the upcoming month</a:t>
            </a:r>
            <a:endParaRPr lang="en-US" sz="1200" i="1" dirty="0"/>
          </a:p>
          <a:p>
            <a:endParaRPr lang="en-US" sz="1400" dirty="0"/>
          </a:p>
          <a:p>
            <a:endParaRPr lang="en-US" sz="1400" dirty="0"/>
          </a:p>
        </p:txBody>
      </p:sp>
    </p:spTree>
    <p:extLst>
      <p:ext uri="{BB962C8B-B14F-4D97-AF65-F5344CB8AC3E}">
        <p14:creationId xmlns:p14="http://schemas.microsoft.com/office/powerpoint/2010/main" val="29292220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972FA0C5-68CA-1F7A-329F-25954BD4AA58}"/>
              </a:ext>
            </a:extLst>
          </p:cNvPr>
          <p:cNvGraphicFramePr>
            <a:graphicFrameLocks noGrp="1"/>
          </p:cNvGraphicFramePr>
          <p:nvPr>
            <p:extLst>
              <p:ext uri="{D42A27DB-BD31-4B8C-83A1-F6EECF244321}">
                <p14:modId xmlns:p14="http://schemas.microsoft.com/office/powerpoint/2010/main" val="3884240397"/>
              </p:ext>
            </p:extLst>
          </p:nvPr>
        </p:nvGraphicFramePr>
        <p:xfrm>
          <a:off x="801922" y="1085898"/>
          <a:ext cx="10588156" cy="1942788"/>
        </p:xfrm>
        <a:graphic>
          <a:graphicData uri="http://schemas.openxmlformats.org/drawingml/2006/table">
            <a:tbl>
              <a:tblPr firstRow="1" firstCol="1" bandRow="1">
                <a:tableStyleId>{5C22544A-7EE6-4342-B048-85BDC9FD1C3A}</a:tableStyleId>
              </a:tblPr>
              <a:tblGrid>
                <a:gridCol w="1614967">
                  <a:extLst>
                    <a:ext uri="{9D8B030D-6E8A-4147-A177-3AD203B41FA5}">
                      <a16:colId xmlns:a16="http://schemas.microsoft.com/office/drawing/2014/main" val="267126128"/>
                    </a:ext>
                  </a:extLst>
                </a:gridCol>
                <a:gridCol w="1304307">
                  <a:extLst>
                    <a:ext uri="{9D8B030D-6E8A-4147-A177-3AD203B41FA5}">
                      <a16:colId xmlns:a16="http://schemas.microsoft.com/office/drawing/2014/main" val="2312495194"/>
                    </a:ext>
                  </a:extLst>
                </a:gridCol>
                <a:gridCol w="514454">
                  <a:extLst>
                    <a:ext uri="{9D8B030D-6E8A-4147-A177-3AD203B41FA5}">
                      <a16:colId xmlns:a16="http://schemas.microsoft.com/office/drawing/2014/main" val="1909063678"/>
                    </a:ext>
                  </a:extLst>
                </a:gridCol>
                <a:gridCol w="598175">
                  <a:extLst>
                    <a:ext uri="{9D8B030D-6E8A-4147-A177-3AD203B41FA5}">
                      <a16:colId xmlns:a16="http://schemas.microsoft.com/office/drawing/2014/main" val="181318704"/>
                    </a:ext>
                  </a:extLst>
                </a:gridCol>
                <a:gridCol w="807117">
                  <a:extLst>
                    <a:ext uri="{9D8B030D-6E8A-4147-A177-3AD203B41FA5}">
                      <a16:colId xmlns:a16="http://schemas.microsoft.com/office/drawing/2014/main" val="2938590176"/>
                    </a:ext>
                  </a:extLst>
                </a:gridCol>
                <a:gridCol w="907915">
                  <a:extLst>
                    <a:ext uri="{9D8B030D-6E8A-4147-A177-3AD203B41FA5}">
                      <a16:colId xmlns:a16="http://schemas.microsoft.com/office/drawing/2014/main" val="4044964417"/>
                    </a:ext>
                  </a:extLst>
                </a:gridCol>
                <a:gridCol w="907915">
                  <a:extLst>
                    <a:ext uri="{9D8B030D-6E8A-4147-A177-3AD203B41FA5}">
                      <a16:colId xmlns:a16="http://schemas.microsoft.com/office/drawing/2014/main" val="2189517649"/>
                    </a:ext>
                  </a:extLst>
                </a:gridCol>
                <a:gridCol w="807117">
                  <a:extLst>
                    <a:ext uri="{9D8B030D-6E8A-4147-A177-3AD203B41FA5}">
                      <a16:colId xmlns:a16="http://schemas.microsoft.com/office/drawing/2014/main" val="3096307282"/>
                    </a:ext>
                  </a:extLst>
                </a:gridCol>
                <a:gridCol w="605520">
                  <a:extLst>
                    <a:ext uri="{9D8B030D-6E8A-4147-A177-3AD203B41FA5}">
                      <a16:colId xmlns:a16="http://schemas.microsoft.com/office/drawing/2014/main" val="3738023914"/>
                    </a:ext>
                  </a:extLst>
                </a:gridCol>
                <a:gridCol w="705581">
                  <a:extLst>
                    <a:ext uri="{9D8B030D-6E8A-4147-A177-3AD203B41FA5}">
                      <a16:colId xmlns:a16="http://schemas.microsoft.com/office/drawing/2014/main" val="1786499302"/>
                    </a:ext>
                  </a:extLst>
                </a:gridCol>
                <a:gridCol w="705581">
                  <a:extLst>
                    <a:ext uri="{9D8B030D-6E8A-4147-A177-3AD203B41FA5}">
                      <a16:colId xmlns:a16="http://schemas.microsoft.com/office/drawing/2014/main" val="4078665005"/>
                    </a:ext>
                  </a:extLst>
                </a:gridCol>
                <a:gridCol w="1109507">
                  <a:extLst>
                    <a:ext uri="{9D8B030D-6E8A-4147-A177-3AD203B41FA5}">
                      <a16:colId xmlns:a16="http://schemas.microsoft.com/office/drawing/2014/main" val="660868037"/>
                    </a:ext>
                  </a:extLst>
                </a:gridCol>
              </a:tblGrid>
              <a:tr h="331373">
                <a:tc rowSpan="2">
                  <a:txBody>
                    <a:bodyPr/>
                    <a:lstStyle/>
                    <a:p>
                      <a:pPr marL="0" marR="0" algn="ctr">
                        <a:lnSpc>
                          <a:spcPct val="115000"/>
                        </a:lnSpc>
                        <a:spcAft>
                          <a:spcPts val="800"/>
                        </a:spcAft>
                        <a:buNone/>
                      </a:pPr>
                      <a:r>
                        <a:rPr lang="en-US" sz="1200" kern="100" dirty="0">
                          <a:solidFill>
                            <a:schemeClr val="bg2"/>
                          </a:solidFill>
                          <a:effectLst/>
                          <a:latin typeface="Tahoma" panose="020B0604030504040204" pitchFamily="34" charset="0"/>
                          <a:ea typeface="Tahoma" panose="020B0604030504040204" pitchFamily="34" charset="0"/>
                          <a:cs typeface="Tahoma" panose="020B0604030504040204" pitchFamily="34" charset="0"/>
                        </a:rPr>
                        <a:t>Campus</a:t>
                      </a:r>
                    </a:p>
                  </a:txBody>
                  <a:tcPr marL="50698" marR="506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ACDD"/>
                    </a:solidFill>
                  </a:tcPr>
                </a:tc>
                <a:tc rowSpan="2">
                  <a:txBody>
                    <a:bodyPr/>
                    <a:lstStyle/>
                    <a:p>
                      <a:pPr marL="0" marR="0" algn="ctr">
                        <a:lnSpc>
                          <a:spcPct val="115000"/>
                        </a:lnSpc>
                        <a:spcAft>
                          <a:spcPts val="800"/>
                        </a:spcAft>
                        <a:buNone/>
                      </a:pPr>
                      <a:r>
                        <a:rPr lang="en-US" sz="1200" kern="100" dirty="0">
                          <a:solidFill>
                            <a:schemeClr val="bg2"/>
                          </a:solidFill>
                          <a:effectLst/>
                          <a:latin typeface="Tahoma" panose="020B0604030504040204" pitchFamily="34" charset="0"/>
                          <a:ea typeface="Tahoma" panose="020B0604030504040204" pitchFamily="34" charset="0"/>
                          <a:cs typeface="Tahoma" panose="020B0604030504040204" pitchFamily="34" charset="0"/>
                        </a:rPr>
                        <a:t>General Waste (KG)</a:t>
                      </a:r>
                    </a:p>
                  </a:txBody>
                  <a:tcPr marL="50698" marR="506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ACDD"/>
                    </a:solidFill>
                  </a:tcPr>
                </a:tc>
                <a:tc gridSpan="9">
                  <a:txBody>
                    <a:bodyPr/>
                    <a:lstStyle/>
                    <a:p>
                      <a:pPr marL="0" marR="0" algn="ctr">
                        <a:lnSpc>
                          <a:spcPct val="115000"/>
                        </a:lnSpc>
                        <a:spcAft>
                          <a:spcPts val="800"/>
                        </a:spcAft>
                        <a:buNone/>
                      </a:pPr>
                      <a:r>
                        <a:rPr lang="en-US" sz="1200" kern="100" dirty="0">
                          <a:solidFill>
                            <a:schemeClr val="bg2"/>
                          </a:solidFill>
                          <a:effectLst/>
                          <a:latin typeface="Tahoma" panose="020B0604030504040204" pitchFamily="34" charset="0"/>
                          <a:ea typeface="Tahoma" panose="020B0604030504040204" pitchFamily="34" charset="0"/>
                          <a:cs typeface="Tahoma" panose="020B0604030504040204" pitchFamily="34" charset="0"/>
                        </a:rPr>
                        <a:t>Recyclable Waste (KG)</a:t>
                      </a:r>
                    </a:p>
                  </a:txBody>
                  <a:tcPr marL="50698" marR="506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ACDD"/>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rowSpan="2">
                  <a:txBody>
                    <a:bodyPr/>
                    <a:lstStyle/>
                    <a:p>
                      <a:pPr marL="0" marR="0" algn="ctr">
                        <a:lnSpc>
                          <a:spcPct val="115000"/>
                        </a:lnSpc>
                        <a:spcAft>
                          <a:spcPts val="800"/>
                        </a:spcAft>
                        <a:buNone/>
                      </a:pPr>
                      <a:r>
                        <a:rPr lang="en-US" sz="1200" kern="100" dirty="0">
                          <a:solidFill>
                            <a:schemeClr val="bg2"/>
                          </a:solidFill>
                          <a:effectLst/>
                          <a:latin typeface="Tahoma" panose="020B0604030504040204" pitchFamily="34" charset="0"/>
                          <a:ea typeface="Tahoma" panose="020B0604030504040204" pitchFamily="34" charset="0"/>
                          <a:cs typeface="Tahoma" panose="020B0604030504040204" pitchFamily="34" charset="0"/>
                        </a:rPr>
                        <a:t>Hazardous / Medical Waste (KG)</a:t>
                      </a:r>
                    </a:p>
                  </a:txBody>
                  <a:tcPr marL="50698" marR="506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ACDD"/>
                    </a:solidFill>
                  </a:tcPr>
                </a:tc>
                <a:extLst>
                  <a:ext uri="{0D108BD9-81ED-4DB2-BD59-A6C34878D82A}">
                    <a16:rowId xmlns:a16="http://schemas.microsoft.com/office/drawing/2014/main" val="2003571986"/>
                  </a:ext>
                </a:extLst>
              </a:tr>
              <a:tr h="637295">
                <a:tc vMerge="1">
                  <a:txBody>
                    <a:bodyPr/>
                    <a:lstStyle/>
                    <a:p>
                      <a:endParaRPr lang="en-US"/>
                    </a:p>
                  </a:txBody>
                  <a:tcPr/>
                </a:tc>
                <a:tc vMerge="1">
                  <a:txBody>
                    <a:bodyPr/>
                    <a:lstStyle/>
                    <a:p>
                      <a:endParaRPr lang="en-US"/>
                    </a:p>
                  </a:txBody>
                  <a:tcPr/>
                </a:tc>
                <a:tc>
                  <a:txBody>
                    <a:bodyPr/>
                    <a:lstStyle/>
                    <a:p>
                      <a:pPr marL="0" marR="0" algn="ctr">
                        <a:lnSpc>
                          <a:spcPct val="115000"/>
                        </a:lnSpc>
                        <a:spcAft>
                          <a:spcPts val="800"/>
                        </a:spcAft>
                        <a:buNone/>
                      </a:pPr>
                      <a:r>
                        <a:rPr lang="en-US" sz="1200" kern="100" dirty="0">
                          <a:solidFill>
                            <a:schemeClr val="bg2"/>
                          </a:solidFill>
                          <a:effectLst/>
                          <a:latin typeface="Tahoma" panose="020B0604030504040204" pitchFamily="34" charset="0"/>
                          <a:ea typeface="Tahoma" panose="020B0604030504040204" pitchFamily="34" charset="0"/>
                          <a:cs typeface="Tahoma" panose="020B0604030504040204" pitchFamily="34" charset="0"/>
                        </a:rPr>
                        <a:t>Food Waste</a:t>
                      </a:r>
                    </a:p>
                  </a:txBody>
                  <a:tcPr marL="50698" marR="506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ACDD"/>
                    </a:solidFill>
                  </a:tcPr>
                </a:tc>
                <a:tc>
                  <a:txBody>
                    <a:bodyPr/>
                    <a:lstStyle/>
                    <a:p>
                      <a:pPr marL="0" marR="0" algn="ctr">
                        <a:lnSpc>
                          <a:spcPct val="115000"/>
                        </a:lnSpc>
                        <a:spcAft>
                          <a:spcPts val="800"/>
                        </a:spcAft>
                        <a:buNone/>
                      </a:pPr>
                      <a:r>
                        <a:rPr lang="en-US" sz="1200" kern="100" dirty="0">
                          <a:solidFill>
                            <a:schemeClr val="bg2"/>
                          </a:solidFill>
                          <a:effectLst/>
                          <a:latin typeface="Tahoma" panose="020B0604030504040204" pitchFamily="34" charset="0"/>
                          <a:ea typeface="Tahoma" panose="020B0604030504040204" pitchFamily="34" charset="0"/>
                          <a:cs typeface="Tahoma" panose="020B0604030504040204" pitchFamily="34" charset="0"/>
                        </a:rPr>
                        <a:t>Paper Waste</a:t>
                      </a:r>
                    </a:p>
                  </a:txBody>
                  <a:tcPr marL="50698" marR="506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ACDD"/>
                    </a:solidFill>
                  </a:tcPr>
                </a:tc>
                <a:tc>
                  <a:txBody>
                    <a:bodyPr/>
                    <a:lstStyle/>
                    <a:p>
                      <a:pPr marL="0" marR="0" algn="ctr">
                        <a:lnSpc>
                          <a:spcPct val="115000"/>
                        </a:lnSpc>
                        <a:spcAft>
                          <a:spcPts val="800"/>
                        </a:spcAft>
                        <a:buNone/>
                      </a:pPr>
                      <a:r>
                        <a:rPr lang="en-US" sz="1200" kern="100" dirty="0">
                          <a:solidFill>
                            <a:schemeClr val="bg2"/>
                          </a:solidFill>
                          <a:effectLst/>
                          <a:latin typeface="Tahoma" panose="020B0604030504040204" pitchFamily="34" charset="0"/>
                          <a:ea typeface="Tahoma" panose="020B0604030504040204" pitchFamily="34" charset="0"/>
                          <a:cs typeface="Tahoma" panose="020B0604030504040204" pitchFamily="34" charset="0"/>
                        </a:rPr>
                        <a:t>Aluminum</a:t>
                      </a:r>
                    </a:p>
                  </a:txBody>
                  <a:tcPr marL="50698" marR="506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ACDD"/>
                    </a:solidFill>
                  </a:tcPr>
                </a:tc>
                <a:tc>
                  <a:txBody>
                    <a:bodyPr/>
                    <a:lstStyle/>
                    <a:p>
                      <a:pPr marL="0" marR="0" algn="ctr">
                        <a:lnSpc>
                          <a:spcPct val="115000"/>
                        </a:lnSpc>
                        <a:spcAft>
                          <a:spcPts val="800"/>
                        </a:spcAft>
                        <a:buNone/>
                      </a:pPr>
                      <a:r>
                        <a:rPr lang="en-US" sz="1200" kern="100" dirty="0">
                          <a:solidFill>
                            <a:schemeClr val="bg2"/>
                          </a:solidFill>
                          <a:effectLst/>
                          <a:latin typeface="Tahoma" panose="020B0604030504040204" pitchFamily="34" charset="0"/>
                          <a:ea typeface="Tahoma" panose="020B0604030504040204" pitchFamily="34" charset="0"/>
                          <a:cs typeface="Tahoma" panose="020B0604030504040204" pitchFamily="34" charset="0"/>
                        </a:rPr>
                        <a:t>Pet Bottle</a:t>
                      </a:r>
                    </a:p>
                  </a:txBody>
                  <a:tcPr marL="50698" marR="506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ACDD"/>
                    </a:solidFill>
                  </a:tcPr>
                </a:tc>
                <a:tc>
                  <a:txBody>
                    <a:bodyPr/>
                    <a:lstStyle/>
                    <a:p>
                      <a:pPr marL="0" marR="0" algn="ctr">
                        <a:lnSpc>
                          <a:spcPct val="115000"/>
                        </a:lnSpc>
                        <a:spcAft>
                          <a:spcPts val="800"/>
                        </a:spcAft>
                        <a:buNone/>
                      </a:pPr>
                      <a:r>
                        <a:rPr lang="en-US" sz="1200" kern="100" dirty="0">
                          <a:solidFill>
                            <a:schemeClr val="bg2"/>
                          </a:solidFill>
                          <a:effectLst/>
                          <a:latin typeface="Tahoma" panose="020B0604030504040204" pitchFamily="34" charset="0"/>
                          <a:ea typeface="Tahoma" panose="020B0604030504040204" pitchFamily="34" charset="0"/>
                          <a:cs typeface="Tahoma" panose="020B0604030504040204" pitchFamily="34" charset="0"/>
                        </a:rPr>
                        <a:t>Paper Cup/Carton</a:t>
                      </a:r>
                    </a:p>
                  </a:txBody>
                  <a:tcPr marL="50698" marR="506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ACDD"/>
                    </a:solidFill>
                  </a:tcPr>
                </a:tc>
                <a:tc>
                  <a:txBody>
                    <a:bodyPr/>
                    <a:lstStyle/>
                    <a:p>
                      <a:pPr marL="0" marR="0" algn="ctr">
                        <a:lnSpc>
                          <a:spcPct val="115000"/>
                        </a:lnSpc>
                        <a:spcAft>
                          <a:spcPts val="800"/>
                        </a:spcAft>
                        <a:buNone/>
                      </a:pPr>
                      <a:r>
                        <a:rPr lang="en-US" sz="1200" kern="100" dirty="0">
                          <a:solidFill>
                            <a:schemeClr val="bg2"/>
                          </a:solidFill>
                          <a:effectLst/>
                          <a:latin typeface="Tahoma" panose="020B0604030504040204" pitchFamily="34" charset="0"/>
                          <a:ea typeface="Tahoma" panose="020B0604030504040204" pitchFamily="34" charset="0"/>
                          <a:cs typeface="Tahoma" panose="020B0604030504040204" pitchFamily="34" charset="0"/>
                        </a:rPr>
                        <a:t>Single Use Plastic</a:t>
                      </a:r>
                    </a:p>
                  </a:txBody>
                  <a:tcPr marL="50698" marR="506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ACDD"/>
                    </a:solidFill>
                  </a:tcPr>
                </a:tc>
                <a:tc>
                  <a:txBody>
                    <a:bodyPr/>
                    <a:lstStyle/>
                    <a:p>
                      <a:pPr marL="0" marR="0" algn="ctr">
                        <a:lnSpc>
                          <a:spcPct val="115000"/>
                        </a:lnSpc>
                        <a:spcAft>
                          <a:spcPts val="800"/>
                        </a:spcAft>
                        <a:buNone/>
                      </a:pPr>
                      <a:r>
                        <a:rPr lang="en-US" sz="1200" kern="100" dirty="0">
                          <a:solidFill>
                            <a:schemeClr val="bg2"/>
                          </a:solidFill>
                          <a:effectLst/>
                          <a:latin typeface="Tahoma" panose="020B0604030504040204" pitchFamily="34" charset="0"/>
                          <a:ea typeface="Tahoma" panose="020B0604030504040204" pitchFamily="34" charset="0"/>
                          <a:cs typeface="Tahoma" panose="020B0604030504040204" pitchFamily="34" charset="0"/>
                        </a:rPr>
                        <a:t>Tissue</a:t>
                      </a:r>
                    </a:p>
                  </a:txBody>
                  <a:tcPr marL="50698" marR="506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ACDD"/>
                    </a:solidFill>
                  </a:tcPr>
                </a:tc>
                <a:tc>
                  <a:txBody>
                    <a:bodyPr/>
                    <a:lstStyle/>
                    <a:p>
                      <a:pPr marL="0" marR="0" algn="ctr">
                        <a:lnSpc>
                          <a:spcPct val="115000"/>
                        </a:lnSpc>
                        <a:spcAft>
                          <a:spcPts val="800"/>
                        </a:spcAft>
                        <a:buNone/>
                      </a:pPr>
                      <a:r>
                        <a:rPr lang="en-US" sz="1200" kern="100" dirty="0">
                          <a:solidFill>
                            <a:schemeClr val="bg2"/>
                          </a:solidFill>
                          <a:effectLst/>
                          <a:latin typeface="Tahoma" panose="020B0604030504040204" pitchFamily="34" charset="0"/>
                          <a:ea typeface="Tahoma" panose="020B0604030504040204" pitchFamily="34" charset="0"/>
                          <a:cs typeface="Tahoma" panose="020B0604030504040204" pitchFamily="34" charset="0"/>
                        </a:rPr>
                        <a:t>Scrap Metal</a:t>
                      </a:r>
                    </a:p>
                  </a:txBody>
                  <a:tcPr marL="50698" marR="506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ACDD"/>
                    </a:solidFill>
                  </a:tcPr>
                </a:tc>
                <a:tc>
                  <a:txBody>
                    <a:bodyPr/>
                    <a:lstStyle/>
                    <a:p>
                      <a:pPr marL="0" marR="0" algn="ctr">
                        <a:lnSpc>
                          <a:spcPct val="115000"/>
                        </a:lnSpc>
                        <a:spcAft>
                          <a:spcPts val="800"/>
                        </a:spcAft>
                        <a:buNone/>
                      </a:pPr>
                      <a:r>
                        <a:rPr lang="en-US" sz="1200" kern="100" dirty="0">
                          <a:solidFill>
                            <a:schemeClr val="bg2"/>
                          </a:solidFill>
                          <a:effectLst/>
                          <a:latin typeface="Tahoma" panose="020B0604030504040204" pitchFamily="34" charset="0"/>
                          <a:ea typeface="Tahoma" panose="020B0604030504040204" pitchFamily="34" charset="0"/>
                          <a:cs typeface="Tahoma" panose="020B0604030504040204" pitchFamily="34" charset="0"/>
                        </a:rPr>
                        <a:t>E-waste</a:t>
                      </a:r>
                    </a:p>
                  </a:txBody>
                  <a:tcPr marL="50698" marR="50698"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ACDD"/>
                    </a:solidFill>
                  </a:tcPr>
                </a:tc>
                <a:tc vMerge="1">
                  <a:txBody>
                    <a:bodyPr/>
                    <a:lstStyle/>
                    <a:p>
                      <a:endParaRPr lang="en-US"/>
                    </a:p>
                  </a:txBody>
                  <a:tcPr/>
                </a:tc>
                <a:extLst>
                  <a:ext uri="{0D108BD9-81ED-4DB2-BD59-A6C34878D82A}">
                    <a16:rowId xmlns:a16="http://schemas.microsoft.com/office/drawing/2014/main" val="1141240207"/>
                  </a:ext>
                </a:extLst>
              </a:tr>
              <a:tr h="487060">
                <a:tc>
                  <a:txBody>
                    <a:bodyPr/>
                    <a:lstStyle/>
                    <a:p>
                      <a:pPr marL="0" marR="0" algn="just">
                        <a:lnSpc>
                          <a:spcPct val="115000"/>
                        </a:lnSpc>
                        <a:spcAft>
                          <a:spcPts val="800"/>
                        </a:spcAft>
                        <a:buNone/>
                      </a:pPr>
                      <a:r>
                        <a:rPr lang="en-US" sz="1200" kern="100" dirty="0">
                          <a:solidFill>
                            <a:schemeClr val="bg2"/>
                          </a:solidFill>
                          <a:effectLst/>
                          <a:latin typeface="Tahoma" panose="020B0604030504040204" pitchFamily="34" charset="0"/>
                          <a:ea typeface="Tahoma" panose="020B0604030504040204" pitchFamily="34" charset="0"/>
                          <a:cs typeface="Tahoma" panose="020B0604030504040204" pitchFamily="34" charset="0"/>
                        </a:rPr>
                        <a:t>X</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ACDD"/>
                    </a:solidFill>
                  </a:tcPr>
                </a:tc>
                <a:tc>
                  <a:txBody>
                    <a:bodyPr/>
                    <a:lstStyle/>
                    <a:p>
                      <a:pPr marL="0" marR="0" algn="ctr">
                        <a:lnSpc>
                          <a:spcPct val="115000"/>
                        </a:lnSpc>
                        <a:spcBef>
                          <a:spcPts val="1200"/>
                        </a:spcBef>
                        <a:spcAft>
                          <a:spcPts val="800"/>
                        </a:spcAft>
                        <a:buNone/>
                      </a:pPr>
                      <a:r>
                        <a:rPr lang="en-US" sz="1200" b="1" kern="100" dirty="0">
                          <a:effectLst/>
                          <a:latin typeface="Tahoma" panose="020B0604030504040204" pitchFamily="34" charset="0"/>
                          <a:ea typeface="Tahoma" panose="020B0604030504040204" pitchFamily="34" charset="0"/>
                          <a:cs typeface="Tahoma" panose="020B0604030504040204" pitchFamily="34" charset="0"/>
                        </a:rPr>
                        <a:t>2015.91</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ctr">
                        <a:lnSpc>
                          <a:spcPct val="115000"/>
                        </a:lnSpc>
                        <a:spcBef>
                          <a:spcPts val="1200"/>
                        </a:spcBef>
                        <a:spcAft>
                          <a:spcPts val="800"/>
                        </a:spcAft>
                        <a:buNone/>
                      </a:pPr>
                      <a:r>
                        <a:rPr lang="en-US" sz="1200" b="1" kern="100" dirty="0">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ctr">
                        <a:lnSpc>
                          <a:spcPct val="115000"/>
                        </a:lnSpc>
                        <a:spcBef>
                          <a:spcPts val="1200"/>
                        </a:spcBef>
                        <a:spcAft>
                          <a:spcPts val="800"/>
                        </a:spcAft>
                        <a:buNone/>
                      </a:pPr>
                      <a:r>
                        <a:rPr lang="en-US" sz="1200" b="1" kern="100" dirty="0">
                          <a:effectLst/>
                          <a:latin typeface="Tahoma" panose="020B0604030504040204" pitchFamily="34" charset="0"/>
                          <a:ea typeface="Tahoma" panose="020B0604030504040204" pitchFamily="34" charset="0"/>
                          <a:cs typeface="Tahoma" panose="020B0604030504040204" pitchFamily="34" charset="0"/>
                        </a:rPr>
                        <a:t>90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ctr">
                        <a:lnSpc>
                          <a:spcPct val="115000"/>
                        </a:lnSpc>
                        <a:spcBef>
                          <a:spcPts val="1200"/>
                        </a:spcBef>
                        <a:spcAft>
                          <a:spcPts val="800"/>
                        </a:spcAft>
                        <a:buNone/>
                      </a:pPr>
                      <a:r>
                        <a:rPr lang="en-US" sz="1200" b="1" kern="100" dirty="0">
                          <a:effectLst/>
                          <a:latin typeface="Tahoma" panose="020B0604030504040204" pitchFamily="34" charset="0"/>
                          <a:ea typeface="Tahoma" panose="020B0604030504040204" pitchFamily="34" charset="0"/>
                          <a:cs typeface="Tahoma" panose="020B0604030504040204" pitchFamily="34" charset="0"/>
                        </a:rPr>
                        <a:t>3</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ctr">
                        <a:lnSpc>
                          <a:spcPct val="115000"/>
                        </a:lnSpc>
                        <a:spcBef>
                          <a:spcPts val="1200"/>
                        </a:spcBef>
                        <a:spcAft>
                          <a:spcPts val="800"/>
                        </a:spcAft>
                        <a:buNone/>
                      </a:pPr>
                      <a:r>
                        <a:rPr lang="en-US" sz="1200" b="1" kern="100" dirty="0">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ctr">
                        <a:lnSpc>
                          <a:spcPct val="115000"/>
                        </a:lnSpc>
                        <a:spcBef>
                          <a:spcPts val="1200"/>
                        </a:spcBef>
                        <a:spcAft>
                          <a:spcPts val="800"/>
                        </a:spcAft>
                        <a:buNone/>
                      </a:pPr>
                      <a:r>
                        <a:rPr lang="en-US" sz="1200" b="1" kern="100" dirty="0">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ctr">
                        <a:lnSpc>
                          <a:spcPct val="115000"/>
                        </a:lnSpc>
                        <a:spcBef>
                          <a:spcPts val="1200"/>
                        </a:spcBef>
                        <a:spcAft>
                          <a:spcPts val="800"/>
                        </a:spcAft>
                        <a:buNone/>
                      </a:pPr>
                      <a:r>
                        <a:rPr lang="en-US" sz="1200" b="1" kern="100" dirty="0">
                          <a:effectLst/>
                          <a:latin typeface="Tahoma" panose="020B0604030504040204" pitchFamily="34" charset="0"/>
                          <a:ea typeface="Tahoma" panose="020B0604030504040204" pitchFamily="34" charset="0"/>
                          <a:cs typeface="Tahoma" panose="020B0604030504040204" pitchFamily="34" charset="0"/>
                        </a:rPr>
                        <a:t>30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ctr">
                        <a:lnSpc>
                          <a:spcPct val="115000"/>
                        </a:lnSpc>
                        <a:spcBef>
                          <a:spcPts val="1200"/>
                        </a:spcBef>
                        <a:spcAft>
                          <a:spcPts val="800"/>
                        </a:spcAft>
                        <a:buNone/>
                      </a:pPr>
                      <a:r>
                        <a:rPr lang="en-US" sz="1200" b="1" kern="100" dirty="0">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ctr">
                        <a:lnSpc>
                          <a:spcPct val="115000"/>
                        </a:lnSpc>
                        <a:spcBef>
                          <a:spcPts val="1200"/>
                        </a:spcBef>
                        <a:spcAft>
                          <a:spcPts val="800"/>
                        </a:spcAft>
                        <a:buNone/>
                      </a:pPr>
                      <a:r>
                        <a:rPr lang="en-US" sz="1200" b="1" kern="100" dirty="0">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ctr">
                        <a:lnSpc>
                          <a:spcPct val="115000"/>
                        </a:lnSpc>
                        <a:spcBef>
                          <a:spcPts val="1200"/>
                        </a:spcBef>
                        <a:spcAft>
                          <a:spcPts val="800"/>
                        </a:spcAft>
                        <a:buNone/>
                      </a:pPr>
                      <a:r>
                        <a:rPr lang="en-US" sz="1200" b="1" kern="100" dirty="0">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ctr">
                        <a:lnSpc>
                          <a:spcPct val="115000"/>
                        </a:lnSpc>
                        <a:spcBef>
                          <a:spcPts val="1200"/>
                        </a:spcBef>
                        <a:spcAft>
                          <a:spcPts val="800"/>
                        </a:spcAft>
                        <a:buNone/>
                      </a:pPr>
                      <a:r>
                        <a:rPr lang="en-US" sz="1200" b="1" kern="100" dirty="0">
                          <a:effectLst/>
                          <a:latin typeface="Tahoma" panose="020B0604030504040204" pitchFamily="34" charset="0"/>
                          <a:ea typeface="Tahoma" panose="020B0604030504040204" pitchFamily="34" charset="0"/>
                          <a:cs typeface="Tahoma" panose="020B0604030504040204" pitchFamily="34" charset="0"/>
                        </a:rPr>
                        <a:t>2</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367798906"/>
                  </a:ext>
                </a:extLst>
              </a:tr>
              <a:tr h="487060">
                <a:tc>
                  <a:txBody>
                    <a:bodyPr/>
                    <a:lstStyle/>
                    <a:p>
                      <a:pPr marL="0" marR="0" algn="just">
                        <a:lnSpc>
                          <a:spcPct val="115000"/>
                        </a:lnSpc>
                        <a:spcAft>
                          <a:spcPts val="800"/>
                        </a:spcAft>
                        <a:buNone/>
                      </a:pPr>
                      <a:r>
                        <a:rPr lang="en-US" sz="1200" kern="100" dirty="0">
                          <a:solidFill>
                            <a:schemeClr val="bg2"/>
                          </a:solidFill>
                          <a:effectLst/>
                          <a:latin typeface="Tahoma" panose="020B0604030504040204" pitchFamily="34" charset="0"/>
                          <a:ea typeface="Tahoma" panose="020B0604030504040204" pitchFamily="34" charset="0"/>
                          <a:cs typeface="Tahoma" panose="020B0604030504040204" pitchFamily="34" charset="0"/>
                        </a:rPr>
                        <a:t>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3ACDD"/>
                    </a:solidFill>
                  </a:tcPr>
                </a:tc>
                <a:tc>
                  <a:txBody>
                    <a:bodyPr/>
                    <a:lstStyle/>
                    <a:p>
                      <a:pPr marL="0" marR="0" algn="ctr">
                        <a:lnSpc>
                          <a:spcPct val="115000"/>
                        </a:lnSpc>
                        <a:spcBef>
                          <a:spcPts val="1200"/>
                        </a:spcBef>
                        <a:spcAft>
                          <a:spcPts val="800"/>
                        </a:spcAft>
                        <a:buNone/>
                      </a:pPr>
                      <a:r>
                        <a:rPr lang="en-US" sz="1200" b="1" kern="100" dirty="0">
                          <a:effectLst/>
                          <a:latin typeface="Tahoma" panose="020B0604030504040204" pitchFamily="34" charset="0"/>
                          <a:ea typeface="Tahoma" panose="020B0604030504040204" pitchFamily="34" charset="0"/>
                          <a:cs typeface="Tahoma" panose="020B0604030504040204" pitchFamily="34" charset="0"/>
                        </a:rPr>
                        <a:t>2063.14</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ctr">
                        <a:lnSpc>
                          <a:spcPct val="115000"/>
                        </a:lnSpc>
                        <a:spcBef>
                          <a:spcPts val="1200"/>
                        </a:spcBef>
                        <a:spcAft>
                          <a:spcPts val="800"/>
                        </a:spcAft>
                        <a:buNone/>
                      </a:pPr>
                      <a:r>
                        <a:rPr lang="en-US" sz="1200" b="1" kern="100" dirty="0">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ctr">
                        <a:lnSpc>
                          <a:spcPct val="115000"/>
                        </a:lnSpc>
                        <a:spcBef>
                          <a:spcPts val="1200"/>
                        </a:spcBef>
                        <a:spcAft>
                          <a:spcPts val="800"/>
                        </a:spcAft>
                        <a:buNone/>
                      </a:pPr>
                      <a:r>
                        <a:rPr lang="en-US" sz="1200" b="1" kern="100" dirty="0">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ctr">
                        <a:lnSpc>
                          <a:spcPct val="115000"/>
                        </a:lnSpc>
                        <a:spcBef>
                          <a:spcPts val="1200"/>
                        </a:spcBef>
                        <a:spcAft>
                          <a:spcPts val="800"/>
                        </a:spcAft>
                        <a:buNone/>
                      </a:pPr>
                      <a:r>
                        <a:rPr lang="en-US" sz="1200" b="1" kern="100" dirty="0">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ctr">
                        <a:lnSpc>
                          <a:spcPct val="115000"/>
                        </a:lnSpc>
                        <a:spcBef>
                          <a:spcPts val="1200"/>
                        </a:spcBef>
                        <a:spcAft>
                          <a:spcPts val="800"/>
                        </a:spcAft>
                        <a:buNone/>
                      </a:pPr>
                      <a:r>
                        <a:rPr lang="en-US" sz="1200" b="1" kern="100" dirty="0">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ctr">
                        <a:lnSpc>
                          <a:spcPct val="115000"/>
                        </a:lnSpc>
                        <a:spcBef>
                          <a:spcPts val="1200"/>
                        </a:spcBef>
                        <a:spcAft>
                          <a:spcPts val="800"/>
                        </a:spcAft>
                        <a:buNone/>
                      </a:pPr>
                      <a:r>
                        <a:rPr lang="en-US" sz="1200" b="1" kern="100" dirty="0">
                          <a:effectLst/>
                          <a:latin typeface="Tahoma" panose="020B0604030504040204" pitchFamily="34" charset="0"/>
                          <a:ea typeface="Tahoma" panose="020B0604030504040204" pitchFamily="34" charset="0"/>
                          <a:cs typeface="Tahoma" panose="020B0604030504040204" pitchFamily="34" charset="0"/>
                        </a:rPr>
                        <a:t>120</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ctr">
                        <a:lnSpc>
                          <a:spcPct val="115000"/>
                        </a:lnSpc>
                        <a:spcBef>
                          <a:spcPts val="1200"/>
                        </a:spcBef>
                        <a:spcAft>
                          <a:spcPts val="800"/>
                        </a:spcAft>
                        <a:buNone/>
                      </a:pPr>
                      <a:r>
                        <a:rPr lang="en-US" sz="1200" b="1" kern="100" dirty="0">
                          <a:effectLst/>
                          <a:latin typeface="Tahoma" panose="020B0604030504040204" pitchFamily="34" charset="0"/>
                          <a:ea typeface="Tahoma" panose="020B0604030504040204" pitchFamily="34" charset="0"/>
                          <a:cs typeface="Tahoma" panose="020B0604030504040204" pitchFamily="34" charset="0"/>
                        </a:rPr>
                        <a:t>35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ctr">
                        <a:lnSpc>
                          <a:spcPct val="115000"/>
                        </a:lnSpc>
                        <a:spcBef>
                          <a:spcPts val="1200"/>
                        </a:spcBef>
                        <a:spcAft>
                          <a:spcPts val="800"/>
                        </a:spcAft>
                        <a:buNone/>
                      </a:pPr>
                      <a:r>
                        <a:rPr lang="en-US" sz="1200" b="1" kern="100" dirty="0">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ctr">
                        <a:lnSpc>
                          <a:spcPct val="115000"/>
                        </a:lnSpc>
                        <a:spcBef>
                          <a:spcPts val="1200"/>
                        </a:spcBef>
                        <a:spcAft>
                          <a:spcPts val="800"/>
                        </a:spcAft>
                        <a:buNone/>
                      </a:pPr>
                      <a:r>
                        <a:rPr lang="en-US" sz="1200" b="1" kern="100" dirty="0">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ctr">
                        <a:lnSpc>
                          <a:spcPct val="115000"/>
                        </a:lnSpc>
                        <a:spcBef>
                          <a:spcPts val="1200"/>
                        </a:spcBef>
                        <a:spcAft>
                          <a:spcPts val="800"/>
                        </a:spcAft>
                        <a:buNone/>
                      </a:pPr>
                      <a:r>
                        <a:rPr lang="en-US" sz="1200" b="1" kern="100" dirty="0">
                          <a:effectLst/>
                          <a:latin typeface="Tahoma" panose="020B0604030504040204" pitchFamily="34" charset="0"/>
                          <a:ea typeface="Tahoma" panose="020B0604030504040204" pitchFamily="34" charset="0"/>
                          <a:cs typeface="Tahoma" panose="020B0604030504040204" pitchFamily="34" charset="0"/>
                        </a:rPr>
                        <a: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algn="ctr">
                        <a:lnSpc>
                          <a:spcPct val="115000"/>
                        </a:lnSpc>
                        <a:spcBef>
                          <a:spcPts val="1200"/>
                        </a:spcBef>
                        <a:spcAft>
                          <a:spcPts val="800"/>
                        </a:spcAft>
                        <a:buNone/>
                      </a:pPr>
                      <a:r>
                        <a:rPr lang="en-US" sz="1200" b="1" kern="100" dirty="0">
                          <a:effectLst/>
                          <a:latin typeface="Tahoma" panose="020B0604030504040204" pitchFamily="34" charset="0"/>
                          <a:ea typeface="Tahoma" panose="020B0604030504040204" pitchFamily="34" charset="0"/>
                          <a:cs typeface="Tahoma" panose="020B0604030504040204" pitchFamily="34" charset="0"/>
                        </a:rPr>
                        <a:t>65</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3803327792"/>
                  </a:ext>
                </a:extLst>
              </a:tr>
            </a:tbl>
          </a:graphicData>
        </a:graphic>
      </p:graphicFrame>
      <p:sp>
        <p:nvSpPr>
          <p:cNvPr id="6" name="Shape 4">
            <a:extLst>
              <a:ext uri="{FF2B5EF4-FFF2-40B4-BE49-F238E27FC236}">
                <a16:creationId xmlns:a16="http://schemas.microsoft.com/office/drawing/2014/main" id="{AECC8FCF-8954-1C7D-BAE9-ECAE5B111B38}"/>
              </a:ext>
            </a:extLst>
          </p:cNvPr>
          <p:cNvSpPr/>
          <p:nvPr/>
        </p:nvSpPr>
        <p:spPr>
          <a:xfrm>
            <a:off x="982552" y="3951303"/>
            <a:ext cx="2103120" cy="960120"/>
          </a:xfrm>
          <a:prstGeom prst="roundRect">
            <a:avLst>
              <a:gd name="adj" fmla="val 7619"/>
            </a:avLst>
          </a:prstGeom>
          <a:solidFill>
            <a:srgbClr val="FFFFFF"/>
          </a:solidFill>
          <a:ln w="8890">
            <a:solidFill>
              <a:srgbClr val="DDE6F3"/>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7" name="Shape 5">
            <a:extLst>
              <a:ext uri="{FF2B5EF4-FFF2-40B4-BE49-F238E27FC236}">
                <a16:creationId xmlns:a16="http://schemas.microsoft.com/office/drawing/2014/main" id="{5272BDB8-4990-C17F-2598-6FD107AE9C0D}"/>
              </a:ext>
            </a:extLst>
          </p:cNvPr>
          <p:cNvSpPr/>
          <p:nvPr/>
        </p:nvSpPr>
        <p:spPr>
          <a:xfrm>
            <a:off x="982552" y="3951303"/>
            <a:ext cx="73152" cy="960120"/>
          </a:xfrm>
          <a:prstGeom prst="rect">
            <a:avLst/>
          </a:prstGeom>
          <a:solidFill>
            <a:srgbClr val="1E5AA8"/>
          </a:solidFill>
          <a:ln w="12700">
            <a:solidFill>
              <a:srgbClr val="1E5AA8"/>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8" name="Text 6">
            <a:extLst>
              <a:ext uri="{FF2B5EF4-FFF2-40B4-BE49-F238E27FC236}">
                <a16:creationId xmlns:a16="http://schemas.microsoft.com/office/drawing/2014/main" id="{A3490BA1-7F6C-3D99-7755-B156726C385F}"/>
              </a:ext>
            </a:extLst>
          </p:cNvPr>
          <p:cNvSpPr/>
          <p:nvPr/>
        </p:nvSpPr>
        <p:spPr>
          <a:xfrm>
            <a:off x="1183720" y="4097607"/>
            <a:ext cx="1783080" cy="201168"/>
          </a:xfrm>
          <a:prstGeom prst="rect">
            <a:avLst/>
          </a:prstGeom>
          <a:noFill/>
          <a:ln/>
        </p:spPr>
        <p:txBody>
          <a:bodyPr wrap="square" lIns="0" tIns="0" rIns="0" bIns="0" rtlCol="0" anchor="ctr">
            <a:normAutofit/>
          </a:bodyPr>
          <a:lstStyle/>
          <a:p>
            <a:pPr marL="0" indent="0">
              <a:buNone/>
            </a:pPr>
            <a:r>
              <a:rPr lang="en-US" sz="850" b="1" dirty="0">
                <a:solidFill>
                  <a:srgbClr val="6B7280"/>
                </a:solidFill>
                <a:latin typeface="Tahoma" panose="020B0604030504040204" pitchFamily="34" charset="0"/>
                <a:ea typeface="Tahoma" panose="020B0604030504040204" pitchFamily="34" charset="0"/>
                <a:cs typeface="Tahoma" panose="020B0604030504040204" pitchFamily="34" charset="0"/>
              </a:rPr>
              <a:t>X Total Waste</a:t>
            </a:r>
            <a:endParaRPr lang="en-US" sz="850" dirty="0">
              <a:latin typeface="Tahoma" panose="020B0604030504040204" pitchFamily="34" charset="0"/>
              <a:ea typeface="Tahoma" panose="020B0604030504040204" pitchFamily="34" charset="0"/>
              <a:cs typeface="Tahoma" panose="020B0604030504040204" pitchFamily="34" charset="0"/>
            </a:endParaRPr>
          </a:p>
        </p:txBody>
      </p:sp>
      <p:sp>
        <p:nvSpPr>
          <p:cNvPr id="9" name="Text 7">
            <a:extLst>
              <a:ext uri="{FF2B5EF4-FFF2-40B4-BE49-F238E27FC236}">
                <a16:creationId xmlns:a16="http://schemas.microsoft.com/office/drawing/2014/main" id="{DFDA3EFA-9F11-4D21-195C-BFCF6FB8609A}"/>
              </a:ext>
            </a:extLst>
          </p:cNvPr>
          <p:cNvSpPr/>
          <p:nvPr/>
        </p:nvSpPr>
        <p:spPr>
          <a:xfrm>
            <a:off x="1183720" y="4362783"/>
            <a:ext cx="1783080" cy="384048"/>
          </a:xfrm>
          <a:prstGeom prst="rect">
            <a:avLst/>
          </a:prstGeom>
          <a:noFill/>
          <a:ln/>
        </p:spPr>
        <p:txBody>
          <a:bodyPr wrap="square" lIns="0" tIns="0" rIns="0" bIns="0" rtlCol="0" anchor="ctr"/>
          <a:lstStyle/>
          <a:p>
            <a:pPr marL="0" indent="0">
              <a:buNone/>
            </a:pPr>
            <a:r>
              <a:rPr lang="en-US" sz="2400" b="1" dirty="0">
                <a:solidFill>
                  <a:srgbClr val="1E5AA8"/>
                </a:solidFill>
                <a:latin typeface="Tahoma" panose="020B0604030504040204" pitchFamily="34" charset="0"/>
                <a:ea typeface="Tahoma" panose="020B0604030504040204" pitchFamily="34" charset="0"/>
                <a:cs typeface="Tahoma" panose="020B0604030504040204" pitchFamily="34" charset="0"/>
              </a:rPr>
              <a:t>2138.91 kg</a:t>
            </a:r>
            <a:endParaRPr lang="en-US" sz="2400" dirty="0">
              <a:latin typeface="Tahoma" panose="020B0604030504040204" pitchFamily="34" charset="0"/>
              <a:ea typeface="Tahoma" panose="020B0604030504040204" pitchFamily="34" charset="0"/>
              <a:cs typeface="Tahoma" panose="020B0604030504040204" pitchFamily="34" charset="0"/>
            </a:endParaRPr>
          </a:p>
        </p:txBody>
      </p:sp>
      <p:sp>
        <p:nvSpPr>
          <p:cNvPr id="10" name="Text 8">
            <a:extLst>
              <a:ext uri="{FF2B5EF4-FFF2-40B4-BE49-F238E27FC236}">
                <a16:creationId xmlns:a16="http://schemas.microsoft.com/office/drawing/2014/main" id="{D0B6CF27-2397-A9B0-3597-2CD3B247BD2F}"/>
              </a:ext>
            </a:extLst>
          </p:cNvPr>
          <p:cNvSpPr/>
          <p:nvPr/>
        </p:nvSpPr>
        <p:spPr>
          <a:xfrm>
            <a:off x="1183720" y="4704063"/>
            <a:ext cx="1783080" cy="228600"/>
          </a:xfrm>
          <a:prstGeom prst="rect">
            <a:avLst/>
          </a:prstGeom>
          <a:noFill/>
          <a:ln/>
        </p:spPr>
        <p:txBody>
          <a:bodyPr wrap="square" lIns="0" tIns="0" rIns="0" bIns="0" rtlCol="0" anchor="ctr">
            <a:normAutofit/>
          </a:bodyPr>
          <a:lstStyle/>
          <a:p>
            <a:pPr marL="0" indent="0">
              <a:buNone/>
            </a:pPr>
            <a:r>
              <a:rPr lang="en-US" sz="800" dirty="0">
                <a:solidFill>
                  <a:srgbClr val="6B7280"/>
                </a:solidFill>
                <a:latin typeface="Tahoma" panose="020B0604030504040204" pitchFamily="34" charset="0"/>
                <a:ea typeface="Tahoma" panose="020B0604030504040204" pitchFamily="34" charset="0"/>
                <a:cs typeface="Tahoma" panose="020B0604030504040204" pitchFamily="34" charset="0"/>
              </a:rPr>
              <a:t>Recyclable: 123 kg</a:t>
            </a:r>
            <a:endParaRPr lang="en-US" sz="800" dirty="0">
              <a:latin typeface="Tahoma" panose="020B0604030504040204" pitchFamily="34" charset="0"/>
              <a:ea typeface="Tahoma" panose="020B0604030504040204" pitchFamily="34" charset="0"/>
              <a:cs typeface="Tahoma" panose="020B0604030504040204" pitchFamily="34" charset="0"/>
            </a:endParaRPr>
          </a:p>
        </p:txBody>
      </p:sp>
      <p:sp>
        <p:nvSpPr>
          <p:cNvPr id="11" name="Shape 9">
            <a:extLst>
              <a:ext uri="{FF2B5EF4-FFF2-40B4-BE49-F238E27FC236}">
                <a16:creationId xmlns:a16="http://schemas.microsoft.com/office/drawing/2014/main" id="{A56B1FF3-0BFF-2D1B-24BF-354B5E868FCC}"/>
              </a:ext>
            </a:extLst>
          </p:cNvPr>
          <p:cNvSpPr/>
          <p:nvPr/>
        </p:nvSpPr>
        <p:spPr>
          <a:xfrm>
            <a:off x="3268552" y="3951303"/>
            <a:ext cx="2103120" cy="960120"/>
          </a:xfrm>
          <a:prstGeom prst="roundRect">
            <a:avLst>
              <a:gd name="adj" fmla="val 7619"/>
            </a:avLst>
          </a:prstGeom>
          <a:solidFill>
            <a:srgbClr val="FFFFFF"/>
          </a:solidFill>
          <a:ln w="8890">
            <a:solidFill>
              <a:srgbClr val="DDE6F3"/>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12" name="Shape 10">
            <a:extLst>
              <a:ext uri="{FF2B5EF4-FFF2-40B4-BE49-F238E27FC236}">
                <a16:creationId xmlns:a16="http://schemas.microsoft.com/office/drawing/2014/main" id="{8B642FC2-4092-2E76-FFD8-899DA8188FE5}"/>
              </a:ext>
            </a:extLst>
          </p:cNvPr>
          <p:cNvSpPr/>
          <p:nvPr/>
        </p:nvSpPr>
        <p:spPr>
          <a:xfrm>
            <a:off x="3268552" y="3951303"/>
            <a:ext cx="73152" cy="960120"/>
          </a:xfrm>
          <a:prstGeom prst="rect">
            <a:avLst/>
          </a:prstGeom>
          <a:solidFill>
            <a:srgbClr val="F6B900"/>
          </a:solidFill>
          <a:ln w="12700">
            <a:solidFill>
              <a:srgbClr val="F6B900"/>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13" name="Text 11">
            <a:extLst>
              <a:ext uri="{FF2B5EF4-FFF2-40B4-BE49-F238E27FC236}">
                <a16:creationId xmlns:a16="http://schemas.microsoft.com/office/drawing/2014/main" id="{36D9AE7B-5B4F-4577-C8FA-542A903811AA}"/>
              </a:ext>
            </a:extLst>
          </p:cNvPr>
          <p:cNvSpPr/>
          <p:nvPr/>
        </p:nvSpPr>
        <p:spPr>
          <a:xfrm>
            <a:off x="3469720" y="4097607"/>
            <a:ext cx="1783080" cy="201168"/>
          </a:xfrm>
          <a:prstGeom prst="rect">
            <a:avLst/>
          </a:prstGeom>
          <a:noFill/>
          <a:ln/>
        </p:spPr>
        <p:txBody>
          <a:bodyPr wrap="square" lIns="0" tIns="0" rIns="0" bIns="0" rtlCol="0" anchor="ctr">
            <a:normAutofit/>
          </a:bodyPr>
          <a:lstStyle/>
          <a:p>
            <a:pPr marL="0" indent="0">
              <a:buNone/>
            </a:pPr>
            <a:r>
              <a:rPr lang="en-US" sz="850" b="1" dirty="0">
                <a:solidFill>
                  <a:srgbClr val="6B7280"/>
                </a:solidFill>
                <a:latin typeface="Tahoma" panose="020B0604030504040204" pitchFamily="34" charset="0"/>
                <a:ea typeface="Tahoma" panose="020B0604030504040204" pitchFamily="34" charset="0"/>
                <a:cs typeface="Tahoma" panose="020B0604030504040204" pitchFamily="34" charset="0"/>
              </a:rPr>
              <a:t>X Recycling</a:t>
            </a:r>
            <a:endParaRPr lang="en-US" sz="850" dirty="0">
              <a:latin typeface="Tahoma" panose="020B0604030504040204" pitchFamily="34" charset="0"/>
              <a:ea typeface="Tahoma" panose="020B0604030504040204" pitchFamily="34" charset="0"/>
              <a:cs typeface="Tahoma" panose="020B0604030504040204" pitchFamily="34" charset="0"/>
            </a:endParaRPr>
          </a:p>
        </p:txBody>
      </p:sp>
      <p:sp>
        <p:nvSpPr>
          <p:cNvPr id="14" name="Text 12">
            <a:extLst>
              <a:ext uri="{FF2B5EF4-FFF2-40B4-BE49-F238E27FC236}">
                <a16:creationId xmlns:a16="http://schemas.microsoft.com/office/drawing/2014/main" id="{993BD8A7-0A6E-C2C1-26D4-B4313C999EA6}"/>
              </a:ext>
            </a:extLst>
          </p:cNvPr>
          <p:cNvSpPr/>
          <p:nvPr/>
        </p:nvSpPr>
        <p:spPr>
          <a:xfrm>
            <a:off x="3469720" y="4362783"/>
            <a:ext cx="1783080" cy="384048"/>
          </a:xfrm>
          <a:prstGeom prst="rect">
            <a:avLst/>
          </a:prstGeom>
          <a:noFill/>
          <a:ln/>
        </p:spPr>
        <p:txBody>
          <a:bodyPr wrap="square" lIns="0" tIns="0" rIns="0" bIns="0" rtlCol="0" anchor="ctr"/>
          <a:lstStyle/>
          <a:p>
            <a:pPr marL="0" indent="0">
              <a:buNone/>
            </a:pPr>
            <a:r>
              <a:rPr lang="en-US" sz="2400" b="1" dirty="0">
                <a:solidFill>
                  <a:srgbClr val="F6B900"/>
                </a:solidFill>
                <a:latin typeface="Tahoma" panose="020B0604030504040204" pitchFamily="34" charset="0"/>
                <a:ea typeface="Tahoma" panose="020B0604030504040204" pitchFamily="34" charset="0"/>
                <a:cs typeface="Tahoma" panose="020B0604030504040204" pitchFamily="34" charset="0"/>
              </a:rPr>
              <a:t>6%</a:t>
            </a:r>
            <a:endParaRPr lang="en-US" sz="2400" dirty="0">
              <a:latin typeface="Tahoma" panose="020B0604030504040204" pitchFamily="34" charset="0"/>
              <a:ea typeface="Tahoma" panose="020B0604030504040204" pitchFamily="34" charset="0"/>
              <a:cs typeface="Tahoma" panose="020B0604030504040204" pitchFamily="34" charset="0"/>
            </a:endParaRPr>
          </a:p>
        </p:txBody>
      </p:sp>
      <p:sp>
        <p:nvSpPr>
          <p:cNvPr id="16" name="Shape 14">
            <a:extLst>
              <a:ext uri="{FF2B5EF4-FFF2-40B4-BE49-F238E27FC236}">
                <a16:creationId xmlns:a16="http://schemas.microsoft.com/office/drawing/2014/main" id="{818C1B5B-185F-4C1C-515A-9448AD8C1B07}"/>
              </a:ext>
            </a:extLst>
          </p:cNvPr>
          <p:cNvSpPr/>
          <p:nvPr/>
        </p:nvSpPr>
        <p:spPr>
          <a:xfrm>
            <a:off x="982552" y="5289561"/>
            <a:ext cx="2103120" cy="960120"/>
          </a:xfrm>
          <a:prstGeom prst="roundRect">
            <a:avLst>
              <a:gd name="adj" fmla="val 7619"/>
            </a:avLst>
          </a:prstGeom>
          <a:solidFill>
            <a:srgbClr val="FFFFFF"/>
          </a:solidFill>
          <a:ln w="8890">
            <a:solidFill>
              <a:srgbClr val="DDE6F3"/>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17" name="Shape 15">
            <a:extLst>
              <a:ext uri="{FF2B5EF4-FFF2-40B4-BE49-F238E27FC236}">
                <a16:creationId xmlns:a16="http://schemas.microsoft.com/office/drawing/2014/main" id="{E19C2B99-3822-4E0C-B396-01558B768CFA}"/>
              </a:ext>
            </a:extLst>
          </p:cNvPr>
          <p:cNvSpPr/>
          <p:nvPr/>
        </p:nvSpPr>
        <p:spPr>
          <a:xfrm>
            <a:off x="982552" y="5289561"/>
            <a:ext cx="73152" cy="960120"/>
          </a:xfrm>
          <a:prstGeom prst="rect">
            <a:avLst/>
          </a:prstGeom>
          <a:solidFill>
            <a:srgbClr val="00249C"/>
          </a:solidFill>
          <a:ln w="12700">
            <a:solidFill>
              <a:srgbClr val="00249C"/>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18" name="Text 16">
            <a:extLst>
              <a:ext uri="{FF2B5EF4-FFF2-40B4-BE49-F238E27FC236}">
                <a16:creationId xmlns:a16="http://schemas.microsoft.com/office/drawing/2014/main" id="{85924719-DC83-C69F-A638-3B10F76FF835}"/>
              </a:ext>
            </a:extLst>
          </p:cNvPr>
          <p:cNvSpPr/>
          <p:nvPr/>
        </p:nvSpPr>
        <p:spPr>
          <a:xfrm>
            <a:off x="1183720" y="5435865"/>
            <a:ext cx="1783080" cy="201168"/>
          </a:xfrm>
          <a:prstGeom prst="rect">
            <a:avLst/>
          </a:prstGeom>
          <a:noFill/>
          <a:ln/>
        </p:spPr>
        <p:txBody>
          <a:bodyPr wrap="square" lIns="0" tIns="0" rIns="0" bIns="0" rtlCol="0" anchor="ctr">
            <a:normAutofit/>
          </a:bodyPr>
          <a:lstStyle/>
          <a:p>
            <a:pPr marL="0" indent="0">
              <a:buNone/>
            </a:pPr>
            <a:r>
              <a:rPr lang="en-US" sz="850" b="1" dirty="0">
                <a:solidFill>
                  <a:srgbClr val="6B7280"/>
                </a:solidFill>
                <a:latin typeface="Tahoma" panose="020B0604030504040204" pitchFamily="34" charset="0"/>
                <a:ea typeface="Tahoma" panose="020B0604030504040204" pitchFamily="34" charset="0"/>
                <a:cs typeface="Tahoma" panose="020B0604030504040204" pitchFamily="34" charset="0"/>
              </a:rPr>
              <a:t>X Total Waste</a:t>
            </a:r>
            <a:endParaRPr lang="en-US" sz="850" dirty="0">
              <a:latin typeface="Tahoma" panose="020B0604030504040204" pitchFamily="34" charset="0"/>
              <a:ea typeface="Tahoma" panose="020B0604030504040204" pitchFamily="34" charset="0"/>
              <a:cs typeface="Tahoma" panose="020B0604030504040204" pitchFamily="34" charset="0"/>
            </a:endParaRPr>
          </a:p>
        </p:txBody>
      </p:sp>
      <p:sp>
        <p:nvSpPr>
          <p:cNvPr id="19" name="Text 17">
            <a:extLst>
              <a:ext uri="{FF2B5EF4-FFF2-40B4-BE49-F238E27FC236}">
                <a16:creationId xmlns:a16="http://schemas.microsoft.com/office/drawing/2014/main" id="{7A4374A9-2FEA-1DC1-BC90-83F946A917DC}"/>
              </a:ext>
            </a:extLst>
          </p:cNvPr>
          <p:cNvSpPr/>
          <p:nvPr/>
        </p:nvSpPr>
        <p:spPr>
          <a:xfrm>
            <a:off x="1183720" y="5701041"/>
            <a:ext cx="1783080" cy="384048"/>
          </a:xfrm>
          <a:prstGeom prst="rect">
            <a:avLst/>
          </a:prstGeom>
          <a:noFill/>
          <a:ln>
            <a:noFill/>
          </a:ln>
        </p:spPr>
        <p:txBody>
          <a:bodyPr wrap="square" lIns="0" tIns="0" rIns="0" bIns="0" rtlCol="0" anchor="ctr"/>
          <a:lstStyle/>
          <a:p>
            <a:pPr marL="0" indent="0">
              <a:buNone/>
            </a:pPr>
            <a:r>
              <a:rPr lang="en-US" sz="2400" b="1" dirty="0">
                <a:solidFill>
                  <a:srgbClr val="00249C"/>
                </a:solidFill>
                <a:latin typeface="Tahoma" panose="020B0604030504040204" pitchFamily="34" charset="0"/>
                <a:ea typeface="Tahoma" panose="020B0604030504040204" pitchFamily="34" charset="0"/>
                <a:cs typeface="Tahoma" panose="020B0604030504040204" pitchFamily="34" charset="0"/>
              </a:rPr>
              <a:t>2218.14 kg</a:t>
            </a:r>
            <a:endParaRPr lang="en-US" sz="2400" dirty="0">
              <a:solidFill>
                <a:srgbClr val="00249C"/>
              </a:solidFill>
              <a:latin typeface="Tahoma" panose="020B0604030504040204" pitchFamily="34" charset="0"/>
              <a:ea typeface="Tahoma" panose="020B0604030504040204" pitchFamily="34" charset="0"/>
              <a:cs typeface="Tahoma" panose="020B0604030504040204" pitchFamily="34" charset="0"/>
            </a:endParaRPr>
          </a:p>
        </p:txBody>
      </p:sp>
      <p:sp>
        <p:nvSpPr>
          <p:cNvPr id="20" name="Text 18">
            <a:extLst>
              <a:ext uri="{FF2B5EF4-FFF2-40B4-BE49-F238E27FC236}">
                <a16:creationId xmlns:a16="http://schemas.microsoft.com/office/drawing/2014/main" id="{4E1B2532-F35D-1BF6-5CAF-4D1461430CCA}"/>
              </a:ext>
            </a:extLst>
          </p:cNvPr>
          <p:cNvSpPr/>
          <p:nvPr/>
        </p:nvSpPr>
        <p:spPr>
          <a:xfrm>
            <a:off x="1183720" y="6071817"/>
            <a:ext cx="1783080" cy="228600"/>
          </a:xfrm>
          <a:prstGeom prst="rect">
            <a:avLst/>
          </a:prstGeom>
          <a:noFill/>
          <a:ln/>
        </p:spPr>
        <p:txBody>
          <a:bodyPr wrap="square" lIns="0" tIns="0" rIns="0" bIns="0" rtlCol="0" anchor="ctr">
            <a:normAutofit/>
          </a:bodyPr>
          <a:lstStyle/>
          <a:p>
            <a:pPr marL="0" indent="0">
              <a:buNone/>
            </a:pPr>
            <a:r>
              <a:rPr lang="en-US" sz="800" dirty="0">
                <a:solidFill>
                  <a:srgbClr val="6B7280"/>
                </a:solidFill>
                <a:latin typeface="Tahoma" panose="020B0604030504040204" pitchFamily="34" charset="0"/>
                <a:ea typeface="Tahoma" panose="020B0604030504040204" pitchFamily="34" charset="0"/>
                <a:cs typeface="Tahoma" panose="020B0604030504040204" pitchFamily="34" charset="0"/>
              </a:rPr>
              <a:t>Recyclable: 155 kg</a:t>
            </a:r>
            <a:endParaRPr lang="en-US" sz="800" dirty="0">
              <a:latin typeface="Tahoma" panose="020B0604030504040204" pitchFamily="34" charset="0"/>
              <a:ea typeface="Tahoma" panose="020B0604030504040204" pitchFamily="34" charset="0"/>
              <a:cs typeface="Tahoma" panose="020B0604030504040204" pitchFamily="34" charset="0"/>
            </a:endParaRPr>
          </a:p>
        </p:txBody>
      </p:sp>
      <p:sp>
        <p:nvSpPr>
          <p:cNvPr id="21" name="Shape 19">
            <a:extLst>
              <a:ext uri="{FF2B5EF4-FFF2-40B4-BE49-F238E27FC236}">
                <a16:creationId xmlns:a16="http://schemas.microsoft.com/office/drawing/2014/main" id="{232A0683-7157-C5F9-B690-12715072A8E0}"/>
              </a:ext>
            </a:extLst>
          </p:cNvPr>
          <p:cNvSpPr/>
          <p:nvPr/>
        </p:nvSpPr>
        <p:spPr>
          <a:xfrm>
            <a:off x="3268552" y="5289561"/>
            <a:ext cx="2103120" cy="960120"/>
          </a:xfrm>
          <a:prstGeom prst="roundRect">
            <a:avLst>
              <a:gd name="adj" fmla="val 7619"/>
            </a:avLst>
          </a:prstGeom>
          <a:solidFill>
            <a:srgbClr val="FFFFFF"/>
          </a:solidFill>
          <a:ln w="8890">
            <a:solidFill>
              <a:srgbClr val="DDE6F3"/>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22" name="Shape 20">
            <a:extLst>
              <a:ext uri="{FF2B5EF4-FFF2-40B4-BE49-F238E27FC236}">
                <a16:creationId xmlns:a16="http://schemas.microsoft.com/office/drawing/2014/main" id="{34A33CBF-EFE5-7752-5CDE-3CD3569B9A98}"/>
              </a:ext>
            </a:extLst>
          </p:cNvPr>
          <p:cNvSpPr/>
          <p:nvPr/>
        </p:nvSpPr>
        <p:spPr>
          <a:xfrm>
            <a:off x="3268552" y="5289561"/>
            <a:ext cx="73152" cy="960120"/>
          </a:xfrm>
          <a:prstGeom prst="rect">
            <a:avLst/>
          </a:prstGeom>
          <a:solidFill>
            <a:srgbClr val="D93025"/>
          </a:solidFill>
          <a:ln w="12700">
            <a:solidFill>
              <a:srgbClr val="D93025"/>
            </a:solidFill>
            <a:prstDash val="solid"/>
          </a:ln>
        </p:spPr>
        <p:txBody>
          <a:bodyPr/>
          <a:lstStyle/>
          <a:p>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23" name="Text 21">
            <a:extLst>
              <a:ext uri="{FF2B5EF4-FFF2-40B4-BE49-F238E27FC236}">
                <a16:creationId xmlns:a16="http://schemas.microsoft.com/office/drawing/2014/main" id="{CC3EC7B8-5EDB-9A8F-6F83-040DD1F853AB}"/>
              </a:ext>
            </a:extLst>
          </p:cNvPr>
          <p:cNvSpPr/>
          <p:nvPr/>
        </p:nvSpPr>
        <p:spPr>
          <a:xfrm>
            <a:off x="3469720" y="5435865"/>
            <a:ext cx="1783080" cy="201168"/>
          </a:xfrm>
          <a:prstGeom prst="rect">
            <a:avLst/>
          </a:prstGeom>
          <a:noFill/>
          <a:ln/>
        </p:spPr>
        <p:txBody>
          <a:bodyPr wrap="square" lIns="0" tIns="0" rIns="0" bIns="0" rtlCol="0" anchor="ctr">
            <a:normAutofit/>
          </a:bodyPr>
          <a:lstStyle/>
          <a:p>
            <a:pPr marL="0" indent="0">
              <a:buNone/>
            </a:pPr>
            <a:r>
              <a:rPr lang="en-US" sz="850" b="1" dirty="0">
                <a:solidFill>
                  <a:srgbClr val="6B7280"/>
                </a:solidFill>
                <a:latin typeface="Tahoma" panose="020B0604030504040204" pitchFamily="34" charset="0"/>
                <a:ea typeface="Tahoma" panose="020B0604030504040204" pitchFamily="34" charset="0"/>
                <a:cs typeface="Tahoma" panose="020B0604030504040204" pitchFamily="34" charset="0"/>
              </a:rPr>
              <a:t>Y Recycling</a:t>
            </a:r>
            <a:endParaRPr lang="en-US" sz="850" dirty="0">
              <a:latin typeface="Tahoma" panose="020B0604030504040204" pitchFamily="34" charset="0"/>
              <a:ea typeface="Tahoma" panose="020B0604030504040204" pitchFamily="34" charset="0"/>
              <a:cs typeface="Tahoma" panose="020B0604030504040204" pitchFamily="34" charset="0"/>
            </a:endParaRPr>
          </a:p>
        </p:txBody>
      </p:sp>
      <p:sp>
        <p:nvSpPr>
          <p:cNvPr id="24" name="Text 22">
            <a:extLst>
              <a:ext uri="{FF2B5EF4-FFF2-40B4-BE49-F238E27FC236}">
                <a16:creationId xmlns:a16="http://schemas.microsoft.com/office/drawing/2014/main" id="{290DB296-E3A8-D18F-D666-B263CEF6F4DE}"/>
              </a:ext>
            </a:extLst>
          </p:cNvPr>
          <p:cNvSpPr/>
          <p:nvPr/>
        </p:nvSpPr>
        <p:spPr>
          <a:xfrm>
            <a:off x="3469720" y="5701041"/>
            <a:ext cx="1783080" cy="384048"/>
          </a:xfrm>
          <a:prstGeom prst="rect">
            <a:avLst/>
          </a:prstGeom>
          <a:noFill/>
          <a:ln/>
        </p:spPr>
        <p:txBody>
          <a:bodyPr wrap="square" lIns="0" tIns="0" rIns="0" bIns="0" rtlCol="0" anchor="ctr"/>
          <a:lstStyle/>
          <a:p>
            <a:pPr marL="0" indent="0">
              <a:buNone/>
            </a:pPr>
            <a:r>
              <a:rPr lang="en-US" sz="2400" b="1" dirty="0">
                <a:solidFill>
                  <a:srgbClr val="D93025"/>
                </a:solidFill>
                <a:latin typeface="Tahoma" panose="020B0604030504040204" pitchFamily="34" charset="0"/>
                <a:ea typeface="Tahoma" panose="020B0604030504040204" pitchFamily="34" charset="0"/>
                <a:cs typeface="Tahoma" panose="020B0604030504040204" pitchFamily="34" charset="0"/>
              </a:rPr>
              <a:t>7%</a:t>
            </a:r>
            <a:endParaRPr lang="en-US" sz="2400" dirty="0">
              <a:latin typeface="Tahoma" panose="020B0604030504040204" pitchFamily="34" charset="0"/>
              <a:ea typeface="Tahoma" panose="020B0604030504040204" pitchFamily="34" charset="0"/>
              <a:cs typeface="Tahoma" panose="020B0604030504040204" pitchFamily="34" charset="0"/>
            </a:endParaRPr>
          </a:p>
        </p:txBody>
      </p:sp>
      <p:sp>
        <p:nvSpPr>
          <p:cNvPr id="25" name="Text 23">
            <a:extLst>
              <a:ext uri="{FF2B5EF4-FFF2-40B4-BE49-F238E27FC236}">
                <a16:creationId xmlns:a16="http://schemas.microsoft.com/office/drawing/2014/main" id="{92BEE130-9341-D18C-F8D7-0151B31574D2}"/>
              </a:ext>
            </a:extLst>
          </p:cNvPr>
          <p:cNvSpPr/>
          <p:nvPr/>
        </p:nvSpPr>
        <p:spPr>
          <a:xfrm>
            <a:off x="3469720" y="6071817"/>
            <a:ext cx="1783080" cy="228600"/>
          </a:xfrm>
          <a:prstGeom prst="rect">
            <a:avLst/>
          </a:prstGeom>
          <a:noFill/>
          <a:ln/>
        </p:spPr>
        <p:txBody>
          <a:bodyPr wrap="square" lIns="0" tIns="0" rIns="0" bIns="0" rtlCol="0" anchor="ctr">
            <a:normAutofit/>
          </a:bodyPr>
          <a:lstStyle/>
          <a:p>
            <a:pPr marL="0" indent="0">
              <a:buNone/>
            </a:pPr>
            <a:endParaRPr lang="en-US" sz="800" dirty="0">
              <a:latin typeface="Tahoma" panose="020B0604030504040204" pitchFamily="34" charset="0"/>
              <a:ea typeface="Tahoma" panose="020B0604030504040204" pitchFamily="34" charset="0"/>
              <a:cs typeface="Tahoma" panose="020B0604030504040204" pitchFamily="34" charset="0"/>
            </a:endParaRPr>
          </a:p>
        </p:txBody>
      </p:sp>
      <p:sp>
        <p:nvSpPr>
          <p:cNvPr id="29" name="Title 1">
            <a:extLst>
              <a:ext uri="{FF2B5EF4-FFF2-40B4-BE49-F238E27FC236}">
                <a16:creationId xmlns:a16="http://schemas.microsoft.com/office/drawing/2014/main" id="{979D1581-480D-60F0-7557-CEFF3B1F5AC3}"/>
              </a:ext>
            </a:extLst>
          </p:cNvPr>
          <p:cNvSpPr txBox="1">
            <a:spLocks/>
          </p:cNvSpPr>
          <p:nvPr/>
        </p:nvSpPr>
        <p:spPr>
          <a:xfrm>
            <a:off x="585348" y="-3911"/>
            <a:ext cx="11021303"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fr-FR" sz="3000" dirty="0"/>
              <a:t>10. </a:t>
            </a:r>
            <a:r>
              <a:rPr lang="fr-FR" sz="3000" dirty="0" err="1"/>
              <a:t>Environmental</a:t>
            </a:r>
            <a:r>
              <a:rPr lang="fr-FR" sz="3000" dirty="0"/>
              <a:t>/ Waste Management Performance</a:t>
            </a:r>
            <a:endParaRPr lang="en-US" sz="2400" b="0" dirty="0"/>
          </a:p>
        </p:txBody>
      </p:sp>
    </p:spTree>
    <p:extLst>
      <p:ext uri="{BB962C8B-B14F-4D97-AF65-F5344CB8AC3E}">
        <p14:creationId xmlns:p14="http://schemas.microsoft.com/office/powerpoint/2010/main" val="10884306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00F7DA-94F3-496F-C307-5D8C6356CC7A}"/>
            </a:ext>
          </a:extLst>
        </p:cNvPr>
        <p:cNvGrpSpPr/>
        <p:nvPr/>
      </p:nvGrpSpPr>
      <p:grpSpPr>
        <a:xfrm>
          <a:off x="0" y="0"/>
          <a:ext cx="0" cy="0"/>
          <a:chOff x="0" y="0"/>
          <a:chExt cx="0" cy="0"/>
        </a:xfrm>
      </p:grpSpPr>
      <p:sp>
        <p:nvSpPr>
          <p:cNvPr id="11" name="Title 1">
            <a:extLst>
              <a:ext uri="{FF2B5EF4-FFF2-40B4-BE49-F238E27FC236}">
                <a16:creationId xmlns:a16="http://schemas.microsoft.com/office/drawing/2014/main" id="{72863922-7211-B01D-9A6E-102B1835BD3E}"/>
              </a:ext>
            </a:extLst>
          </p:cNvPr>
          <p:cNvSpPr txBox="1">
            <a:spLocks/>
          </p:cNvSpPr>
          <p:nvPr/>
        </p:nvSpPr>
        <p:spPr>
          <a:xfrm>
            <a:off x="659213" y="91440"/>
            <a:ext cx="11358615" cy="737326"/>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11. Legal/Compliance Updates</a:t>
            </a:r>
          </a:p>
        </p:txBody>
      </p:sp>
      <p:sp>
        <p:nvSpPr>
          <p:cNvPr id="13" name="Text Placeholder 3">
            <a:extLst>
              <a:ext uri="{FF2B5EF4-FFF2-40B4-BE49-F238E27FC236}">
                <a16:creationId xmlns:a16="http://schemas.microsoft.com/office/drawing/2014/main" id="{9CE356C8-A4C0-83B1-713E-F21F3D74B452}"/>
              </a:ext>
            </a:extLst>
          </p:cNvPr>
          <p:cNvSpPr>
            <a:spLocks noGrp="1"/>
          </p:cNvSpPr>
          <p:nvPr>
            <p:ph type="body" sz="quarter" idx="10"/>
          </p:nvPr>
        </p:nvSpPr>
        <p:spPr>
          <a:xfrm>
            <a:off x="659214" y="4915569"/>
            <a:ext cx="8020198" cy="1724717"/>
          </a:xfrm>
        </p:spPr>
        <p:txBody>
          <a:bodyPr>
            <a:normAutofit/>
          </a:bodyPr>
          <a:lstStyle/>
          <a:p>
            <a:r>
              <a:rPr lang="en-US" sz="1400" b="1" dirty="0"/>
              <a:t>Key Observations: </a:t>
            </a:r>
          </a:p>
          <a:p>
            <a:r>
              <a:rPr lang="en-US" sz="1200" dirty="0"/>
              <a:t>By Campus EHS Specialists </a:t>
            </a:r>
          </a:p>
          <a:p>
            <a:endParaRPr lang="en-US" sz="1400" dirty="0"/>
          </a:p>
          <a:p>
            <a:endParaRPr lang="en-US" sz="1400" dirty="0"/>
          </a:p>
          <a:p>
            <a:endParaRPr lang="en-US" sz="1400" dirty="0"/>
          </a:p>
        </p:txBody>
      </p:sp>
      <p:sp>
        <p:nvSpPr>
          <p:cNvPr id="3" name="Text Placeholder 3">
            <a:extLst>
              <a:ext uri="{FF2B5EF4-FFF2-40B4-BE49-F238E27FC236}">
                <a16:creationId xmlns:a16="http://schemas.microsoft.com/office/drawing/2014/main" id="{F7D006DD-C858-086F-6AC6-ECF57C24D535}"/>
              </a:ext>
            </a:extLst>
          </p:cNvPr>
          <p:cNvSpPr txBox="1">
            <a:spLocks/>
          </p:cNvSpPr>
          <p:nvPr/>
        </p:nvSpPr>
        <p:spPr>
          <a:xfrm>
            <a:off x="659212" y="1189292"/>
            <a:ext cx="9824490" cy="903668"/>
          </a:xfrm>
          <a:prstGeom prst="rect">
            <a:avLst/>
          </a:prstGeom>
        </p:spPr>
        <p:txBody>
          <a:bodyPr vert="horz" lIns="91440" tIns="45720" rIns="91440" bIns="45720" rtlCol="0">
            <a:normAutofit/>
          </a:bodyPr>
          <a:lstStyle>
            <a:lvl1pPr marL="0" indent="0" algn="l" defTabSz="914400" rtl="0" eaLnBrk="1" latinLnBrk="0" hangingPunct="1">
              <a:lnSpc>
                <a:spcPct val="95000"/>
              </a:lnSpc>
              <a:spcBef>
                <a:spcPts val="10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1pPr>
            <a:lvl2pPr marL="457200" indent="0" algn="l" defTabSz="914400" rtl="0" eaLnBrk="1" latinLnBrk="0" hangingPunct="1">
              <a:lnSpc>
                <a:spcPct val="90000"/>
              </a:lnSpc>
              <a:spcBef>
                <a:spcPts val="500"/>
              </a:spcBef>
              <a:buFontTx/>
              <a:buNone/>
              <a:defRPr sz="24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2pPr>
            <a:lvl3pPr marL="914400" indent="0" algn="l" defTabSz="914400" rtl="0" eaLnBrk="1" latinLnBrk="0" hangingPunct="1">
              <a:lnSpc>
                <a:spcPct val="90000"/>
              </a:lnSpc>
              <a:spcBef>
                <a:spcPts val="500"/>
              </a:spcBef>
              <a:buFontTx/>
              <a:buNone/>
              <a:defRPr sz="20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3pPr>
            <a:lvl4pPr marL="13716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4pPr>
            <a:lvl5pPr marL="1828800" indent="0" algn="l" defTabSz="914400" rtl="0" eaLnBrk="1" latinLnBrk="0" hangingPunct="1">
              <a:lnSpc>
                <a:spcPct val="90000"/>
              </a:lnSpc>
              <a:spcBef>
                <a:spcPts val="500"/>
              </a:spcBef>
              <a:buFontTx/>
              <a:buNone/>
              <a:defRPr sz="1800" b="0" i="0" kern="1200">
                <a:solidFill>
                  <a:schemeClr val="tx1"/>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i="1" dirty="0"/>
              <a:t>Explain any near expiry or overdue as regards to legal licensing, Updates on renewal of legal requirements.</a:t>
            </a:r>
            <a:endParaRPr lang="en-US" sz="1200" i="1" dirty="0"/>
          </a:p>
          <a:p>
            <a:endParaRPr lang="en-US" sz="1400" dirty="0"/>
          </a:p>
          <a:p>
            <a:endParaRPr lang="en-US" sz="1400" dirty="0"/>
          </a:p>
        </p:txBody>
      </p:sp>
    </p:spTree>
    <p:extLst>
      <p:ext uri="{BB962C8B-B14F-4D97-AF65-F5344CB8AC3E}">
        <p14:creationId xmlns:p14="http://schemas.microsoft.com/office/powerpoint/2010/main" val="40280157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1F0D0EA-95AA-EE1A-E0C1-414934A77FC8}"/>
              </a:ext>
            </a:extLst>
          </p:cNvPr>
          <p:cNvSpPr txBox="1">
            <a:spLocks/>
          </p:cNvSpPr>
          <p:nvPr/>
        </p:nvSpPr>
        <p:spPr>
          <a:xfrm>
            <a:off x="674495" y="-76557"/>
            <a:ext cx="10150301" cy="986177"/>
          </a:xfrm>
          <a:prstGeom prst="rect">
            <a:avLst/>
          </a:prstGeom>
        </p:spPr>
        <p:txBody>
          <a:bodyPr vert="horz" lIns="91440" tIns="45720" rIns="91440" bIns="45720" rtlCol="0" anchor="ctr" anchorCtr="0">
            <a:normAutofit/>
          </a:bodyPr>
          <a:lstStyle>
            <a:lvl1pPr algn="l" defTabSz="914400" rtl="0" eaLnBrk="1" latinLnBrk="0" hangingPunct="1">
              <a:lnSpc>
                <a:spcPct val="90000"/>
              </a:lnSpc>
              <a:spcBef>
                <a:spcPct val="0"/>
              </a:spcBef>
              <a:buNone/>
              <a:defRPr sz="4500" b="1" kern="1200">
                <a:solidFill>
                  <a:srgbClr val="00249C"/>
                </a:solidFill>
                <a:latin typeface="Tahoma" panose="020B0604030504040204" pitchFamily="34" charset="0"/>
                <a:ea typeface="Tahoma" panose="020B0604030504040204" pitchFamily="34" charset="0"/>
                <a:cs typeface="Tahoma" panose="020B0604030504040204" pitchFamily="34" charset="0"/>
              </a:defRPr>
            </a:lvl1pPr>
          </a:lstStyle>
          <a:p>
            <a:r>
              <a:rPr lang="en-US" sz="3000" dirty="0"/>
              <a:t>12. Next Meeting (Agreed date/time and venue)</a:t>
            </a:r>
            <a:endParaRPr lang="en-US" sz="2400" b="0" dirty="0"/>
          </a:p>
        </p:txBody>
      </p:sp>
      <p:sp>
        <p:nvSpPr>
          <p:cNvPr id="3" name="TextBox 2">
            <a:extLst>
              <a:ext uri="{FF2B5EF4-FFF2-40B4-BE49-F238E27FC236}">
                <a16:creationId xmlns:a16="http://schemas.microsoft.com/office/drawing/2014/main" id="{33B174D0-1B09-141E-AF33-3442CE74B3F5}"/>
              </a:ext>
            </a:extLst>
          </p:cNvPr>
          <p:cNvSpPr txBox="1"/>
          <p:nvPr/>
        </p:nvSpPr>
        <p:spPr>
          <a:xfrm>
            <a:off x="674495" y="6123881"/>
            <a:ext cx="10952152" cy="523220"/>
          </a:xfrm>
          <a:prstGeom prst="rect">
            <a:avLst/>
          </a:prstGeom>
          <a:solidFill>
            <a:schemeClr val="bg2"/>
          </a:solidFill>
          <a:ln>
            <a:solidFill>
              <a:schemeClr val="tx1"/>
            </a:solidFill>
          </a:ln>
        </p:spPr>
        <p:txBody>
          <a:bodyPr wrap="square" rtlCol="0">
            <a:spAutoFit/>
          </a:bodyPr>
          <a:lstStyle/>
          <a:p>
            <a:r>
              <a:rPr lang="en-US" sz="1400" dirty="0">
                <a:latin typeface="Tahoma" panose="020B0604030504040204" pitchFamily="34" charset="0"/>
                <a:ea typeface="Tahoma" panose="020B0604030504040204" pitchFamily="34" charset="0"/>
                <a:cs typeface="Tahoma" panose="020B0604030504040204" pitchFamily="34" charset="0"/>
              </a:rPr>
              <a:t>Next Committee Meeting:       				     Date: 			                          Time: </a:t>
            </a:r>
          </a:p>
          <a:p>
            <a:endParaRPr lang="en-US" sz="1400" dirty="0"/>
          </a:p>
        </p:txBody>
      </p:sp>
      <p:sp>
        <p:nvSpPr>
          <p:cNvPr id="2" name="TextBox 1">
            <a:extLst>
              <a:ext uri="{FF2B5EF4-FFF2-40B4-BE49-F238E27FC236}">
                <a16:creationId xmlns:a16="http://schemas.microsoft.com/office/drawing/2014/main" id="{D58C25FC-D701-A547-C584-1DA3331894AD}"/>
              </a:ext>
            </a:extLst>
          </p:cNvPr>
          <p:cNvSpPr txBox="1"/>
          <p:nvPr/>
        </p:nvSpPr>
        <p:spPr>
          <a:xfrm>
            <a:off x="861237" y="1052623"/>
            <a:ext cx="9388549" cy="369332"/>
          </a:xfrm>
          <a:prstGeom prst="rect">
            <a:avLst/>
          </a:prstGeom>
          <a:noFill/>
        </p:spPr>
        <p:txBody>
          <a:bodyPr wrap="square" rtlCol="0">
            <a:spAutoFit/>
          </a:bodyPr>
          <a:lstStyle/>
          <a:p>
            <a:r>
              <a:rPr lang="en-US" dirty="0"/>
              <a:t>Suggest 3</a:t>
            </a:r>
            <a:r>
              <a:rPr lang="en-US" baseline="30000" dirty="0"/>
              <a:t>rd</a:t>
            </a:r>
            <a:r>
              <a:rPr lang="en-US" dirty="0"/>
              <a:t> week of month to allow KPI data time to process</a:t>
            </a:r>
          </a:p>
        </p:txBody>
      </p:sp>
    </p:spTree>
    <p:extLst>
      <p:ext uri="{BB962C8B-B14F-4D97-AF65-F5344CB8AC3E}">
        <p14:creationId xmlns:p14="http://schemas.microsoft.com/office/powerpoint/2010/main" val="9299421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B3307-14BF-A044-8D72-44E597C0E7DA}"/>
              </a:ext>
            </a:extLst>
          </p:cNvPr>
          <p:cNvSpPr>
            <a:spLocks noGrp="1"/>
          </p:cNvSpPr>
          <p:nvPr>
            <p:ph type="ctrTitle"/>
          </p:nvPr>
        </p:nvSpPr>
        <p:spPr/>
        <p:txBody>
          <a:bodyPr/>
          <a:lstStyle/>
          <a:p>
            <a:r>
              <a:rPr lang="en-US" dirty="0"/>
              <a:t>Thank You</a:t>
            </a:r>
            <a:endParaRPr lang="en-AE" dirty="0"/>
          </a:p>
        </p:txBody>
      </p:sp>
    </p:spTree>
    <p:extLst>
      <p:ext uri="{BB962C8B-B14F-4D97-AF65-F5344CB8AC3E}">
        <p14:creationId xmlns:p14="http://schemas.microsoft.com/office/powerpoint/2010/main" val="3769315409"/>
      </p:ext>
    </p:extLst>
  </p:cSld>
  <p:clrMapOvr>
    <a:masterClrMapping/>
  </p:clrMapOvr>
</p:sld>
</file>

<file path=ppt/theme/theme1.xml><?xml version="1.0" encoding="utf-8"?>
<a:theme xmlns:a="http://schemas.openxmlformats.org/drawingml/2006/main" name="1_Office Theme">
  <a:themeElements>
    <a:clrScheme name="HCT COLORS">
      <a:dk1>
        <a:srgbClr val="00249C"/>
      </a:dk1>
      <a:lt1>
        <a:srgbClr val="46D6AB"/>
      </a:lt1>
      <a:dk2>
        <a:srgbClr val="00249C"/>
      </a:dk2>
      <a:lt2>
        <a:srgbClr val="FFFFFF"/>
      </a:lt2>
      <a:accent1>
        <a:srgbClr val="BA28BA"/>
      </a:accent1>
      <a:accent2>
        <a:srgbClr val="00A3E1"/>
      </a:accent2>
      <a:accent3>
        <a:srgbClr val="B1E4E2"/>
      </a:accent3>
      <a:accent4>
        <a:srgbClr val="C4E86C"/>
      </a:accent4>
      <a:accent5>
        <a:srgbClr val="F7E948"/>
      </a:accent5>
      <a:accent6>
        <a:srgbClr val="2C2825"/>
      </a:accent6>
      <a:hlink>
        <a:srgbClr val="46D6AB"/>
      </a:hlink>
      <a:folHlink>
        <a:srgbClr val="46D6A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CT-English-PPT" id="{66C1D627-B2B5-CC49-A3B4-7C85DDDC73E2}" vid="{1B779F52-C459-FE44-A2F4-9C273C3439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Narrow"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8E37F35-F500-4E6D-B0C4-73E8407C77A4}">
  <we:reference id="WA200010001" version="1.0.0.1" store="Omex" storeType="OMEX"/>
  <we:alternateReferences>
    <we:reference id="WA200010001" version="1.0.0.1" store="WA200010001" storeType="OMEX"/>
  </we:alternateReferences>
  <we:properties>
    <we:property name="claude.fileId" value="&quot;78f2d011-05ec-492e-b823-89e2f3711db3&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
  <TotalTime>14134</TotalTime>
  <Words>1252</Words>
  <Application>Microsoft Office PowerPoint</Application>
  <PresentationFormat>Widescreen</PresentationFormat>
  <Paragraphs>325</Paragraphs>
  <Slides>23</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Arial</vt:lpstr>
      <vt:lpstr>Calibri</vt:lpstr>
      <vt:lpstr>Tahoma</vt:lpstr>
      <vt:lpstr>1_Office Theme</vt:lpstr>
      <vt:lpstr>EHS Committee Meeting June 2026</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HCT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Bakri Hamameh</dc:creator>
  <cp:lastModifiedBy>Melwin Dsouza</cp:lastModifiedBy>
  <cp:revision>379</cp:revision>
  <dcterms:created xsi:type="dcterms:W3CDTF">2023-08-15T07:47:02Z</dcterms:created>
  <dcterms:modified xsi:type="dcterms:W3CDTF">2026-09-14T11:18:05Z</dcterms:modified>
</cp:coreProperties>
</file>